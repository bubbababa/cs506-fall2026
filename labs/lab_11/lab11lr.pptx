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2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337" r:id="rId9"/>
    <p:sldId id="343" r:id="rId10"/>
    <p:sldId id="344" r:id="rId11"/>
    <p:sldId id="345" r:id="rId12"/>
    <p:sldId id="346" r:id="rId13"/>
    <p:sldId id="347" r:id="rId14"/>
    <p:sldId id="348" r:id="rId15"/>
    <p:sldId id="274" r:id="rId16"/>
    <p:sldId id="338" r:id="rId17"/>
    <p:sldId id="339" r:id="rId18"/>
    <p:sldId id="340" r:id="rId19"/>
    <p:sldId id="341" r:id="rId20"/>
    <p:sldId id="269" r:id="rId21"/>
    <p:sldId id="275" r:id="rId22"/>
    <p:sldId id="342" r:id="rId23"/>
    <p:sldId id="349" r:id="rId24"/>
    <p:sldId id="370" r:id="rId25"/>
    <p:sldId id="277" r:id="rId26"/>
    <p:sldId id="278" r:id="rId27"/>
    <p:sldId id="279" r:id="rId28"/>
    <p:sldId id="280" r:id="rId29"/>
    <p:sldId id="281" r:id="rId30"/>
    <p:sldId id="283" r:id="rId31"/>
    <p:sldId id="284" r:id="rId32"/>
    <p:sldId id="317" r:id="rId33"/>
    <p:sldId id="330" r:id="rId34"/>
    <p:sldId id="318" r:id="rId35"/>
    <p:sldId id="331" r:id="rId36"/>
    <p:sldId id="332" r:id="rId37"/>
    <p:sldId id="319" r:id="rId38"/>
    <p:sldId id="333" r:id="rId39"/>
    <p:sldId id="334" r:id="rId40"/>
    <p:sldId id="335" r:id="rId41"/>
    <p:sldId id="336" r:id="rId42"/>
    <p:sldId id="320" r:id="rId43"/>
    <p:sldId id="321" r:id="rId44"/>
    <p:sldId id="322" r:id="rId45"/>
    <p:sldId id="350" r:id="rId46"/>
    <p:sldId id="351" r:id="rId47"/>
    <p:sldId id="352" r:id="rId48"/>
    <p:sldId id="353" r:id="rId49"/>
    <p:sldId id="354" r:id="rId50"/>
    <p:sldId id="324" r:id="rId51"/>
    <p:sldId id="355" r:id="rId52"/>
    <p:sldId id="356" r:id="rId53"/>
    <p:sldId id="357" r:id="rId54"/>
    <p:sldId id="358" r:id="rId55"/>
    <p:sldId id="359" r:id="rId56"/>
    <p:sldId id="325" r:id="rId57"/>
    <p:sldId id="326" r:id="rId58"/>
    <p:sldId id="360" r:id="rId59"/>
    <p:sldId id="361" r:id="rId60"/>
    <p:sldId id="363" r:id="rId61"/>
    <p:sldId id="327" r:id="rId62"/>
    <p:sldId id="328" r:id="rId63"/>
    <p:sldId id="362" r:id="rId64"/>
    <p:sldId id="329" r:id="rId65"/>
    <p:sldId id="364" r:id="rId66"/>
    <p:sldId id="258" r:id="rId67"/>
    <p:sldId id="264" r:id="rId68"/>
    <p:sldId id="265" r:id="rId69"/>
    <p:sldId id="266" r:id="rId70"/>
    <p:sldId id="267" r:id="rId71"/>
    <p:sldId id="285" r:id="rId72"/>
    <p:sldId id="365" r:id="rId73"/>
    <p:sldId id="286" r:id="rId74"/>
    <p:sldId id="366" r:id="rId75"/>
    <p:sldId id="287" r:id="rId76"/>
    <p:sldId id="367" r:id="rId77"/>
    <p:sldId id="288" r:id="rId78"/>
    <p:sldId id="289" r:id="rId79"/>
    <p:sldId id="290" r:id="rId80"/>
    <p:sldId id="291" r:id="rId81"/>
    <p:sldId id="292" r:id="rId82"/>
    <p:sldId id="293" r:id="rId83"/>
    <p:sldId id="294" r:id="rId84"/>
    <p:sldId id="295" r:id="rId85"/>
    <p:sldId id="296" r:id="rId86"/>
    <p:sldId id="297" r:id="rId87"/>
    <p:sldId id="299" r:id="rId88"/>
    <p:sldId id="298" r:id="rId89"/>
    <p:sldId id="300" r:id="rId90"/>
    <p:sldId id="301" r:id="rId91"/>
    <p:sldId id="368" r:id="rId92"/>
    <p:sldId id="302" r:id="rId93"/>
    <p:sldId id="303" r:id="rId94"/>
    <p:sldId id="304" r:id="rId95"/>
    <p:sldId id="305" r:id="rId96"/>
    <p:sldId id="306" r:id="rId97"/>
    <p:sldId id="307" r:id="rId98"/>
    <p:sldId id="308" r:id="rId99"/>
    <p:sldId id="309" r:id="rId100"/>
    <p:sldId id="310" r:id="rId101"/>
    <p:sldId id="311" r:id="rId102"/>
    <p:sldId id="312" r:id="rId103"/>
    <p:sldId id="313" r:id="rId104"/>
    <p:sldId id="314" r:id="rId105"/>
    <p:sldId id="315" r:id="rId106"/>
    <p:sldId id="369" r:id="rId107"/>
    <p:sldId id="316" r:id="rId108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10"/>
    </p:embeddedFont>
    <p:embeddedFont>
      <p:font typeface="Open Sans" panose="020B0606030504020204" pitchFamily="34" charset="0"/>
      <p:regular r:id="rId111"/>
      <p:bold r:id="rId112"/>
      <p:italic r:id="rId113"/>
      <p:boldItalic r:id="rId114"/>
    </p:embeddedFont>
    <p:embeddedFont>
      <p:font typeface="PT Sans Narrow" panose="020B0506020203020204" pitchFamily="34" charset="77"/>
      <p:regular r:id="rId115"/>
      <p:bold r:id="rId116"/>
    </p:embeddedFont>
  </p:embeddedFontLst>
  <p:custDataLst>
    <p:tags r:id="rId11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18"/>
    <p:restoredTop sz="94737"/>
  </p:normalViewPr>
  <p:slideViewPr>
    <p:cSldViewPr snapToGrid="0">
      <p:cViewPr varScale="1">
        <p:scale>
          <a:sx n="139" d="100"/>
          <a:sy n="139" d="100"/>
        </p:scale>
        <p:origin x="176" y="4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gs" Target="tags/tag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3.fntdata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4.fntdata"/><Relationship Id="rId118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5.fntdata"/><Relationship Id="rId119" Type="http://schemas.openxmlformats.org/officeDocument/2006/relationships/viewProps" Target="view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1.fntdata"/><Relationship Id="rId115" Type="http://schemas.openxmlformats.org/officeDocument/2006/relationships/font" Target="fonts/font6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2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0" indent="-298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Char char="●"/>
                  <a:tabLst/>
                  <a:defRPr/>
                </a:pPr>
                <a:r>
                  <a:rPr lang="en-US" b="0" dirty="0"/>
                  <a:t>Note: the +1s are to account for the 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)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0" indent="-298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Char char="●"/>
                  <a:tabLst/>
                  <a:defRPr/>
                </a:pPr>
                <a:r>
                  <a:rPr lang="en-US" b="0" dirty="0"/>
                  <a:t>Note: the +1s are to account for the intercept (</a:t>
                </a:r>
                <a:r>
                  <a:rPr lang="en-US" b="0" i="0">
                    <a:latin typeface="Cambria Math" panose="02040503050406030204" pitchFamily="18" charset="0"/>
                  </a:rPr>
                  <a:t>𝛽_0</a:t>
                </a:r>
                <a:r>
                  <a:rPr lang="en-US" b="0" dirty="0"/>
                  <a:t>) 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1431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ACF9A-8C8E-00DD-AB04-6C9B648FE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9C1740-58C8-C527-8207-F7928E17E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DC0421E-0047-9889-5FC5-891EFB98F81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0" indent="-298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Char char="●"/>
                  <a:tabLst/>
                  <a:defRPr/>
                </a:pPr>
                <a:r>
                  <a:rPr lang="en-US" b="0" dirty="0"/>
                  <a:t>Note: the +1s are to account for the 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)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DC0421E-0047-9889-5FC5-891EFB98F81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0" indent="-298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Char char="●"/>
                  <a:tabLst/>
                  <a:defRPr/>
                </a:pPr>
                <a:r>
                  <a:rPr lang="en-US" b="0" dirty="0"/>
                  <a:t>Note: the +1s are to account for the intercept (</a:t>
                </a:r>
                <a:r>
                  <a:rPr lang="en-US" b="0" i="0">
                    <a:latin typeface="Cambria Math" panose="02040503050406030204" pitchFamily="18" charset="0"/>
                  </a:rPr>
                  <a:t>𝛽_0</a:t>
                </a:r>
                <a:r>
                  <a:rPr lang="en-US" b="0" dirty="0"/>
                  <a:t>) 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8949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1C3D7-BD75-BE32-02AF-3C5795CA5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C3C7F-A6A2-07AE-37DB-9819468A3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C45D0B2F-937A-123E-D4E7-BF0CCC1F13C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0" indent="-298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Char char="●"/>
                  <a:tabLst/>
                  <a:defRPr/>
                </a:pPr>
                <a:r>
                  <a:rPr lang="en-US" b="0" dirty="0"/>
                  <a:t>Note: the +1s are to account for the 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)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C45D0B2F-937A-123E-D4E7-BF0CCC1F13C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0" indent="-298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Char char="●"/>
                  <a:tabLst/>
                  <a:defRPr/>
                </a:pPr>
                <a:r>
                  <a:rPr lang="en-US" b="0" dirty="0"/>
                  <a:t>Note: the +1s are to account for the intercept (</a:t>
                </a:r>
                <a:r>
                  <a:rPr lang="en-US" b="0" i="0">
                    <a:latin typeface="Cambria Math" panose="02040503050406030204" pitchFamily="18" charset="0"/>
                  </a:rPr>
                  <a:t>𝛽_0</a:t>
                </a:r>
                <a:r>
                  <a:rPr lang="en-US" b="0" dirty="0"/>
                  <a:t>) 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540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FC60A-E518-FC9F-6519-CB494CB1D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5543FC-97E6-F35C-0B2D-FAF98C8A3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272ED265-018A-7387-9FBF-7C845333AEE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0" indent="-298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Char char="●"/>
                  <a:tabLst/>
                  <a:defRPr/>
                </a:pPr>
                <a:r>
                  <a:rPr lang="en-US" b="0" dirty="0"/>
                  <a:t>Note: the +1s are to account for the 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)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272ED265-018A-7387-9FBF-7C845333AEE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0" indent="-298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Char char="●"/>
                  <a:tabLst/>
                  <a:defRPr/>
                </a:pPr>
                <a:r>
                  <a:rPr lang="en-US" b="0" dirty="0"/>
                  <a:t>Note: the +1s are to account for the intercept (</a:t>
                </a:r>
                <a:r>
                  <a:rPr lang="en-US" b="0" i="0">
                    <a:latin typeface="Cambria Math" panose="02040503050406030204" pitchFamily="18" charset="0"/>
                  </a:rPr>
                  <a:t>𝛽_0</a:t>
                </a:r>
                <a:r>
                  <a:rPr lang="en-US" b="0" dirty="0"/>
                  <a:t>) 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6863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952E5-8CA4-311C-2AE2-3B695B167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06A044-0A1E-7946-B371-3EAF3EA4D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F0AFA88-02FD-F2D5-ABE3-8E53DA0711E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0" indent="-298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Char char="●"/>
                  <a:tabLst/>
                  <a:defRPr/>
                </a:pPr>
                <a:r>
                  <a:rPr lang="en-US" b="0" dirty="0"/>
                  <a:t>Note: the +1s are to account for the 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)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F0AFA88-02FD-F2D5-ABE3-8E53DA0711E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0" indent="-298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Char char="●"/>
                  <a:tabLst/>
                  <a:defRPr/>
                </a:pPr>
                <a:r>
                  <a:rPr lang="en-US" b="0" dirty="0"/>
                  <a:t>Note: the +1s are to account for the intercept (</a:t>
                </a:r>
                <a:r>
                  <a:rPr lang="en-US" b="0" i="0">
                    <a:latin typeface="Cambria Math" panose="02040503050406030204" pitchFamily="18" charset="0"/>
                  </a:rPr>
                  <a:t>𝛽_0</a:t>
                </a:r>
                <a:r>
                  <a:rPr lang="en-US" b="0" dirty="0"/>
                  <a:t>) 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537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7A0E7-C495-7BB4-FF6F-B2CCCF078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1A101-74EC-FF64-9A98-B4A05C49A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DE4BDAC-6AD9-905C-4579-2FF254E401D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0" indent="-298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Char char="●"/>
                  <a:tabLst/>
                  <a:defRPr/>
                </a:pPr>
                <a:r>
                  <a:rPr lang="en-US" b="0" dirty="0"/>
                  <a:t>Note: the +1s are to account for the 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)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DE4BDAC-6AD9-905C-4579-2FF254E401D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0" indent="-298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Char char="●"/>
                  <a:tabLst/>
                  <a:defRPr/>
                </a:pPr>
                <a:r>
                  <a:rPr lang="en-US" b="0" dirty="0"/>
                  <a:t>Note: the +1s are to account for the intercept (</a:t>
                </a:r>
                <a:r>
                  <a:rPr lang="en-US" b="0" i="0">
                    <a:latin typeface="Cambria Math" panose="02040503050406030204" pitchFamily="18" charset="0"/>
                  </a:rPr>
                  <a:t>𝛽_0</a:t>
                </a:r>
                <a:r>
                  <a:rPr lang="en-US" b="0" dirty="0"/>
                  <a:t>) 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7800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Multiple features is also called MLR (multiple linear regression)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is called the feature vector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Multiple features is also called MLR (multiple linear regression)</a:t>
                </a:r>
              </a:p>
              <a:p>
                <a:r>
                  <a:rPr lang="en-US" i="0" dirty="0">
                    <a:latin typeface="Cambria Math" panose="02040503050406030204" pitchFamily="18" charset="0"/>
                  </a:rPr>
                  <a:t>𝑥_𝑖</a:t>
                </a:r>
                <a:r>
                  <a:rPr lang="en-US" dirty="0"/>
                  <a:t>is called the feature vector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4723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B5C1C-3004-D7E1-6FFD-A6F500211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BA86D-2323-683D-E5E3-13AE15DAE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DD1A0-58F5-EBAC-DEB4-620E9A183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Multiple features is also called MLR (multiple linear regression)</a:t>
            </a:r>
          </a:p>
        </p:txBody>
      </p:sp>
    </p:spTree>
    <p:extLst>
      <p:ext uri="{BB962C8B-B14F-4D97-AF65-F5344CB8AC3E}">
        <p14:creationId xmlns:p14="http://schemas.microsoft.com/office/powerpoint/2010/main" val="1850959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Typically call this threshold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b="0" dirty="0"/>
                  <a:t> value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Typically call this threshold the </a:t>
                </a:r>
                <a:r>
                  <a:rPr lang="en-US" b="0" i="0">
                    <a:latin typeface="Cambria Math" panose="02040503050406030204" pitchFamily="18" charset="0"/>
                  </a:rPr>
                  <a:t>𝛼</a:t>
                </a:r>
                <a:r>
                  <a:rPr lang="en-US" b="0" dirty="0"/>
                  <a:t> value 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63232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is sample size, k is number of predictors/features </a:t>
            </a:r>
          </a:p>
          <a:p>
            <a:r>
              <a:rPr lang="en-US" dirty="0" err="1"/>
              <a:t>dof</a:t>
            </a:r>
            <a:r>
              <a:rPr lang="en-US" dirty="0"/>
              <a:t> = how many values are still free to vary after imposing constraints or estimate parameters</a:t>
            </a:r>
          </a:p>
        </p:txBody>
      </p:sp>
    </p:spTree>
    <p:extLst>
      <p:ext uri="{BB962C8B-B14F-4D97-AF65-F5344CB8AC3E}">
        <p14:creationId xmlns:p14="http://schemas.microsoft.com/office/powerpoint/2010/main" val="3380495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0A7B2-DA28-833F-E029-8411C4577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8B34C-88F2-C1FA-0CCC-EFFB9CFD7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8C96B9-EA59-20AC-49D8-D5BC5D72C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is sample size, k is number of predictors/features </a:t>
            </a:r>
          </a:p>
          <a:p>
            <a:r>
              <a:rPr lang="en-US" dirty="0" err="1"/>
              <a:t>dof</a:t>
            </a:r>
            <a:r>
              <a:rPr lang="en-US" dirty="0"/>
              <a:t> = how many values are still free to vary after imposing constraints or estimate parameters</a:t>
            </a:r>
          </a:p>
        </p:txBody>
      </p:sp>
    </p:spTree>
    <p:extLst>
      <p:ext uri="{BB962C8B-B14F-4D97-AF65-F5344CB8AC3E}">
        <p14:creationId xmlns:p14="http://schemas.microsoft.com/office/powerpoint/2010/main" val="11978329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9D239-4924-722D-3BE8-3924D62F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FA3867-A359-1E2F-8E15-AED90B9B3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B9843-06B3-7006-BCB8-73880A4F7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is sample size, k is number of predictors/features </a:t>
            </a:r>
          </a:p>
          <a:p>
            <a:r>
              <a:rPr lang="en-US" dirty="0" err="1"/>
              <a:t>dof</a:t>
            </a:r>
            <a:r>
              <a:rPr lang="en-US" dirty="0"/>
              <a:t> = how many values are still free to vary after imposing constraints or estimate parameters</a:t>
            </a:r>
          </a:p>
        </p:txBody>
      </p:sp>
    </p:spTree>
    <p:extLst>
      <p:ext uri="{BB962C8B-B14F-4D97-AF65-F5344CB8AC3E}">
        <p14:creationId xmlns:p14="http://schemas.microsoft.com/office/powerpoint/2010/main" val="3835707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09B99-6170-0A53-5D3A-0B73E6A0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3B532-7D98-27F3-FB76-B281838E55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A3A5D-E15F-907A-858F-B8339D444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is sample size, k is number of predictors/features </a:t>
            </a:r>
          </a:p>
          <a:p>
            <a:r>
              <a:rPr lang="en-US" dirty="0" err="1"/>
              <a:t>dof</a:t>
            </a:r>
            <a:r>
              <a:rPr lang="en-US" dirty="0"/>
              <a:t> = how many values are still free to vary after imposing constraints or estimate parameters</a:t>
            </a:r>
          </a:p>
        </p:txBody>
      </p:sp>
    </p:spTree>
    <p:extLst>
      <p:ext uri="{BB962C8B-B14F-4D97-AF65-F5344CB8AC3E}">
        <p14:creationId xmlns:p14="http://schemas.microsoft.com/office/powerpoint/2010/main" val="30352332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0F838-EB58-00BA-99F6-98091B52A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D91A89-25C2-501F-C5CC-B57058731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4AC47-94AC-4153-19FB-7C8920137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is sample size, k is number of predictors/features </a:t>
            </a:r>
          </a:p>
          <a:p>
            <a:r>
              <a:rPr lang="en-US" dirty="0" err="1"/>
              <a:t>dof</a:t>
            </a:r>
            <a:r>
              <a:rPr lang="en-US" dirty="0"/>
              <a:t> = how many values are still free to vary after imposing constraints or estimate parameters</a:t>
            </a:r>
          </a:p>
        </p:txBody>
      </p:sp>
    </p:spTree>
    <p:extLst>
      <p:ext uri="{BB962C8B-B14F-4D97-AF65-F5344CB8AC3E}">
        <p14:creationId xmlns:p14="http://schemas.microsoft.com/office/powerpoint/2010/main" val="6887014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0D2FD-6A2B-E920-5B68-807EEBFE1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A35BD-538F-C825-D480-4F1AEE381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79DA9D-981C-B6FA-BF97-EA18DE694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is sample size, k is number of predictors/features </a:t>
            </a:r>
          </a:p>
          <a:p>
            <a:r>
              <a:rPr lang="en-US" dirty="0" err="1"/>
              <a:t>dof</a:t>
            </a:r>
            <a:r>
              <a:rPr lang="en-US" dirty="0"/>
              <a:t> = how many values are still free to vary after imposing constraints or estimate parameters</a:t>
            </a:r>
          </a:p>
        </p:txBody>
      </p:sp>
    </p:spTree>
    <p:extLst>
      <p:ext uri="{BB962C8B-B14F-4D97-AF65-F5344CB8AC3E}">
        <p14:creationId xmlns:p14="http://schemas.microsoft.com/office/powerpoint/2010/main" val="13416006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6635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compute the t stat using beta hat for a particular predictor. For an SLR, you’d use beta hat 1</a:t>
            </a:r>
          </a:p>
        </p:txBody>
      </p:sp>
    </p:spTree>
    <p:extLst>
      <p:ext uri="{BB962C8B-B14F-4D97-AF65-F5344CB8AC3E}">
        <p14:creationId xmlns:p14="http://schemas.microsoft.com/office/powerpoint/2010/main" val="23981470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If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b="0" dirty="0"/>
                  <a:t> =</a:t>
                </a:r>
                <a:r>
                  <a:rPr lang="en-US" b="0" baseline="0" dirty="0"/>
                  <a:t> 0.05</a:t>
                </a: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If we have </a:t>
                </a:r>
                <a:r>
                  <a:rPr lang="en-US" b="0" i="0">
                    <a:latin typeface="Cambria Math" panose="02040503050406030204" pitchFamily="18" charset="0"/>
                  </a:rPr>
                  <a:t>𝛼</a:t>
                </a:r>
                <a:r>
                  <a:rPr lang="en-US" b="0" dirty="0"/>
                  <a:t> =</a:t>
                </a:r>
                <a:r>
                  <a:rPr lang="en-US" b="0" baseline="0" dirty="0"/>
                  <a:t> 0.05</a:t>
                </a:r>
                <a:endParaRPr lang="en-US" b="0" dirty="0"/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8315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Non-example: Y = beta_0 + beta_1^2x_1</a:t>
            </a:r>
          </a:p>
        </p:txBody>
      </p:sp>
    </p:spTree>
    <p:extLst>
      <p:ext uri="{BB962C8B-B14F-4D97-AF65-F5344CB8AC3E}">
        <p14:creationId xmlns:p14="http://schemas.microsoft.com/office/powerpoint/2010/main" val="14139447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Scattered around 0 because assumption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0" dirty="0"/>
                  <a:t>. This</a:t>
                </a:r>
                <a:r>
                  <a:rPr lang="en-US" b="0" baseline="0" dirty="0"/>
                  <a:t> is a consequence of the fact that OLS regression minimizes the sum of squared residuals</a:t>
                </a:r>
                <a:endParaRPr lang="en-US" b="0" dirty="0"/>
              </a:p>
              <a:p>
                <a:r>
                  <a:rPr lang="en-US" b="0" dirty="0"/>
                  <a:t>Constant thickness because the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is constant,</a:t>
                </a:r>
                <a:r>
                  <a:rPr lang="en-US" b="0" baseline="0" dirty="0"/>
                  <a:t> not a function</a:t>
                </a:r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Scattered around 0 because assumption is </a:t>
                </a:r>
                <a:r>
                  <a:rPr lang="en-US" b="0" i="0">
                    <a:latin typeface="Cambria Math" panose="02040503050406030204" pitchFamily="18" charset="0"/>
                  </a:rPr>
                  <a:t>𝜖_𝑖∼"i.i.d " 𝒩(0,𝜎^2 )</a:t>
                </a:r>
                <a:r>
                  <a:rPr lang="en-US" b="0" dirty="0"/>
                  <a:t>. This</a:t>
                </a:r>
                <a:r>
                  <a:rPr lang="en-US" b="0" baseline="0" dirty="0"/>
                  <a:t> is a consequence of the fact that OLS regression minimizes the sum of squared residuals</a:t>
                </a:r>
                <a:endParaRPr lang="en-US" b="0" dirty="0"/>
              </a:p>
              <a:p>
                <a:r>
                  <a:rPr lang="en-US" b="0" dirty="0"/>
                  <a:t>Constant thickness because the variance </a:t>
                </a:r>
                <a:r>
                  <a:rPr lang="en-US" b="0" i="0">
                    <a:latin typeface="Cambria Math" panose="02040503050406030204" pitchFamily="18" charset="0"/>
                  </a:rPr>
                  <a:t>𝜎^2</a:t>
                </a:r>
                <a:r>
                  <a:rPr lang="en-US" b="0" dirty="0"/>
                  <a:t> is constant,</a:t>
                </a:r>
                <a:r>
                  <a:rPr lang="en-US" b="0" baseline="0" dirty="0"/>
                  <a:t> not a function</a:t>
                </a:r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54056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Multicollinearity </a:t>
            </a:r>
            <a:r>
              <a:rPr lang="en-US" dirty="0">
                <a:sym typeface="Wingdings" pitchFamily="2" charset="2"/>
              </a:rPr>
              <a:t> feature to feature (k features) dependence whereas assumption 2 here is referring to the observations themselves (n observations)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376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26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5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7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7.xml"/><Relationship Id="rId7" Type="http://schemas.openxmlformats.org/officeDocument/2006/relationships/image" Target="../media/image26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5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7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0.xml"/><Relationship Id="rId7" Type="http://schemas.openxmlformats.org/officeDocument/2006/relationships/image" Target="../media/image26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5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7.sv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3.xml"/><Relationship Id="rId7" Type="http://schemas.openxmlformats.org/officeDocument/2006/relationships/image" Target="../media/image26.sv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5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7.sv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6.xml"/><Relationship Id="rId7" Type="http://schemas.openxmlformats.org/officeDocument/2006/relationships/image" Target="../media/image26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5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7.sv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9.xml"/><Relationship Id="rId7" Type="http://schemas.openxmlformats.org/officeDocument/2006/relationships/image" Target="../media/image26.sv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5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7.sv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22.xml"/><Relationship Id="rId7" Type="http://schemas.openxmlformats.org/officeDocument/2006/relationships/image" Target="../media/image26.sv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5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7.sv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 to Linear Regression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CS 506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68A1-E7DF-CB53-E61C-E3B099CB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motivation for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B6F8797-B989-6C9C-AC7E-B10CE117B3E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26517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In classification, we looked to predict on a set of classes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that are discrete given a set of data points.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B6F8797-B989-6C9C-AC7E-B10CE117B3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2651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111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5F268-FEAD-0201-FA8A-26CB14A84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8DCC6-0A57-8218-1678-830844622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motivation for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E84651E-D848-46B9-0B29-169D7AB60FA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26517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In classification, we looked to predict on a set of classes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that are discrete given a set of data points.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In regression,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0" dirty="0"/>
                  <a:t> is now a continuous variable.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E84651E-D848-46B9-0B29-169D7AB60F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2651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2366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42450-D8A4-6EEE-A260-4E1900A64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0E58E-C485-51B2-54B7-1A4ACE0C8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motivation for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E678696-3F6D-CED3-1C1A-23E5096F871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26517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In classification, we looked to predict on a set of classes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that are discrete given a set of data points.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In regression,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0" dirty="0"/>
                  <a:t> is now a continuous variable.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Our task is now to explain how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0" dirty="0"/>
                  <a:t> varies as a function of data points,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E678696-3F6D-CED3-1C1A-23E5096F87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2651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5170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37F95-77FA-BDAE-6117-9507D8515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EC3C8-8A62-48C1-9281-8CE8CC59C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motivation for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9C9B3E8-41AA-3D4A-BF49-8663C2D270E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26517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In classification, we looked to predict on a set of classes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that are discrete given a set of data points.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In regression,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0" dirty="0"/>
                  <a:t> is now a continuous variable.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Our task is now to explain how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0" dirty="0"/>
                  <a:t> varies as a function of data points,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i.e., find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0" dirty="0"/>
                  <a:t> that best fits our data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9C9B3E8-41AA-3D4A-BF49-8663C2D270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2651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504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25FBA-ADE2-1B17-297D-35D1481EC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52668-FBCE-B3BD-B681-7B58AE611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motivation for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3F943F7-36B0-9AA9-59FE-21AA71D0AA8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26517"/>
              </a:xfrm>
            </p:spPr>
            <p:txBody>
              <a:bodyPr>
                <a:normAutofit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In classification, we looked to predict on a set of classes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that are discrete given a set of data points.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In regression,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0" dirty="0"/>
                  <a:t> is now a continuous variable.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Our task is now to explain how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0" dirty="0"/>
                  <a:t> varies as a function of data points,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i.e., find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0" dirty="0"/>
                  <a:t> that best fits our data</a:t>
                </a:r>
              </a:p>
              <a:p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Linear regression: our data was generated by a linear function plus some noise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acc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3F943F7-36B0-9AA9-59FE-21AA71D0AA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2651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6208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9A29B-8EDB-2A80-FC06-CFA1BAF2D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54E01-43FA-FFF5-7B5B-10B70CF36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motivation for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BBAF177-F8F9-3E33-F7CE-B72B1C11288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877176"/>
              </a:xfrm>
            </p:spPr>
            <p:txBody>
              <a:bodyPr>
                <a:normAutofit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In classification, we looked to predict on a set of classes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that are discrete given a set of data points.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In regression,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0" dirty="0"/>
                  <a:t> is now a continuous variable.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Our task is now to explain how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0" dirty="0"/>
                  <a:t> varies as a function of data points,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i.e., find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0" dirty="0"/>
                  <a:t> that best fits our data</a:t>
                </a:r>
              </a:p>
              <a:p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Linear regression: our data was generated by a linear function plus some noise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acc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1" dirty="0"/>
                  <a:t>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en-US" b="1" dirty="0"/>
                  <a:t> is linear in parameter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0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BBAF177-F8F9-3E33-F7CE-B72B1C1128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87717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5772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42B38-F20B-1CFA-CE41-18CAB8BF0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Linear regression at a high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3F3E14E-38FA-8675-1A8A-3F4543224B6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Where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observations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predictors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3F3E14E-38FA-8675-1A8A-3F4543224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4452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DF852-4312-6B26-46CD-14FF6D878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809A7-FCBF-32C5-E0C8-CBC0B7226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Linear regression at a high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D3A61E5-E2BB-B120-ED20-56578D4127B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Where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observations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predictors </a:t>
                </a:r>
              </a:p>
              <a:p>
                <a:r>
                  <a:rPr lang="en-US" dirty="0"/>
                  <a:t>Predicts a continuous outcome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D3A61E5-E2BB-B120-ED20-56578D4127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9709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C337D-F8CF-CF81-91B4-04B956DE6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F3F2A-D803-FD5D-2092-F38B514B8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Linear regression at a high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D86446B-7B5B-CE47-C860-E11732EBFA2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Where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observations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predictors </a:t>
                </a:r>
              </a:p>
              <a:p>
                <a:r>
                  <a:rPr lang="en-US" dirty="0"/>
                  <a:t>Predicts a continuous outcome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r>
                  <a:rPr lang="en-US" b="0" dirty="0"/>
                  <a:t>Assumes the mean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dirty="0"/>
                  <a:t> is a linear function of the predictors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D86446B-7B5B-CE47-C860-E11732EBF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7670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89A59-3613-6C0E-FD05-B011BD7B0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6DDC2-B5EB-27AD-E239-A09050095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Linear regression at a high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D26AF3E-705E-F044-5E9F-F2839B77F99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Where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observations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predictors </a:t>
                </a:r>
              </a:p>
              <a:p>
                <a:r>
                  <a:rPr lang="en-US" dirty="0"/>
                  <a:t>Predicts a continuous outcome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r>
                  <a:rPr lang="en-US" b="0" dirty="0"/>
                  <a:t>Assumes the mean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dirty="0"/>
                  <a:t> is a linear function of the predictors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/>
                  <a:t>Fits coefficients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) by minimizing the sum of squared errors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D26AF3E-705E-F044-5E9F-F2839B77F9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603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D65FD-3F62-2AE0-9C46-0567ADB36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73105-4963-5F9C-56C8-C1BD8B294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Linear regression at a high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62DA01E-A351-EE03-7FA8-73A6CBC69F4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Where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observations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predictors </a:t>
                </a:r>
              </a:p>
              <a:p>
                <a:r>
                  <a:rPr lang="en-US" dirty="0"/>
                  <a:t>Predicts a continuous outcome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r>
                  <a:rPr lang="en-US" b="0" dirty="0"/>
                  <a:t>Assumes the mean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dirty="0"/>
                  <a:t> is a linear function of the predictors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/>
                  <a:t>Fits coefficients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) by minimizing the sum of squared errors</a:t>
                </a:r>
              </a:p>
              <a:p>
                <a:r>
                  <a:rPr lang="en-US" b="0" dirty="0"/>
                  <a:t>Coefficient</a:t>
                </a:r>
                <a:r>
                  <a:rPr lang="en-US" dirty="0"/>
                  <a:t>s describe </a:t>
                </a:r>
                <a:r>
                  <a:rPr lang="en-US" b="0" dirty="0"/>
                  <a:t>how predictors are related to the outcome</a:t>
                </a:r>
              </a:p>
              <a:p>
                <a:endParaRPr lang="en-US" b="0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62DA01E-A351-EE03-7FA8-73A6CBC69F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7148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347B5-B550-5647-7EA0-265AD9B89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F4FFA-7013-4360-F8BF-6310EE4BD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Linear regression at a high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0461010-6DAA-7A64-307E-9184B1E5364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Where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observations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predictors </a:t>
                </a:r>
              </a:p>
              <a:p>
                <a:r>
                  <a:rPr lang="en-US" dirty="0"/>
                  <a:t>Predicts a continuous outcome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r>
                  <a:rPr lang="en-US" b="0" dirty="0"/>
                  <a:t>Assumes the mean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dirty="0"/>
                  <a:t> is a linear function of the predictors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/>
                  <a:t>Fits coefficients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) by minimizing the sum of squared errors</a:t>
                </a:r>
              </a:p>
              <a:p>
                <a:r>
                  <a:rPr lang="en-US" b="0" dirty="0"/>
                  <a:t>Coefficient</a:t>
                </a:r>
                <a:r>
                  <a:rPr lang="en-US" dirty="0"/>
                  <a:t>s describe </a:t>
                </a:r>
                <a:r>
                  <a:rPr lang="en-US" b="0" dirty="0"/>
                  <a:t>how predictors are related to the outcome</a:t>
                </a:r>
              </a:p>
              <a:p>
                <a:r>
                  <a:rPr lang="en-US" dirty="0"/>
                  <a:t>Useful for both prediction and interpretation</a:t>
                </a: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0461010-6DAA-7A64-307E-9184B1E536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5358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1C7C6-7279-B98A-1407-8378C889A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18050"/>
            <a:ext cx="8520600" cy="707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Linear Regression Cost Function</a:t>
            </a:r>
          </a:p>
        </p:txBody>
      </p:sp>
    </p:spTree>
    <p:extLst>
      <p:ext uri="{BB962C8B-B14F-4D97-AF65-F5344CB8AC3E}">
        <p14:creationId xmlns:p14="http://schemas.microsoft.com/office/powerpoint/2010/main" val="562305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CA28E-9474-9197-17C4-4F39C53E6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132F6-E47F-3D55-A5C7-C0826A46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cost function (single feature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66770C4-9CD7-EAC1-CF5F-82541129A7A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Given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b="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66770C4-9CD7-EAC1-CF5F-82541129A7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0794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1A4C8-7C1B-8A85-5164-FB16C508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F95D-72CB-BF2C-5103-5A899A042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cost function (single feature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B2AE580-772E-324A-FB89-23FFB9878FA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Given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b="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Suppose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0" dirty="0"/>
                  <a:t>. Compare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B2AE580-772E-324A-FB89-23FFB9878F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7779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D0BA0-38ED-7253-131B-24A133D21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37B6-25BE-207D-CA6A-86D2054B5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cost function (single feature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0FE17A8-C6FF-8A61-E378-E5937783FE1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75545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Given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b="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Suppose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0" dirty="0"/>
                  <a:t>. Compare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i.e., compare estimated value to true value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0FE17A8-C6FF-8A61-E378-E5937783FE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7554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8270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5A35F-1359-7A05-60AC-7DA30D577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DE776-6450-D1F1-3B50-778FF6FA1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cost function (single feature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0B8C26B-9235-9E21-91BE-1F20025B83F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562529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Given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b="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Suppose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0" dirty="0"/>
                  <a:t>. Compare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i.e., compare estimated value to true value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Goal: for a distance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b="0" dirty="0"/>
                  <a:t> find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b="0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b="0" dirty="0"/>
                  <a:t> is smallest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0B8C26B-9235-9E21-91BE-1F20025B8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56252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6110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81F9F-FF9C-9BEF-035A-AF82AC0DF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6B64C-BA54-5B40-4F63-FABA8B7A9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cost function (single feature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CCFBF4-A11D-3675-5B26-07B521F844F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603626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Given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b="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Suppose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0" dirty="0"/>
                  <a:t>. Compare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i.e., compare estimated value to true value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Goal: for a distance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b="0" dirty="0"/>
                  <a:t> find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b="0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b="0" dirty="0"/>
                  <a:t> is smallest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CCFBF4-A11D-3675-5B26-07B521F844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603626"/>
              </a:xfrm>
              <a:blipFill>
                <a:blip r:embed="rId2"/>
                <a:stretch>
                  <a:fillRect b="-31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135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DA80E-09BC-5C39-420F-F7E7C04AF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cost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5F19FB8-E85B-2640-0D14-66BE6D6C024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26517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one feature. 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5F19FB8-E85B-2640-0D14-66BE6D6C0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2651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1430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A144C-6AFD-CDA0-6C2D-4E85629E0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2A8B5-F224-086C-C698-F60B1D8B5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cost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75167A0-991D-35AD-DEA2-1AB55F34EA2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26517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one feature.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If we had multiple features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b="0" dirty="0"/>
                  <a:t> is the number of features,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75167A0-991D-35AD-DEA2-1AB55F34EA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2651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2277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F5C0E-D41F-331D-694C-F6E36F95D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DDE7F-F81B-64DB-4B02-519AA2D4D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cost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82789E-857E-3E37-8FE0-AEF7025DFDB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26517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one feature.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If we had multiple features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b="0" dirty="0"/>
                  <a:t> is the number of features,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r>
                  <a:rPr lang="en-US" dirty="0"/>
                  <a:t>Goal is to learn/estimate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.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82789E-857E-3E37-8FE0-AEF7025DFD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2651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1614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8ED89-7B53-E0F9-B149-AAC01DCAB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955C1-967D-EF03-C224-33824DBB7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18050"/>
            <a:ext cx="8520600" cy="707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Least Squares Parameter Estimation</a:t>
            </a:r>
          </a:p>
        </p:txBody>
      </p:sp>
    </p:spTree>
    <p:extLst>
      <p:ext uri="{BB962C8B-B14F-4D97-AF65-F5344CB8AC3E}">
        <p14:creationId xmlns:p14="http://schemas.microsoft.com/office/powerpoint/2010/main" val="1940305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590CC-3A38-ACA9-8765-4706EBE1C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7614-FF89-7782-A611-3ABC9DDC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Least squares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56CB363-B7A3-BE67-DB9A-A614B1832ED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LS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arg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56CB363-B7A3-BE67-DB9A-A614B1832E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0378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5CC16-B431-5F2B-798A-682574E05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57F80-BD1A-2769-E987-28C63CF48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Least squares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35D4720-67C2-E3F0-68B5-EFA7406707B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LS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arg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”Find the parameter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b="0" dirty="0"/>
                  <a:t> that minimizes the distance between our estimated values and true values.”</a:t>
                </a: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35D4720-67C2-E3F0-68B5-EFA7406707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192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2DA6A-6E9D-70A0-6546-1F5EFBD96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E7573-E0F2-B4BE-BAFA-504A4936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Least squares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5DDD7B4-5468-F8F4-F33B-6A9335C1D9F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LS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arg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”Find the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b="0" dirty="0"/>
                  <a:t> that minimizes the distance between our estimated values and true values.”</a:t>
                </a: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Can also frame this as an MLE problem: “find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b="0" dirty="0"/>
                  <a:t> that maximizes the probability of having observed the data we have seen given it was sampled from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b="0" dirty="0"/>
                  <a:t>”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5DDD7B4-5468-F8F4-F33B-6A9335C1D9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4138" b="-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22459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3EB42-6273-71E9-B6B7-8FA16A624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0E41F-4B0C-5D89-44AF-D8EC8A88F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Unbiased Estimator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B3A722F-880F-CAEF-1253-B6ADD02832C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LS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B3A722F-880F-CAEF-1253-B6ADD02832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65603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FA59A-FAD8-D5F8-D8DD-C5E0EE983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DE9CD-04EA-0581-8DF8-6C5AF8091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Unbiased Estimator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6B03591-277F-41ED-C83B-84B82845497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LS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This means that, on average, over many samples it does not over- or under-estimate the true value.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6B03591-277F-41ED-C83B-84B8284549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19404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4FEBFD-1E89-8D30-D799-78E047F6F01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FA3CA0-09FA-FA21-6DF8-3353BE98113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The estimate beta_hat is a random variable with mean beta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F4C7C1-8FF8-7DFE-8F89-FC1F228D9DB1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5C4A0E0-86FD-8875-B8C7-3D06A391774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232EC7D3-02F9-37C9-7617-BA12775F1526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7FB5CD2-AAA4-7B3A-2C7D-F6DCA478749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1136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9366E9-4C07-6771-CB09-EFA49A980B8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3307D9-65F4-3C34-73D4-A2C48F2BCAE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According to linear regression, the following is a valid linear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E31FEF-C08A-743F-0B07-0313DC74EE8D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4F100DE-9C37-8E9B-214B-E924D0A1560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F1A4CC52-DF96-C9C0-CFF2-042B761924F1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C22676C-1BE7-3653-0FD0-E8214988CEF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8102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8E45BB-E912-20C5-AC40-2DAE19EA80C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94D9F7-F800-8FC0-EDA2-981D3CA5ABB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According to linear regression, the following is a valid linear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EC0F98-BBF0-5D94-14B4-C6E12839A895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F8F58C8-194B-B626-AA88-6D6216A2590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F5428A8D-D4E1-E23B-C69D-AD5F9144FB25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FF5C23-3FA2-887B-A363-62CFE6A3239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4062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1E9D4-468C-F253-0C94-03F27B73B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Hypothesis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570E47-DCE2-19CD-0F71-6F799C10882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The null hypothesis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)</a:t>
                </a:r>
                <a:r>
                  <a:rPr lang="en-US" dirty="0"/>
                  <a:t> is a fundamental assumption that no significant difference, relationship, or effect exists between variables. 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570E47-DCE2-19CD-0F71-6F799C1088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78985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FB890-2360-25EE-1AB1-49D3A403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A8AF0-E458-8C8E-0D65-8C73F8314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Hypothesis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C037CBB-9AC8-840D-A6CD-6EBF0DC399A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The null hypothesis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)</a:t>
                </a:r>
                <a:r>
                  <a:rPr lang="en-US" dirty="0"/>
                  <a:t> is a fundamental assumption that no significant difference, relationship, or effect exists between variables.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The alternate hypothesis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) contradicts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 claiming that there does exist a significant relationship between variables. </a:t>
                </a: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C037CBB-9AC8-840D-A6CD-6EBF0DC39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77843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807DE-BA9E-C542-4477-2F46B38CD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predicting exam scores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E6B66-B8ED-605D-16D9-9C1D9DF09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Suppose we are trying to use an ordinary linear regression to predict student exam scores given a single feature study-time. 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045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622A9-F07F-B903-1C19-40291F1E3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AAEFB-D728-B518-D6D1-A7C9FFB88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predicting exam scores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E70C7-2798-9075-110A-8A154CB5B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Suppose we are trying to use an ordinary linear regression to predict student exam scores given a single feature study-time.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Here is our null hypothesis</a:t>
            </a:r>
          </a:p>
        </p:txBody>
      </p:sp>
    </p:spTree>
    <p:extLst>
      <p:ext uri="{BB962C8B-B14F-4D97-AF65-F5344CB8AC3E}">
        <p14:creationId xmlns:p14="http://schemas.microsoft.com/office/powerpoint/2010/main" val="12282552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CB6E1-75CB-4269-F5BB-6CC419293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97666-238E-65E4-32C1-E2BCA5517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predicting exam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DD4EA0A-A264-AA35-A0E4-479AA15629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Suppose we are trying to use an ordinary linear regression to predict student exam scores given a single feature study-time.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Here is our null hypothesis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0</m:t>
                    </m:r>
                  </m:oMath>
                </a14:m>
                <a:r>
                  <a:rPr lang="en-US" dirty="0"/>
                  <a:t> (study-time has no impact on exam score)</a:t>
                </a: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DD4EA0A-A264-AA35-A0E4-479AA15629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61310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0272B-AB7E-1D1C-0BD3-362F563E8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Predicting exam scores - formulating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4FA7135-7985-044A-880A-D8277374AC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0</m:t>
                    </m:r>
                  </m:oMath>
                </a14:m>
                <a:r>
                  <a:rPr lang="en-US" b="0" dirty="0"/>
                  <a:t> (study-time has no impact on exam score)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4FA7135-7985-044A-880A-D8277374AC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8929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B42CC-EE82-9268-15D7-57FA37379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5189-122F-CAFD-A2DF-205B4DF64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Predicting exam scores - formulating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9F6F98F-D62A-0A41-F7E5-E7FF0063896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0</m:t>
                    </m:r>
                  </m:oMath>
                </a14:m>
                <a:r>
                  <a:rPr lang="en-US" b="0" dirty="0"/>
                  <a:t> (study-time has no impact on exam score)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Now what are some possible alternate hypotheses?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9F6F98F-D62A-0A41-F7E5-E7FF006389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70028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CA275-9CD1-286E-37DC-20A7ACE0F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AAC7B-27EC-4A39-8B35-AB31C696D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Predicting exam scores - formulating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5B4AB3-E1D6-0D02-40DA-63CD9ABB243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0</m:t>
                    </m:r>
                  </m:oMath>
                </a14:m>
                <a:r>
                  <a:rPr lang="en-US" b="0" dirty="0"/>
                  <a:t> (study-time has no impact on exam score)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Now what are some possible alternate hypotheses?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b="0" dirty="0"/>
                  <a:t> (study-time has a positive impact on exam score)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5B4AB3-E1D6-0D02-40DA-63CD9ABB24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11211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09087-A518-592B-D961-73AEC59FA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EA98D-B4C3-D47C-D3D6-7618FD349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Predicting exam scores - formulating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0BAAD57-464E-E993-DB31-75044473ADB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0</m:t>
                    </m:r>
                  </m:oMath>
                </a14:m>
                <a:r>
                  <a:rPr lang="en-US" b="0" dirty="0"/>
                  <a:t> (study-time has no impact on exam score)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Now what are some possible alternate hypotheses?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b="0" dirty="0"/>
                  <a:t> (study-time has a positive impact on exam score)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b="0" dirty="0"/>
                  <a:t> (study-time has a negative impact on exam score)</a:t>
                </a:r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0BAAD57-464E-E993-DB31-75044473AD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43643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23D0E-2ED5-19A3-BC9A-BC6AEE64A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424F2-0AB8-2E30-DA99-B81BFFE1D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Predicting exam scores - formulating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9A814E-18FF-F65D-8DD7-3338A9A8158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0</m:t>
                    </m:r>
                  </m:oMath>
                </a14:m>
                <a:r>
                  <a:rPr lang="en-US" b="0" dirty="0"/>
                  <a:t> (study-time has no impact on exam score)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Now what are some possible alternate hypotheses?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b="0" dirty="0"/>
                  <a:t> (study-time has a positive impact on exam score)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b="0" dirty="0"/>
                  <a:t> (study-time has a negative impact on exam score)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b="0" dirty="0"/>
                  <a:t> (study-time has some impact on exam score)</a:t>
                </a:r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9A814E-18FF-F65D-8DD7-3338A9A815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64792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21A80-9C2F-1173-C93F-AE441340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76C26-3C01-D6D1-792A-12DD709C7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Predicting exam scores - formulating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DC56E86-CA7C-0896-9801-AB608FDC9DD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47464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0</m:t>
                    </m:r>
                  </m:oMath>
                </a14:m>
                <a:r>
                  <a:rPr lang="en-US" b="0" dirty="0"/>
                  <a:t> (study-time has no impact on exam score)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Now what are some possible alternate hypotheses?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b="0" dirty="0"/>
                  <a:t> (study-time has a positive impact on exam score)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b="0" dirty="0"/>
                  <a:t> (study-time has a negative impact on exam score)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b="0" dirty="0"/>
                  <a:t> (study-time has some impact on exam score)</a:t>
                </a:r>
              </a:p>
              <a:p>
                <a:endParaRPr lang="en-US" b="0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These are one-tailed hypotheses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DC56E86-CA7C-0896-9801-AB608FDC9D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4746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24BDABD-2588-93B8-A833-9435C582199F}"/>
              </a:ext>
            </a:extLst>
          </p:cNvPr>
          <p:cNvSpPr txBox="1"/>
          <p:nvPr/>
        </p:nvSpPr>
        <p:spPr>
          <a:xfrm>
            <a:off x="821933" y="2571750"/>
            <a:ext cx="6369977" cy="70570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2066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35311-F5EC-EF2B-A04A-3E8F6ECBA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62DCE-46A0-0A8F-4ED8-D122626C5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Predicting exam scores - formulating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F18FC42-49BC-738E-DDA3-A9766742A69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47464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0</m:t>
                    </m:r>
                  </m:oMath>
                </a14:m>
                <a:r>
                  <a:rPr lang="en-US" b="0" dirty="0"/>
                  <a:t> (study-time has no impact on exam score)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Now what are some possible alternate hypotheses?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b="0" dirty="0"/>
                  <a:t> (study-time has a positive impact on exam score)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b="0" dirty="0"/>
                  <a:t> (study-time has a negative impact on exam score)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b="0" dirty="0"/>
                  <a:t> (study-time has some impact on exam score)</a:t>
                </a:r>
              </a:p>
              <a:p>
                <a:endParaRPr lang="en-US" b="0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This is a two-tailed hypothesis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F18FC42-49BC-738E-DDA3-A9766742A6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4746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1C3E41D-7344-FDBC-AF76-535AAC2F7E43}"/>
              </a:ext>
            </a:extLst>
          </p:cNvPr>
          <p:cNvSpPr txBox="1"/>
          <p:nvPr/>
        </p:nvSpPr>
        <p:spPr>
          <a:xfrm>
            <a:off x="801386" y="3215776"/>
            <a:ext cx="5907640" cy="3801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0074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BA7EE-7F59-0C23-337F-0CBFF3D2D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Hypothesis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300DF-CB00-25C4-A5C6-D5886C322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want to find a quantitative metric to test our null hypothesis. </a:t>
            </a:r>
          </a:p>
        </p:txBody>
      </p:sp>
    </p:spTree>
    <p:extLst>
      <p:ext uri="{BB962C8B-B14F-4D97-AF65-F5344CB8AC3E}">
        <p14:creationId xmlns:p14="http://schemas.microsoft.com/office/powerpoint/2010/main" val="3175524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DD3DF-7602-86DE-4B7A-89153C2AE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D36F3-AFBE-FB0B-B5CF-A0751AAEE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Hypothesis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DF892-BA7A-90AB-4219-EE1D31737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want to find a quantitative metric to test our null hypothesis.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We can either reject or fail to reject the null hypothesis.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b="0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5391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826A1-86D0-78BF-2A76-6161209DA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A056B-4683-0818-4F4E-D75345D59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Hypothesis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5804A40-10FB-FFEE-8F86-3CB63D3617B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We want to find a quantitative metric to test our null hypothesis.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We can either reject or fail to reject the null hypothesis.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i="1" dirty="0"/>
                  <a:t>Fail to reject null hypothesis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b="0" i="1" dirty="0"/>
                  <a:t> null hypothesis is true!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5804A40-10FB-FFEE-8F86-3CB63D3617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01730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92A9B-5EB9-8A2A-0BEB-D6D8A4130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D3343-DC41-C880-BF20-9EEC8B3D6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Hypothesis testing – p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545364D-8E2B-224A-7786-F73C3456A70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val</m:t>
                        </m:r>
                      </m:sub>
                    </m:sSub>
                  </m:oMath>
                </a14:m>
                <a:r>
                  <a:rPr lang="en-US" dirty="0"/>
                  <a:t> tells us the likelihood of seeing the data we saw (i.e., observations) under the assumption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)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545364D-8E2B-224A-7786-F73C3456A7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04246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F421D-6E34-72E3-C77E-ED4490B69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559B-CEDE-7CEC-D1C2-3E7CD2F3F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Hypothesis testing – p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6DD3A76-B82C-6B00-79C9-186D1969B24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val</m:t>
                        </m:r>
                      </m:sub>
                    </m:sSub>
                  </m:oMath>
                </a14:m>
                <a:r>
                  <a:rPr lang="en-US" dirty="0"/>
                  <a:t> tells us the likelihood of seeing the data we saw (i.e., observations) under the assumption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If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val</m:t>
                        </m:r>
                      </m:sub>
                    </m:sSub>
                  </m:oMath>
                </a14:m>
                <a:r>
                  <a:rPr lang="en-US" b="0" dirty="0"/>
                  <a:t> is under some threshold, that means the likelihood of seeing th</a:t>
                </a:r>
                <a:r>
                  <a:rPr lang="en-US" dirty="0"/>
                  <a:t>e observed data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 is low </a:t>
                </a:r>
                <a:r>
                  <a:rPr lang="en-US" b="0" dirty="0">
                    <a:sym typeface="Wingdings" pitchFamily="2" charset="2"/>
                  </a:rPr>
                  <a:t> the assumption is unlikely to be true 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endParaRPr lang="en-US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endParaRPr lang="en-US" b="0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endParaRPr lang="en-US" b="0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endParaRPr lang="en-US" b="0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6DD3A76-B82C-6B00-79C9-186D1969B2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2494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4073F-BC03-88B0-58E1-4EC5F9A4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EFAF0-65E2-955C-4748-50E53BB7A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Hypothesis testing – p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32994FF-5A72-A75F-DCC5-4BAC7114649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val</m:t>
                        </m:r>
                      </m:sub>
                    </m:sSub>
                  </m:oMath>
                </a14:m>
                <a:r>
                  <a:rPr lang="en-US" dirty="0"/>
                  <a:t> tells us the likelihood of seeing the data we saw (i.e., observations) under the assumption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If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val</m:t>
                        </m:r>
                      </m:sub>
                    </m:sSub>
                  </m:oMath>
                </a14:m>
                <a:r>
                  <a:rPr lang="en-US" b="0" dirty="0"/>
                  <a:t> is under some threshold, that means the likelihood of seeing th</a:t>
                </a:r>
                <a:r>
                  <a:rPr lang="en-US" dirty="0"/>
                  <a:t>e observed data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 is low </a:t>
                </a:r>
                <a:r>
                  <a:rPr lang="en-US" b="0" dirty="0">
                    <a:sym typeface="Wingdings" pitchFamily="2" charset="2"/>
                  </a:rPr>
                  <a:t> the assumption is unlikely to be true 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endParaRPr lang="en-US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r>
                  <a:rPr lang="en-US" b="0" dirty="0">
                    <a:sym typeface="Wingdings" pitchFamily="2" charset="2"/>
                  </a:rPr>
                  <a:t>If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val</m:t>
                        </m:r>
                      </m:sub>
                    </m:sSub>
                  </m:oMath>
                </a14:m>
                <a:r>
                  <a:rPr lang="en-US" b="0" dirty="0">
                    <a:sym typeface="Wingdings" pitchFamily="2" charset="2"/>
                  </a:rPr>
                  <a:t> is over some threshold, we likely fail to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endParaRPr lang="en-US" b="0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endParaRPr lang="en-US" b="0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endParaRPr lang="en-US" b="0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32994FF-5A72-A75F-DCC5-4BAC711464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26583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DCAD7-FB5A-9078-052F-0D3106FC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Hypothesis testing - Deriving the p value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AEA69-4B87-C507-D340-E4CCA4249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typically conduct hypothesis testing in linear regression using a t-distribution. </a:t>
            </a:r>
          </a:p>
        </p:txBody>
      </p:sp>
    </p:spTree>
    <p:extLst>
      <p:ext uri="{BB962C8B-B14F-4D97-AF65-F5344CB8AC3E}">
        <p14:creationId xmlns:p14="http://schemas.microsoft.com/office/powerpoint/2010/main" val="10188839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CF02F-8AB5-D4A0-0051-4A5FB955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8EC6D-01ED-E394-8F07-6253EB993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Hypothesis testing - Deriving the p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5EBBBD6-E969-B509-4128-F8FD36560CB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We typically conduct hypothesis testing in linear regression using a t-distribution.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Usual steps for obtaining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val</m:t>
                        </m:r>
                      </m:sub>
                    </m:sSub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5EBBBD6-E969-B509-4128-F8FD36560C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1235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EDC58-B538-EE24-6C08-CCD4BCE55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019A7-5AC9-5B7D-1ACB-E5CF10E34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Hypothesis testing - Deriving the p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CEC5BDC-DFA7-FAA6-BBC5-CB760FDB825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We typically conduct hypothesis testing in linear regression using a t-distribution.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Usual steps for obtaining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val</m:t>
                        </m:r>
                      </m:sub>
                    </m:sSub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CEC5BDC-DFA7-FAA6-BBC5-CB760FDB82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37335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A2213-3849-6F34-7304-020F235ED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ED287-4BD6-AA9A-B8CC-192CC0B8C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Hypothesis testing - Deriving the p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C9FE96C-7798-AF9A-3ACD-4C9AFA82E4D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We typically conduct hypothesis testing in linear regression using a t-distribution.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Usual steps for obtaining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val</m:t>
                        </m:r>
                      </m:sub>
                    </m:sSub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C9FE96C-7798-AF9A-3ACD-4C9AFA82E4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34867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FA3A3-B95A-82FC-8505-2DD6C7B36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49A0A-22DA-6671-5BF6-DF264C35F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Hypothesis testing - Deriving the p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2AE83C1-584F-B2C0-427D-71013531706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We typically conduct hypothesis testing in linear regression using a t-distribution.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Usual steps for obtaining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val</m:t>
                        </m:r>
                      </m:sub>
                    </m:sSub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Form a t-statistic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2AE83C1-584F-B2C0-427D-7101353170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0155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9169F-6386-63CB-B206-1E3683DD5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00450-55E6-BF26-475C-52FA710A9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Hypothesis testing - Deriving the p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91E114E-AF04-7632-E387-0DA3C36A17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We typically conduct hypothesis testing in linear regression using a t-distribution.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Usual steps for obtaining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val</m:t>
                        </m:r>
                      </m:sub>
                    </m:sSub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Form a t-statistic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Integrate over </a:t>
                </a:r>
                <a:r>
                  <a:rPr lang="en-US" b="0" dirty="0"/>
                  <a:t>t-distribution PDF to get p-values using appropriate degrees of freedom (usually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b="0" dirty="0"/>
                  <a:t>)</a:t>
                </a:r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91E114E-AF04-7632-E387-0DA3C36A17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39781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9EF25E-FACB-3FFE-3E24-4CE9012AFB1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Deriving the p value -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br>
                  <a:rPr lang="en-US" b="1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9EF25E-FACB-3FFE-3E24-4CE9012AFB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786" t="-1786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1A8492B-7A19-946C-1802-BC77EFBF3D9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654996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For least squares regression, we use the following formula: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or for single linear regression (one predictor):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acc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b="0" dirty="0"/>
                  <a:t> is the matrix of predictors and their associated sample values,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dirty="0"/>
                  <a:t> is the sample value of the response variable for each observation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1A8492B-7A19-946C-1802-BC77EFBF3D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654996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14663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6FA25F9-00EF-A4F8-7011-8689FF8CE2E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Deriving the p value – compute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𝑺𝑬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</m:d>
                  </m:oMath>
                </a14:m>
                <a:br>
                  <a:rPr lang="en-US" b="1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6FA25F9-00EF-A4F8-7011-8689FF8CE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86" t="-1786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79649-BB24-35C2-39B8-30A293340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8520600" cy="374746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The standard error tells us how much coefficients may shift if we repeatedly collected new samples from the same population and refit the model</a:t>
            </a:r>
          </a:p>
        </p:txBody>
      </p:sp>
    </p:spTree>
    <p:extLst>
      <p:ext uri="{BB962C8B-B14F-4D97-AF65-F5344CB8AC3E}">
        <p14:creationId xmlns:p14="http://schemas.microsoft.com/office/powerpoint/2010/main" val="13476639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3C4F4-26F5-D720-3FFF-018E5EDBC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E21749F-E712-76C5-820F-028C8FE5291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Deriving the p value – compute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𝑺𝑬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</m:d>
                  </m:oMath>
                </a14:m>
                <a:br>
                  <a:rPr lang="en-US" b="1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E21749F-E712-76C5-820F-028C8FE529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86" t="-1786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43474-3CC2-D8CC-C0A7-76F97F32A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8520600" cy="374746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The standard error tells us how much coefficients may shift if we repeatedly collected new samples from the same population and refit the model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We calculate standard error by square rooting the diagonal entries of the covariance matrix given by</a:t>
            </a:r>
          </a:p>
        </p:txBody>
      </p:sp>
    </p:spTree>
    <p:extLst>
      <p:ext uri="{BB962C8B-B14F-4D97-AF65-F5344CB8AC3E}">
        <p14:creationId xmlns:p14="http://schemas.microsoft.com/office/powerpoint/2010/main" val="13462477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7AC84-DEE3-A8D6-C99A-F23CAA1F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A540175-3E0A-5043-2B5A-9BA3C1C18A7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Deriving the p value – compute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𝑺𝑬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</m:d>
                  </m:oMath>
                </a14:m>
                <a:br>
                  <a:rPr lang="en-US" b="1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A540175-3E0A-5043-2B5A-9BA3C1C18A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86" t="-1786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EDF6F0C-CA35-E8BE-229B-7B2D932107F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47464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The standard error tells us how much coefficients may shift if we repeatedly collected new samples from the same population and refit the model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We calculate standard error by square rooting the diagonal entries of the covariance matrix given by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EDF6F0C-CA35-E8BE-229B-7B2D932107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4746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41776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D8922-CFCF-062B-A0C2-E41F4C86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D692E93-BF18-AB17-B50E-9478AE68486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Deriving the p value – compute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𝑺𝑬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</m:d>
                  </m:oMath>
                </a14:m>
                <a:br>
                  <a:rPr lang="en-US" b="1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D692E93-BF18-AB17-B50E-9478AE6848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86" t="-1786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B4D6589-BF34-515B-7526-BE98573228B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47464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The standard error tells us how much coefficients may shift if we repeatedly collected new samples from the same population and refit the model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We calculate standard error by square rooting the diagonal entries of the covariance matrix given by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As you may imagine, there is a concrete formula for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𝑆𝐸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11430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B4D6589-BF34-515B-7526-BE98573228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4746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97920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24F23-5FB5-1B78-C405-2649BD23C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the p value – form a t-statistic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78A9663-0E3A-8395-FC34-65F6E08E996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stat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Note: the ”- 0” portion varies based on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 value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78A9663-0E3A-8395-FC34-65F6E08E99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24818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73B9A-6462-BD2E-8D6C-E90CD3981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the p value – integrate over t-distribution PDF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70DB5-D515-A55F-1A16-23225FF99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We’ll skip the integration </a:t>
            </a:r>
            <a:r>
              <a:rPr lang="en-US" dirty="0">
                <a:sym typeface="Wingdings" pitchFamily="2" charset="2"/>
              </a:rPr>
              <a:t>;-)</a:t>
            </a:r>
          </a:p>
        </p:txBody>
      </p:sp>
    </p:spTree>
    <p:extLst>
      <p:ext uri="{BB962C8B-B14F-4D97-AF65-F5344CB8AC3E}">
        <p14:creationId xmlns:p14="http://schemas.microsoft.com/office/powerpoint/2010/main" val="42372787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768C5-B636-9DDE-38D6-D19B87697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5D37F-6AC8-4DF4-BFF0-26DBA1A5A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Deriving the p value – integrate over t-distribution PDF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631C170-F385-CEAB-FB82-F07670F0F76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We’ll skip the integration </a:t>
                </a:r>
                <a:r>
                  <a:rPr lang="en-US" dirty="0">
                    <a:sym typeface="Wingdings" pitchFamily="2" charset="2"/>
                  </a:rPr>
                  <a:t>;-)</a:t>
                </a:r>
              </a:p>
              <a:p>
                <a:pPr marL="114300" indent="0">
                  <a:buNone/>
                </a:pPr>
                <a:endParaRPr lang="en-US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r>
                  <a:rPr lang="en-US" dirty="0">
                    <a:sym typeface="Wingdings" pitchFamily="2" charset="2"/>
                  </a:rPr>
                  <a:t>If our p value is less than 5%, that means (under perfect assumptions) we will </a:t>
                </a:r>
                <a:r>
                  <a:rPr lang="en-US" b="1" dirty="0">
                    <a:sym typeface="Wingdings" pitchFamily="2" charset="2"/>
                  </a:rPr>
                  <a:t>falsely</a:t>
                </a:r>
                <a:r>
                  <a:rPr lang="en-US" dirty="0">
                    <a:sym typeface="Wingdings" pitchFamily="2" charset="2"/>
                  </a:rPr>
                  <a:t>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>
                    <a:sym typeface="Wingdings" pitchFamily="2" charset="2"/>
                  </a:rPr>
                  <a:t> 5% of the time.</a:t>
                </a:r>
              </a:p>
              <a:p>
                <a:pPr marL="114300" indent="0">
                  <a:buNone/>
                </a:pPr>
                <a:endParaRPr lang="en-US" b="0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endParaRPr lang="en-US" b="0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endParaRPr lang="en-US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endParaRPr lang="en-US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endParaRPr lang="en-US" b="0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endParaRPr lang="en-US" b="0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631C170-F385-CEAB-FB82-F07670F0F7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r="-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497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A37952-04ED-246E-6340-646CC757E6C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011BDA-56CD-40BA-9A4B-4F3E6496520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Let’s say alpha = 5%. What are we likely to conclude if we get a p-value of 0.03?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CD5D2B-3E15-ECCE-D53D-9C0515C7457C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6224FBF-F376-6313-6AF8-CB32A611C83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8835C55B-3950-D02F-AFF2-E5EA94A7A28E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726860F-B1F5-4412-8528-4F1549A8336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59909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6F88B-E36F-0275-0E07-2D90B8CD5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18050"/>
            <a:ext cx="8520600" cy="707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Linear Regression Assumptions</a:t>
            </a:r>
          </a:p>
        </p:txBody>
      </p:sp>
    </p:spTree>
    <p:extLst>
      <p:ext uri="{BB962C8B-B14F-4D97-AF65-F5344CB8AC3E}">
        <p14:creationId xmlns:p14="http://schemas.microsoft.com/office/powerpoint/2010/main" val="377034672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A6D4E-B1DA-B0BC-4ACD-939DADBA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Assumptions for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7021555-9F80-FB84-4E01-4A082916A42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The relationship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(independent variable)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dirty="0"/>
                  <a:t> (dependent variable) </a:t>
                </a:r>
                <a:r>
                  <a:rPr lang="en-US" b="1" dirty="0"/>
                  <a:t>is linear in parameter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7021555-9F80-FB84-4E01-4A082916A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973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EEA13-C9F4-1D8D-29CC-19FDEE0CC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D8591-028C-F586-576D-4DBAD9425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Assumptions for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196D24A-54DE-319C-AC3A-F2825D543FA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The relationship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(independent variable)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dirty="0"/>
                  <a:t> (dependent variable) is linear in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196D24A-54DE-319C-AC3A-F2825D543F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21356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3497B-B7D1-091F-C499-05060E23C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B57DC-1AA7-0E14-A4C2-C717EE781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Assumptions for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E576999-050F-8A76-C8D6-608DE052249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The relationship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(independent variable)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dirty="0"/>
                  <a:t> (dependent variable) is linear in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Independent observations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E576999-050F-8A76-C8D6-608DE05224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78258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27581-6BB2-AEB4-A337-0F8E95F0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4D591-B81E-8A0B-08AB-F066629D9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Assumptions for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19BED75-3E4F-4B20-17D4-9970215004D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The relationship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(independent variable)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dirty="0"/>
                  <a:t> (dependent variable) is linear in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Independent observations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Homoscedasticity (constant variance of residuals/error term)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19BED75-3E4F-4B20-17D4-9970215004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55020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0BE1F-CBC7-EE72-9334-14379D010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668A-DEEF-097A-FCF2-800880D7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Assumptions for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EF8D8D5-93F7-77B3-A801-CEA903BA6A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The relationship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(independent variable)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dirty="0"/>
                  <a:t> (dependent variable) is linear in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Independent observations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Homoscedasticity (constant variance of residuals/error term)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No/low multicollinearity (independent variables are uncorrelated)</a:t>
                </a: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EF8D8D5-93F7-77B3-A801-CEA903BA6A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8861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19F35-6385-F145-6E62-95AD2AD04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check the assumptions?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871EE-0A1D-772C-55D1-E99E2C535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US" dirty="0"/>
              <a:t>Linearity relationship between predictors and outcome: examine the residual vs. fitted plot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8206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B037B-9DFA-1D5E-AD15-242F655E4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0D531-B673-0948-FD47-361F61B71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check the assumptions?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921B9-4EF1-75E1-8CDE-B1B32F361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US" dirty="0"/>
              <a:t>Linearity relationship between predictors and outcome: examine the residual vs. fitted plot</a:t>
            </a:r>
          </a:p>
          <a:p>
            <a:pPr lvl="1"/>
            <a:r>
              <a:rPr lang="en-US" dirty="0"/>
              <a:t>Goal is to have no observable pattern in the residual plot. 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49689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EF569D-5B35-1CA5-54BC-E482812B4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445510"/>
            <a:ext cx="6818423" cy="4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529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5D99A-E21C-4D73-C7C9-DDAB6BE3B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E66520-D02F-80F3-F1F9-FA11F6A4C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445510"/>
            <a:ext cx="6818423" cy="434239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34FCFF2-3178-B042-1DBD-1D0FABCA2D23}"/>
              </a:ext>
            </a:extLst>
          </p:cNvPr>
          <p:cNvCxnSpPr>
            <a:cxnSpLocks/>
          </p:cNvCxnSpPr>
          <p:nvPr/>
        </p:nvCxnSpPr>
        <p:spPr>
          <a:xfrm flipV="1">
            <a:off x="1378039" y="2343955"/>
            <a:ext cx="3284113" cy="19318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1AF389A-4322-C7EE-69BF-0D7A70511154}"/>
              </a:ext>
            </a:extLst>
          </p:cNvPr>
          <p:cNvSpPr txBox="1"/>
          <p:nvPr/>
        </p:nvSpPr>
        <p:spPr>
          <a:xfrm>
            <a:off x="425003" y="4275786"/>
            <a:ext cx="3052293" cy="738664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Ideally the line of best fit is something like this. Just a horizontal line!</a:t>
            </a:r>
          </a:p>
        </p:txBody>
      </p:sp>
    </p:spTree>
    <p:extLst>
      <p:ext uri="{BB962C8B-B14F-4D97-AF65-F5344CB8AC3E}">
        <p14:creationId xmlns:p14="http://schemas.microsoft.com/office/powerpoint/2010/main" val="174220367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CAF98-2EA8-19ED-942F-53718F0EC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EDE447-C2E1-F15F-594C-B3E6B2373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727" y="526230"/>
            <a:ext cx="5132546" cy="409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93321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43143-8BB6-CDF7-9E6C-EE35CEA0D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41E876-8574-F4A6-2E9D-970729569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727" y="526230"/>
            <a:ext cx="5132546" cy="409103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ED2B842-BF23-0E86-9299-20802BABBB95}"/>
              </a:ext>
            </a:extLst>
          </p:cNvPr>
          <p:cNvCxnSpPr>
            <a:cxnSpLocks/>
          </p:cNvCxnSpPr>
          <p:nvPr/>
        </p:nvCxnSpPr>
        <p:spPr>
          <a:xfrm flipH="1" flipV="1">
            <a:off x="5060272" y="2024109"/>
            <a:ext cx="1423552" cy="22238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7D01C78-C02F-0C62-5457-A3766B6C0621}"/>
              </a:ext>
            </a:extLst>
          </p:cNvPr>
          <p:cNvSpPr txBox="1"/>
          <p:nvPr/>
        </p:nvSpPr>
        <p:spPr>
          <a:xfrm>
            <a:off x="5530788" y="4247937"/>
            <a:ext cx="3052293" cy="738664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no good! We can discern a parabolic structure </a:t>
            </a:r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itchFamily="2" charset="2"/>
              </a:rPr>
              <a:t> we may not have linearity.</a:t>
            </a:r>
            <a:endParaRPr lang="en-US" dirty="0">
              <a:solidFill>
                <a:schemeClr val="bg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97919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70A16-9969-D720-C3C9-BEEAE25A7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575A6-6D45-057E-1023-51D6C5AE2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check the assumptions?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406EA-5409-4F7C-165B-4551B46D9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US" dirty="0"/>
              <a:t>Linearity relationship between predictors and outcome: examine the residual vs. fitted plot</a:t>
            </a:r>
          </a:p>
          <a:p>
            <a:pPr>
              <a:buAutoNum type="arabicPeriod"/>
            </a:pPr>
            <a:r>
              <a:rPr lang="en-US" dirty="0"/>
              <a:t>Independence of observations</a:t>
            </a:r>
          </a:p>
        </p:txBody>
      </p:sp>
    </p:spTree>
    <p:extLst>
      <p:ext uri="{BB962C8B-B14F-4D97-AF65-F5344CB8AC3E}">
        <p14:creationId xmlns:p14="http://schemas.microsoft.com/office/powerpoint/2010/main" val="192150317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FF746-10F6-28BB-C274-BA4A28E00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C589C-41A2-355A-591A-9C6AF251E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check the assumptions?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56391-D815-2FBF-48FB-FCF3C842A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US" dirty="0"/>
              <a:t>Linearity relationship between predictors and outcome: examine the residual vs. fitted plot</a:t>
            </a:r>
          </a:p>
          <a:p>
            <a:pPr>
              <a:buAutoNum type="arabicPeriod"/>
            </a:pPr>
            <a:r>
              <a:rPr lang="en-US" dirty="0"/>
              <a:t>Independence of observations</a:t>
            </a:r>
          </a:p>
          <a:p>
            <a:pPr lvl="1"/>
            <a:r>
              <a:rPr lang="en-US" dirty="0"/>
              <a:t>This can be understood qualitatively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92001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FC587-1352-5A96-179E-76280561A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0287C-9535-048C-328E-E8A98EF5A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check the assumptions?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E15E0-95CC-399E-6E83-912D4BF8C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US" dirty="0"/>
              <a:t>Linearity relationship between predictors and outcome: examine the residual vs. fitted plot</a:t>
            </a:r>
          </a:p>
          <a:p>
            <a:pPr>
              <a:buAutoNum type="arabicPeriod"/>
            </a:pPr>
            <a:r>
              <a:rPr lang="en-US" dirty="0"/>
              <a:t>Independence of observations</a:t>
            </a:r>
          </a:p>
          <a:p>
            <a:pPr lvl="1"/>
            <a:r>
              <a:rPr lang="en-US" dirty="0"/>
              <a:t>This can be understood qualitatively </a:t>
            </a:r>
          </a:p>
          <a:p>
            <a:pPr lvl="1"/>
            <a:r>
              <a:rPr lang="en-US" dirty="0"/>
              <a:t>We can also create a residual vs. observation order plot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67284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64EFE-5F84-771F-CC42-F2D0806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7352-907F-5666-C571-037A6F3A3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check the assumptions?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13E3492-A2AC-B8D3-690C-7F2F81360B0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AutoNum type="arabicPeriod"/>
                </a:pPr>
                <a:r>
                  <a:rPr lang="en-US" dirty="0"/>
                  <a:t>Linearity relationship between predictors and outcome: examine the residual vs. fitted plot</a:t>
                </a:r>
              </a:p>
              <a:p>
                <a:pPr>
                  <a:buAutoNum type="arabicPeriod"/>
                </a:pPr>
                <a:r>
                  <a:rPr lang="en-US" dirty="0"/>
                  <a:t>Independence of observations</a:t>
                </a:r>
              </a:p>
              <a:p>
                <a:pPr lvl="1"/>
                <a:r>
                  <a:rPr lang="en-US" dirty="0"/>
                  <a:t>This can be understood qualitatively </a:t>
                </a:r>
              </a:p>
              <a:p>
                <a:pPr lvl="1"/>
                <a:r>
                  <a:rPr lang="en-US" dirty="0"/>
                  <a:t>We can also create a residual vs. observation order plot</a:t>
                </a:r>
              </a:p>
              <a:p>
                <a:pPr lvl="2"/>
                <a:r>
                  <a:rPr lang="en-US" dirty="0"/>
                  <a:t>Since we expect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b="0" dirty="0"/>
                  <a:t>to be independent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b="0" dirty="0"/>
                  <a:t>, you would expect there to be no discernable relationship between residuals for neighboring observations. </a:t>
                </a:r>
              </a:p>
              <a:p>
                <a:pPr lvl="2"/>
                <a:endParaRPr lang="en-US" b="0" dirty="0"/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13E3492-A2AC-B8D3-690C-7F2F81360B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763984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50AD2-B7C1-0436-880E-29E506958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43129-43C2-D3ED-1CE2-82CA74C39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check the assumptions?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B40680C-969D-8C6D-FE63-6AE3A756189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AutoNum type="arabicPeriod"/>
                </a:pPr>
                <a:r>
                  <a:rPr lang="en-US" dirty="0"/>
                  <a:t>Linearity relationship between predictors and outcome: examine the residual vs. fitted plot</a:t>
                </a:r>
              </a:p>
              <a:p>
                <a:pPr>
                  <a:buAutoNum type="arabicPeriod"/>
                </a:pPr>
                <a:r>
                  <a:rPr lang="en-US" dirty="0"/>
                  <a:t>Independence of observations</a:t>
                </a:r>
              </a:p>
              <a:p>
                <a:pPr lvl="1"/>
                <a:r>
                  <a:rPr lang="en-US" dirty="0"/>
                  <a:t>This can be understood qualitatively </a:t>
                </a:r>
              </a:p>
              <a:p>
                <a:pPr lvl="1"/>
                <a:r>
                  <a:rPr lang="en-US" dirty="0"/>
                  <a:t>We can also create a residual vs. observation order plot</a:t>
                </a:r>
              </a:p>
              <a:p>
                <a:pPr lvl="2"/>
                <a:r>
                  <a:rPr lang="en-US" dirty="0"/>
                  <a:t>Since we expect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b="0" dirty="0"/>
                  <a:t>to be independent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b="0" dirty="0"/>
                  <a:t>, you would expect there to be no discernable relationship between residuals for neighboring observations. </a:t>
                </a:r>
              </a:p>
              <a:p>
                <a:pPr lvl="2"/>
                <a:r>
                  <a:rPr lang="en-US" dirty="0"/>
                  <a:t>Caveat: this only applies for ordered observations (e.g., observations are ordered by time)!</a:t>
                </a:r>
                <a:endParaRPr lang="en-US" b="0" dirty="0"/>
              </a:p>
              <a:p>
                <a:pPr lvl="2"/>
                <a:endParaRPr lang="en-US" b="0" dirty="0"/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B40680C-969D-8C6D-FE63-6AE3A75618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84677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66D487-100B-1B82-7010-A9A65E2B06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92" r="47459"/>
          <a:stretch>
            <a:fillRect/>
          </a:stretch>
        </p:blipFill>
        <p:spPr>
          <a:xfrm>
            <a:off x="1880099" y="1232054"/>
            <a:ext cx="5383802" cy="267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11049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30C0F-75CA-A38A-19B6-526503DF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5CAA46-E5C0-D966-0B37-1529B38C22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92" r="47459"/>
          <a:stretch>
            <a:fillRect/>
          </a:stretch>
        </p:blipFill>
        <p:spPr>
          <a:xfrm>
            <a:off x="1880099" y="1232054"/>
            <a:ext cx="5383802" cy="2679391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7423013-E6AD-4D4F-B1DA-51B74FF5C509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2374777" y="2885243"/>
            <a:ext cx="1194046" cy="1180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F30A66F-3DBB-7BBE-7A61-051C7E7FAA98}"/>
              </a:ext>
            </a:extLst>
          </p:cNvPr>
          <p:cNvSpPr txBox="1"/>
          <p:nvPr/>
        </p:nvSpPr>
        <p:spPr>
          <a:xfrm>
            <a:off x="648070" y="4065969"/>
            <a:ext cx="3453413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what we expect from independent observations. The residuals just look like noise distributed around mean 0!</a:t>
            </a:r>
          </a:p>
        </p:txBody>
      </p:sp>
    </p:spTree>
    <p:extLst>
      <p:ext uri="{BB962C8B-B14F-4D97-AF65-F5344CB8AC3E}">
        <p14:creationId xmlns:p14="http://schemas.microsoft.com/office/powerpoint/2010/main" val="26797679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4121C-3C8A-CCE4-564C-70A62532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BE8096-983F-1622-735A-3FDD63C86D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56"/>
          <a:stretch>
            <a:fillRect/>
          </a:stretch>
        </p:blipFill>
        <p:spPr>
          <a:xfrm>
            <a:off x="685800" y="1288321"/>
            <a:ext cx="7772400" cy="256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90386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3F6A3-38F2-AD21-01C1-95AB8ED3C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EBB7D4-BD8A-A43E-BC31-924563E725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56"/>
          <a:stretch>
            <a:fillRect/>
          </a:stretch>
        </p:blipFill>
        <p:spPr>
          <a:xfrm>
            <a:off x="685800" y="1288321"/>
            <a:ext cx="7772400" cy="256685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23E3EB-5A72-C210-777D-BC71A541AF72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2374777" y="2885243"/>
            <a:ext cx="1194046" cy="1180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10B1194-4129-0D8E-C7C0-46BD1CFE6EDA}"/>
              </a:ext>
            </a:extLst>
          </p:cNvPr>
          <p:cNvSpPr txBox="1"/>
          <p:nvPr/>
        </p:nvSpPr>
        <p:spPr>
          <a:xfrm>
            <a:off x="648070" y="4065969"/>
            <a:ext cx="3453413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appears to be some oscillating behavior here! We may have some autocorrelation </a:t>
            </a:r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itchFamily="2" charset="2"/>
              </a:rPr>
              <a:t> non-independent observations </a:t>
            </a:r>
            <a:endParaRPr lang="en-US" dirty="0">
              <a:solidFill>
                <a:schemeClr val="bg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4204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AC5CE-F565-E89E-55C1-B78DC8789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37E5B-C7FA-7ED4-5139-1C8842968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check the assumptions?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8D7B0-6956-49BB-3395-8C6A687B3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US" dirty="0"/>
              <a:t>Linearity relationship between predictors and outcome: examine the residual vs. fitted plot</a:t>
            </a:r>
          </a:p>
          <a:p>
            <a:pPr>
              <a:buAutoNum type="arabicPeriod"/>
            </a:pPr>
            <a:r>
              <a:rPr lang="en-US" dirty="0"/>
              <a:t>Independence of observations: residual vs. observation order plot</a:t>
            </a:r>
          </a:p>
          <a:p>
            <a:pPr>
              <a:buAutoNum type="arabicPeriod"/>
            </a:pPr>
            <a:r>
              <a:rPr lang="en-US" b="0" dirty="0"/>
              <a:t>Homoscedasticity (constant variance of residuals):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10026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95692-4613-CFEB-42CB-120900316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4D48D-D9AD-785F-A223-3742336AF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check the assumptions?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F0DB1-F75B-DE3C-426D-583634138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US" dirty="0"/>
              <a:t>Linearity relationship between predictors and outcome: examine the residual vs. fitted plot</a:t>
            </a:r>
          </a:p>
          <a:p>
            <a:pPr>
              <a:buAutoNum type="arabicPeriod"/>
            </a:pPr>
            <a:r>
              <a:rPr lang="en-US" dirty="0"/>
              <a:t>Independence of observations: residual vs. observation order plot</a:t>
            </a:r>
          </a:p>
          <a:p>
            <a:pPr>
              <a:buAutoNum type="arabicPeriod"/>
            </a:pPr>
            <a:r>
              <a:rPr lang="en-US" b="0" dirty="0"/>
              <a:t>Homoscedasticity (constant variance of residuals): residual vs. fitted plot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42904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A25A9-BD36-FFCE-9B01-833EC0A0F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302AC-1A5B-9713-DD8C-5077D8C33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check the assumptions?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89021-198E-C958-914F-A13917993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US" dirty="0"/>
              <a:t>Linearity relationship between predictors and outcome: examine the residual vs. fitted plot</a:t>
            </a:r>
          </a:p>
          <a:p>
            <a:pPr>
              <a:buAutoNum type="arabicPeriod"/>
            </a:pPr>
            <a:r>
              <a:rPr lang="en-US" dirty="0"/>
              <a:t>Independence of observations: residual vs. observation order plot</a:t>
            </a:r>
          </a:p>
          <a:p>
            <a:pPr>
              <a:buAutoNum type="arabicPeriod"/>
            </a:pPr>
            <a:r>
              <a:rPr lang="en-US" b="0" dirty="0"/>
              <a:t>Homoscedasticity (constant variance of residuals): residual vs. fitted plot</a:t>
            </a:r>
          </a:p>
          <a:p>
            <a:pPr lvl="1"/>
            <a:r>
              <a:rPr lang="en-US" b="0" dirty="0"/>
              <a:t>We expect residuals to be randomly scattered around 0</a:t>
            </a:r>
          </a:p>
          <a:p>
            <a:pPr lvl="1"/>
            <a:r>
              <a:rPr lang="en-US" dirty="0"/>
              <a:t>Roughly constant “thickness” of residual distribution from left to right</a:t>
            </a:r>
            <a:endParaRPr lang="en-US" b="0" dirty="0"/>
          </a:p>
          <a:p>
            <a:pPr lvl="1">
              <a:buAutoNum type="arabicPeriod"/>
            </a:pPr>
            <a:endParaRPr lang="en-US" b="0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84857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6C2A5A-9752-EB06-C4B3-4FB7F277841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A9A89B-29AF-8C98-C909-4EDECF6CF0B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Does the following plot indicate homoscedasticity?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DEC046-FC24-7CB1-126A-7D5A06945146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F698D09-0483-33B9-FD59-507059289C2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1311BAF4-6010-CDF0-9125-2D42CEAB7943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79CE2B2-04FF-07A5-A361-DBD250AD8E6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65922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A523A1-0EB2-91E5-CCEA-CB7C54A16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336550"/>
            <a:ext cx="7213600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9365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249E8-A9D4-2826-866C-43A30062E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55445F-CFAF-5EB0-281F-29E1DDCDD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336550"/>
            <a:ext cx="7213600" cy="44704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8EF794-0A4C-B2AA-6687-D6F2C75CF2E0}"/>
              </a:ext>
            </a:extLst>
          </p:cNvPr>
          <p:cNvCxnSpPr>
            <a:cxnSpLocks/>
          </p:cNvCxnSpPr>
          <p:nvPr/>
        </p:nvCxnSpPr>
        <p:spPr>
          <a:xfrm flipV="1">
            <a:off x="1811045" y="2334827"/>
            <a:ext cx="1917576" cy="2299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CC2B55C-4AAF-9932-AC1E-26D66CEEA94D}"/>
              </a:ext>
            </a:extLst>
          </p:cNvPr>
          <p:cNvSpPr txBox="1"/>
          <p:nvPr/>
        </p:nvSpPr>
        <p:spPr>
          <a:xfrm>
            <a:off x="1225118" y="4634144"/>
            <a:ext cx="2299317" cy="31959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Centered at 0 is good!</a:t>
            </a:r>
          </a:p>
        </p:txBody>
      </p:sp>
    </p:spTree>
    <p:extLst>
      <p:ext uri="{BB962C8B-B14F-4D97-AF65-F5344CB8AC3E}">
        <p14:creationId xmlns:p14="http://schemas.microsoft.com/office/powerpoint/2010/main" val="131329418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F467E-B111-8851-DEAB-095F9FBA1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F593A7-3881-7A42-6521-3FF0C2655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336550"/>
            <a:ext cx="7213600" cy="44704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2AF299-3F6E-E48A-6B06-0C73667C9095}"/>
              </a:ext>
            </a:extLst>
          </p:cNvPr>
          <p:cNvCxnSpPr>
            <a:cxnSpLocks/>
          </p:cNvCxnSpPr>
          <p:nvPr/>
        </p:nvCxnSpPr>
        <p:spPr>
          <a:xfrm flipV="1">
            <a:off x="1811045" y="2334827"/>
            <a:ext cx="1917576" cy="2299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47D877E-4ACA-7E0B-11D4-B61F5DEA8CF6}"/>
              </a:ext>
            </a:extLst>
          </p:cNvPr>
          <p:cNvSpPr txBox="1"/>
          <p:nvPr/>
        </p:nvSpPr>
        <p:spPr>
          <a:xfrm>
            <a:off x="1225118" y="4634144"/>
            <a:ext cx="2299317" cy="3195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Centered at 0 is good!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F972995-11F3-F87B-3A26-7677183A0716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5539666" y="2571750"/>
            <a:ext cx="1815487" cy="930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792AE4-AAC6-BF34-5605-71C013602F69}"/>
              </a:ext>
            </a:extLst>
          </p:cNvPr>
          <p:cNvSpPr txBox="1"/>
          <p:nvPr/>
        </p:nvSpPr>
        <p:spPr>
          <a:xfrm>
            <a:off x="6205494" y="3502241"/>
            <a:ext cx="2299317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Bowtie shape indicates varying residuals!</a:t>
            </a:r>
          </a:p>
        </p:txBody>
      </p:sp>
    </p:spTree>
    <p:extLst>
      <p:ext uri="{BB962C8B-B14F-4D97-AF65-F5344CB8AC3E}">
        <p14:creationId xmlns:p14="http://schemas.microsoft.com/office/powerpoint/2010/main" val="413064786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3C437-748A-816E-4A0A-EB7A39519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52D6-47B8-8AD1-A76D-C061471DF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check the assumptions?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280C7C-69E7-5074-E6E5-FE83C2CCC91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AutoNum type="arabicPeriod"/>
                </a:pPr>
                <a:r>
                  <a:rPr lang="en-US" dirty="0"/>
                  <a:t>Linearity relationship between predictors and outcome: examine the residual vs. fitted plot</a:t>
                </a:r>
              </a:p>
              <a:p>
                <a:pPr>
                  <a:buAutoNum type="arabicPeriod"/>
                </a:pPr>
                <a:r>
                  <a:rPr lang="en-US" dirty="0"/>
                  <a:t>Independence of observations: residual vs. observation order plot</a:t>
                </a:r>
              </a:p>
              <a:p>
                <a:pPr>
                  <a:buAutoNum type="arabicPeriod"/>
                </a:pPr>
                <a:r>
                  <a:rPr lang="en-US" b="0" dirty="0"/>
                  <a:t>Homoscedasticity (constant variance of residuals): residual vs. fitted plot</a:t>
                </a:r>
              </a:p>
              <a:p>
                <a:pPr>
                  <a:buAutoNum type="arabicPeriod"/>
                </a:pPr>
                <a:r>
                  <a:rPr lang="en-US" dirty="0"/>
                  <a:t>Normality of residuals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0" dirty="0"/>
                  <a:t>)</a:t>
                </a:r>
              </a:p>
              <a:p>
                <a:pPr>
                  <a:buAutoNum type="arabicPeriod"/>
                </a:pPr>
                <a:endParaRPr lang="en-US" b="0" dirty="0"/>
              </a:p>
              <a:p>
                <a:pPr>
                  <a:buAutoNum type="arabicPeriod"/>
                </a:pPr>
                <a:endParaRPr lang="en-US" b="0" dirty="0"/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280C7C-69E7-5074-E6E5-FE83C2CCC9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468447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BDF76-D44C-AEB8-D347-AD2F2121A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0F87E-59B5-A4F0-6B0E-C1575E7A7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check the assumptions?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4B8081E-B6E5-752D-1619-8ED9F1FEECF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AutoNum type="arabicPeriod"/>
                </a:pPr>
                <a:r>
                  <a:rPr lang="en-US" dirty="0"/>
                  <a:t>Linearity relationship between predictors and outcome: examine the residual vs. fitted plot</a:t>
                </a:r>
              </a:p>
              <a:p>
                <a:pPr>
                  <a:buAutoNum type="arabicPeriod"/>
                </a:pPr>
                <a:r>
                  <a:rPr lang="en-US" dirty="0"/>
                  <a:t>Independence of observations: residual vs. observation order plot</a:t>
                </a:r>
              </a:p>
              <a:p>
                <a:pPr>
                  <a:buAutoNum type="arabicPeriod"/>
                </a:pPr>
                <a:r>
                  <a:rPr lang="en-US" b="0" dirty="0"/>
                  <a:t>Homoscedasticity (constant variance of residuals): residual vs. fitted plot</a:t>
                </a:r>
              </a:p>
              <a:p>
                <a:pPr>
                  <a:buAutoNum type="arabicPeriod"/>
                </a:pPr>
                <a:r>
                  <a:rPr lang="en-US" dirty="0"/>
                  <a:t>Normality of residuals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0" dirty="0"/>
                  <a:t>): normal quantile-quantile plot</a:t>
                </a:r>
              </a:p>
              <a:p>
                <a:pPr>
                  <a:buAutoNum type="arabicPeriod"/>
                </a:pPr>
                <a:endParaRPr lang="en-US" b="0" dirty="0"/>
              </a:p>
              <a:p>
                <a:pPr>
                  <a:buAutoNum type="arabicPeriod"/>
                </a:pPr>
                <a:endParaRPr lang="en-US" b="0" dirty="0"/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4B8081E-B6E5-752D-1619-8ED9F1FEEC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42422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F8171-3E0C-4CBE-5FF6-4C4F222AC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1B9CC-D616-F951-B20A-1633787FC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check the assumptions?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A0C1749-BF68-6BF7-1483-B0D7AE1096C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AutoNum type="arabicPeriod"/>
                </a:pPr>
                <a:r>
                  <a:rPr lang="en-US" dirty="0"/>
                  <a:t>Linearity relationship between predictors and outcome: examine the residual vs. fitted plot</a:t>
                </a:r>
              </a:p>
              <a:p>
                <a:pPr>
                  <a:buAutoNum type="arabicPeriod"/>
                </a:pPr>
                <a:r>
                  <a:rPr lang="en-US" dirty="0"/>
                  <a:t>Independence of observations: residual vs. observation order plot</a:t>
                </a:r>
              </a:p>
              <a:p>
                <a:pPr>
                  <a:buAutoNum type="arabicPeriod"/>
                </a:pPr>
                <a:r>
                  <a:rPr lang="en-US" b="0" dirty="0"/>
                  <a:t>Homoscedasticity (constant variance of residuals): residual vs. fitted plot</a:t>
                </a:r>
              </a:p>
              <a:p>
                <a:pPr>
                  <a:buAutoNum type="arabicPeriod"/>
                </a:pPr>
                <a:r>
                  <a:rPr lang="en-US" dirty="0"/>
                  <a:t>Normality of residuals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0" dirty="0"/>
                  <a:t>): normal quantile-quantile plot</a:t>
                </a:r>
              </a:p>
              <a:p>
                <a:pPr lvl="1"/>
                <a:r>
                  <a:rPr lang="en-US" b="0" dirty="0"/>
                  <a:t>A quantile is the value for which a particular percentage of values are contained belo</a:t>
                </a:r>
                <a:r>
                  <a:rPr lang="en-US" dirty="0"/>
                  <a:t>w it. E.g., the 50% quantile of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b="0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since 50% of values would be below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for a large sample.</a:t>
                </a:r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>
                  <a:buAutoNum type="arabicPeriod"/>
                </a:pPr>
                <a:endParaRPr lang="en-US" b="0" dirty="0"/>
              </a:p>
              <a:p>
                <a:pPr>
                  <a:buAutoNum type="arabicPeriod"/>
                </a:pPr>
                <a:endParaRPr lang="en-US" b="0" dirty="0"/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A0C1749-BF68-6BF7-1483-B0D7AE1096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047187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9AA8F-4928-E9E1-67AC-7176D2847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4A27-CB41-8055-00AC-84CB65D9A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check the assumptions?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37DAB35-DCD0-9D86-8952-00FFAF37D34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AutoNum type="arabicPeriod"/>
                </a:pPr>
                <a:r>
                  <a:rPr lang="en-US" dirty="0"/>
                  <a:t>Linearity relationship between predictors and outcome: examine the residual vs. fitted plot</a:t>
                </a:r>
              </a:p>
              <a:p>
                <a:pPr>
                  <a:buAutoNum type="arabicPeriod"/>
                </a:pPr>
                <a:r>
                  <a:rPr lang="en-US" dirty="0"/>
                  <a:t>Independence of observations: residual vs. observation order plot</a:t>
                </a:r>
              </a:p>
              <a:p>
                <a:pPr>
                  <a:buAutoNum type="arabicPeriod"/>
                </a:pPr>
                <a:r>
                  <a:rPr lang="en-US" b="0" dirty="0"/>
                  <a:t>Homoscedasticity (constant variance of residuals): residual vs. fitted plot</a:t>
                </a:r>
              </a:p>
              <a:p>
                <a:pPr>
                  <a:buAutoNum type="arabicPeriod"/>
                </a:pPr>
                <a:r>
                  <a:rPr lang="en-US" dirty="0"/>
                  <a:t>Normality of residuals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0" dirty="0"/>
                  <a:t>): normal quantile-quantile plot</a:t>
                </a:r>
              </a:p>
              <a:p>
                <a:pPr lvl="1"/>
                <a:r>
                  <a:rPr lang="en-US" b="0" dirty="0"/>
                  <a:t>A quantile is the value for which a particular percentage of values are contained belo</a:t>
                </a:r>
                <a:r>
                  <a:rPr lang="en-US" dirty="0"/>
                  <a:t>w it. E.g., the 50% quantile of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b="0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since 50% of values would be below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for a large sample.</a:t>
                </a:r>
              </a:p>
              <a:p>
                <a:pPr lvl="1"/>
                <a:r>
                  <a:rPr lang="en-US" dirty="0"/>
                  <a:t>Plot sample residual quantiles versus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0" dirty="0"/>
                  <a:t> theoretical quantiles</a:t>
                </a:r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>
                  <a:buAutoNum type="arabicPeriod"/>
                </a:pPr>
                <a:endParaRPr lang="en-US" b="0" dirty="0"/>
              </a:p>
              <a:p>
                <a:pPr>
                  <a:buAutoNum type="arabicPeriod"/>
                </a:pPr>
                <a:endParaRPr lang="en-US" b="0" dirty="0"/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37DAB35-DCD0-9D86-8952-00FFAF37D3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55750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0D178C-0FF3-CB33-92FE-414C709E9C4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A513C5-9B14-8D4D-FC7B-D93AC644FBC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Does this NQQ plot support the normality of residuals assumption?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223B6E-08F6-6A14-D0CE-2BABEECCC27C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4999346-A4AB-30D3-D29B-278E03DC122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F1E6F081-D513-44ED-2A65-65EE8C9C730F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5A58FED-6CB5-201C-C10B-B58520F8DB7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013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CB47C8-78DC-2F59-F6A9-4C5D75815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518" y="661181"/>
            <a:ext cx="4746964" cy="382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97702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DAB3B-D754-4B13-F96A-D64A9F9E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79D956-4A4F-F01C-EF46-E1A612857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518" y="661181"/>
            <a:ext cx="4746964" cy="3821138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33A2E7-BEDE-F415-BEE9-1B50D69F3924}"/>
              </a:ext>
            </a:extLst>
          </p:cNvPr>
          <p:cNvCxnSpPr>
            <a:cxnSpLocks/>
          </p:cNvCxnSpPr>
          <p:nvPr/>
        </p:nvCxnSpPr>
        <p:spPr>
          <a:xfrm flipH="1" flipV="1">
            <a:off x="4722920" y="2876365"/>
            <a:ext cx="1589103" cy="1402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7F49AC-55A3-4A9D-6830-392392145514}"/>
                  </a:ext>
                </a:extLst>
              </p:cNvPr>
              <p:cNvSpPr txBox="1"/>
              <p:nvPr/>
            </p:nvSpPr>
            <p:spPr>
              <a:xfrm>
                <a:off x="5517471" y="4287915"/>
                <a:ext cx="2299317" cy="73866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This is essentially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= 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</m:oMath>
                </a14:m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!</a:t>
                </a:r>
              </a:p>
              <a:p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i.e.</a:t>
                </a:r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, sample distribution = known </a:t>
                </a:r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Wingdings" pitchFamily="2" charset="2"/>
                  </a:rPr>
                  <a:t></a:t>
                </a:r>
                <a:endParaRPr lang="en-US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7F49AC-55A3-4A9D-6830-392392145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471" y="4287915"/>
                <a:ext cx="2299317" cy="738664"/>
              </a:xfrm>
              <a:prstGeom prst="rect">
                <a:avLst/>
              </a:prstGeom>
              <a:blipFill>
                <a:blip r:embed="rId3"/>
                <a:stretch>
                  <a:fillRect l="-546" r="-1639" b="-655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208858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99621-6B40-2E59-315B-A1A891D28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97328-0BFA-08F1-EED1-62F64AAC8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check the assumptions?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F03A7B-248C-8FD0-3203-1539033977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AutoNum type="arabicPeriod"/>
                </a:pPr>
                <a:r>
                  <a:rPr lang="en-US" dirty="0"/>
                  <a:t>Linearity relationship between predictors and outcome: examine the residual vs. fitted plot</a:t>
                </a:r>
              </a:p>
              <a:p>
                <a:pPr>
                  <a:buAutoNum type="arabicPeriod"/>
                </a:pPr>
                <a:r>
                  <a:rPr lang="en-US" dirty="0"/>
                  <a:t>Independence of observations: residual vs. observation order plot</a:t>
                </a:r>
              </a:p>
              <a:p>
                <a:pPr>
                  <a:buAutoNum type="arabicPeriod"/>
                </a:pPr>
                <a:r>
                  <a:rPr lang="en-US" b="0" dirty="0"/>
                  <a:t>Homoscedasticity (constant variance of residuals): residual vs. fitted plot</a:t>
                </a:r>
              </a:p>
              <a:p>
                <a:pPr>
                  <a:buAutoNum type="arabicPeriod"/>
                </a:pPr>
                <a:r>
                  <a:rPr lang="en-US" dirty="0"/>
                  <a:t>Normality of residuals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0" dirty="0"/>
                  <a:t>): normal quantile-quantile plot</a:t>
                </a:r>
              </a:p>
              <a:p>
                <a:pPr>
                  <a:buAutoNum type="arabicPeriod"/>
                </a:pPr>
                <a:r>
                  <a:rPr lang="en-US" b="0" dirty="0"/>
                  <a:t>Low/no multicollinearity: correlation matrix</a:t>
                </a:r>
              </a:p>
              <a:p>
                <a:pPr lvl="1"/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F03A7B-248C-8FD0-3203-1539033977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400861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766E4-8B03-4CD4-D28C-CA8DC03E5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F1CD4-1071-FD9A-063C-0C1C9130C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check the assumptions?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AB4042D-D525-125B-5830-175FBEBD765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AutoNum type="arabicPeriod"/>
                </a:pPr>
                <a:r>
                  <a:rPr lang="en-US" dirty="0"/>
                  <a:t>Linearity relationship between predictors and outcome: examine the residual vs. fitted plot</a:t>
                </a:r>
              </a:p>
              <a:p>
                <a:pPr>
                  <a:buAutoNum type="arabicPeriod"/>
                </a:pPr>
                <a:r>
                  <a:rPr lang="en-US" dirty="0"/>
                  <a:t>Independence of observations: residual vs. observation order plot</a:t>
                </a:r>
              </a:p>
              <a:p>
                <a:pPr>
                  <a:buAutoNum type="arabicPeriod"/>
                </a:pPr>
                <a:r>
                  <a:rPr lang="en-US" b="0" dirty="0"/>
                  <a:t>Homoscedasticity (constant variance of residuals): residual vs. fitted plot</a:t>
                </a:r>
              </a:p>
              <a:p>
                <a:pPr>
                  <a:buAutoNum type="arabicPeriod"/>
                </a:pPr>
                <a:r>
                  <a:rPr lang="en-US" dirty="0"/>
                  <a:t>Normality of residuals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0" dirty="0"/>
                  <a:t>): normal quantile-quantile plot</a:t>
                </a:r>
              </a:p>
              <a:p>
                <a:pPr>
                  <a:buAutoNum type="arabicPeriod"/>
                </a:pPr>
                <a:r>
                  <a:rPr lang="en-US" b="0" dirty="0"/>
                  <a:t>Low/no multicollinearity: correlation matrix</a:t>
                </a:r>
              </a:p>
              <a:p>
                <a:pPr lvl="1"/>
                <a:r>
                  <a:rPr lang="en-US" dirty="0"/>
                  <a:t>We don’t want our features to be related to one another!</a:t>
                </a:r>
                <a:endParaRPr lang="en-US" b="0" dirty="0"/>
              </a:p>
              <a:p>
                <a:pPr lvl="1"/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AB4042D-D525-125B-5830-175FBEBD76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450771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0D8FF-18FA-CC76-27AA-16A9F7F3F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45A65-828F-FFA6-2BBA-266057038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check the assumptions?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F78C97-04E0-BC86-E589-A34B372E1DA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AutoNum type="arabicPeriod"/>
                </a:pPr>
                <a:r>
                  <a:rPr lang="en-US" dirty="0"/>
                  <a:t>Linearity relationship between predictors and outcome: examine the residual vs. fitted plot</a:t>
                </a:r>
              </a:p>
              <a:p>
                <a:pPr>
                  <a:buAutoNum type="arabicPeriod"/>
                </a:pPr>
                <a:r>
                  <a:rPr lang="en-US" dirty="0"/>
                  <a:t>Independence of observations: residual vs. observation order plot</a:t>
                </a:r>
              </a:p>
              <a:p>
                <a:pPr>
                  <a:buAutoNum type="arabicPeriod"/>
                </a:pPr>
                <a:r>
                  <a:rPr lang="en-US" b="0" dirty="0"/>
                  <a:t>Homoscedasticity (constant variance of residuals): residual vs. fitted plot</a:t>
                </a:r>
              </a:p>
              <a:p>
                <a:pPr>
                  <a:buAutoNum type="arabicPeriod"/>
                </a:pPr>
                <a:r>
                  <a:rPr lang="en-US" dirty="0"/>
                  <a:t>Normality of residuals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0" dirty="0"/>
                  <a:t>): normal quantile-quantile plot</a:t>
                </a:r>
              </a:p>
              <a:p>
                <a:pPr>
                  <a:buAutoNum type="arabicPeriod"/>
                </a:pPr>
                <a:r>
                  <a:rPr lang="en-US" b="0" dirty="0"/>
                  <a:t>Low/no multicollinearity: correlation matrix</a:t>
                </a:r>
              </a:p>
              <a:p>
                <a:pPr lvl="1"/>
                <a:r>
                  <a:rPr lang="en-US" dirty="0"/>
                  <a:t>We don’t want our features to be related to one another!</a:t>
                </a:r>
              </a:p>
              <a:p>
                <a:pPr lvl="1"/>
                <a:r>
                  <a:rPr lang="en-US" b="0" dirty="0"/>
                  <a:t>There are many ways to test this. Constructing a correlation matrix is only one of them.</a:t>
                </a:r>
              </a:p>
              <a:p>
                <a:pPr lvl="1"/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F78C97-04E0-BC86-E589-A34B372E1D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878907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51461-229B-C56C-5181-0B8B19BE0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59F30-9DD4-B56E-6F86-907E65BCD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check the assumptions?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A03A229-C746-E8D6-48DB-2141F20503C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AutoNum type="arabicPeriod"/>
                </a:pPr>
                <a:r>
                  <a:rPr lang="en-US" dirty="0"/>
                  <a:t>Linearity relationship between predictors and outcome: examine the residual vs. fitted plot</a:t>
                </a:r>
              </a:p>
              <a:p>
                <a:pPr>
                  <a:buAutoNum type="arabicPeriod"/>
                </a:pPr>
                <a:r>
                  <a:rPr lang="en-US" dirty="0"/>
                  <a:t>Independence of observations: residual vs. observation order plot</a:t>
                </a:r>
              </a:p>
              <a:p>
                <a:pPr>
                  <a:buAutoNum type="arabicPeriod"/>
                </a:pPr>
                <a:r>
                  <a:rPr lang="en-US" b="0" dirty="0"/>
                  <a:t>Homoscedasticity (constant variance of residuals): residual vs. fitted plot</a:t>
                </a:r>
              </a:p>
              <a:p>
                <a:pPr>
                  <a:buAutoNum type="arabicPeriod"/>
                </a:pPr>
                <a:r>
                  <a:rPr lang="en-US" dirty="0"/>
                  <a:t>Normality of residuals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0" dirty="0"/>
                  <a:t>): normal quantile-quantile plot</a:t>
                </a:r>
              </a:p>
              <a:p>
                <a:pPr>
                  <a:buAutoNum type="arabicPeriod"/>
                </a:pPr>
                <a:r>
                  <a:rPr lang="en-US" b="0" dirty="0"/>
                  <a:t>Low/no multicollinearity: correlation matrix</a:t>
                </a:r>
              </a:p>
              <a:p>
                <a:pPr lvl="1"/>
                <a:r>
                  <a:rPr lang="en-US" dirty="0"/>
                  <a:t>We don’t want our features to be related to one another!</a:t>
                </a:r>
              </a:p>
              <a:p>
                <a:pPr lvl="1"/>
                <a:r>
                  <a:rPr lang="en-US" b="0" dirty="0"/>
                  <a:t>There are many ways to test this. Constructing a correlation matrix is only one of them.</a:t>
                </a:r>
              </a:p>
              <a:p>
                <a:pPr lvl="1"/>
                <a:r>
                  <a:rPr lang="en-US" dirty="0"/>
                  <a:t>We can also look at variance inflation factor (VIF)</a:t>
                </a:r>
                <a:endParaRPr lang="en-US" b="0" dirty="0"/>
              </a:p>
              <a:p>
                <a:pPr lvl="1"/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A03A229-C746-E8D6-48DB-2141F20503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217194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FBB628-AD82-3A93-7931-5B5FB99EE53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A82AFC-F4AA-B2B4-73AC-8C37D0EBFE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The following correlation matrix is indicative of high multicollinearity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F31DF5-0968-A378-986D-478FC418DBB6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EC8BEA3-22AD-3F05-AC23-BFA74AB4475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C3F04D5E-55E9-D3C3-4641-D904C14499A2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7924007-1B89-5252-1281-978833AEE59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7401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79EA2C-0AA4-64B4-0210-A8C0151C5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158" y="517393"/>
            <a:ext cx="4641683" cy="410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19079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DE35C-2550-57D0-216E-5791B69AA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D3C8F1-C84A-FF72-0319-DA07C9516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158" y="517393"/>
            <a:ext cx="4641683" cy="41087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C369FE-9189-7FC5-2074-2DBD575E8FC4}"/>
              </a:ext>
            </a:extLst>
          </p:cNvPr>
          <p:cNvSpPr txBox="1"/>
          <p:nvPr/>
        </p:nvSpPr>
        <p:spPr>
          <a:xfrm>
            <a:off x="472611" y="4335694"/>
            <a:ext cx="209592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insane!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147B0C-6E40-3AA1-8367-DACB2EB67425}"/>
              </a:ext>
            </a:extLst>
          </p:cNvPr>
          <p:cNvCxnSpPr>
            <a:stCxn id="6" idx="0"/>
          </p:cNvCxnSpPr>
          <p:nvPr/>
        </p:nvCxnSpPr>
        <p:spPr>
          <a:xfrm flipV="1">
            <a:off x="1520575" y="3092521"/>
            <a:ext cx="1150706" cy="1243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19779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F45A8E-C5DC-9558-8853-1F4AFB8DD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579" y="299126"/>
            <a:ext cx="5134842" cy="45452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731AFC-CD27-5C1E-F3C2-581D71F32BA1}"/>
              </a:ext>
            </a:extLst>
          </p:cNvPr>
          <p:cNvSpPr txBox="1"/>
          <p:nvPr/>
        </p:nvSpPr>
        <p:spPr>
          <a:xfrm>
            <a:off x="6709025" y="4315145"/>
            <a:ext cx="209592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That’s more like it!</a:t>
            </a:r>
          </a:p>
        </p:txBody>
      </p:sp>
    </p:spTree>
    <p:extLst>
      <p:ext uri="{BB962C8B-B14F-4D97-AF65-F5344CB8AC3E}">
        <p14:creationId xmlns:p14="http://schemas.microsoft.com/office/powerpoint/2010/main" val="15292602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e075d9fc-889a-49c0-9470-915cd6bac7cc"/>
  <p:tag name="SLIDO_EVENT_UUID" val="ad964f9e-4fcc-4ff8-bdd1-c6d61579bac5"/>
  <p:tag name="SLIDO_EVENT_SECTION_UUID" val="59698c55-5bb2-4b40-88d1-a4e799f36a5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be46eecd-27fe-4c1f-8c83-3066be66b932"/>
  <p:tag name="SLIDO_TIMELINE" val="W3sic2hvd1Jlc3VsdHMiOmZhbHNlLCJzaG93Q29ycmVjdEFuc3dlcnMiOmZhbHNlLCJwb2xsUXVlc3Rpb25VdWlkIjoiYjQ5YTk2YjItZmRhYy00MzEwLWI4ZTQtZTMwYTZkM2VhYWIxIn0seyJzaG93UmVzdWx0cyI6dHJ1ZSwic2hvd0NvcnJlY3RBbnN3ZXJzIjp0cnVlLCJwb2xsUXVlc3Rpb25VdWlkIjoiYjQ5YTk2YjItZmRhYy00MzEwLWI4ZTQtZTMwYTZkM2VhYWIxIn1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0608c26c-96ce-4b87-83b9-ed1e65ba77a4"/>
  <p:tag name="SLIDO_TIMELINE" val="W3sicG9sbFF1ZXN0aW9uVXVpZCI6ImZmZjUwODQ5LWYzY2MtNDI1Ni1hOWIwLTdhN2VhMmI5NzIzOCIsInNob3dSZXN1bHRzIjpmYWxzZSwic2hvd0NvcnJlY3RBbnN3ZXJzIjpmYWxzZX0seyJwb2xsUXVlc3Rpb25VdWlkIjoiZmZmNTA4NDktZjNjYy00MjU2LWE5YjAtN2E3ZWEyYjk3MjM4Iiwic2hvd1Jlc3VsdHMiOnRydWUsInNob3dDb3JyZWN0QW5zd2VycyI6dHJ1ZX1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efc5a504-cb6f-4b9a-9093-fe140db0f162"/>
  <p:tag name="SLIDO_TIMELINE" val="W3sic2hvd1Jlc3VsdHMiOmZhbHNlLCJzaG93Q29ycmVjdEFuc3dlcnMiOmZhbHNlLCJwb2xsUXVlc3Rpb25VdWlkIjoiNjUxOWZhOGQtMDJlNC00NzZkLWE2MGEtODlkMDBmNWU5NGRkIn0seyJzaG93UmVzdWx0cyI6dHJ1ZSwic2hvd0NvcnJlY3RBbnN3ZXJzIjp0cnVlLCJwb2xsUXVlc3Rpb25VdWlkIjoiNjUxOWZhOGQtMDJlNC00NzZkLWE2MGEtODlkMDBmNWU5NGRkIn1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2364dd63-4576-4c50-b290-a30cd60bd4d9"/>
  <p:tag name="SLIDO_TIMELINE" val="W3sic2hvd1Jlc3VsdHMiOmZhbHNlLCJzaG93Q29ycmVjdEFuc3dlcnMiOmZhbHNlLCJwb2xsUXVlc3Rpb25VdWlkIjoiY2JmYjFiNzMtYjhlMC00NTIwLTljZTEtZDM3NjE1ZWU4MWY5In0seyJzaG93UmVzdWx0cyI6dHJ1ZSwic2hvd0NvcnJlY3RBbnN3ZXJzIjp0cnVlLCJwb2xsUXVlc3Rpb25VdWlkIjoiY2JmYjFiNzMtYjhlMC00NTIwLTljZTEtZDM3NjE1ZWU4MWY5In1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8e9b4fbd-c6aa-4d50-8d6a-54197fd1af5f"/>
  <p:tag name="SLIDO_TIMELINE" val="W3sic2hvd1Jlc3VsdHMiOmZhbHNlLCJzaG93Q29ycmVjdEFuc3dlcnMiOmZhbHNlLCJwb2xsUXVlc3Rpb25VdWlkIjoiMGQ4OGQ4Y2YtMGY0MS00ODlmLTliMTUtZjQ4ZjAzNTM1ZjY4In0seyJzaG93UmVzdWx0cyI6dHJ1ZSwic2hvd0NvcnJlY3RBbnN3ZXJzIjp0cnVlLCJwb2xsUXVlc3Rpb25VdWlkIjoiMGQ4OGQ4Y2YtMGY0MS00ODlmLTliMTUtZjQ4ZjAzNTM1ZjY4In1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6ce77952-8a22-4180-b9ed-b06973545157"/>
  <p:tag name="SLIDO_TIMELINE" val="W3sic2hvd0NvcnJlY3RBbnN3ZXJzIjpmYWxzZSwic2hvd1Jlc3VsdHMiOmZhbHNlLCJwb2xsUXVlc3Rpb25VdWlkIjoiNWQwOGUyOTQtYTU0NC00YmNlLWE0ZWQtMjdlNzM2MGI4ODViIn0seyJzaG93Q29ycmVjdEFuc3dlcnMiOnRydWUsInNob3dSZXN1bHRzIjp0cnVlLCJwb2xsUXVlc3Rpb25VdWlkIjoiNWQwOGUyOTQtYTU0NC00YmNlLWE0ZWQtMjdlNzM2MGI4ODViIn1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215c8064-62fd-43dd-b540-2450ab90ea23"/>
  <p:tag name="SLIDO_TIMELINE" val="W3sicG9sbFF1ZXN0aW9uVXVpZCI6IjhhOWU0Mzk0LWE0MjAtNDExNC1hMmE1LWExYzE0MWRhOGJkZSIsInNob3dSZXN1bHRzIjpmYWxzZSwic2hvd0NvcnJlY3RBbnN3ZXJzIjpmYWxzZX0seyJwb2xsUXVlc3Rpb25VdWlkIjoiOGE5ZTQzOTQtYTQyMC00MTE0LWEyYTUtYTFjMTQxZGE4YmRlIiwic2hvd1Jlc3VsdHMiOnRydWUsInNob3dDb3JyZWN0QW5zd2VycyI6dHJ1ZX1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1999</TotalTime>
  <Words>4647</Words>
  <Application>Microsoft Macintosh PowerPoint</Application>
  <PresentationFormat>On-screen Show (16:9)</PresentationFormat>
  <Paragraphs>570</Paragraphs>
  <Slides>107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3" baseType="lpstr">
      <vt:lpstr>Arial</vt:lpstr>
      <vt:lpstr>Cambria Math</vt:lpstr>
      <vt:lpstr>Open Sans</vt:lpstr>
      <vt:lpstr>PT Sans Narrow</vt:lpstr>
      <vt:lpstr>Wingdings</vt:lpstr>
      <vt:lpstr>Tropic</vt:lpstr>
      <vt:lpstr>Intro to Linear Regression</vt:lpstr>
      <vt:lpstr>Recall: motivation for regression</vt:lpstr>
      <vt:lpstr>Recall: motivation for regression</vt:lpstr>
      <vt:lpstr>Recall: motivation for regression</vt:lpstr>
      <vt:lpstr>Recall: motivation for regression</vt:lpstr>
      <vt:lpstr>Recall: motivation for regression</vt:lpstr>
      <vt:lpstr>Recall: motivation for regression</vt:lpstr>
      <vt:lpstr>Recall: Linear regression at a high level</vt:lpstr>
      <vt:lpstr>Recall: Linear regression at a high level</vt:lpstr>
      <vt:lpstr>Recall: Linear regression at a high level</vt:lpstr>
      <vt:lpstr>Recall: Linear regression at a high level</vt:lpstr>
      <vt:lpstr>Recall: Linear regression at a high level</vt:lpstr>
      <vt:lpstr>Recall: Linear regression at a high level</vt:lpstr>
      <vt:lpstr>Linear Regression Cost Function</vt:lpstr>
      <vt:lpstr>Linear regression cost function (single feature case)</vt:lpstr>
      <vt:lpstr>Linear regression cost function (single feature case)</vt:lpstr>
      <vt:lpstr>Linear regression cost function (single feature case)</vt:lpstr>
      <vt:lpstr>Linear regression cost function (single feature case)</vt:lpstr>
      <vt:lpstr>Linear regression cost function (single feature case)</vt:lpstr>
      <vt:lpstr>Linear regression cost function</vt:lpstr>
      <vt:lpstr>Linear regression cost function</vt:lpstr>
      <vt:lpstr>Linear regression cost function</vt:lpstr>
      <vt:lpstr>Least Squares Parameter Estimation</vt:lpstr>
      <vt:lpstr>Least squares regression</vt:lpstr>
      <vt:lpstr>Least squares regression</vt:lpstr>
      <vt:lpstr>Least squares regression</vt:lpstr>
      <vt:lpstr>Unbiased Estimator</vt:lpstr>
      <vt:lpstr>Unbiased Estimator</vt:lpstr>
      <vt:lpstr>PowerPoint Presentation</vt:lpstr>
      <vt:lpstr>PowerPoint Presentation</vt:lpstr>
      <vt:lpstr>PowerPoint Presentation</vt:lpstr>
      <vt:lpstr>Recall: Hypothesis Testing</vt:lpstr>
      <vt:lpstr>Recall: Hypothesis Testing</vt:lpstr>
      <vt:lpstr>Example: predicting exam scores</vt:lpstr>
      <vt:lpstr>Example: predicting exam scores</vt:lpstr>
      <vt:lpstr>Example: predicting exam scores</vt:lpstr>
      <vt:lpstr>Predicting exam scores - formulating hypotheses</vt:lpstr>
      <vt:lpstr>Predicting exam scores - formulating hypotheses</vt:lpstr>
      <vt:lpstr>Predicting exam scores - formulating hypotheses</vt:lpstr>
      <vt:lpstr>Predicting exam scores - formulating hypotheses</vt:lpstr>
      <vt:lpstr>Predicting exam scores - formulating hypotheses</vt:lpstr>
      <vt:lpstr>Predicting exam scores - formulating hypotheses</vt:lpstr>
      <vt:lpstr>Predicting exam scores - formulating hypotheses</vt:lpstr>
      <vt:lpstr>Hypothesis testing</vt:lpstr>
      <vt:lpstr>Hypothesis testing</vt:lpstr>
      <vt:lpstr>Hypothesis testing</vt:lpstr>
      <vt:lpstr>Hypothesis testing – p values</vt:lpstr>
      <vt:lpstr>Hypothesis testing – p values</vt:lpstr>
      <vt:lpstr>Hypothesis testing – p values</vt:lpstr>
      <vt:lpstr>Hypothesis testing - Deriving the p value</vt:lpstr>
      <vt:lpstr>Hypothesis testing - Deriving the p value</vt:lpstr>
      <vt:lpstr>Hypothesis testing - Deriving the p value</vt:lpstr>
      <vt:lpstr>Hypothesis testing - Deriving the p value</vt:lpstr>
      <vt:lpstr>Hypothesis testing - Deriving the p value</vt:lpstr>
      <vt:lpstr>Hypothesis testing - Deriving the p value</vt:lpstr>
      <vt:lpstr>Deriving the p value - estimate β ̂ </vt:lpstr>
      <vt:lpstr>Deriving the p value – compute SE(β ̂ ) </vt:lpstr>
      <vt:lpstr>Deriving the p value – compute SE(β ̂ ) </vt:lpstr>
      <vt:lpstr>Deriving the p value – compute SE(β ̂ ) </vt:lpstr>
      <vt:lpstr>Deriving the p value – compute SE(β ̂ ) </vt:lpstr>
      <vt:lpstr>Deriving the p value – form a t-statistic</vt:lpstr>
      <vt:lpstr>Deriving the p value – integrate over t-distribution PDF</vt:lpstr>
      <vt:lpstr>Deriving the p value – integrate over t-distribution PDF</vt:lpstr>
      <vt:lpstr>PowerPoint Presentation</vt:lpstr>
      <vt:lpstr>Linear Regression Assumptions</vt:lpstr>
      <vt:lpstr>Assumptions for Linear Regression</vt:lpstr>
      <vt:lpstr>Assumptions for Linear Regression</vt:lpstr>
      <vt:lpstr>Assumptions for Linear Regression</vt:lpstr>
      <vt:lpstr>Assumptions for Linear Regression</vt:lpstr>
      <vt:lpstr>Assumptions for Linear Regression</vt:lpstr>
      <vt:lpstr>How do we check the assumptions?</vt:lpstr>
      <vt:lpstr>How do we check the assumptions?</vt:lpstr>
      <vt:lpstr>PowerPoint Presentation</vt:lpstr>
      <vt:lpstr>PowerPoint Presentation</vt:lpstr>
      <vt:lpstr>PowerPoint Presentation</vt:lpstr>
      <vt:lpstr>PowerPoint Presentation</vt:lpstr>
      <vt:lpstr>How do we check the assumptions?</vt:lpstr>
      <vt:lpstr>How do we check the assumptions?</vt:lpstr>
      <vt:lpstr>How do we check the assumptions?</vt:lpstr>
      <vt:lpstr>How do we check the assumptions?</vt:lpstr>
      <vt:lpstr>How do we check the assumptions?</vt:lpstr>
      <vt:lpstr>PowerPoint Presentation</vt:lpstr>
      <vt:lpstr>PowerPoint Presentation</vt:lpstr>
      <vt:lpstr>PowerPoint Presentation</vt:lpstr>
      <vt:lpstr>PowerPoint Presentation</vt:lpstr>
      <vt:lpstr>How do we check the assumptions?</vt:lpstr>
      <vt:lpstr>How do we check the assumptions?</vt:lpstr>
      <vt:lpstr>How do we check the assumptions?</vt:lpstr>
      <vt:lpstr>PowerPoint Presentation</vt:lpstr>
      <vt:lpstr>PowerPoint Presentation</vt:lpstr>
      <vt:lpstr>PowerPoint Presentation</vt:lpstr>
      <vt:lpstr>PowerPoint Presentation</vt:lpstr>
      <vt:lpstr>How do we check the assumptions?</vt:lpstr>
      <vt:lpstr>How do we check the assumptions?</vt:lpstr>
      <vt:lpstr>How do we check the assumptions?</vt:lpstr>
      <vt:lpstr>How do we check the assumptions?</vt:lpstr>
      <vt:lpstr>PowerPoint Presentation</vt:lpstr>
      <vt:lpstr>PowerPoint Presentation</vt:lpstr>
      <vt:lpstr>PowerPoint Presentation</vt:lpstr>
      <vt:lpstr>How do we check the assumptions?</vt:lpstr>
      <vt:lpstr>How do we check the assumptions?</vt:lpstr>
      <vt:lpstr>How do we check the assumptions?</vt:lpstr>
      <vt:lpstr>How do we check the assumptions?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Gattupalli, Eeshwar</cp:lastModifiedBy>
  <cp:revision>9</cp:revision>
  <dcterms:modified xsi:type="dcterms:W3CDTF">2026-04-15T16:20:25Z</dcterms:modified>
</cp:coreProperties>
</file>