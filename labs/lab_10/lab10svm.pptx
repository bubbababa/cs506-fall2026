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92" r:id="rId13"/>
    <p:sldId id="265" r:id="rId14"/>
    <p:sldId id="266" r:id="rId15"/>
    <p:sldId id="267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339" r:id="rId29"/>
    <p:sldId id="287" r:id="rId30"/>
    <p:sldId id="288" r:id="rId31"/>
    <p:sldId id="289" r:id="rId32"/>
    <p:sldId id="290" r:id="rId33"/>
    <p:sldId id="291" r:id="rId34"/>
    <p:sldId id="293" r:id="rId35"/>
    <p:sldId id="294" r:id="rId36"/>
    <p:sldId id="310" r:id="rId37"/>
    <p:sldId id="312" r:id="rId38"/>
    <p:sldId id="313" r:id="rId39"/>
    <p:sldId id="314" r:id="rId40"/>
    <p:sldId id="315" r:id="rId41"/>
    <p:sldId id="309" r:id="rId42"/>
    <p:sldId id="316" r:id="rId43"/>
    <p:sldId id="295" r:id="rId44"/>
    <p:sldId id="296" r:id="rId45"/>
    <p:sldId id="297" r:id="rId46"/>
    <p:sldId id="302" r:id="rId47"/>
    <p:sldId id="303" r:id="rId48"/>
    <p:sldId id="304" r:id="rId49"/>
    <p:sldId id="305" r:id="rId50"/>
    <p:sldId id="306" r:id="rId51"/>
    <p:sldId id="307" r:id="rId52"/>
    <p:sldId id="298" r:id="rId53"/>
    <p:sldId id="299" r:id="rId54"/>
    <p:sldId id="308" r:id="rId55"/>
    <p:sldId id="300" r:id="rId56"/>
    <p:sldId id="301" r:id="rId57"/>
    <p:sldId id="317" r:id="rId58"/>
    <p:sldId id="322" r:id="rId59"/>
    <p:sldId id="323" r:id="rId60"/>
    <p:sldId id="318" r:id="rId61"/>
    <p:sldId id="319" r:id="rId62"/>
    <p:sldId id="324" r:id="rId63"/>
    <p:sldId id="325" r:id="rId64"/>
    <p:sldId id="326" r:id="rId65"/>
    <p:sldId id="327" r:id="rId66"/>
    <p:sldId id="320" r:id="rId67"/>
    <p:sldId id="328" r:id="rId68"/>
    <p:sldId id="321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81"/>
    </p:embeddedFont>
    <p:embeddedFont>
      <p:font typeface="Open Sans" panose="020B0606030504020204" pitchFamily="34" charset="0"/>
      <p:regular r:id="rId82"/>
      <p:bold r:id="rId83"/>
      <p:italic r:id="rId84"/>
      <p:boldItalic r:id="rId85"/>
    </p:embeddedFont>
    <p:embeddedFont>
      <p:font typeface="PT Sans Narrow" panose="020B0506020203020204" pitchFamily="34" charset="77"/>
      <p:regular r:id="rId86"/>
      <p:bold r:id="rId87"/>
    </p:embeddedFont>
  </p:embeddedFontLst>
  <p:custDataLst>
    <p:tags r:id="rId8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924"/>
    <p:restoredTop sz="94658"/>
  </p:normalViewPr>
  <p:slideViewPr>
    <p:cSldViewPr snapToGrid="0">
      <p:cViewPr varScale="1">
        <p:scale>
          <a:sx n="124" d="100"/>
          <a:sy n="124" d="100"/>
        </p:scale>
        <p:origin x="176" y="7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4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3.fntdata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1.fntdata"/><Relationship Id="rId86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7.fntdata"/><Relationship Id="rId61" Type="http://schemas.openxmlformats.org/officeDocument/2006/relationships/slide" Target="slides/slide60.xml"/><Relationship Id="rId82" Type="http://schemas.openxmlformats.org/officeDocument/2006/relationships/font" Target="fonts/font2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No, still the widest street </a:t>
            </a:r>
          </a:p>
        </p:txBody>
      </p:sp>
    </p:spTree>
    <p:extLst>
      <p:ext uri="{BB962C8B-B14F-4D97-AF65-F5344CB8AC3E}">
        <p14:creationId xmlns:p14="http://schemas.microsoft.com/office/powerpoint/2010/main" val="343798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9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8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29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8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0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0.xml"/><Relationship Id="rId7" Type="http://schemas.openxmlformats.org/officeDocument/2006/relationships/image" Target="../media/image29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8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0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3.xml"/><Relationship Id="rId7" Type="http://schemas.openxmlformats.org/officeDocument/2006/relationships/image" Target="../media/image29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8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0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16.xml"/><Relationship Id="rId7" Type="http://schemas.openxmlformats.org/officeDocument/2006/relationships/image" Target="../media/image2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8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Support Vector Machines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F677-7049-E848-71B3-DDE62934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7931F-2F70-8255-3D1E-8542C80E3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Find the widest street that separates our classes</a:t>
            </a:r>
          </a:p>
        </p:txBody>
      </p:sp>
    </p:spTree>
    <p:extLst>
      <p:ext uri="{BB962C8B-B14F-4D97-AF65-F5344CB8AC3E}">
        <p14:creationId xmlns:p14="http://schemas.microsoft.com/office/powerpoint/2010/main" val="263753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244E9-4667-10E6-DFF1-2A776084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C8048-2669-0087-32A4-6C16DAEC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E8465-1A24-F870-BE10-60673D978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330DDE-232C-FE40-444A-1A20ED8F0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29" y="1255357"/>
            <a:ext cx="4179541" cy="33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1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F652-243E-7AE3-2348-26B499E2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3CAB44-87BF-6A34-826C-251A671FE44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3CAB44-87BF-6A34-826C-251A671FE4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0EA7D12-F5A5-59BE-47CF-249FA791D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3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6736-9DAB-8156-A430-57A6BF36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C1BF-5414-1868-ACB2-3A63E748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04EEC94-8DBB-41DC-35F2-2CECECA93E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04EEC94-8DBB-41DC-35F2-2CECECA93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358406E-6BE1-0D55-79EA-4ECACCA7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0D5BC-1F39-C719-7931-1E1ED22048ED}"/>
              </a:ext>
            </a:extLst>
          </p:cNvPr>
          <p:cNvSpPr txBox="1"/>
          <p:nvPr/>
        </p:nvSpPr>
        <p:spPr>
          <a:xfrm>
            <a:off x="7888991" y="3494384"/>
            <a:ext cx="121920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sz="1200" b="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4F0A79-A20E-D119-F44E-FBE8B1E842D5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4F0A79-A20E-D119-F44E-FBE8B1E84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19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1F21-2767-2292-0AB4-0E8FE823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903A-F5FB-0AC7-F5F8-AF15AA1E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D4FABD6-3D1D-E2FE-85E5-B13100EA45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D4FABD6-3D1D-E2FE-85E5-B13100EA45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1A39BE1-50A4-B7AB-3E72-822FB7EB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4D858C-1EFE-31A1-3E38-64CA0256B56F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4D858C-1EFE-31A1-3E38-64CA0256B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161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8D67-8868-4A79-459A-A3D20613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D424-E27E-994F-346D-014E4792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C1972-2F97-13B1-E500-FB1696A53FA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FC1972-2F97-13B1-E500-FB1696A53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7191D1-2B2F-77EA-BE85-B3B1C62CD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2FE4CE-2CB7-37F5-5317-9DB4CCDFA52D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2FE4CE-2CB7-37F5-5317-9DB4CCDFA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B58601-530F-E435-E684-7F8CC39C708B}"/>
                  </a:ext>
                </a:extLst>
              </p:cNvPr>
              <p:cNvSpPr txBox="1"/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B58601-530F-E435-E684-7F8CC39C7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blipFill>
                <a:blip r:embed="rId5"/>
                <a:stretch>
                  <a:fillRect t="-869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66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7AA83-5793-65F4-4AC8-6FB5EC4A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2ED0-FE2A-24EF-78D3-1EE6BBFE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8A061B-F6AA-6C53-E59F-278850D2E1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and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18A061B-F6AA-6C53-E59F-278850D2E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7B6191-6127-81F6-F4FA-9A7F56169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712860-D792-00FD-2284-5597F21E6943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712860-D792-00FD-2284-5597F21E6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B8B555-0215-D24F-62D8-6A5FCFDF3B2A}"/>
                  </a:ext>
                </a:extLst>
              </p:cNvPr>
              <p:cNvSpPr txBox="1"/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B8B555-0215-D24F-62D8-6A5FCFDF3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blipFill>
                <a:blip r:embed="rId5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548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ADB26-0167-05E7-6A42-E1E625F6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DCBB-7157-4B80-61A5-55733FEB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CF589B-7065-22AD-1E65-CDA223F865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and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CF589B-7065-22AD-1E65-CDA223F865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09D07D8-9DAC-439B-8638-FF5439630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DD41CB-3DA4-EFD4-6DF1-C12C0F102D83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DD41CB-3DA4-EFD4-6DF1-C12C0F102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506934-E234-6618-39F6-AF58F2DF7FBD}"/>
                  </a:ext>
                </a:extLst>
              </p:cNvPr>
              <p:cNvSpPr txBox="1"/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506934-E234-6618-39F6-AF58F2DF7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blipFill>
                <a:blip r:embed="rId5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662099-E683-0FF3-6E33-E7C8E5A64565}"/>
                  </a:ext>
                </a:extLst>
              </p:cNvPr>
              <p:cNvSpPr txBox="1"/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662099-E683-0FF3-6E33-E7C8E5A6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blipFill>
                <a:blip r:embed="rId6"/>
                <a:stretch>
                  <a:fillRect t="-41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150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B6AC-1889-34D3-5498-56D0D013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57D7-92A2-EA33-F037-06E0169B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C40CED-DA74-3B6A-1CF5-88A6DECE2C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1474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and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The points that lie exactly on the edge of the street</a:t>
                </a:r>
              </a:p>
              <a:p>
                <a:pPr marL="114300" indent="0">
                  <a:buNone/>
                </a:pPr>
                <a:r>
                  <a:rPr lang="en-US" b="0" dirty="0"/>
                  <a:t>ar</a:t>
                </a:r>
                <a:r>
                  <a:rPr lang="en-US" dirty="0"/>
                  <a:t>e called </a:t>
                </a:r>
                <a:r>
                  <a:rPr lang="en-US" b="1" dirty="0"/>
                  <a:t>support vectors</a:t>
                </a:r>
                <a:r>
                  <a:rPr lang="en-US" dirty="0"/>
                  <a:t>.</a:t>
                </a: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C40CED-DA74-3B6A-1CF5-88A6DECE2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147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8C7E89-6FF1-4947-5579-F7E0048C5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EFEDA7-7513-21AB-BC7D-E1D5B5527EA7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EFEDA7-7513-21AB-BC7D-E1D5B5527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FFFC27-A7CE-0459-B929-0AFB7DD1DA1E}"/>
                  </a:ext>
                </a:extLst>
              </p:cNvPr>
              <p:cNvSpPr txBox="1"/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FFFC27-A7CE-0459-B929-0AFB7DD1D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blipFill>
                <a:blip r:embed="rId5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5C80EC-C1EC-C064-F179-0D3EA034D5B8}"/>
                  </a:ext>
                </a:extLst>
              </p:cNvPr>
              <p:cNvSpPr txBox="1"/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5C80EC-C1EC-C064-F179-0D3EA034D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blipFill>
                <a:blip r:embed="rId6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12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663E-4084-A3AD-099E-D3E098DD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E744-E29E-C13B-444B-48159C74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4E6D9DF-E093-CDEB-9B4E-79D058C347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1474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and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The points that lie exactly on the edge of the street</a:t>
                </a:r>
              </a:p>
              <a:p>
                <a:pPr marL="114300" indent="0">
                  <a:buNone/>
                </a:pPr>
                <a:r>
                  <a:rPr lang="en-US" b="0" dirty="0"/>
                  <a:t>ar</a:t>
                </a:r>
                <a:r>
                  <a:rPr lang="en-US" dirty="0"/>
                  <a:t>e called </a:t>
                </a:r>
                <a:r>
                  <a:rPr lang="en-US" b="1" dirty="0"/>
                  <a:t>support vectors</a:t>
                </a:r>
                <a:r>
                  <a:rPr lang="en-US" dirty="0"/>
                  <a:t>.</a:t>
                </a: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4E6D9DF-E093-CDEB-9B4E-79D058C34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147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18858C0-38DE-5DF6-5799-C990DB3F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CCDA28-C275-DCC8-D609-BE99F2FD624E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CCDA28-C275-DCC8-D609-BE99F2FD6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F6E5AE-6438-9BDC-475C-C74E2160652C}"/>
                  </a:ext>
                </a:extLst>
              </p:cNvPr>
              <p:cNvSpPr txBox="1"/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F6E5AE-6438-9BDC-475C-C74E21606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blipFill>
                <a:blip r:embed="rId5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E1527E-68FB-934F-DDBF-A164516EE4D8}"/>
                  </a:ext>
                </a:extLst>
              </p:cNvPr>
              <p:cNvSpPr txBox="1"/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E1527E-68FB-934F-DDBF-A164516EE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blipFill>
                <a:blip r:embed="rId6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B711AF-6A46-C300-C732-07187B5089BA}"/>
              </a:ext>
            </a:extLst>
          </p:cNvPr>
          <p:cNvCxnSpPr/>
          <p:nvPr/>
        </p:nvCxnSpPr>
        <p:spPr>
          <a:xfrm flipV="1">
            <a:off x="3433011" y="2831432"/>
            <a:ext cx="3256547" cy="1459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B2DD5F-84C1-431D-7F39-868A155C2D97}"/>
              </a:ext>
            </a:extLst>
          </p:cNvPr>
          <p:cNvCxnSpPr/>
          <p:nvPr/>
        </p:nvCxnSpPr>
        <p:spPr>
          <a:xfrm flipV="1">
            <a:off x="3545305" y="2382253"/>
            <a:ext cx="3745832" cy="201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56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4675A-4EC4-E176-99E4-02FF0B460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3FBE-AEAD-E2B8-4A14-01A7181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B434BE3-F98F-ED57-5174-A47AE8FF55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423122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Decision boundary is equation of the form:</a:t>
                </a:r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Edges of t</a:t>
                </a:r>
                <a:r>
                  <a:rPr lang="en-US" dirty="0"/>
                  <a:t>he street are of the form: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dirty="0"/>
                  <a:t>and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The points that lie exactly on the edge of the street</a:t>
                </a:r>
              </a:p>
              <a:p>
                <a:pPr marL="114300" indent="0">
                  <a:buNone/>
                </a:pPr>
                <a:r>
                  <a:rPr lang="en-US" b="0" dirty="0"/>
                  <a:t>ar</a:t>
                </a:r>
                <a:r>
                  <a:rPr lang="en-US" dirty="0"/>
                  <a:t>e called </a:t>
                </a:r>
                <a:r>
                  <a:rPr lang="en-US" b="1" dirty="0"/>
                  <a:t>support vectors</a:t>
                </a:r>
                <a:r>
                  <a:rPr lang="en-US" dirty="0"/>
                  <a:t>.</a:t>
                </a: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Width of the street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B434BE3-F98F-ED57-5174-A47AE8FF55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42312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E0C6C30-A174-4F77-13E3-FD79F710F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674" y="1244391"/>
            <a:ext cx="3429285" cy="272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D8F117-DB9E-16EB-E2B0-60B71849CC20}"/>
                  </a:ext>
                </a:extLst>
              </p:cNvPr>
              <p:cNvSpPr txBox="1"/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D8F117-DB9E-16EB-E2B0-60B71849C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1" y="3494384"/>
                <a:ext cx="1219200" cy="457689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B08893-A591-A221-3CD1-BEDFE41ABBD8}"/>
                  </a:ext>
                </a:extLst>
              </p:cNvPr>
              <p:cNvSpPr txBox="1"/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=−1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B08893-A591-A221-3CD1-BEDFE41AB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296" y="3765320"/>
                <a:ext cx="1219200" cy="276999"/>
              </a:xfrm>
              <a:prstGeom prst="rect">
                <a:avLst/>
              </a:prstGeom>
              <a:blipFill>
                <a:blip r:embed="rId5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27D00-AA07-97D9-AC8C-2E22C403BA79}"/>
                  </a:ext>
                </a:extLst>
              </p:cNvPr>
              <p:cNvSpPr txBox="1"/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</m:t>
                      </m:r>
                    </m:oMath>
                  </m:oMathPara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27D00-AA07-97D9-AC8C-2E22C403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759" y="2759090"/>
                <a:ext cx="1219200" cy="276999"/>
              </a:xfrm>
              <a:prstGeom prst="rect">
                <a:avLst/>
              </a:prstGeom>
              <a:blipFill>
                <a:blip r:embed="rId6"/>
                <a:stretch>
                  <a:fillRect t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186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3400-0420-8D55-5E29-6179339E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Adjusting size of streets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60C015-B4CE-093D-4B3B-16033F62E5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Rewrite equations as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𝕟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660C015-B4CE-093D-4B3B-16033F62E5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11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2A3A-61A1-29A2-F9DB-CDEC8E1C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9219-2375-5542-CD25-C4D83EA8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Adjusting size of streets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7E9BB-854F-51C7-F3D8-0580A8BC664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Rewrite equations as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𝕟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b="0" dirty="0"/>
                  <a:t>, </a:t>
                </a:r>
                <a:r>
                  <a:rPr lang="en-US" b="1" dirty="0"/>
                  <a:t>retract </a:t>
                </a:r>
                <a:r>
                  <a:rPr lang="en-US" b="0" dirty="0"/>
                  <a:t>street width</a:t>
                </a:r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1" dirty="0"/>
                  <a:t>expand </a:t>
                </a:r>
                <a:r>
                  <a:rPr lang="en-US" b="0" dirty="0"/>
                  <a:t>street width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7E9BB-854F-51C7-F3D8-0580A8BC6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281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E635-90DE-1C26-4710-32AE13C5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1A39-4BD9-CB95-CD85-5D657FE2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Adjusting size of streets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CF9D9E-4B63-DE49-687F-65D3DCC5D8A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Rewrite equations as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𝕟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b="0" dirty="0"/>
                  <a:t>, </a:t>
                </a:r>
                <a:r>
                  <a:rPr lang="en-US" b="1" dirty="0"/>
                  <a:t>retract </a:t>
                </a:r>
                <a:r>
                  <a:rPr lang="en-US" b="0" dirty="0"/>
                  <a:t>street width</a:t>
                </a:r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1" dirty="0"/>
                  <a:t>expand </a:t>
                </a:r>
                <a:r>
                  <a:rPr lang="en-US" b="0" dirty="0"/>
                  <a:t>street width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Remember: goal of SVM is to find the widest street that separates our classes.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CF9D9E-4B63-DE49-687F-65D3DCC5D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664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4E5A-4C27-8C31-0FA9-895BEA21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28D9B-D75B-9898-B948-20A537C2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Moving the street in the direction of a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0172F4-DD32-0A6B-AF81-70248E43EC7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If the current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 result in misclassification of a random point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in our dataset, we can move the line toward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by a step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E0172F4-DD32-0A6B-AF81-70248E43E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17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64C7-6358-0761-9B11-754B3129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BA88-7A64-AC73-3C9D-C0ED6CB9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Moving the street in the direction of a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AEF1F0A-F2E2-62E0-6E17-EF59FFC07BB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If the current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 result in misclassification of a random point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in our dataset, we can move the line toward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by a step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AEF1F0A-F2E2-62E0-6E17-EF59FFC07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41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51A7-741F-E413-97CF-C21CEFBC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1A52-9153-2EF6-251A-0ECCEC10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Moving the street in the direction of a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9945DB-45E6-2EA8-841F-A5F60C8D26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If the current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 result in misclassification of a random point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in our dataset, we can move the line toward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by a step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69945DB-45E6-2EA8-841F-A5F60C8D2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418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AE30-E4C6-83A0-2238-4657EB84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E7F4-5CED-5B7F-A118-189F05F8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Moving the street in the direction of a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D13A0D-914B-6039-AC39-46A5CEFE56C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If the current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 result in misclassification of a random point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in our dataset, we can move the line toward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by a step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Then, we use the newly computed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b="0" dirty="0"/>
                  <a:t> to calculate the new street.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D13A0D-914B-6039-AC39-46A5CEFE56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274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C1EC-BF4D-6577-C686-4ED2C2E9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48B3E-13F8-375F-8FE2-02594FA1C7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848B3E-13F8-375F-8FE2-02594FA1C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886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6111B-B125-8F7B-1FFA-EA21EF29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4DD0-8CBF-65C1-0F84-03B3EE37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ACA5DC-9043-A0ED-735E-12CFE4263A9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Define:</a:t>
                </a:r>
              </a:p>
              <a:p>
                <a:r>
                  <a:rPr lang="en-US" dirty="0"/>
                  <a:t>a total # of iterations,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an expanding 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ACA5DC-9043-A0ED-735E-12CFE4263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054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D6FEB-19DF-B7B9-9F96-5F1A4FF7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A815-77D4-CF74-1D87-EAE67F92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525173-1A85-5369-4E54-74BD1F18B2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Define:</a:t>
                </a:r>
              </a:p>
              <a:p>
                <a:r>
                  <a:rPr lang="en-US" dirty="0"/>
                  <a:t>a total # of iterations,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an expanding 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525173-1A85-5369-4E54-74BD1F18B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288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28C9-B49A-A7FC-1652-549C0290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3576-FFFD-52C4-1C62-E54C6D53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261B355-9834-DE39-74A3-6AD4FD5696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Define:</a:t>
                </a:r>
              </a:p>
              <a:p>
                <a:r>
                  <a:rPr lang="en-US" dirty="0"/>
                  <a:t>a total # of iterations,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an expanding 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261B355-9834-DE39-74A3-6AD4FD5696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574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D71F-8CE3-422C-A164-784BE0E0B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F7FB-E1DD-7F2B-205E-9D996A17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2787A4-4450-BB78-23B1-59FB5D10ED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Define:</a:t>
                </a:r>
              </a:p>
              <a:p>
                <a:r>
                  <a:rPr lang="en-US" dirty="0"/>
                  <a:t>a total # of iterations,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an expanding 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lvl="1"/>
                <a:r>
                  <a:rPr lang="en-US" dirty="0"/>
                  <a:t>If correctly classified, do nothing</a:t>
                </a: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2787A4-4450-BB78-23B1-59FB5D10E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308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4F5E-E44E-C558-35F8-FA233301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687F-F2A9-4A84-8655-427E876A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CB3FC6-439D-F21A-4C94-10320CFD795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lvl="1"/>
                <a:r>
                  <a:rPr lang="en-US" dirty="0"/>
                  <a:t>If correctly classified, do nothing</a:t>
                </a:r>
              </a:p>
              <a:p>
                <a:pPr lvl="1"/>
                <a:r>
                  <a:rPr lang="en-US" b="0" dirty="0"/>
                  <a:t>If </a:t>
                </a:r>
                <a:r>
                  <a:rPr lang="en-US" dirty="0"/>
                  <a:t>incorrectly classified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CB3FC6-439D-F21A-4C94-10320CFD7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461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6021-D7C1-C1ED-633D-F0B45AA0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F932-2E80-484B-151E-53C2A225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C414D7-19E4-7A5F-7869-BC335DF9220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lvl="1"/>
                <a:r>
                  <a:rPr lang="en-US" dirty="0"/>
                  <a:t>If correctly classified, do nothing</a:t>
                </a:r>
              </a:p>
              <a:p>
                <a:pPr lvl="1"/>
                <a:r>
                  <a:rPr lang="en-US" b="0" dirty="0"/>
                  <a:t>If </a:t>
                </a:r>
                <a:r>
                  <a:rPr lang="en-US" dirty="0"/>
                  <a:t>incorrectly classified</a:t>
                </a:r>
              </a:p>
              <a:p>
                <a:pPr lvl="2"/>
                <a:r>
                  <a:rPr lang="en-US" dirty="0"/>
                  <a:t>move the line toward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b="0" dirty="0"/>
                  <a:t> using the formula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C414D7-19E4-7A5F-7869-BC335DF92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016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90BE8-F922-415B-3471-8F13007C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8FBB-718F-49B9-A0F0-25709715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499868-EA2D-8FAB-C653-2069A3501CB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lvl="1"/>
                <a:r>
                  <a:rPr lang="en-US" dirty="0"/>
                  <a:t>If correctly classified, do nothing</a:t>
                </a:r>
              </a:p>
              <a:p>
                <a:pPr lvl="1"/>
                <a:r>
                  <a:rPr lang="en-US" b="0" dirty="0"/>
                  <a:t>If </a:t>
                </a:r>
                <a:r>
                  <a:rPr lang="en-US" dirty="0"/>
                  <a:t>incorrectly classified</a:t>
                </a:r>
              </a:p>
              <a:p>
                <a:pPr lvl="2"/>
                <a:r>
                  <a:rPr lang="en-US" dirty="0"/>
                  <a:t>move the line toward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b="0" dirty="0"/>
                  <a:t> using the formula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</a:t>
                </a:r>
                <a:r>
                  <a:rPr lang="en-US" b="0" dirty="0"/>
                  <a:t>xpand or retract the width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499868-EA2D-8FAB-C653-2069A3501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862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4269-63CC-81C4-9A2E-303AE83F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363C-1396-941C-9BD8-F4AF427C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3DCDF37-0FF6-F7D7-7B5D-9C2CC3AA9B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Repeat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times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lvl="1"/>
                <a:r>
                  <a:rPr lang="en-US" dirty="0"/>
                  <a:t>If correctly classified, do nothing</a:t>
                </a:r>
              </a:p>
              <a:p>
                <a:pPr lvl="1"/>
                <a:r>
                  <a:rPr lang="en-US" b="0" dirty="0"/>
                  <a:t>If </a:t>
                </a:r>
                <a:r>
                  <a:rPr lang="en-US" dirty="0"/>
                  <a:t>incorrectly classified</a:t>
                </a:r>
              </a:p>
              <a:p>
                <a:pPr lvl="2"/>
                <a:r>
                  <a:rPr lang="en-US" dirty="0"/>
                  <a:t>move the line toward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b="0" dirty="0"/>
                  <a:t> using the formula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</a:t>
                </a:r>
                <a:r>
                  <a:rPr lang="en-US" b="0" dirty="0"/>
                  <a:t>xpand or retract the width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the point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is in the street, we might want to retract the street. If it is not in the street or was classified correctly, we might want to expand it.</a:t>
                </a:r>
              </a:p>
              <a:p>
                <a:pPr lvl="3"/>
                <a:endParaRPr lang="en-US" dirty="0"/>
              </a:p>
              <a:p>
                <a:pPr marL="1511300" lvl="3" indent="0">
                  <a:buNone/>
                </a:pPr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3DCDF37-0FF6-F7D7-7B5D-9C2CC3AA9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46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A13B2-31E4-C971-1BE3-22096DCE03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E0651-8AC6-7C1A-670C-289ACB272C0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If correctly classified points far from the margin are moved farther from the margin, the SVM will always move (i.e., the street)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40E2F-B44D-E931-F74B-5EAC5D4D1D7B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01B090-0F08-BECD-25AB-97F049EA02E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130F369-A7F6-CC43-AD96-289852A49888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9B5A478-719C-F9EB-7354-E48A31BB2F6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74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2A2CD5-C9A8-28E6-69E3-004B7E339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60" y="698582"/>
            <a:ext cx="4709680" cy="37463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AE5E27-2494-D6B9-208A-078C6E97A9B8}"/>
              </a:ext>
            </a:extLst>
          </p:cNvPr>
          <p:cNvCxnSpPr>
            <a:cxnSpLocks/>
          </p:cNvCxnSpPr>
          <p:nvPr/>
        </p:nvCxnSpPr>
        <p:spPr>
          <a:xfrm>
            <a:off x="3412273" y="3601844"/>
            <a:ext cx="43489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5C42F-59A5-8998-152A-624D817E4908}"/>
                  </a:ext>
                </a:extLst>
              </p:cNvPr>
              <p:cNvSpPr txBox="1"/>
              <p:nvPr/>
            </p:nvSpPr>
            <p:spPr>
              <a:xfrm>
                <a:off x="3501481" y="3512633"/>
                <a:ext cx="2899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75C42F-59A5-8998-152A-624D817E4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81" y="3512633"/>
                <a:ext cx="289932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190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551F7-DC28-94FD-3644-A3935F35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FE53FE-3229-13CB-6330-564E458D2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60" y="698582"/>
            <a:ext cx="4709680" cy="37463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C5DEAF-D038-890D-8E83-02DA786DA182}"/>
              </a:ext>
            </a:extLst>
          </p:cNvPr>
          <p:cNvCxnSpPr>
            <a:cxnSpLocks/>
          </p:cNvCxnSpPr>
          <p:nvPr/>
        </p:nvCxnSpPr>
        <p:spPr>
          <a:xfrm>
            <a:off x="2653992" y="3813716"/>
            <a:ext cx="43489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5177CF-C34E-F08D-C572-1E63523DAD41}"/>
                  </a:ext>
                </a:extLst>
              </p:cNvPr>
              <p:cNvSpPr txBox="1"/>
              <p:nvPr/>
            </p:nvSpPr>
            <p:spPr>
              <a:xfrm>
                <a:off x="2743200" y="3724505"/>
                <a:ext cx="2899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5177CF-C34E-F08D-C572-1E63523DA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724505"/>
                <a:ext cx="289932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88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1E9F-AF48-CC9B-BB94-AC4782E3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3107C5-6FE7-56CE-71B1-2A38DF93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160" y="698582"/>
            <a:ext cx="4709680" cy="37463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F4E416-D749-A784-AA1D-E7066DE9CB64}"/>
              </a:ext>
            </a:extLst>
          </p:cNvPr>
          <p:cNvCxnSpPr>
            <a:cxnSpLocks/>
          </p:cNvCxnSpPr>
          <p:nvPr/>
        </p:nvCxnSpPr>
        <p:spPr>
          <a:xfrm>
            <a:off x="2653992" y="3813716"/>
            <a:ext cx="43489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9C42C6-0D68-D9F1-B737-6C393E047698}"/>
                  </a:ext>
                </a:extLst>
              </p:cNvPr>
              <p:cNvSpPr txBox="1"/>
              <p:nvPr/>
            </p:nvSpPr>
            <p:spPr>
              <a:xfrm>
                <a:off x="2743200" y="3724505"/>
                <a:ext cx="2899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9C42C6-0D68-D9F1-B737-6C393E047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724505"/>
                <a:ext cx="289932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2AA3B82-328F-E952-8D93-559BE994EB6A}"/>
              </a:ext>
            </a:extLst>
          </p:cNvPr>
          <p:cNvSpPr txBox="1"/>
          <p:nvPr/>
        </p:nvSpPr>
        <p:spPr>
          <a:xfrm>
            <a:off x="2062976" y="4237463"/>
            <a:ext cx="412595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 the street change?</a:t>
            </a:r>
          </a:p>
        </p:txBody>
      </p:sp>
    </p:spTree>
    <p:extLst>
      <p:ext uri="{BB962C8B-B14F-4D97-AF65-F5344CB8AC3E}">
        <p14:creationId xmlns:p14="http://schemas.microsoft.com/office/powerpoint/2010/main" val="478409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61B511-F2D2-E1C0-3DBE-4FAED3B9EB9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83C624-9D86-2D70-5029-08A9839EDB6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Multiplying an SVM by a constant c &gt; 1 will retract the margin of the SVM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C02E7B-BA3B-E691-9C35-3FBE4064EFAE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0AA15B8-730B-7BB5-6B11-3EDD8FDA704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73E561C-2502-9C93-E53E-2E9C1D9FA85C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7DF69A1-6049-8D8E-CAF9-3DB6B6FC67D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360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4B520D-155C-27AD-4438-2D46A932CA4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F6034-8E90-EAAB-8285-E5692DFF5C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width of the street for the following SVM: x_1 + x_2 + 1 = 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A15974-F200-DAB5-6F30-081A44F52B61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9C776E5-8FE3-4CBE-BDBD-F103B477B87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24A2F66-C478-9B6C-0851-CBD69C358EA6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054D5DF-6A10-B03A-77FF-C68241384E1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75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F7B9-BFE8-CDF1-5CD8-9ABD33F2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62F55E-8272-4CF2-EFA7-4BC8A747A6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width of street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width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62F55E-8272-4CF2-EFA7-4BC8A747A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064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7BE44-8113-5DCF-650A-700D001528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198B39-693D-7E31-460C-7A5987E3110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Should we expand or retract this SVM?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1C1523-6407-465B-7928-229874A6B17B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1DD65FF-47F2-6F6F-CE90-578019E39B0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3A28B6F-2B30-786B-0559-6885ABF63E2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62B794-23E1-F060-D70B-CE5181E1D44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814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93E4F-B843-CE84-0FD3-C648909B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A63B-6A6A-FB10-9D6F-CBEBCDF4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954C943-1271-F189-CCCF-F73BA9AFC7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b="0" dirty="0"/>
                  <a:t> are our support vectors.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954C943-1271-F189-CCCF-F73BA9AFC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8B7697D-B1D9-B20F-2649-E1CEB986B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09" y="1167466"/>
            <a:ext cx="3638791" cy="284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06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6F8D-2C06-934C-B4A1-466BF979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D867-90AD-3B40-3212-CD4CE450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A7BE3CD-1EDF-AFA8-6370-461571E8D8B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b="0" dirty="0"/>
                  <a:t> are our support vectors.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if width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then we have the widest</a:t>
                </a:r>
              </a:p>
              <a:p>
                <a:pPr marL="114300" indent="0">
                  <a:buNone/>
                </a:pPr>
                <a:r>
                  <a:rPr lang="en-US" dirty="0"/>
                  <a:t>street. Otherwise, we will have to expand!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A7BE3CD-1EDF-AFA8-6370-461571E8D8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E34CC0E-BFC8-790D-FE51-0F9DF5B9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09" y="1167466"/>
            <a:ext cx="3638791" cy="284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76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3D165-6CD3-66B7-53EE-8A843DBD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F5E8-2732-F0F2-C6CA-4C9D7237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0B5FEE-9841-B80D-F6F1-2CD71AC56F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b="0" dirty="0"/>
                  <a:t> are our support vectors.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if width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then we have the widest</a:t>
                </a:r>
              </a:p>
              <a:p>
                <a:pPr marL="114300" indent="0">
                  <a:buNone/>
                </a:pPr>
                <a:r>
                  <a:rPr lang="en-US" dirty="0"/>
                  <a:t>street. Otherwise, we will have to expand!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width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0B5FEE-9841-B80D-F6F1-2CD71AC56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8E44BC7-A48C-C326-979A-17EFD5854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09" y="1167466"/>
            <a:ext cx="3638791" cy="284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8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761A-F76C-09A8-C07E-A44CE308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13B2-84FB-8209-E6BB-291064BE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F92545-2F35-2A9C-71CF-3A4D2CF08F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b="0" dirty="0"/>
                  <a:t> are our support vectors.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if width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then we have the widest</a:t>
                </a:r>
              </a:p>
              <a:p>
                <a:pPr marL="114300" indent="0">
                  <a:buNone/>
                </a:pPr>
                <a:r>
                  <a:rPr lang="en-US" dirty="0"/>
                  <a:t>street. Otherwise, we will have to expand!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width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current width </a:t>
                </a:r>
                <a:r>
                  <a:rPr lang="en-US" dirty="0"/>
                  <a:t>&lt;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en-US" b="0" dirty="0">
                    <a:sym typeface="Wingdings" pitchFamily="2" charset="2"/>
                  </a:rPr>
                  <a:t> expand!</a:t>
                </a: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F92545-2F35-2A9C-71CF-3A4D2CF08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978C544-2886-2180-BD8F-BB5C010CC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09" y="1167466"/>
            <a:ext cx="3638791" cy="284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16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04CFF2-B0DA-2BE3-63F7-CF84413DC2F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B54F3-F769-FDAF-767F-0D30596D73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Should we expand or retract this SVM?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43C4B5-57D1-7B94-8D9B-C453D633189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171DC1-BD44-FA42-A526-836A132697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3F7EA7A-714D-66BE-4727-9A48C6D8C94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629D2F7-4219-F602-EA45-375ACBBD934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892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B4CB-541E-6CE5-A550-71CEF68E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683892-0C79-8866-AF08-DF6BFD1006D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current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width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>
                    <a:sym typeface="Wingdings" pitchFamily="2" charset="2"/>
                  </a:rPr>
                  <a:t> widest street found!</a:t>
                </a: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B683892-0C79-8866-AF08-DF6BFD100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C54E90A-AABE-FABA-C66F-C6AE946C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58" y="1762025"/>
            <a:ext cx="3819142" cy="299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62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6379-4BC2-2B78-867A-E4892EB8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Varying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D96A-91CF-4F36-AE98-85DCBE679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C is too small:</a:t>
            </a:r>
          </a:p>
          <a:p>
            <a:r>
              <a:rPr lang="en-US" dirty="0"/>
              <a:t>model may get too complex to avoid misclassification </a:t>
            </a:r>
            <a:r>
              <a:rPr lang="en-US" dirty="0">
                <a:sym typeface="Wingdings" pitchFamily="2" charset="2"/>
              </a:rPr>
              <a:t> overfitting</a:t>
            </a:r>
          </a:p>
          <a:p>
            <a:pPr marL="114300" indent="0">
              <a:buNone/>
            </a:pPr>
            <a:r>
              <a:rPr lang="en-US" dirty="0">
                <a:sym typeface="Wingdings" pitchFamily="2" charset="2"/>
              </a:rPr>
              <a:t>If C is too large: </a:t>
            </a:r>
          </a:p>
          <a:p>
            <a:r>
              <a:rPr lang="en-US" dirty="0">
                <a:sym typeface="Wingdings" pitchFamily="2" charset="2"/>
              </a:rPr>
              <a:t>model may be too simple  underfitting</a:t>
            </a:r>
          </a:p>
          <a:p>
            <a:pPr marL="114300" indent="0">
              <a:buNone/>
            </a:pPr>
            <a:endParaRPr lang="en-US" dirty="0">
              <a:sym typeface="Wingdings" pitchFamily="2" charset="2"/>
            </a:endParaRPr>
          </a:p>
          <a:p>
            <a:pPr marL="114300" indent="0">
              <a:buNone/>
            </a:pP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88522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EDC7-705D-2F51-9896-C6933F6B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there is no linear boundary?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ECD9F5-E433-921C-CD0B-3C8D15A35C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62514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Option 1: Soft margins</a:t>
                </a:r>
              </a:p>
              <a:p>
                <a:r>
                  <a:rPr lang="en-US" dirty="0"/>
                  <a:t>Allow some points to be misclassified</a:t>
                </a:r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Option 2: Change perspectives (transformation)</a:t>
                </a:r>
              </a:p>
              <a:p>
                <a:r>
                  <a:rPr lang="en-US" dirty="0"/>
                  <a:t>Find a linear boundary on some transformation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i.e., find a linear boundary on the space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)</a:t>
                </a:r>
              </a:p>
              <a:p>
                <a:pPr lvl="1"/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ECD9F5-E433-921C-CD0B-3C8D15A35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6251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6857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63DB68C-DB4A-DD95-1A48-A9BFA6B63C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Finding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br>
                  <a:rPr lang="en-US" b="1" dirty="0"/>
                </a:br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63DB68C-DB4A-DD95-1A48-A9BFA6B63C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7E3D29-789B-91D6-198C-1B465E3EE69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Don’t need to actually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/>
                  <a:t>. Recall: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7E3D29-789B-91D6-198C-1B465E3EE6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  <a:blipFill>
                <a:blip r:embed="rId3"/>
                <a:stretch>
                  <a:fillRect t="-4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4279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BE2D-DEB1-DB50-CC8C-4C992FC3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04B4C5-5212-86BF-2520-081AB5B1F0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Finding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br>
                  <a:rPr lang="en-US" b="1" dirty="0"/>
                </a:br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04B4C5-5212-86BF-2520-081AB5B1F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DEBD1D-12C8-5EE8-CE32-A4FAD5499D3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Don’t need to actually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/>
                  <a:t>. Recall: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0" dirty="0"/>
                  <a:t> is the dot product of training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and new point (testing point)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7DEBD1D-12C8-5EE8-CE32-A4FAD5499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  <a:blipFill>
                <a:blip r:embed="rId3"/>
                <a:stretch>
                  <a:fillRect t="-4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99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9DE2-6CA7-3B45-48E9-67A84491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61F2D7-CA93-CCF3-5B18-38AE67AFAC1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Finding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br>
                  <a:rPr lang="en-US" b="1" dirty="0"/>
                </a:br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61F2D7-CA93-CCF3-5B18-38AE67AFA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B5C422-5127-6458-6DD5-4EAF763199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Don’t need to actually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/>
                  <a:t>. Recall: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0" dirty="0"/>
                  <a:t> is the dot product of training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and new point (testing point)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the training point’s label (typically 1 or -1)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B5C422-5127-6458-6DD5-4EAF76319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  <a:blipFill>
                <a:blip r:embed="rId3"/>
                <a:stretch>
                  <a:fillRect t="-4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939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A49D-F770-9A34-1D0D-77A9C0A6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431BCE-4314-9EDA-BA9E-890B51DF97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Finding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br>
                  <a:rPr lang="en-US" b="1" dirty="0"/>
                </a:br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431BCE-4314-9EDA-BA9E-890B51DF9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0C0F90-10A9-E3F6-B66B-FCC709C53B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Don’t need to actually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/>
                  <a:t>. Recall: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0" dirty="0"/>
                  <a:t> is the dot product of training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and new point (testing point)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the training point’s label (typically 1 or -1)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weight learned by the SVM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0C0F90-10A9-E3F6-B66B-FCC709C53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  <a:blipFill>
                <a:blip r:embed="rId3"/>
                <a:stretch>
                  <a:fillRect t="-4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272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E6B3-1425-A74E-8EC2-45BC9F43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D44BC0-2D82-724D-7EC6-F4858C8568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Finding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br>
                  <a:rPr lang="en-US" b="1" dirty="0"/>
                </a:br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D44BC0-2D82-724D-7EC6-F4858C8568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38386E-3DD7-A2EE-7C12-C475E1EF49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Don’t need to actually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/>
                  <a:t>. Recall: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0" dirty="0"/>
                  <a:t> is the dot product of training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and new point (testing point)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the training point’s label (typically 1 or -1)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weight learned by the SVM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 is bia</a:t>
                </a:r>
                <a:r>
                  <a:rPr lang="en-US" dirty="0"/>
                  <a:t>s or the intercept</a:t>
                </a:r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38386E-3DD7-A2EE-7C12-C475E1EF4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  <a:blipFill>
                <a:blip r:embed="rId3"/>
                <a:stretch>
                  <a:fillRect t="-4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3628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3E70-E100-592A-6D8A-AF7D9E80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11461D-402F-C9BE-C432-34FA5A8BE1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Finding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br>
                  <a:rPr lang="en-US" b="1" dirty="0"/>
                </a:br>
                <a:br>
                  <a:rPr lang="en-US" b="1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11461D-402F-C9BE-C432-34FA5A8BE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6" t="-5357" b="-16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E0683-9AA7-9295-FEFF-EE5EF2F91A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</p:spPr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Don’t need to actually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/>
                  <a:t>. Recall: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Where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0" dirty="0"/>
                  <a:t> is the dot product of training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and new point (testing point)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the training point’s label (typically 1 or -1)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weight learned by the SVM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b="0" dirty="0"/>
                  <a:t> is bia</a:t>
                </a:r>
                <a:r>
                  <a:rPr lang="en-US" dirty="0"/>
                  <a:t>s or the intercept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Interpreted as: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b="0" dirty="0"/>
                  <a:t> is similar to positive/negative support vectors, then the sum tends to be pushed positive/negative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E0683-9AA7-9295-FEFF-EE5EF2F91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774026"/>
              </a:xfrm>
              <a:blipFill>
                <a:blip r:embed="rId3"/>
                <a:stretch>
                  <a:fillRect t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3542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659D2-2D5C-B29F-0542-6131B29A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D444A-92C5-62EC-4BA7-699C67FB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Kernel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E4145F-2F86-5EF3-752E-39BDF79BF0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E4145F-2F86-5EF3-752E-39BDF79BF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4895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4702-7D62-E330-C4F7-4CD8611F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Kernel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7C3F66-C8C8-D1A6-06A1-881413C6251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Then we can transform our decision sum to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≥0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7C3F66-C8C8-D1A6-06A1-881413C625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7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403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6E92-31DC-0284-8828-E48E8342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kernel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9CAA0E-0815-8E10-D526-66DE3D901B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Radial basis kernel function: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Squared Euclidean distance between training point and testing point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9CAA0E-0815-8E10-D526-66DE3D901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1D01A2C-D9B6-D23B-43A7-1A622AB61EED}"/>
              </a:ext>
            </a:extLst>
          </p:cNvPr>
          <p:cNvSpPr txBox="1"/>
          <p:nvPr/>
        </p:nvSpPr>
        <p:spPr>
          <a:xfrm>
            <a:off x="4806176" y="1728438"/>
            <a:ext cx="1115122" cy="4795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454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53C68-AB3C-3EB9-CE39-A8C77CFA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AF7A-A27A-90B9-1EE6-8EB2165A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kernel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37BE7C-E6E6-43DD-8FB0-395F0BB198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302700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Radial basis kernel function: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Controls our notion of closeness:</a:t>
                </a:r>
              </a:p>
              <a:p>
                <a:r>
                  <a:rPr lang="en-US" dirty="0"/>
                  <a:t>if small: require points to be very close to be classified as similar</a:t>
                </a:r>
              </a:p>
              <a:p>
                <a:r>
                  <a:rPr lang="en-US" b="0" dirty="0"/>
                  <a:t>if large: more generous notion of similarity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237BE7C-E6E6-43DD-8FB0-395F0BB19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3027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91CCFD-1821-FA84-3B25-FFD65DE3D096}"/>
              </a:ext>
            </a:extLst>
          </p:cNvPr>
          <p:cNvSpPr txBox="1"/>
          <p:nvPr/>
        </p:nvSpPr>
        <p:spPr>
          <a:xfrm>
            <a:off x="5062653" y="2263695"/>
            <a:ext cx="657922" cy="211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32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B04B-1E89-D1AD-206F-4B7B6734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2FA3-DF81-F7F7-544C-9C73A2F8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kernel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519BD0-04CF-598B-3292-D401B1B9963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Radial basis kernel function: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Two points are considered similar if they are close to one another and the similarity drops off exponentially as they move apart.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519BD0-04CF-598B-3292-D401B1B996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4012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A6B5-511B-2C64-E3AC-B45A7240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BE1D-54EC-C28F-01A7-296265C7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kernel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2EF17C-5462-A8A5-EBD9-3AC470A4F97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5136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Radial basis kernel function: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Two points are considered similar if they are close to one another and the similarity drops off exponentially as they move apart.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Instead of looking for a linear separator, we just use notions of closeness between points to perform classification.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2EF17C-5462-A8A5-EBD9-3AC470A4F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513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88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C191-A592-BD5A-4EE9-500FB64A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FAE4E-B144-337E-600F-91F2A96C0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</p:txBody>
      </p:sp>
    </p:spTree>
    <p:extLst>
      <p:ext uri="{BB962C8B-B14F-4D97-AF65-F5344CB8AC3E}">
        <p14:creationId xmlns:p14="http://schemas.microsoft.com/office/powerpoint/2010/main" val="19796562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E36E-2F89-0A49-84D3-E3E1C8D1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3149-36CD-047B-BA78-C372B2F7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84616-DBEA-C540-CDD8-682681A0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Regularization parameter</a:t>
            </a:r>
          </a:p>
        </p:txBody>
      </p:sp>
    </p:spTree>
    <p:extLst>
      <p:ext uri="{BB962C8B-B14F-4D97-AF65-F5344CB8AC3E}">
        <p14:creationId xmlns:p14="http://schemas.microsoft.com/office/powerpoint/2010/main" val="26576293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611A-CDF3-FA9C-AC31-E8E7ADB4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EFEF-ABDB-74CF-C204-F63D4FB9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55292-C921-0466-27A2-9A023E48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Regularization parameter</a:t>
            </a:r>
          </a:p>
          <a:p>
            <a:pPr lvl="1"/>
            <a:r>
              <a:rPr lang="en-US" dirty="0"/>
              <a:t>Larger </a:t>
            </a:r>
            <a:r>
              <a:rPr lang="en-US" dirty="0">
                <a:sym typeface="Wingdings" pitchFamily="2" charset="2"/>
              </a:rPr>
              <a:t> weaker regularization, model will try hard to classify all points correctly which could result in overfitting</a:t>
            </a:r>
          </a:p>
        </p:txBody>
      </p:sp>
    </p:spTree>
    <p:extLst>
      <p:ext uri="{BB962C8B-B14F-4D97-AF65-F5344CB8AC3E}">
        <p14:creationId xmlns:p14="http://schemas.microsoft.com/office/powerpoint/2010/main" val="29976194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5743-5E80-C1B5-EB68-16F70CD8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334C-9A4C-7977-4E5F-2AEA5B78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A29FD-DE0F-88E3-767F-51C65D38D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Regularization parameter</a:t>
            </a:r>
          </a:p>
          <a:p>
            <a:pPr lvl="1"/>
            <a:r>
              <a:rPr lang="en-US" dirty="0"/>
              <a:t>Larger </a:t>
            </a:r>
            <a:r>
              <a:rPr lang="en-US" dirty="0">
                <a:sym typeface="Wingdings" pitchFamily="2" charset="2"/>
              </a:rPr>
              <a:t> weaker regularization, model will try hard to classify all points correctly which could result in overfitting</a:t>
            </a:r>
          </a:p>
          <a:p>
            <a:pPr lvl="1"/>
            <a:r>
              <a:rPr lang="en-US" dirty="0">
                <a:sym typeface="Wingdings" pitchFamily="2" charset="2"/>
              </a:rPr>
              <a:t>Smaller  stronger regularization, model will be tolerant of some error and could generalize better. If C is too small, risk underfitting.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4215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F8E66-1788-8FB1-8AAF-7A9234BD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7263-A32B-5E55-B861-34C8301F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CAAD0-C50F-462C-B2C0-09A62ACF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Kernel: linear, polynomial, radial basis function (</a:t>
            </a:r>
            <a:r>
              <a:rPr lang="en-US" dirty="0" err="1"/>
              <a:t>rbf</a:t>
            </a:r>
            <a:r>
              <a:rPr lang="en-US" dirty="0"/>
              <a:t>), sigmoid, precomputed (custom)</a:t>
            </a:r>
          </a:p>
        </p:txBody>
      </p:sp>
    </p:spTree>
    <p:extLst>
      <p:ext uri="{BB962C8B-B14F-4D97-AF65-F5344CB8AC3E}">
        <p14:creationId xmlns:p14="http://schemas.microsoft.com/office/powerpoint/2010/main" val="33607761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561F-E6A3-876F-6345-193555F5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2651-8282-53E7-7FFB-FB058C2D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2F49B-0F62-8FBA-535E-AE1C660C3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Kernel: linear, polynomial, radial basis function (</a:t>
            </a:r>
            <a:r>
              <a:rPr lang="en-US" dirty="0" err="1"/>
              <a:t>rbf</a:t>
            </a:r>
            <a:r>
              <a:rPr lang="en-US" dirty="0"/>
              <a:t>), sigmoid, precomputed (custom)</a:t>
            </a:r>
          </a:p>
          <a:p>
            <a:pPr lvl="1"/>
            <a:r>
              <a:rPr lang="en-US" dirty="0"/>
              <a:t>For TF-IDF/bag-of-words, typically try linear first</a:t>
            </a:r>
          </a:p>
        </p:txBody>
      </p:sp>
    </p:spTree>
    <p:extLst>
      <p:ext uri="{BB962C8B-B14F-4D97-AF65-F5344CB8AC3E}">
        <p14:creationId xmlns:p14="http://schemas.microsoft.com/office/powerpoint/2010/main" val="39210863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3132-0D27-8F8C-F020-1DF8E0E1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E644-40FC-D527-E582-791B4C4B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D240E-2FDC-AE72-B13E-CA04DCB55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Kernel: linear, polynomial, radial basis function (</a:t>
            </a:r>
            <a:r>
              <a:rPr lang="en-US" dirty="0" err="1"/>
              <a:t>rbf</a:t>
            </a:r>
            <a:r>
              <a:rPr lang="en-US" dirty="0"/>
              <a:t>), sigmoid, precomputed (custom)</a:t>
            </a:r>
          </a:p>
          <a:p>
            <a:pPr lvl="1"/>
            <a:r>
              <a:rPr lang="en-US" dirty="0"/>
              <a:t>For TF-IDF/bag-of-words, typically try linear first</a:t>
            </a:r>
          </a:p>
          <a:p>
            <a:pPr lvl="1"/>
            <a:r>
              <a:rPr lang="en-US" dirty="0"/>
              <a:t>For general nonlinear data, typically try </a:t>
            </a:r>
            <a:r>
              <a:rPr lang="en-US" dirty="0" err="1"/>
              <a:t>rbf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65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A8991-96F9-48AA-8E56-F76D82FD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976A-C778-9E5F-F448-05289321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0A9F6-E78C-1E56-4A38-16D6A8C3F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Kernel: linear, polynomial, radial basis function (</a:t>
            </a:r>
            <a:r>
              <a:rPr lang="en-US" dirty="0" err="1"/>
              <a:t>rbf</a:t>
            </a:r>
            <a:r>
              <a:rPr lang="en-US" dirty="0"/>
              <a:t>), sigmoid, precomputed (custom)</a:t>
            </a:r>
          </a:p>
          <a:p>
            <a:pPr lvl="1"/>
            <a:r>
              <a:rPr lang="en-US" dirty="0"/>
              <a:t>For TF-IDF/bag-of-words, typically try linear first</a:t>
            </a:r>
          </a:p>
          <a:p>
            <a:pPr lvl="1"/>
            <a:r>
              <a:rPr lang="en-US" dirty="0"/>
              <a:t>For general nonlinear data, typically try </a:t>
            </a:r>
            <a:r>
              <a:rPr lang="en-US" dirty="0" err="1"/>
              <a:t>rbf</a:t>
            </a:r>
            <a:endParaRPr lang="en-US" dirty="0"/>
          </a:p>
          <a:p>
            <a:pPr lvl="1"/>
            <a:r>
              <a:rPr lang="en-US" dirty="0"/>
              <a:t>When the data is nonlinear and there is significant interaction between features, try polynomial</a:t>
            </a:r>
          </a:p>
        </p:txBody>
      </p:sp>
    </p:spTree>
    <p:extLst>
      <p:ext uri="{BB962C8B-B14F-4D97-AF65-F5344CB8AC3E}">
        <p14:creationId xmlns:p14="http://schemas.microsoft.com/office/powerpoint/2010/main" val="42888375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8BB79-AD75-88D1-35DB-F643B0DC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C527-FB18-0991-7FF4-3A492FBF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7DEC6-2D5F-BE4A-3A28-026E1A4A6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Kernel: linear, polynomial, radial basis function (</a:t>
            </a:r>
            <a:r>
              <a:rPr lang="en-US" dirty="0" err="1"/>
              <a:t>rbf</a:t>
            </a:r>
            <a:r>
              <a:rPr lang="en-US" dirty="0"/>
              <a:t>), sigmoid, precomputed (custom)</a:t>
            </a:r>
          </a:p>
          <a:p>
            <a:pPr lvl="1"/>
            <a:r>
              <a:rPr lang="en-US" dirty="0"/>
              <a:t>For TF-IDF/bag-of-words, typically try linear first</a:t>
            </a:r>
          </a:p>
          <a:p>
            <a:pPr lvl="1"/>
            <a:r>
              <a:rPr lang="en-US" dirty="0"/>
              <a:t>For general nonlinear data, typically try </a:t>
            </a:r>
            <a:r>
              <a:rPr lang="en-US" dirty="0" err="1"/>
              <a:t>rbf</a:t>
            </a:r>
            <a:endParaRPr lang="en-US" dirty="0"/>
          </a:p>
          <a:p>
            <a:pPr lvl="1"/>
            <a:r>
              <a:rPr lang="en-US" dirty="0"/>
              <a:t>When the data is nonlinear and there is significant interaction between features, try polynomial</a:t>
            </a:r>
          </a:p>
          <a:p>
            <a:pPr lvl="1"/>
            <a:r>
              <a:rPr lang="en-US" dirty="0"/>
              <a:t>Sigmoid is less common but can be useful for some sentiment analysis and is most comparable to a simple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18897618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E1E0-DB32-AF48-958B-11DA7CDA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1505-0063-43C2-F1FA-93C47021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592BB-E714-CA86-AD98-D04F1C51E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Degree: only applicable for polynomial kernel</a:t>
            </a:r>
          </a:p>
        </p:txBody>
      </p:sp>
    </p:spTree>
    <p:extLst>
      <p:ext uri="{BB962C8B-B14F-4D97-AF65-F5344CB8AC3E}">
        <p14:creationId xmlns:p14="http://schemas.microsoft.com/office/powerpoint/2010/main" val="18886162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8481-20F3-DA25-5CE0-BF01A76E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8E37-39A0-5160-9F03-EE00B94E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55BA6-B075-F018-BBFB-10BEA708C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Degree: only applicable for polynomial kernel</a:t>
            </a:r>
          </a:p>
          <a:p>
            <a:pPr lvl="1"/>
            <a:r>
              <a:rPr lang="en-US" dirty="0"/>
              <a:t>How do we decide what degree to use?</a:t>
            </a:r>
          </a:p>
        </p:txBody>
      </p:sp>
    </p:spTree>
    <p:extLst>
      <p:ext uri="{BB962C8B-B14F-4D97-AF65-F5344CB8AC3E}">
        <p14:creationId xmlns:p14="http://schemas.microsoft.com/office/powerpoint/2010/main" val="34426224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0403-404B-3712-DCD8-5EE431F5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72C0-5E1D-6204-F0DC-2389F02A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2D012-5055-C296-C273-679FCE947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endParaRPr lang="en-US" dirty="0"/>
          </a:p>
          <a:p>
            <a:r>
              <a:rPr lang="en-US" dirty="0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25737077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9FD7-1546-30BC-3339-DB94E12C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24AE-AD64-20EE-09BA-0080D63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BDE65-4DB9-C680-A585-47CFEB770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endParaRPr lang="en-US" dirty="0"/>
          </a:p>
          <a:p>
            <a:r>
              <a:rPr lang="en-US" dirty="0"/>
              <a:t>Gamma</a:t>
            </a:r>
          </a:p>
          <a:p>
            <a:pPr lvl="1"/>
            <a:r>
              <a:rPr lang="en-US" dirty="0"/>
              <a:t>Controls how local the influence is for each training point using </a:t>
            </a:r>
            <a:r>
              <a:rPr lang="en-US" dirty="0" err="1"/>
              <a:t>rbf</a:t>
            </a:r>
            <a:r>
              <a:rPr lang="en-US" dirty="0"/>
              <a:t>, polynomial, or sigmoid kernel.</a:t>
            </a:r>
          </a:p>
        </p:txBody>
      </p:sp>
    </p:spTree>
    <p:extLst>
      <p:ext uri="{BB962C8B-B14F-4D97-AF65-F5344CB8AC3E}">
        <p14:creationId xmlns:p14="http://schemas.microsoft.com/office/powerpoint/2010/main" val="30115060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1AA78-544F-4F3B-B633-33EC9FAFD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98B5-AF06-827B-C021-5F1CB52E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77032-17B2-81C6-EA06-2B2C33B59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Key parameters: regularization parameter, kernel, degree, gamma</a:t>
            </a:r>
          </a:p>
          <a:p>
            <a:endParaRPr lang="en-US" dirty="0"/>
          </a:p>
          <a:p>
            <a:r>
              <a:rPr lang="en-US" dirty="0"/>
              <a:t>Gamma</a:t>
            </a:r>
          </a:p>
          <a:p>
            <a:pPr lvl="1"/>
            <a:r>
              <a:rPr lang="en-US" dirty="0"/>
              <a:t>Controls how local the influence is for each training point using </a:t>
            </a:r>
            <a:r>
              <a:rPr lang="en-US" dirty="0" err="1"/>
              <a:t>rbf</a:t>
            </a:r>
            <a:r>
              <a:rPr lang="en-US" dirty="0"/>
              <a:t>, polynomial, or sigmoid kernel.</a:t>
            </a:r>
          </a:p>
          <a:p>
            <a:pPr lvl="1"/>
            <a:r>
              <a:rPr lang="en-US" dirty="0"/>
              <a:t>E.g., for </a:t>
            </a:r>
            <a:r>
              <a:rPr lang="en-US" dirty="0" err="1"/>
              <a:t>rbf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0420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0E3D-24AD-ED8B-B219-A2640075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5B0C-257D-167E-9330-AC74474D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B6B984-6959-6491-3E04-465A835D73D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Key parameters: regularization parameter, kernel, degree, gamma</a:t>
                </a:r>
              </a:p>
              <a:p>
                <a:endParaRPr lang="en-US" dirty="0"/>
              </a:p>
              <a:p>
                <a:r>
                  <a:rPr lang="en-US" dirty="0"/>
                  <a:t>Gamma</a:t>
                </a:r>
              </a:p>
              <a:p>
                <a:pPr lvl="1"/>
                <a:r>
                  <a:rPr lang="en-US" dirty="0"/>
                  <a:t>Controls how local the influence is for each training point using </a:t>
                </a:r>
                <a:r>
                  <a:rPr lang="en-US" dirty="0" err="1"/>
                  <a:t>rbf</a:t>
                </a:r>
                <a:r>
                  <a:rPr lang="en-US" dirty="0"/>
                  <a:t>, polynomial, or sigmoid kernel.</a:t>
                </a:r>
              </a:p>
              <a:p>
                <a:pPr lvl="1"/>
                <a:r>
                  <a:rPr lang="en-US" dirty="0"/>
                  <a:t>E.g., for </a:t>
                </a:r>
                <a:r>
                  <a:rPr lang="en-US" dirty="0" err="1"/>
                  <a:t>rbf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–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B6B984-6959-6491-3E04-465A835D7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0580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CA98-2978-C4F5-C9F9-F40BA4DAB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F6C8-C77D-DE4A-3393-7B73BEEC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961200D-37FD-C6E0-0A18-7A18C90F03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Key parameters: regularization parameter, kernel, degree, gamma</a:t>
                </a:r>
              </a:p>
              <a:p>
                <a:endParaRPr lang="en-US" dirty="0"/>
              </a:p>
              <a:p>
                <a:r>
                  <a:rPr lang="en-US" dirty="0"/>
                  <a:t>Gamma</a:t>
                </a:r>
              </a:p>
              <a:p>
                <a:pPr lvl="1"/>
                <a:r>
                  <a:rPr lang="en-US" dirty="0"/>
                  <a:t>Controls how local the influence is for each training point using </a:t>
                </a:r>
                <a:r>
                  <a:rPr lang="en-US" dirty="0" err="1"/>
                  <a:t>rbf</a:t>
                </a:r>
                <a:r>
                  <a:rPr lang="en-US" dirty="0"/>
                  <a:t>, polynomial, or sigmoid kernel.</a:t>
                </a:r>
              </a:p>
              <a:p>
                <a:pPr lvl="1"/>
                <a:r>
                  <a:rPr lang="en-US" dirty="0"/>
                  <a:t>E.g., for </a:t>
                </a:r>
                <a:r>
                  <a:rPr lang="en-US" dirty="0" err="1"/>
                  <a:t>rbf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–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3"/>
                <a:r>
                  <a:rPr lang="en-US" b="0" dirty="0"/>
                  <a:t>Here, gamma determines how quickly similarity drops as points get further apart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961200D-37FD-C6E0-0A18-7A18C90F0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997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5989-D19A-2D3E-00A7-0C61DFB3B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B453-DB58-1F21-55EA-0D50D83D6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optimal parameters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7168FEE-CEDE-EA82-9BA5-CC60BD016E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Key parameters: regularization parameter, kernel, degree, gamma</a:t>
                </a:r>
              </a:p>
              <a:p>
                <a:endParaRPr lang="en-US" dirty="0"/>
              </a:p>
              <a:p>
                <a:r>
                  <a:rPr lang="en-US" dirty="0"/>
                  <a:t>Gamma</a:t>
                </a:r>
              </a:p>
              <a:p>
                <a:pPr lvl="1"/>
                <a:r>
                  <a:rPr lang="en-US" dirty="0"/>
                  <a:t>Controls how local the influence is for each training point using </a:t>
                </a:r>
                <a:r>
                  <a:rPr lang="en-US" dirty="0" err="1"/>
                  <a:t>rbf</a:t>
                </a:r>
                <a:r>
                  <a:rPr lang="en-US" dirty="0"/>
                  <a:t>, polynomial, or sigmoid kernel.</a:t>
                </a:r>
              </a:p>
              <a:p>
                <a:pPr lvl="1"/>
                <a:r>
                  <a:rPr lang="en-US" dirty="0"/>
                  <a:t>E.g., for </a:t>
                </a:r>
                <a:r>
                  <a:rPr lang="en-US" dirty="0" err="1"/>
                  <a:t>rbf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–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3"/>
                <a:r>
                  <a:rPr lang="en-US" b="0" dirty="0"/>
                  <a:t>Here, gamma determines how quickly similarity drops as points get further apart</a:t>
                </a:r>
              </a:p>
              <a:p>
                <a:pPr lvl="1"/>
                <a:r>
                  <a:rPr lang="en-US" dirty="0"/>
                  <a:t>Again, it can be quite difficult to pick gamma!</a:t>
                </a:r>
                <a:endParaRPr lang="en-US" b="0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7168FEE-CEDE-EA82-9BA5-CC60BD016E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35741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8AAC-29B8-CB8E-53EB-01CE0F2A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many parameters!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68D6E-02EF-214A-3F45-4CCE1D8D0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can be tough to have to iterate over so many different parameters.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084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D5C3-5374-94D6-47C3-D5AA790E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3FC9-36A9-EA7F-0C32-52BDA309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many parameters!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C748-6B15-51E3-0541-6D58072F1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can be tough to have to iterate over so many different parameters.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Sometimes it’s hard to mathematically find good parameters so our best bet is likely to just try different parameters!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616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6DA38-CF8C-315D-AD88-31F03520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694E-B932-5E14-5E60-7E4969829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 many parameters!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9A6BD-73BD-A58D-3201-3BB7A1D22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can be tough to have to iterate over so many different parameters.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Sometimes it’s hard to mathematically find good parameters so our best bet is likely to just try different parameters!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if we could automate the process of iterating over different parameter sets and then choose the set of parameters that yields the best result?</a:t>
            </a:r>
          </a:p>
        </p:txBody>
      </p:sp>
    </p:spTree>
    <p:extLst>
      <p:ext uri="{BB962C8B-B14F-4D97-AF65-F5344CB8AC3E}">
        <p14:creationId xmlns:p14="http://schemas.microsoft.com/office/powerpoint/2010/main" val="11447761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C0DC-0F1A-0931-C6C3-1EA2C611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Grid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F9695-04DA-7EBA-BC40-A52B7523A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4"/>
            <a:ext cx="8520600" cy="36874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Grid search will try every combination of parameter that we specify, scores each one with cross-validation, and returns the best performer with respect the provided scoring metric.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You provide a parameter grid:</a:t>
            </a:r>
          </a:p>
          <a:p>
            <a:r>
              <a:rPr lang="en-US" dirty="0"/>
              <a:t>E.g.,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grid search will take the cartesian product and test every possible combination.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EBBE2-599B-08A3-7677-0AEF701D8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15" y="2997878"/>
            <a:ext cx="27559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06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AC26-8DF1-55BD-B4BE-5B994BA2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Grid search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79E3C-969B-487D-D33F-216626292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5371000" cy="3302700"/>
          </a:xfrm>
        </p:spPr>
        <p:txBody>
          <a:bodyPr/>
          <a:lstStyle/>
          <a:p>
            <a:r>
              <a:rPr lang="en-US" dirty="0"/>
              <a:t>cv = number of folds for the cross validation</a:t>
            </a:r>
          </a:p>
          <a:p>
            <a:r>
              <a:rPr lang="en-US" dirty="0"/>
              <a:t>scoring = scoring metric. e.g. precision, recall, f1, accuracy, RMSE, R2</a:t>
            </a:r>
          </a:p>
          <a:p>
            <a:r>
              <a:rPr lang="en-US" dirty="0"/>
              <a:t>refit = fit a final model on the full training set after finding the best parameters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34AEE-E051-B45D-33C6-8A9DEFF7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700" y="1152425"/>
            <a:ext cx="31496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464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eaace20-0e1a-41c1-ba7b-e00c80b6338b"/>
  <p:tag name="SLIDO_EVENT_UUID" val="6a17bb01-e1aa-469d-8edb-b3156155d6ef"/>
  <p:tag name="SLIDO_EVENT_SECTION_UUID" val="4dbd2d20-a633-4f29-82e7-3a3f0b2ec5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0425c93-bdea-4112-964e-749895523164"/>
  <p:tag name="SLIDO_TIMELINE" val="W3sic2hvd0NvcnJlY3RBbnN3ZXJzIjpmYWxzZSwicG9sbFF1ZXN0aW9uVXVpZCI6IjhkMzJmYjMxLTAzNmItNDI5My1hZWUxLWI4ZTllYjZlN2IyNSIsInNob3dSZXN1bHRzIjpmYWxzZX0seyJzaG93Q29ycmVjdEFuc3dlcnMiOnRydWUsInBvbGxRdWVzdGlvblV1aWQiOiI4ZDMyZmIzMS0wMzZiLTQyOTMtYWVlMS1iOGU5ZWI2ZTdiMjUiLCJzaG93UmVzdWx0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fba6f85-36df-4f5a-9aee-5e2eb8a6bcc4"/>
  <p:tag name="SLIDO_TIMELINE" val="W3sic2hvd1Jlc3VsdHMiOmZhbHNlLCJwb2xsUXVlc3Rpb25VdWlkIjoiODZlN2QyMDMtMDc1Ny00NGE4LWJhNDMtZjczNzEwZjkxMTFjIiwic2hvd0NvcnJlY3RBbnN3ZXJzIjpmYWxzZX0seyJzaG93UmVzdWx0cyI6dHJ1ZSwicG9sbFF1ZXN0aW9uVXVpZCI6Ijg2ZTdkMjAzLTA3NTctNDRhOC1iYTQzLWY3MzcxMGY5MTExYyIsInNob3dDb3JyZWN0QW5zd2Vy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2dc85d4-ce98-449e-bd14-48dc0b169ee6"/>
  <p:tag name="SLIDO_TIMELINE" val="W3sicG9sbFF1ZXN0aW9uVXVpZCI6ImFlYTc0NGY3LWJkMTEtNDJhNC1iYzc3LTUwZDMzZTM4Y2YyMCIsInNob3dDb3JyZWN0QW5zd2VycyI6ZmFsc2UsInNob3dSZXN1bHRzIjpmYWxzZX0seyJwb2xsUXVlc3Rpb25VdWlkIjoiYWVhNzQ0ZjctYmQxMS00MmE0LWJjNzctNTBkMzNlMzhjZjIwIiwic2hvd0NvcnJlY3RBbnN3ZXJzIjp0cnVlLCJzaG93UmVzdWx0cyI6dHJ1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b90694d-a646-416d-9d44-aaab3be146fe"/>
  <p:tag name="SLIDO_TIMELINE" val="W3sicG9sbFF1ZXN0aW9uVXVpZCI6IjBjNjk5NDA4LTdiNzYtNGMzYy1iN2E2LTgzYzNiMmJlYzk4MiIsInNob3dSZXN1bHRzIjpmYWxzZSwic2hvd0NvcnJlY3RBbnN3ZXJzIjpmYWxzZX0seyJwb2xsUXVlc3Rpb25VdWlkIjoiMGM2OTk0MDgtN2I3Ni00YzNjLWI3YTYtODNjM2IyYmVjOTgyIiwic2hvd1Jlc3VsdHMiOnRydWUsInNob3dDb3JyZWN0QW5zd2VycyI6dHJ1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78d45f7-68a3-4bf9-8f3f-2ed07c0fb942"/>
  <p:tag name="SLIDO_TIMELINE" val="W3sic2hvd1Jlc3VsdHMiOmZhbHNlLCJwb2xsUXVlc3Rpb25VdWlkIjoiMjZlZTBjNjgtYTMwNC00MjhhLWJhYTctNGJlOGY3NTMxNDYyIiwic2hvd0NvcnJlY3RBbnN3ZXJzIjpmYWxzZX0seyJzaG93UmVzdWx0cyI6dHJ1ZSwicG9sbFF1ZXN0aW9uVXVpZCI6IjI2ZWUwYzY4LWEzMDQtNDI4YS1iYWE3LTRiZThmNzUzMTQ2MiIsInNob3dDb3JyZWN0QW5zd2VycyI6dHJ1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3163</Words>
  <Application>Microsoft Macintosh PowerPoint</Application>
  <PresentationFormat>On-screen Show (16:9)</PresentationFormat>
  <Paragraphs>551</Paragraphs>
  <Slides>78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4" baseType="lpstr">
      <vt:lpstr>Wingdings</vt:lpstr>
      <vt:lpstr>PT Sans Narrow</vt:lpstr>
      <vt:lpstr>Arial</vt:lpstr>
      <vt:lpstr>Cambria Math</vt:lpstr>
      <vt:lpstr>Open Sans</vt:lpstr>
      <vt:lpstr>Tropic</vt:lpstr>
      <vt:lpstr>Support Vector Machines</vt:lpstr>
      <vt:lpstr>Recall: SVM</vt:lpstr>
      <vt:lpstr>Recall: SVM</vt:lpstr>
      <vt:lpstr>Recall: SVM</vt:lpstr>
      <vt:lpstr>Recall: SVM</vt:lpstr>
      <vt:lpstr>Recall: SVM</vt:lpstr>
      <vt:lpstr>Recall: SVM</vt:lpstr>
      <vt:lpstr>Recall: SVM</vt:lpstr>
      <vt:lpstr>Recall: SVM</vt:lpstr>
      <vt:lpstr>Recall: SVM</vt:lpstr>
      <vt:lpstr>Recall: SVM</vt:lpstr>
      <vt:lpstr>Recall: SVM</vt:lpstr>
      <vt:lpstr>Adjusting size of streets</vt:lpstr>
      <vt:lpstr>Adjusting size of streets</vt:lpstr>
      <vt:lpstr>Adjusting size of streets</vt:lpstr>
      <vt:lpstr>Moving the street in the direction of a point</vt:lpstr>
      <vt:lpstr>Moving the street in the direction of a point</vt:lpstr>
      <vt:lpstr>Moving the street in the direction of a point</vt:lpstr>
      <vt:lpstr>Moving the street in the direction of a point</vt:lpstr>
      <vt:lpstr>Perceptron Algorithm</vt:lpstr>
      <vt:lpstr>Perceptron Algorithm</vt:lpstr>
      <vt:lpstr>Perceptron Algorithm</vt:lpstr>
      <vt:lpstr>Perceptron Algorithm</vt:lpstr>
      <vt:lpstr>Perceptron Algorithm</vt:lpstr>
      <vt:lpstr>Perceptron Algorithm</vt:lpstr>
      <vt:lpstr>Perceptron Algorithm</vt:lpstr>
      <vt:lpstr>Perceptron Algorithm</vt:lpstr>
      <vt:lpstr>Perceptron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PowerPoint Presentation</vt:lpstr>
      <vt:lpstr>Solution</vt:lpstr>
      <vt:lpstr>Solution</vt:lpstr>
      <vt:lpstr>Solution</vt:lpstr>
      <vt:lpstr>Solution</vt:lpstr>
      <vt:lpstr>PowerPoint Presentation</vt:lpstr>
      <vt:lpstr>Solution</vt:lpstr>
      <vt:lpstr>Varying C</vt:lpstr>
      <vt:lpstr>What if there is no linear boundary?</vt:lpstr>
      <vt:lpstr>Finding Φ  </vt:lpstr>
      <vt:lpstr>Finding Φ  </vt:lpstr>
      <vt:lpstr>Finding Φ  </vt:lpstr>
      <vt:lpstr>Finding Φ  </vt:lpstr>
      <vt:lpstr>Finding Φ  </vt:lpstr>
      <vt:lpstr>Finding Φ  </vt:lpstr>
      <vt:lpstr>Kernel functions</vt:lpstr>
      <vt:lpstr>Kernel functions</vt:lpstr>
      <vt:lpstr>Example kernel function</vt:lpstr>
      <vt:lpstr>Example kernel function</vt:lpstr>
      <vt:lpstr>Example kernel function</vt:lpstr>
      <vt:lpstr>Example kernel function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Finding optimal parameters </vt:lpstr>
      <vt:lpstr>So many parameters!</vt:lpstr>
      <vt:lpstr>So many parameters!</vt:lpstr>
      <vt:lpstr>So many parameters!</vt:lpstr>
      <vt:lpstr>Grid search</vt:lpstr>
      <vt:lpstr>Grid search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6</cp:revision>
  <dcterms:modified xsi:type="dcterms:W3CDTF">2026-04-09T18:03:22Z</dcterms:modified>
</cp:coreProperties>
</file>