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5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6" r:id="rId26"/>
    <p:sldId id="287" r:id="rId27"/>
    <p:sldId id="288" r:id="rId28"/>
    <p:sldId id="289" r:id="rId2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  <p:embeddedFont>
      <p:font typeface="PT Sans Narrow" panose="020B0506020203020204" pitchFamily="34" charset="77"/>
      <p:regular r:id="rId36"/>
      <p:bold r:id="rId37"/>
    </p:embeddedFont>
  </p:embeddedFontLst>
  <p:custDataLst>
    <p:tags r:id="rId3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075"/>
    <p:restoredTop sz="94658"/>
  </p:normalViewPr>
  <p:slideViewPr>
    <p:cSldViewPr snapToGrid="0">
      <p:cViewPr varScale="1">
        <p:scale>
          <a:sx n="144" d="100"/>
          <a:sy n="144" d="100"/>
        </p:scale>
        <p:origin x="192" y="4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2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1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7.xml"/><Relationship Id="rId7" Type="http://schemas.openxmlformats.org/officeDocument/2006/relationships/image" Target="../media/image2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1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0.xml"/><Relationship Id="rId7" Type="http://schemas.openxmlformats.org/officeDocument/2006/relationships/image" Target="../media/image2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1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3.xml"/><Relationship Id="rId7" Type="http://schemas.openxmlformats.org/officeDocument/2006/relationships/image" Target="../media/image2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1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6.xml"/><Relationship Id="rId7" Type="http://schemas.openxmlformats.org/officeDocument/2006/relationships/image" Target="../media/image2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1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Generalized Linear Models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 506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01FF-1C18-ABF3-9155-C20A4958B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assumptions for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2566B3D-DA76-9D46-514D-0F971EEED6B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The relationship 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(independent variable)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(dependent variable) is linear in parameter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Independent observations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Homoscedasticity (constant variance of residuals/error term)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No/low multicollinearity (independent variables are uncorrelated)</a:t>
                </a:r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2566B3D-DA76-9D46-514D-0F971EEED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30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23A37-8280-3514-7153-2AFC35F7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2F7C-47FB-13FD-9FE6-0C953E58C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assumptions for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B00B9FD-A398-F0B9-63DB-DF843B7808A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The relationship 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(independent variable)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(dependent variable) is linear in parameter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Independent observations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Homoscedasticity (constant variance of residuals/error term)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No/low multicollinearity (independent variables are uncorrelated)</a:t>
                </a:r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What happens when we can’t meet assumptions 1, 2, and 4?</a:t>
                </a:r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B00B9FD-A398-F0B9-63DB-DF843B7808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32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C359-0BF0-5619-68C5-3576E3318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Enter… generalized linear models (GLMs)!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94FF2-ED4C-D5E4-2129-AFA996385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one or more of these conditions apply, then GLMs may be for you!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889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03133-5EF4-E550-473A-2734DFCE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9EA88-E995-6087-E00F-85C4BC2CD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Enter… generalized linear models (GLMs)!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8A23C-7F5B-F48F-6AE0-361FA8684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one or more of these conditions apply, then GLMs may be for you!</a:t>
            </a:r>
          </a:p>
          <a:p>
            <a:r>
              <a:rPr lang="en-US" dirty="0"/>
              <a:t>Residuals are non-normal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07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10218-294C-CE80-E3B9-7C127490D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8FB1-0965-DD8B-0F84-7858C530F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Enter… generalized linear models (GLMs)!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7A3A7-0A15-6CDD-1F1E-2F045136A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one or more of these conditions apply, then GLMs may be for you!</a:t>
            </a:r>
          </a:p>
          <a:p>
            <a:r>
              <a:rPr lang="en-US" dirty="0"/>
              <a:t>Residuals are non-normal</a:t>
            </a:r>
          </a:p>
          <a:p>
            <a:r>
              <a:rPr lang="en-US" dirty="0"/>
              <a:t>Data is non-linear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40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15329-FC79-100B-791F-6773FFC15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3016-C17D-5A63-F4D5-37D8DF67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Enter… generalized linear models (GLMs)!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41701-FEDB-093F-8FB4-C1CA1039F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one or more of these conditions apply, then GLMs may be for you!</a:t>
            </a:r>
          </a:p>
          <a:p>
            <a:r>
              <a:rPr lang="en-US" dirty="0"/>
              <a:t>Residuals are non-normal</a:t>
            </a:r>
          </a:p>
          <a:p>
            <a:r>
              <a:rPr lang="en-US" dirty="0"/>
              <a:t>Data is non-linear</a:t>
            </a:r>
          </a:p>
          <a:p>
            <a:r>
              <a:rPr lang="en-US" dirty="0"/>
              <a:t>Heteroscedasticity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956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EDB49-794C-4D89-5CEB-8248CD1B0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A965-7057-7193-B15E-303C9F5C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Enter… generalized linear models (GLMs)!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A6606-D7D0-81BF-C097-F06526DA5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one or more of these conditions apply, then GLMs may be for you!</a:t>
            </a:r>
          </a:p>
          <a:p>
            <a:r>
              <a:rPr lang="en-US" dirty="0"/>
              <a:t>Residuals are non-normal</a:t>
            </a:r>
          </a:p>
          <a:p>
            <a:r>
              <a:rPr lang="en-US" dirty="0"/>
              <a:t>Data is non-linear</a:t>
            </a:r>
          </a:p>
          <a:p>
            <a:r>
              <a:rPr lang="en-US" dirty="0"/>
              <a:t>Heteroscedasticity</a:t>
            </a:r>
          </a:p>
          <a:p>
            <a:r>
              <a:rPr lang="en-US" dirty="0"/>
              <a:t>Outcome is non-normally distributed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556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03D7D-544B-A8A4-FC27-3E126A3A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of a GLM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5DC55-5067-38EF-2683-FD933F20F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component: </a:t>
            </a:r>
          </a:p>
        </p:txBody>
      </p:sp>
    </p:spTree>
    <p:extLst>
      <p:ext uri="{BB962C8B-B14F-4D97-AF65-F5344CB8AC3E}">
        <p14:creationId xmlns:p14="http://schemas.microsoft.com/office/powerpoint/2010/main" val="1845360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A1F2-6205-8402-B44C-E53759FEC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64576-4B6A-22DD-23FE-5042849DD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of a GLM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29C40-6E34-2C83-EF9E-1C78C3923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component: what is the distribution of the response variable?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03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54274-97DE-D98B-D799-92FBC7286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3BC2-9019-6CE7-C4E3-C2E98219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of a GLM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46083-CCEC-18B7-E033-ECDAC7BD4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component: what is the distribution of the response variable?</a:t>
            </a:r>
          </a:p>
          <a:p>
            <a:pPr lvl="1"/>
            <a:r>
              <a:rPr lang="en-US" dirty="0"/>
              <a:t>Typically, from the exponential family: normal, </a:t>
            </a:r>
            <a:r>
              <a:rPr lang="en-US" dirty="0" err="1"/>
              <a:t>bernoulli</a:t>
            </a:r>
            <a:r>
              <a:rPr lang="en-US" dirty="0"/>
              <a:t>, binomial, </a:t>
            </a:r>
            <a:r>
              <a:rPr lang="en-US" dirty="0" err="1"/>
              <a:t>poisson</a:t>
            </a:r>
            <a:r>
              <a:rPr lang="en-US" dirty="0"/>
              <a:t>, gamma, etc.</a:t>
            </a:r>
          </a:p>
          <a:p>
            <a:pPr lvl="1"/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46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41557-4C93-6DD8-AF09-07E73DDE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DB9F8-DBD2-CFA9-99D1-C49FF7497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of a GLM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70A006B-1A03-8F50-E538-0658ED44376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Random component: what is the distribution of the response variable?</a:t>
                </a:r>
              </a:p>
              <a:p>
                <a:r>
                  <a:rPr lang="en-US" dirty="0"/>
                  <a:t>Systematic component: the linear combination of predictors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+…)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70A006B-1A03-8F50-E538-0658ED4437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0445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7AD9B-B3FC-1AD3-CC0C-37DC11FBC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AC7C-5E59-24A0-FC9B-6F26053C7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of a GLM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66FD907-E29D-6034-6C56-8933E7BEB1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Random component: what is the distribution of the response variable?</a:t>
                </a:r>
              </a:p>
              <a:p>
                <a:r>
                  <a:rPr lang="en-US" dirty="0"/>
                  <a:t>Systematic component: the linear combination of predictors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+…)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Link function: connects the response to the systematic component. 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66FD907-E29D-6034-6C56-8933E7BEB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3464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EB77E-C097-9ADF-BCD2-42B0ACCCB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653C-0B34-EF21-7D53-2AF85BEA1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Note: linear regression is a GLM!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89EB7F5-0368-FC27-50B3-738D43728DE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Random component: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89EB7F5-0368-FC27-50B3-738D43728D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709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9F20F-699C-5771-BA7F-DD9F7463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8650-40FA-3663-175A-805F8C97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Note: linear regression is a GLM!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449712A-92B3-32D7-474F-9C5679A0D3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Random component: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Systematic component: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449712A-92B3-32D7-474F-9C5679A0D3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2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7414E-608E-94AE-28C3-B7383E689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5AA2-6674-8048-6731-0CAD14D1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Note: linear regression is a GLM!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3D7FCC-0527-3FF5-7348-985D1AE0A35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Random component: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Systematic component: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Link function: identity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3D7FCC-0527-3FF5-7348-985D1AE0A3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205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55732-4822-21AC-7AFF-A58F2181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AAA7C-6644-7913-1B09-10599E954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Note: linear regression is a GLM!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6853211-9BB5-A003-E436-9412230F237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Random component: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Systematic component: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Link function: identity </a:t>
                </a:r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Result: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6853211-9BB5-A003-E436-9412230F23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203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E0E1C-8CF5-52BE-8C4D-EB6906E0B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7A077-0007-1D4B-9BFD-66320F94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example GLMs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2776D2-9BE8-1D62-557A-AAB331812CB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Logistic: typically used for a binary outcome. Binomially distributed response variable</a:t>
                </a:r>
              </a:p>
              <a:p>
                <a:r>
                  <a:rPr lang="en-US" dirty="0"/>
                  <a:t>Poisson: Typically used to model a count variable. Skewed and discrete distribution of response variable. Assumes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b="0" dirty="0"/>
                  <a:t>Gamma: skewed, positive, continuous distribution. Variables </a:t>
                </a:r>
                <a:r>
                  <a:rPr lang="en-US" dirty="0"/>
                  <a:t>must </a:t>
                </a:r>
                <a:r>
                  <a:rPr lang="en-US" b="0" dirty="0"/>
                  <a:t>be positive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2776D2-9BE8-1D62-557A-AAB331812C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2849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5A0D7-301E-48C3-C3F0-37CA8540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B0AD-24ED-EC97-A9F3-4728E3D0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example GLMs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1EC5E39-AFC9-BD11-C8AE-0735DA06B5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1117635"/>
                  </p:ext>
                </p:extLst>
              </p:nvPr>
            </p:nvGraphicFramePr>
            <p:xfrm>
              <a:off x="1524000" y="1226231"/>
              <a:ext cx="6096000" cy="347224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420141207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4233058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6236913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Link 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Distribution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33447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linear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Identity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Normal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683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Logistic Regression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Logit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Binomial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09575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Poisson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Log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Poisson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02214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Gamma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Inverse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Gamma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47056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1EC5E39-AFC9-BD11-C8AE-0735DA06B5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1117635"/>
                  </p:ext>
                </p:extLst>
              </p:nvPr>
            </p:nvGraphicFramePr>
            <p:xfrm>
              <a:off x="1524000" y="1226231"/>
              <a:ext cx="6096000" cy="347224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420141207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4233058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6236913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Link 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Distribution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33447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linear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Identity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Normal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68366"/>
                      </a:ext>
                    </a:extLst>
                  </a:tr>
                  <a:tr h="100831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Logistic Regression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2500" t="-77215" r="-103750" b="-179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Binomial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0957512"/>
                      </a:ext>
                    </a:extLst>
                  </a:tr>
                  <a:tr h="76733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Poisson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2500" t="-229508" r="-103750" b="-1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Poisson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0221422"/>
                      </a:ext>
                    </a:extLst>
                  </a:tr>
                  <a:tr h="95491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Gamma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2500" t="-268000" r="-103750" b="-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Gamma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47056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09971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B315-9B43-D6F9-761F-9EF1DF353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Worksheet 1-4</a:t>
            </a:r>
          </a:p>
        </p:txBody>
      </p:sp>
    </p:spTree>
    <p:extLst>
      <p:ext uri="{BB962C8B-B14F-4D97-AF65-F5344CB8AC3E}">
        <p14:creationId xmlns:p14="http://schemas.microsoft.com/office/powerpoint/2010/main" val="2428258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EB1718-4432-1C5E-1E27-18C4C0FAB0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84F748-634B-9575-704C-7C0F9FAD10C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Recall: Which of the following assumptions does a residual NQQ plot allow us to test for an ordinary linear regression?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5BDAB1-6AC1-80C1-1C1D-D67637A96F2B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3E239E6-5118-6074-7CF8-A324A8A14C0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95EDDFCB-012B-FCFC-C853-0EF23F9A1ABF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4044E6C-924E-1346-434F-7127534D24D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804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639274-07FC-F27C-1A13-B7830A84A5D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6BC551-5294-4D49-439B-EE7C41B5678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>
                <a:solidFill>
                  <a:srgbClr val="000000"/>
                </a:solidFill>
              </a:rPr>
              <a:t>True or false: the following NQQ plot indicates that this dataset has normally distributed residuals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FA405C-50D9-DCC4-5C32-9F5B03FDCB5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42CCDC9-BAA6-A423-ED04-739D8ACB001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A30D4955-E206-BED9-7743-ADF283BF3C80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833B80E-0D87-2E5A-2983-DBB0317EF85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367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C2F0E1-EA9B-663B-7E9F-FE7C981A015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B80AF0-F7DA-6435-E68F-3696712ED51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Recall: which of the following assumptions does a residual vs. fitted values plot allow us to test (select all that apply)?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7A1C77-98E6-C56D-1A65-7D8EFC78A431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2585723-F0EA-8895-4C5F-9921B714D4F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4115F73F-DEB7-8B48-3C9F-AD243438B9F6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D62B252-F983-8A4B-FE92-6C4457C7DEF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677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77C2E1-1E2F-C3D2-C112-EE477A5AA51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0EE246-2F6E-D303-1035-D549E054865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True or false: the following residual vs. fitted values plot indicates that this dataset has a linear relationship between predictors and response, and homoscedasticity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559754-3091-5628-69F1-9E9B2348D282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A84177-AE79-63D5-5F01-5C2A0E1AF36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1B2CA5F-6DA5-46C5-6839-455DE5712512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FE5ACF9-F246-CA44-2047-EFAF266B7A5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394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BA4D4-FB66-E0F2-CA51-0AF7BC67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8D4F-CA1C-2C4B-4A3F-AE6D6566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Utilizing a GLM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36F5A-8F3F-76B4-16A3-1EFF72E34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Let’s take a step back. Maybe we rushed into using OLR!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Time for some basic data exploration </a:t>
            </a:r>
          </a:p>
        </p:txBody>
      </p:sp>
    </p:spTree>
    <p:extLst>
      <p:ext uri="{BB962C8B-B14F-4D97-AF65-F5344CB8AC3E}">
        <p14:creationId xmlns:p14="http://schemas.microsoft.com/office/powerpoint/2010/main" val="2879266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44159-F61F-9D18-A744-07B37EEB3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Worksheet 5</a:t>
            </a:r>
          </a:p>
        </p:txBody>
      </p:sp>
    </p:spTree>
    <p:extLst>
      <p:ext uri="{BB962C8B-B14F-4D97-AF65-F5344CB8AC3E}">
        <p14:creationId xmlns:p14="http://schemas.microsoft.com/office/powerpoint/2010/main" val="1332116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9A63D0-45B9-0150-F4D3-FE260136668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D46056-AFD1-2172-BD76-359EE7C17B8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After doing some data exploration, what GLM do you think we should use?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57DA10-BB1F-CAF1-EBBE-25CBCD87C9E3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E817A08-B32B-73EB-D508-ED088B23949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227AF98F-7939-9853-AD45-39C626EC3375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6D369F2-54BA-4F07-DDF9-2D3434995F4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635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9B56B-4CE4-8CF0-3AFC-C5B1FCDB0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Worksheet 6</a:t>
            </a:r>
          </a:p>
        </p:txBody>
      </p:sp>
    </p:spTree>
    <p:extLst>
      <p:ext uri="{BB962C8B-B14F-4D97-AF65-F5344CB8AC3E}">
        <p14:creationId xmlns:p14="http://schemas.microsoft.com/office/powerpoint/2010/main" val="12877827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6a59bea5-cb30-40a9-b77f-b1711f6d2089"/>
  <p:tag name="SLIDO_EVENT_UUID" val="b9ff7ca8-8a58-418f-ab8f-d8c049b21ac1"/>
  <p:tag name="SLIDO_EVENT_SECTION_UUID" val="37243e44-3344-4128-805f-9807eed6c3b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9fd5fbec-3476-4b9c-af32-4d500d65c9a1"/>
  <p:tag name="SLIDO_TIMELINE" val="W3sicG9sbFF1ZXN0aW9uVXVpZCI6IjUzOTRlOWUxLTEzOTYtNGFkNC05NGI3LTk3NWU1YTVjMTZmOSIsInNob3dSZXN1bHRzIjpmYWxzZSwic2hvd0NvcnJlY3RBbnN3ZXJzIjpmYWxzZX0seyJwb2xsUXVlc3Rpb25VdWlkIjoiNTM5NGU5ZTEtMTM5Ni00YWQ0LTk0YjctOTc1ZTVhNWMxNmY5Iiwic2hvd1Jlc3VsdHMiOnRydWUsInNob3dDb3JyZWN0QW5zd2VycyI6dHJ1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a347d29-21c3-425d-a722-47d729cb4312"/>
  <p:tag name="SLIDO_TIMELINE" val="W3sic2hvd1Jlc3VsdHMiOmZhbHNlLCJzaG93Q29ycmVjdEFuc3dlcnMiOmZhbHNlLCJwb2xsUXVlc3Rpb25VdWlkIjoiZmYwMDAwMjctNDAzMy00MmU3LWI2ZWMtYTdiOThjY2QzODAzIn0seyJzaG93UmVzdWx0cyI6dHJ1ZSwic2hvd0NvcnJlY3RBbnN3ZXJzIjp0cnVlLCJwb2xsUXVlc3Rpb25VdWlkIjoiZmYwMDAwMjctNDAzMy00MmU3LWI2ZWMtYTdiOThjY2QzODAzIn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16c308e-fc99-421a-a141-8baf0f574d07"/>
  <p:tag name="SLIDO_TIMELINE" val="W3sicG9sbFF1ZXN0aW9uVXVpZCI6IjE1ODA3ZGNiLTMwMjUtNDdhYi04MTBhLTYyYWYzZjc2NzhlNCIsInNob3dDb3JyZWN0QW5zd2VycyI6ZmFsc2UsInNob3dSZXN1bHRzIjpmYWxzZX0seyJwb2xsUXVlc3Rpb25VdWlkIjoiMTU4MDdkY2ItMzAyNS00N2FiLTgxMGEtNjJhZjNmNzY3OGU0Iiwic2hvd0NvcnJlY3RBbnN3ZXJzIjp0cnVlLCJzaG93UmVzdWx0cyI6dHJ1ZX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54ad287c-de33-4876-86f0-e315ce345d67"/>
  <p:tag name="SLIDO_TIMELINE" val="W3sicG9sbFF1ZXN0aW9uVXVpZCI6Ijk3MjQzYWY1LTk1NjItNDY3YS04Yzg3LTU1MGEzYzJjNGFhMiIsInNob3dSZXN1bHRzIjpmYWxzZSwic2hvd0NvcnJlY3RBbnN3ZXJzIjpmYWxzZX0seyJwb2xsUXVlc3Rpb25VdWlkIjoiOTcyNDNhZjUtOTU2Mi00NjdhLThjODctNTUwYTNjMmM0YWEyIiwic2hvd1Jlc3VsdHMiOnRydWUsInNob3dDb3JyZWN0QW5zd2VycyI6dHJ1ZX1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8e8116b3-24a3-43f5-96c3-48e26bc1b089"/>
  <p:tag name="SLIDO_TIMELINE" val="W3sic2hvd0NvcnJlY3RBbnN3ZXJzIjpmYWxzZSwicG9sbFF1ZXN0aW9uVXVpZCI6IjVhYjg0ODdkLWMyZDgtNDEyZC1iYjk0LTliMzI0OTYyNTAyMSIsInNob3dSZXN1bHRzIjpmYWxzZX0seyJzaG93Q29ycmVjdEFuc3dlcnMiOnRydWUsInBvbGxRdWVzdGlvblV1aWQiOiI1YWI4NDg3ZC1jMmQ4LTQxMmQtYmI5NC05YjMyNDk2MjUwMjEiLCJzaG93UmVzdWx0cyI6dHJ1ZX1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828</Words>
  <Application>Microsoft Macintosh PowerPoint</Application>
  <PresentationFormat>On-screen Show (16:9)</PresentationFormat>
  <Paragraphs>124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Open Sans</vt:lpstr>
      <vt:lpstr>Arial</vt:lpstr>
      <vt:lpstr>PT Sans Narrow</vt:lpstr>
      <vt:lpstr>Cambria Math</vt:lpstr>
      <vt:lpstr>Tropic</vt:lpstr>
      <vt:lpstr>Generalized Linear Models</vt:lpstr>
      <vt:lpstr>Recall: assumptions for linear regression</vt:lpstr>
      <vt:lpstr>Recall: assumptions for linear regression</vt:lpstr>
      <vt:lpstr>Enter… generalized linear models (GLMs)!</vt:lpstr>
      <vt:lpstr>Enter… generalized linear models (GLMs)!</vt:lpstr>
      <vt:lpstr>Enter… generalized linear models (GLMs)!</vt:lpstr>
      <vt:lpstr>Enter… generalized linear models (GLMs)!</vt:lpstr>
      <vt:lpstr>Enter… generalized linear models (GLMs)!</vt:lpstr>
      <vt:lpstr>Components of a GLM</vt:lpstr>
      <vt:lpstr>Components of a GLM</vt:lpstr>
      <vt:lpstr>Components of a GLM</vt:lpstr>
      <vt:lpstr>Components of a GLM</vt:lpstr>
      <vt:lpstr>Components of a GLM</vt:lpstr>
      <vt:lpstr>Note: linear regression is a GLM!</vt:lpstr>
      <vt:lpstr>Note: linear regression is a GLM!</vt:lpstr>
      <vt:lpstr>Note: linear regression is a GLM!</vt:lpstr>
      <vt:lpstr>Note: linear regression is a GLM!</vt:lpstr>
      <vt:lpstr>Some example GLMs</vt:lpstr>
      <vt:lpstr>Some example GLMs</vt:lpstr>
      <vt:lpstr>Worksheet 1-4</vt:lpstr>
      <vt:lpstr>PowerPoint Presentation</vt:lpstr>
      <vt:lpstr>PowerPoint Presentation</vt:lpstr>
      <vt:lpstr>PowerPoint Presentation</vt:lpstr>
      <vt:lpstr>PowerPoint Presentation</vt:lpstr>
      <vt:lpstr>Utilizing a GLM</vt:lpstr>
      <vt:lpstr>Worksheet 5</vt:lpstr>
      <vt:lpstr>PowerPoint Presentation</vt:lpstr>
      <vt:lpstr>Worksheet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Gattupalli, Eeshwar</cp:lastModifiedBy>
  <cp:revision>2</cp:revision>
  <dcterms:modified xsi:type="dcterms:W3CDTF">2026-04-12T23:00:50Z</dcterms:modified>
</cp:coreProperties>
</file>