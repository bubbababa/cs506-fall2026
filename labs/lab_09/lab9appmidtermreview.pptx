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9"/>
  </p:notesMasterIdLst>
  <p:sldIdLst>
    <p:sldId id="256" r:id="rId2"/>
    <p:sldId id="257" r:id="rId3"/>
    <p:sldId id="259" r:id="rId4"/>
    <p:sldId id="260" r:id="rId5"/>
    <p:sldId id="366" r:id="rId6"/>
    <p:sldId id="261" r:id="rId7"/>
    <p:sldId id="364" r:id="rId8"/>
    <p:sldId id="365" r:id="rId9"/>
    <p:sldId id="367" r:id="rId10"/>
    <p:sldId id="368" r:id="rId11"/>
    <p:sldId id="369" r:id="rId12"/>
    <p:sldId id="396" r:id="rId13"/>
    <p:sldId id="397" r:id="rId14"/>
    <p:sldId id="370" r:id="rId15"/>
    <p:sldId id="371" r:id="rId16"/>
    <p:sldId id="372" r:id="rId17"/>
    <p:sldId id="373" r:id="rId18"/>
    <p:sldId id="374" r:id="rId19"/>
    <p:sldId id="375" r:id="rId20"/>
    <p:sldId id="376" r:id="rId21"/>
    <p:sldId id="377" r:id="rId22"/>
    <p:sldId id="378" r:id="rId23"/>
    <p:sldId id="379" r:id="rId24"/>
    <p:sldId id="380" r:id="rId25"/>
    <p:sldId id="381" r:id="rId26"/>
    <p:sldId id="382" r:id="rId27"/>
    <p:sldId id="383" r:id="rId28"/>
    <p:sldId id="384" r:id="rId29"/>
    <p:sldId id="385" r:id="rId30"/>
    <p:sldId id="386" r:id="rId31"/>
    <p:sldId id="388" r:id="rId32"/>
    <p:sldId id="390" r:id="rId33"/>
    <p:sldId id="398" r:id="rId34"/>
    <p:sldId id="399" r:id="rId35"/>
    <p:sldId id="400" r:id="rId36"/>
    <p:sldId id="339" r:id="rId37"/>
    <p:sldId id="403" r:id="rId38"/>
    <p:sldId id="404" r:id="rId39"/>
    <p:sldId id="405" r:id="rId40"/>
    <p:sldId id="406" r:id="rId41"/>
    <p:sldId id="407" r:id="rId42"/>
    <p:sldId id="267" r:id="rId43"/>
    <p:sldId id="408" r:id="rId44"/>
    <p:sldId id="409" r:id="rId45"/>
    <p:sldId id="410" r:id="rId46"/>
    <p:sldId id="411" r:id="rId47"/>
    <p:sldId id="413" r:id="rId48"/>
    <p:sldId id="414" r:id="rId49"/>
    <p:sldId id="416" r:id="rId50"/>
    <p:sldId id="415" r:id="rId51"/>
    <p:sldId id="417" r:id="rId52"/>
    <p:sldId id="418" r:id="rId53"/>
    <p:sldId id="419" r:id="rId54"/>
    <p:sldId id="420" r:id="rId55"/>
    <p:sldId id="392" r:id="rId56"/>
    <p:sldId id="421" r:id="rId57"/>
    <p:sldId id="422" r:id="rId58"/>
    <p:sldId id="423" r:id="rId59"/>
    <p:sldId id="424" r:id="rId60"/>
    <p:sldId id="425" r:id="rId61"/>
    <p:sldId id="426" r:id="rId62"/>
    <p:sldId id="427" r:id="rId63"/>
    <p:sldId id="429" r:id="rId64"/>
    <p:sldId id="430" r:id="rId65"/>
    <p:sldId id="431" r:id="rId66"/>
    <p:sldId id="432" r:id="rId67"/>
    <p:sldId id="433" r:id="rId68"/>
    <p:sldId id="436" r:id="rId69"/>
    <p:sldId id="435" r:id="rId70"/>
    <p:sldId id="437" r:id="rId71"/>
    <p:sldId id="438" r:id="rId72"/>
    <p:sldId id="439" r:id="rId73"/>
    <p:sldId id="440" r:id="rId74"/>
    <p:sldId id="428" r:id="rId75"/>
    <p:sldId id="441" r:id="rId76"/>
    <p:sldId id="443" r:id="rId77"/>
    <p:sldId id="393" r:id="rId78"/>
    <p:sldId id="444" r:id="rId79"/>
    <p:sldId id="446" r:id="rId80"/>
    <p:sldId id="448" r:id="rId81"/>
    <p:sldId id="445" r:id="rId82"/>
    <p:sldId id="447" r:id="rId83"/>
    <p:sldId id="449" r:id="rId84"/>
    <p:sldId id="451" r:id="rId85"/>
    <p:sldId id="450" r:id="rId86"/>
    <p:sldId id="452" r:id="rId87"/>
    <p:sldId id="453" r:id="rId88"/>
    <p:sldId id="454" r:id="rId89"/>
    <p:sldId id="455" r:id="rId90"/>
    <p:sldId id="456" r:id="rId91"/>
    <p:sldId id="457" r:id="rId92"/>
    <p:sldId id="458" r:id="rId93"/>
    <p:sldId id="459" r:id="rId94"/>
    <p:sldId id="394" r:id="rId95"/>
    <p:sldId id="460" r:id="rId96"/>
    <p:sldId id="461" r:id="rId97"/>
    <p:sldId id="462" r:id="rId98"/>
    <p:sldId id="463" r:id="rId99"/>
    <p:sldId id="464" r:id="rId100"/>
    <p:sldId id="465" r:id="rId101"/>
    <p:sldId id="466" r:id="rId102"/>
    <p:sldId id="467" r:id="rId103"/>
    <p:sldId id="468" r:id="rId104"/>
    <p:sldId id="469" r:id="rId105"/>
    <p:sldId id="499" r:id="rId106"/>
    <p:sldId id="498" r:id="rId107"/>
    <p:sldId id="500" r:id="rId108"/>
    <p:sldId id="501" r:id="rId109"/>
    <p:sldId id="502" r:id="rId110"/>
    <p:sldId id="503" r:id="rId111"/>
    <p:sldId id="504" r:id="rId112"/>
    <p:sldId id="505" r:id="rId113"/>
    <p:sldId id="506" r:id="rId114"/>
    <p:sldId id="507" r:id="rId115"/>
    <p:sldId id="508" r:id="rId116"/>
    <p:sldId id="509" r:id="rId117"/>
    <p:sldId id="510" r:id="rId118"/>
    <p:sldId id="511" r:id="rId119"/>
    <p:sldId id="512" r:id="rId120"/>
    <p:sldId id="513" r:id="rId121"/>
    <p:sldId id="514" r:id="rId122"/>
    <p:sldId id="515" r:id="rId123"/>
    <p:sldId id="516" r:id="rId124"/>
    <p:sldId id="517" r:id="rId125"/>
    <p:sldId id="518" r:id="rId126"/>
    <p:sldId id="519" r:id="rId127"/>
    <p:sldId id="520" r:id="rId128"/>
    <p:sldId id="521" r:id="rId129"/>
    <p:sldId id="522" r:id="rId130"/>
    <p:sldId id="395" r:id="rId131"/>
    <p:sldId id="470" r:id="rId132"/>
    <p:sldId id="471" r:id="rId133"/>
    <p:sldId id="472" r:id="rId134"/>
    <p:sldId id="473" r:id="rId135"/>
    <p:sldId id="474" r:id="rId136"/>
    <p:sldId id="475" r:id="rId137"/>
    <p:sldId id="476" r:id="rId138"/>
    <p:sldId id="478" r:id="rId139"/>
    <p:sldId id="479" r:id="rId140"/>
    <p:sldId id="480" r:id="rId141"/>
    <p:sldId id="477" r:id="rId142"/>
    <p:sldId id="481" r:id="rId143"/>
    <p:sldId id="482" r:id="rId144"/>
    <p:sldId id="483" r:id="rId145"/>
    <p:sldId id="484" r:id="rId146"/>
    <p:sldId id="485" r:id="rId147"/>
    <p:sldId id="486" r:id="rId148"/>
    <p:sldId id="487" r:id="rId149"/>
    <p:sldId id="488" r:id="rId150"/>
    <p:sldId id="489" r:id="rId151"/>
    <p:sldId id="490" r:id="rId152"/>
    <p:sldId id="491" r:id="rId153"/>
    <p:sldId id="492" r:id="rId154"/>
    <p:sldId id="493" r:id="rId155"/>
    <p:sldId id="495" r:id="rId156"/>
    <p:sldId id="496" r:id="rId157"/>
    <p:sldId id="497" r:id="rId158"/>
    <p:sldId id="523" r:id="rId159"/>
    <p:sldId id="524" r:id="rId160"/>
    <p:sldId id="525" r:id="rId161"/>
    <p:sldId id="526" r:id="rId162"/>
    <p:sldId id="527" r:id="rId163"/>
    <p:sldId id="528" r:id="rId164"/>
    <p:sldId id="529" r:id="rId165"/>
    <p:sldId id="530" r:id="rId166"/>
    <p:sldId id="531" r:id="rId167"/>
    <p:sldId id="532" r:id="rId168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70"/>
    </p:embeddedFont>
    <p:embeddedFont>
      <p:font typeface="Open Sans" panose="020B0606030504020204" pitchFamily="34" charset="0"/>
      <p:regular r:id="rId171"/>
      <p:bold r:id="rId172"/>
      <p:italic r:id="rId173"/>
      <p:boldItalic r:id="rId174"/>
    </p:embeddedFont>
    <p:embeddedFont>
      <p:font typeface="PT Sans Narrow" panose="020B0506020203020204" pitchFamily="34" charset="77"/>
      <p:regular r:id="rId175"/>
      <p:bold r:id="rId17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88FA9250-CF28-664A-B84F-4587D346EC93}">
          <p14:sldIdLst>
            <p14:sldId id="256"/>
            <p14:sldId id="257"/>
            <p14:sldId id="259"/>
            <p14:sldId id="260"/>
            <p14:sldId id="366"/>
            <p14:sldId id="261"/>
            <p14:sldId id="364"/>
            <p14:sldId id="365"/>
            <p14:sldId id="367"/>
            <p14:sldId id="368"/>
            <p14:sldId id="369"/>
            <p14:sldId id="396"/>
            <p14:sldId id="397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8"/>
            <p14:sldId id="390"/>
            <p14:sldId id="398"/>
            <p14:sldId id="399"/>
            <p14:sldId id="400"/>
            <p14:sldId id="339"/>
            <p14:sldId id="403"/>
            <p14:sldId id="404"/>
            <p14:sldId id="405"/>
            <p14:sldId id="406"/>
            <p14:sldId id="407"/>
            <p14:sldId id="267"/>
            <p14:sldId id="408"/>
            <p14:sldId id="409"/>
            <p14:sldId id="410"/>
            <p14:sldId id="411"/>
            <p14:sldId id="413"/>
            <p14:sldId id="414"/>
            <p14:sldId id="416"/>
            <p14:sldId id="415"/>
            <p14:sldId id="417"/>
            <p14:sldId id="418"/>
            <p14:sldId id="419"/>
            <p14:sldId id="420"/>
            <p14:sldId id="392"/>
            <p14:sldId id="421"/>
            <p14:sldId id="422"/>
            <p14:sldId id="423"/>
            <p14:sldId id="424"/>
            <p14:sldId id="425"/>
            <p14:sldId id="426"/>
            <p14:sldId id="427"/>
            <p14:sldId id="429"/>
            <p14:sldId id="430"/>
            <p14:sldId id="431"/>
            <p14:sldId id="432"/>
            <p14:sldId id="433"/>
            <p14:sldId id="436"/>
            <p14:sldId id="435"/>
            <p14:sldId id="437"/>
            <p14:sldId id="438"/>
            <p14:sldId id="439"/>
            <p14:sldId id="440"/>
            <p14:sldId id="428"/>
            <p14:sldId id="441"/>
            <p14:sldId id="443"/>
            <p14:sldId id="393"/>
            <p14:sldId id="444"/>
            <p14:sldId id="446"/>
            <p14:sldId id="448"/>
            <p14:sldId id="445"/>
            <p14:sldId id="447"/>
            <p14:sldId id="449"/>
            <p14:sldId id="451"/>
            <p14:sldId id="450"/>
            <p14:sldId id="452"/>
            <p14:sldId id="453"/>
            <p14:sldId id="454"/>
            <p14:sldId id="455"/>
            <p14:sldId id="456"/>
            <p14:sldId id="457"/>
            <p14:sldId id="458"/>
            <p14:sldId id="459"/>
            <p14:sldId id="394"/>
            <p14:sldId id="460"/>
            <p14:sldId id="461"/>
            <p14:sldId id="462"/>
            <p14:sldId id="463"/>
            <p14:sldId id="464"/>
            <p14:sldId id="465"/>
            <p14:sldId id="466"/>
            <p14:sldId id="467"/>
            <p14:sldId id="468"/>
            <p14:sldId id="469"/>
            <p14:sldId id="499"/>
            <p14:sldId id="498"/>
            <p14:sldId id="500"/>
            <p14:sldId id="501"/>
            <p14:sldId id="502"/>
            <p14:sldId id="503"/>
            <p14:sldId id="504"/>
            <p14:sldId id="505"/>
            <p14:sldId id="506"/>
            <p14:sldId id="507"/>
            <p14:sldId id="508"/>
            <p14:sldId id="509"/>
            <p14:sldId id="510"/>
            <p14:sldId id="511"/>
            <p14:sldId id="512"/>
            <p14:sldId id="513"/>
            <p14:sldId id="514"/>
            <p14:sldId id="515"/>
            <p14:sldId id="516"/>
            <p14:sldId id="517"/>
            <p14:sldId id="518"/>
            <p14:sldId id="519"/>
            <p14:sldId id="520"/>
            <p14:sldId id="521"/>
            <p14:sldId id="522"/>
            <p14:sldId id="395"/>
            <p14:sldId id="470"/>
            <p14:sldId id="471"/>
            <p14:sldId id="472"/>
            <p14:sldId id="473"/>
            <p14:sldId id="474"/>
            <p14:sldId id="475"/>
            <p14:sldId id="476"/>
            <p14:sldId id="478"/>
            <p14:sldId id="479"/>
            <p14:sldId id="480"/>
            <p14:sldId id="477"/>
            <p14:sldId id="481"/>
            <p14:sldId id="482"/>
            <p14:sldId id="483"/>
            <p14:sldId id="484"/>
            <p14:sldId id="485"/>
            <p14:sldId id="486"/>
            <p14:sldId id="487"/>
            <p14:sldId id="488"/>
            <p14:sldId id="489"/>
            <p14:sldId id="490"/>
            <p14:sldId id="491"/>
            <p14:sldId id="492"/>
            <p14:sldId id="493"/>
            <p14:sldId id="495"/>
            <p14:sldId id="496"/>
            <p14:sldId id="497"/>
            <p14:sldId id="523"/>
            <p14:sldId id="524"/>
            <p14:sldId id="525"/>
            <p14:sldId id="526"/>
            <p14:sldId id="527"/>
            <p14:sldId id="528"/>
            <p14:sldId id="529"/>
            <p14:sldId id="530"/>
            <p14:sldId id="531"/>
            <p14:sldId id="53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9" d="100"/>
          <a:sy n="159" d="100"/>
        </p:scale>
        <p:origin x="1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font" Target="fonts/font1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font" Target="fonts/font2.fntdata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presProps" Target="presProps.xml"/><Relationship Id="rId172" Type="http://schemas.openxmlformats.org/officeDocument/2006/relationships/font" Target="fonts/font3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font" Target="fonts/font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font" Target="fonts/font5.fntdata"/><Relationship Id="rId179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tableStyles" Target="tableStyle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font" Target="fonts/font6.fntdata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font" Target="fonts/font7.fntdata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69C4B-091D-BA51-88E7-0F85C8C93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818DA-D4A5-ACAF-48B3-CD3A5A86B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857988-D409-DF13-28FE-C4C49421F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as “term frequency of word t in document d” times “inverse document frequency of term t”</a:t>
            </a:r>
          </a:p>
        </p:txBody>
      </p:sp>
    </p:spTree>
    <p:extLst>
      <p:ext uri="{BB962C8B-B14F-4D97-AF65-F5344CB8AC3E}">
        <p14:creationId xmlns:p14="http://schemas.microsoft.com/office/powerpoint/2010/main" val="3797001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7A45E-1C58-8808-756C-3CE888E1D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3C598A-91DA-8976-B0FA-78F4C86692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C2F252-5293-320C-AA98-D3D0CDBADD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SVD for our dataset. Keep in mind, concepts here refer to latent concepts/hidden concepts</a:t>
            </a:r>
          </a:p>
        </p:txBody>
      </p:sp>
    </p:spTree>
    <p:extLst>
      <p:ext uri="{BB962C8B-B14F-4D97-AF65-F5344CB8AC3E}">
        <p14:creationId xmlns:p14="http://schemas.microsoft.com/office/powerpoint/2010/main" val="2349200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5.png"/><Relationship Id="rId4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Review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CS 506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F6233-7E00-9ADD-123E-8C7FBE247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9C43C-61F2-4498-34A8-04ADDB7F3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53EDE9-1B27-14A6-789F-7BA0DEB2B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232925"/>
            <a:ext cx="4709179" cy="336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150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7716B-88CD-4943-2B48-A0C909AA2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3ABB7-6B6B-FAFD-434B-761FE3976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0878" y="1266325"/>
            <a:ext cx="3811421" cy="33027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Task: construct a model that can predict the score for a review given </a:t>
            </a:r>
            <a:r>
              <a:rPr lang="en-US" b="1" dirty="0"/>
              <a:t>Id, </a:t>
            </a:r>
            <a:r>
              <a:rPr lang="en-US" b="1" dirty="0" err="1"/>
              <a:t>ProductId</a:t>
            </a:r>
            <a:r>
              <a:rPr lang="en-US" b="1" dirty="0"/>
              <a:t>, </a:t>
            </a:r>
            <a:r>
              <a:rPr lang="en-US" b="1" dirty="0" err="1"/>
              <a:t>UserId</a:t>
            </a:r>
            <a:r>
              <a:rPr lang="en-US" b="1" dirty="0"/>
              <a:t>, Summary, and Text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7EEDC9-0CD8-6F5B-FE86-5E8D2F196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232925"/>
            <a:ext cx="4709179" cy="336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614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1DEC9-4FEA-0D0E-5600-E6274413A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679B4-7644-5779-319D-F04BA5677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0878" y="1266325"/>
            <a:ext cx="3811421" cy="33027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Task: construct a model that can predict the score for a review given </a:t>
            </a:r>
            <a:r>
              <a:rPr lang="en-US" b="1" dirty="0"/>
              <a:t>Id, </a:t>
            </a:r>
            <a:r>
              <a:rPr lang="en-US" b="1" dirty="0" err="1"/>
              <a:t>ProductId</a:t>
            </a:r>
            <a:r>
              <a:rPr lang="en-US" b="1" dirty="0"/>
              <a:t>, </a:t>
            </a:r>
            <a:r>
              <a:rPr lang="en-US" b="1" dirty="0" err="1"/>
              <a:t>UserId</a:t>
            </a:r>
            <a:r>
              <a:rPr lang="en-US" b="1" dirty="0"/>
              <a:t>, Summary, and Text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How can we apply techniques we have learned in this class to this dataset?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233A2A-5990-5DD9-43A6-2ED1AF1ED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232925"/>
            <a:ext cx="4709179" cy="336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930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6CECE-B50C-04C0-907B-629FA8DE5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data science workflow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6B8445-66A5-D618-51CD-F6B70A766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70968"/>
            <a:ext cx="7772400" cy="200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911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7408D-5B17-3A7F-50C6-C604A1FDD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218050"/>
            <a:ext cx="8520600" cy="707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TFIDF Matrices</a:t>
            </a:r>
          </a:p>
        </p:txBody>
      </p:sp>
    </p:spTree>
    <p:extLst>
      <p:ext uri="{BB962C8B-B14F-4D97-AF65-F5344CB8AC3E}">
        <p14:creationId xmlns:p14="http://schemas.microsoft.com/office/powerpoint/2010/main" val="4089885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5350C-8389-A1FD-7C7A-6009E916A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3AEC9-60E6-F151-5ED2-CD7B54B13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TF-IDF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156DF76-6C7E-A19E-B2D2-D6494DBBD1D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sym typeface="Wingdings" pitchFamily="2" charset="2"/>
                        </a:rPr>
                        <m:t>𝑇𝐹𝐼𝐷𝐹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𝑑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sym typeface="Wingdings" pitchFamily="2" charset="2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sym typeface="Wingdings" pitchFamily="2" charset="2"/>
                        </a:rPr>
                        <m:t>𝑇𝐹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𝑑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sym typeface="Wingdings" pitchFamily="2" charset="2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  <a:sym typeface="Wingdings" pitchFamily="2" charset="2"/>
                        </a:rPr>
                        <m:t>𝐼𝐷𝐹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sym typeface="Wingdings" pitchFamily="2" charset="2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>
                  <a:sym typeface="Wingdings" pitchFamily="2" charset="2"/>
                </a:endParaRPr>
              </a:p>
              <a:p>
                <a:pPr marL="114300" indent="0">
                  <a:buNone/>
                </a:pPr>
                <a:endParaRPr lang="en-US" dirty="0">
                  <a:sym typeface="Wingdings" pitchFamily="2" charset="2"/>
                </a:endParaRPr>
              </a:p>
              <a:p>
                <a:r>
                  <a:rPr lang="en-US" dirty="0">
                    <a:sym typeface="Wingdings" pitchFamily="2" charset="2"/>
                  </a:rPr>
                  <a:t>Downweighs common words (the, is, and)</a:t>
                </a:r>
              </a:p>
              <a:p>
                <a:r>
                  <a:rPr lang="en-US" dirty="0">
                    <a:sym typeface="Wingdings" pitchFamily="2" charset="2"/>
                  </a:rPr>
                  <a:t>Upweights rare words</a:t>
                </a:r>
              </a:p>
              <a:p>
                <a:endParaRPr lang="en-US" dirty="0">
                  <a:sym typeface="Wingdings" pitchFamily="2" charset="2"/>
                </a:endParaRPr>
              </a:p>
              <a:p>
                <a:pPr marL="114300" indent="0">
                  <a:buNone/>
                </a:pPr>
                <a:r>
                  <a:rPr lang="en-US" dirty="0">
                    <a:sym typeface="Wingdings" pitchFamily="2" charset="2"/>
                  </a:rPr>
                  <a:t>If we use this to populate our term-document matrix, the values will reflect semantic importance enabling SVD to find meaningful latent topics</a:t>
                </a:r>
              </a:p>
              <a:p>
                <a:pPr marL="114300" indent="0">
                  <a:buNone/>
                </a:pPr>
                <a:endParaRPr lang="en-US" dirty="0">
                  <a:sym typeface="Wingdings" pitchFamily="2" charset="2"/>
                </a:endParaRPr>
              </a:p>
              <a:p>
                <a:pPr marL="114300" indent="0">
                  <a:buNone/>
                </a:pPr>
                <a:r>
                  <a:rPr lang="en-US" dirty="0">
                    <a:sym typeface="Wingdings" pitchFamily="2" charset="2"/>
                  </a:rPr>
                  <a:t>We use TF-IDF as a part of the feature extraction step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156DF76-6C7E-A19E-B2D2-D6494DBBD1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2770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951EF-D845-E5F6-E587-7BC55A866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TF-IDF for movie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F5014-B5F8-6F3E-3A6A-EADD9CB62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apply TF-IDF to our movie review dataset for processing the summary and text columns of the review.</a:t>
            </a:r>
          </a:p>
        </p:txBody>
      </p:sp>
    </p:spTree>
    <p:extLst>
      <p:ext uri="{BB962C8B-B14F-4D97-AF65-F5344CB8AC3E}">
        <p14:creationId xmlns:p14="http://schemas.microsoft.com/office/powerpoint/2010/main" val="3031927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8C7E-3110-0D7B-B753-3A06B4358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F78BE-76E5-2F7F-D515-40EDF0B6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TF-IDF for movie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69F17-348E-E2B1-A682-0970F2D3D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apply TF-IDF to our movie review dataset for processing the summary and text columns of the review.</a:t>
            </a:r>
          </a:p>
          <a:p>
            <a:r>
              <a:rPr lang="en-US" dirty="0"/>
              <a:t>If we use TF-IDF instead of just forming a term-document matrix, we can place emphasis on the more important words in the reviews which will eventually help us partition reviews by sentiment.</a:t>
            </a:r>
          </a:p>
        </p:txBody>
      </p:sp>
    </p:spTree>
    <p:extLst>
      <p:ext uri="{BB962C8B-B14F-4D97-AF65-F5344CB8AC3E}">
        <p14:creationId xmlns:p14="http://schemas.microsoft.com/office/powerpoint/2010/main" val="3818198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8EBCC-0B79-C21A-6232-7B6E6F239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Parameterizing TFIDF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C17E9-3DDD-3F93-C3C2-E79A1E8D5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82731" y="1266325"/>
            <a:ext cx="2849568" cy="3302700"/>
          </a:xfrm>
        </p:spPr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B3A36B-6296-18A5-B102-941013644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3" y="1239656"/>
            <a:ext cx="5671028" cy="205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03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C7121-1FB8-1D59-8BA0-61287974C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01138-F106-3F64-DF57-B2613AF98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Parameterizing TFIDF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E7EB7-AA0A-FEFD-A53E-B31917F2B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82731" y="1266325"/>
            <a:ext cx="2849568" cy="33027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Looks like a lot of parameters!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170975-DC0B-1DFF-2735-7E6E5FBA5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3" y="1239656"/>
            <a:ext cx="5671028" cy="205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36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87B90-19F3-2947-AA48-3717002FA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AC55F-6107-0346-5983-537EA4D1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Parameterizing TFIDF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C134C-87BE-B81C-F34C-326126E8C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82731" y="1266325"/>
            <a:ext cx="2849568" cy="2030328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Looks like a lot of parameters!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D5B15E-05FF-BC99-663F-A38ADB3E8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3" y="1239656"/>
            <a:ext cx="5671028" cy="205699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C1420A9-3E82-7EE3-0DD9-28D947998DAB}"/>
              </a:ext>
            </a:extLst>
          </p:cNvPr>
          <p:cNvSpPr txBox="1">
            <a:spLocks/>
          </p:cNvSpPr>
          <p:nvPr/>
        </p:nvSpPr>
        <p:spPr>
          <a:xfrm>
            <a:off x="119340" y="3296653"/>
            <a:ext cx="8583501" cy="2030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buFont typeface="Open Sans"/>
              <a:buNone/>
            </a:pPr>
            <a:r>
              <a:rPr lang="en-US" dirty="0"/>
              <a:t>We can use </a:t>
            </a:r>
            <a:r>
              <a:rPr lang="en-US" dirty="0" err="1"/>
              <a:t>tfidf</a:t>
            </a:r>
            <a:r>
              <a:rPr lang="en-US" dirty="0"/>
              <a:t> on words and characters!</a:t>
            </a:r>
          </a:p>
        </p:txBody>
      </p:sp>
    </p:spTree>
    <p:extLst>
      <p:ext uri="{BB962C8B-B14F-4D97-AF65-F5344CB8AC3E}">
        <p14:creationId xmlns:p14="http://schemas.microsoft.com/office/powerpoint/2010/main" val="1090199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12B64-67DE-DC67-FBAB-6BC4C0F4D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C14F-03E3-9583-3AEC-E054F403E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Parameterizing TFIDF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C39F1-BC1F-4B1C-FBFE-0BE13A3BD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82731" y="1266325"/>
            <a:ext cx="2849568" cy="2030328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Looks like a lot of parameters!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09D3A0-9908-704F-2DF2-9A59D0778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3" y="1239656"/>
            <a:ext cx="5671028" cy="2056997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DFDBEB8-1CFE-AE26-E31A-648F28175BF2}"/>
              </a:ext>
            </a:extLst>
          </p:cNvPr>
          <p:cNvSpPr txBox="1">
            <a:spLocks/>
          </p:cNvSpPr>
          <p:nvPr/>
        </p:nvSpPr>
        <p:spPr>
          <a:xfrm>
            <a:off x="119340" y="3296653"/>
            <a:ext cx="8583501" cy="2030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buFont typeface="Open Sans"/>
              <a:buNone/>
            </a:pPr>
            <a:r>
              <a:rPr lang="en-US" dirty="0"/>
              <a:t>We can use </a:t>
            </a:r>
            <a:r>
              <a:rPr lang="en-US" dirty="0" err="1"/>
              <a:t>tfidf</a:t>
            </a:r>
            <a:r>
              <a:rPr lang="en-US" dirty="0"/>
              <a:t> on words and characters!</a:t>
            </a:r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r>
              <a:rPr lang="en-US" dirty="0"/>
              <a:t>For now, we’ll examine </a:t>
            </a:r>
            <a:r>
              <a:rPr lang="en-US" dirty="0" err="1"/>
              <a:t>Tfidf</a:t>
            </a:r>
            <a:r>
              <a:rPr lang="en-US" dirty="0"/>
              <a:t> on words, but I recommend you explore using characters!</a:t>
            </a:r>
          </a:p>
        </p:txBody>
      </p:sp>
    </p:spTree>
    <p:extLst>
      <p:ext uri="{BB962C8B-B14F-4D97-AF65-F5344CB8AC3E}">
        <p14:creationId xmlns:p14="http://schemas.microsoft.com/office/powerpoint/2010/main" val="2881259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A3DBE-1E40-E927-93DF-9C24687F1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D484A-240E-9660-144D-D6296DDD7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Parameterizing TFIDF – lowercase: bool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79719-EDFC-52EA-C19E-4911C0924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34241"/>
            <a:ext cx="8520600" cy="33027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Sometimes our documents will inconsistently contain capitalized words</a:t>
            </a:r>
          </a:p>
        </p:txBody>
      </p:sp>
    </p:spTree>
    <p:extLst>
      <p:ext uri="{BB962C8B-B14F-4D97-AF65-F5344CB8AC3E}">
        <p14:creationId xmlns:p14="http://schemas.microsoft.com/office/powerpoint/2010/main" val="3237661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722EF-537F-5E56-BF1C-C0A96991C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CE92-0A0E-2368-E63D-09D61F26F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Parameterizing TFIDF – lowercase: bool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BDEAA-F3A9-FE5C-26A0-A8BEC203F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34241"/>
            <a:ext cx="8520600" cy="33027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Sometimes our documents will inconsistently contain capitalized words</a:t>
            </a:r>
          </a:p>
          <a:p>
            <a:r>
              <a:rPr lang="en-US" dirty="0"/>
              <a:t>Some people may write their reviews like this: “I Really Enjoyed This Movie It Was Very Fun To Watch”</a:t>
            </a:r>
          </a:p>
        </p:txBody>
      </p:sp>
    </p:spTree>
    <p:extLst>
      <p:ext uri="{BB962C8B-B14F-4D97-AF65-F5344CB8AC3E}">
        <p14:creationId xmlns:p14="http://schemas.microsoft.com/office/powerpoint/2010/main" val="2684960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66525-8C22-2F06-AA07-B5C11982A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1D5B0-A9F6-6B96-45C1-C059E07F2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Parameterizing TFIDF – lowercase: bool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F5E20-BA5B-839A-D4D1-8F9597A15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34241"/>
            <a:ext cx="8520600" cy="33027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Sometimes our documents will inconsistently contain capitalized words</a:t>
            </a:r>
          </a:p>
          <a:p>
            <a:r>
              <a:rPr lang="en-US" dirty="0"/>
              <a:t>Some people may write their reviews like this: “I Really Enjoyed This Movie It Was Very Fun To Watch”</a:t>
            </a:r>
          </a:p>
          <a:p>
            <a:endParaRPr lang="en-US" dirty="0"/>
          </a:p>
          <a:p>
            <a:r>
              <a:rPr lang="en-US" dirty="0"/>
              <a:t>Or like this: “this movie was AWESOME”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704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F376E-E2E9-01E5-4BCA-8597E4C8C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2F5C1-07C3-B576-93A7-0E57C810E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Parameterizing TFIDF – lowercase: bool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B1D8-29D9-CEC3-2B96-B7D0300BD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34241"/>
            <a:ext cx="8520600" cy="33027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Sometimes our documents will inconsistently contain capitalized words</a:t>
            </a:r>
          </a:p>
          <a:p>
            <a:r>
              <a:rPr lang="en-US" dirty="0"/>
              <a:t>Some people may write their reviews like this: “I Really Enjoyed This Movie It Was Very Fun To Watch”</a:t>
            </a:r>
          </a:p>
          <a:p>
            <a:endParaRPr lang="en-US" dirty="0"/>
          </a:p>
          <a:p>
            <a:r>
              <a:rPr lang="en-US" dirty="0"/>
              <a:t>Or like this: “this movie was AWESOME”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Or even like this: “THIS MOVIE WAS AWFULLLLL”</a:t>
            </a:r>
          </a:p>
          <a:p>
            <a:pPr marL="11430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400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07CA3-8036-DA47-5FC9-7D5240092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F9B44-6C8F-3657-E47B-20D873E0B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Parameterizing TFIDF – lowercase: bool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40571-6C5B-B0D0-9F8F-D3AD7C145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34241"/>
            <a:ext cx="8520600" cy="33027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Sometimes our documents will inconsistently contain capitalized words</a:t>
            </a:r>
          </a:p>
          <a:p>
            <a:r>
              <a:rPr lang="en-US" dirty="0"/>
              <a:t>Some people may write their reviews like this: “I Really Enjoyed This Movie It Was Very Fun To Watch”</a:t>
            </a:r>
          </a:p>
          <a:p>
            <a:endParaRPr lang="en-US" dirty="0"/>
          </a:p>
          <a:p>
            <a:r>
              <a:rPr lang="en-US" dirty="0"/>
              <a:t>Or like this: “this movie was AWESOME”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Or even like this: “THIS MOVIE WAS AWFULLLLL”</a:t>
            </a:r>
          </a:p>
          <a:p>
            <a:pPr marL="11430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249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9C730-CDFB-5FFC-0D07-4FBEC34E5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FDEF2-6BE0-47A6-95DC-F40A142F9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Parameterizing TFIDF – lowercase: bool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83271-CA1E-3C49-A64A-9AF01EC13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34241"/>
            <a:ext cx="8520600" cy="33027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Sometimes our documents will inconsistently contain capitalized words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We must consider the following tradeoff: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551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75EF0-6E10-13DE-28FF-EA1388A4C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8B5DB-473F-F72F-782F-9DE469472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Parameterizing TFIDF – lowercase: bool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DECE-C2D8-897A-DD0B-B73693607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34241"/>
            <a:ext cx="8520600" cy="330270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Sometimes our documents will inconsistently contain capitalized words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We must consider the following tradeoff:</a:t>
            </a:r>
          </a:p>
          <a:p>
            <a:r>
              <a:rPr lang="en-US" dirty="0"/>
              <a:t>If we convert every word in a review to lowercase, we may lose important information about the sentiment of a given review!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3859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921E-D0E0-F62B-E302-5BDF8547E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6627B-4E47-C4CB-E696-7AB3A3CE6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Parameterizing TFIDF – lowercase: bool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9722B-4990-9D89-92E8-BC661AE25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34241"/>
            <a:ext cx="8520600" cy="3696988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dirty="0"/>
              <a:t>Sometimes our documents will inconsistently contain capitalized words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We must consider the following tradeoff:</a:t>
            </a:r>
          </a:p>
          <a:p>
            <a:r>
              <a:rPr lang="en-US" dirty="0"/>
              <a:t>If we convert every word in a review to lowercase, we may lose important information about the sentiment of a given review!</a:t>
            </a:r>
          </a:p>
          <a:p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Hmm… Maybe we can solve this by creating our own text preprocessor that leaves relevant adjectives as all-caps and converts everything else to lowercase?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2266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59378-5F12-E439-06B1-3A1E8CB44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7A99A-2913-DE71-2FA8-73A3B0990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600" dirty="0"/>
              <a:t>Parameterizing TFIDF – </a:t>
            </a:r>
            <a:r>
              <a:rPr lang="en-US" sz="2600" dirty="0" err="1"/>
              <a:t>stop_words</a:t>
            </a:r>
            <a:r>
              <a:rPr lang="en-US" sz="2600" dirty="0"/>
              <a:t>: {‘</a:t>
            </a:r>
            <a:r>
              <a:rPr lang="en-US" sz="2600" dirty="0" err="1"/>
              <a:t>english</a:t>
            </a:r>
            <a:r>
              <a:rPr lang="en-US" sz="2600" dirty="0"/>
              <a:t>’}, list, default=None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FCB6F-C6CD-8A29-5226-46AE3C0CA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34241"/>
            <a:ext cx="8520600" cy="33027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“Stop words are words like “and”, “the”, “him”, which are presumed to be uninformative in representing the content of a text, and which may be removed to avoid them being construed as informative for prediction.”</a:t>
            </a:r>
            <a:r>
              <a:rPr lang="en-US" baseline="30000" dirty="0"/>
              <a:t> 1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A1C5B9-2A5D-E220-AE90-060015919DF9}"/>
              </a:ext>
            </a:extLst>
          </p:cNvPr>
          <p:cNvSpPr txBox="1"/>
          <p:nvPr/>
        </p:nvSpPr>
        <p:spPr>
          <a:xfrm>
            <a:off x="569495" y="4764505"/>
            <a:ext cx="79889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aseline="30000" dirty="0">
                <a:solidFill>
                  <a:schemeClr val="bg2"/>
                </a:solidFill>
              </a:rPr>
              <a:t>1</a:t>
            </a:r>
            <a:r>
              <a:rPr lang="en-US" sz="800" dirty="0">
                <a:solidFill>
                  <a:schemeClr val="bg2"/>
                </a:solidFill>
              </a:rPr>
              <a:t>Scikit-learn feature extraction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7362766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1F29B-5A81-001C-6D5D-84A5A5A7F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53025-42DA-EDAE-C8E0-D68B634D3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600" dirty="0"/>
              <a:t>Parameterizing TFIDF – </a:t>
            </a:r>
            <a:r>
              <a:rPr lang="en-US" sz="2600" dirty="0" err="1"/>
              <a:t>stop_words</a:t>
            </a:r>
            <a:r>
              <a:rPr lang="en-US" sz="2600" dirty="0"/>
              <a:t>: {‘</a:t>
            </a:r>
            <a:r>
              <a:rPr lang="en-US" sz="2600" dirty="0" err="1"/>
              <a:t>english</a:t>
            </a:r>
            <a:r>
              <a:rPr lang="en-US" sz="2600" dirty="0"/>
              <a:t>’}, list, default=None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13DB2-D0AB-20E9-6018-BE29580C8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34241"/>
            <a:ext cx="8520600" cy="33027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“Stop words are words like “and”, “the”, “him”, which are presumed to be uninformative in representing the content of a text, and which may be removed to avoid them being construed as informative for prediction.”</a:t>
            </a:r>
            <a:r>
              <a:rPr lang="en-US" baseline="30000" dirty="0"/>
              <a:t> 1</a:t>
            </a:r>
          </a:p>
          <a:p>
            <a:pPr marL="114300" indent="0">
              <a:buNone/>
            </a:pPr>
            <a:endParaRPr lang="en-US" baseline="30000" dirty="0"/>
          </a:p>
          <a:p>
            <a:pPr marL="114300" indent="0">
              <a:buNone/>
            </a:pPr>
            <a:r>
              <a:rPr lang="en-US" dirty="0"/>
              <a:t>We can add our own “domain-specific” stop words and pass it in as a parameter (see lab 7 Python Notebook example)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C54B9D-6621-6D75-667B-3A2FD3395672}"/>
              </a:ext>
            </a:extLst>
          </p:cNvPr>
          <p:cNvSpPr txBox="1"/>
          <p:nvPr/>
        </p:nvSpPr>
        <p:spPr>
          <a:xfrm>
            <a:off x="569495" y="4764505"/>
            <a:ext cx="79889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aseline="30000" dirty="0">
                <a:solidFill>
                  <a:schemeClr val="bg2"/>
                </a:solidFill>
              </a:rPr>
              <a:t>1</a:t>
            </a:r>
            <a:r>
              <a:rPr lang="en-US" sz="800" dirty="0">
                <a:solidFill>
                  <a:schemeClr val="bg2"/>
                </a:solidFill>
              </a:rPr>
              <a:t>Scikit-learn feature extraction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243334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612DB-52CF-1CB7-2EE2-AD2AC08A7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C86E2-E20B-8E97-AB60-7A8517C19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600" dirty="0"/>
              <a:t>Parameterizing TFIDF – </a:t>
            </a:r>
            <a:r>
              <a:rPr lang="en-US" sz="2600" dirty="0" err="1"/>
              <a:t>stop_words</a:t>
            </a:r>
            <a:r>
              <a:rPr lang="en-US" sz="2600" dirty="0"/>
              <a:t>: {‘</a:t>
            </a:r>
            <a:r>
              <a:rPr lang="en-US" sz="2600" dirty="0" err="1"/>
              <a:t>english</a:t>
            </a:r>
            <a:r>
              <a:rPr lang="en-US" sz="2600" dirty="0"/>
              <a:t>’}, list, default=None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442B8-1086-BCD9-BA8F-026D11F42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34241"/>
            <a:ext cx="8520600" cy="33027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“Stop words are words like “and”, “the”, “him”, which are presumed to be uninformative in representing the content of a text, and which may be removed to avoid them being construed as informative for prediction.”</a:t>
            </a:r>
            <a:r>
              <a:rPr lang="en-US" baseline="30000" dirty="0"/>
              <a:t> 1</a:t>
            </a:r>
          </a:p>
          <a:p>
            <a:pPr marL="114300" indent="0">
              <a:buNone/>
            </a:pPr>
            <a:endParaRPr lang="en-US" baseline="30000" dirty="0"/>
          </a:p>
          <a:p>
            <a:pPr marL="114300" indent="0">
              <a:buNone/>
            </a:pPr>
            <a:r>
              <a:rPr lang="en-US" dirty="0"/>
              <a:t>We can add our own “domain-specific” stop words and pass it in as a parameter (see lab 7 Python Notebook example)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For example, a lot of movie reviews probably contain the word “movie”, but does this help us distinguish reviews at all?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B1810F-8FD7-0CF6-829D-DF577AA1562E}"/>
              </a:ext>
            </a:extLst>
          </p:cNvPr>
          <p:cNvSpPr txBox="1"/>
          <p:nvPr/>
        </p:nvSpPr>
        <p:spPr>
          <a:xfrm>
            <a:off x="569495" y="4764505"/>
            <a:ext cx="79889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aseline="30000" dirty="0">
                <a:solidFill>
                  <a:schemeClr val="bg2"/>
                </a:solidFill>
              </a:rPr>
              <a:t>1</a:t>
            </a:r>
            <a:r>
              <a:rPr lang="en-US" sz="800" dirty="0">
                <a:solidFill>
                  <a:schemeClr val="bg2"/>
                </a:solidFill>
              </a:rPr>
              <a:t>Scikit-learn feature extraction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3446229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23DB-34C9-F54A-AF05-3E909C16D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9032826" cy="707400"/>
          </a:xfrm>
        </p:spPr>
        <p:txBody>
          <a:bodyPr>
            <a:noAutofit/>
          </a:bodyPr>
          <a:lstStyle/>
          <a:p>
            <a:r>
              <a:rPr lang="en-US" sz="2400" dirty="0"/>
              <a:t>Parameterizing TFIDF – </a:t>
            </a:r>
            <a:r>
              <a:rPr lang="en-US" sz="2400" dirty="0" err="1"/>
              <a:t>ngram_range</a:t>
            </a:r>
            <a:r>
              <a:rPr lang="en-US" sz="2400" dirty="0"/>
              <a:t>: tuple (</a:t>
            </a:r>
            <a:r>
              <a:rPr lang="en-US" sz="2400" dirty="0" err="1"/>
              <a:t>min_n</a:t>
            </a:r>
            <a:r>
              <a:rPr lang="en-US" sz="2400" dirty="0"/>
              <a:t>, </a:t>
            </a:r>
            <a:r>
              <a:rPr lang="en-US" sz="2400" dirty="0" err="1"/>
              <a:t>max_n</a:t>
            </a:r>
            <a:r>
              <a:rPr lang="en-US" sz="2400" dirty="0"/>
              <a:t>), default=(1,1)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BB94-2F6C-600C-EB1F-80DC66E49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When extracting features from documents, sometimes we may want to look like at bigrams too!</a:t>
            </a:r>
          </a:p>
        </p:txBody>
      </p:sp>
    </p:spTree>
    <p:extLst>
      <p:ext uri="{BB962C8B-B14F-4D97-AF65-F5344CB8AC3E}">
        <p14:creationId xmlns:p14="http://schemas.microsoft.com/office/powerpoint/2010/main" val="3862972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EDE09-158A-2A08-8C68-EE7BE13DE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0414D-EF67-7A30-661C-D989C5CAF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9032826" cy="707400"/>
          </a:xfrm>
        </p:spPr>
        <p:txBody>
          <a:bodyPr>
            <a:noAutofit/>
          </a:bodyPr>
          <a:lstStyle/>
          <a:p>
            <a:r>
              <a:rPr lang="en-US" sz="2400" dirty="0"/>
              <a:t>Parameterizing TFIDF – </a:t>
            </a:r>
            <a:r>
              <a:rPr lang="en-US" sz="2400" dirty="0" err="1"/>
              <a:t>ngram_range</a:t>
            </a:r>
            <a:r>
              <a:rPr lang="en-US" sz="2400" dirty="0"/>
              <a:t>: tuple (</a:t>
            </a:r>
            <a:r>
              <a:rPr lang="en-US" sz="2400" dirty="0" err="1"/>
              <a:t>min_n</a:t>
            </a:r>
            <a:r>
              <a:rPr lang="en-US" sz="2400" dirty="0"/>
              <a:t>, </a:t>
            </a:r>
            <a:r>
              <a:rPr lang="en-US" sz="2400" dirty="0" err="1"/>
              <a:t>max_n</a:t>
            </a:r>
            <a:r>
              <a:rPr lang="en-US" sz="2400" dirty="0"/>
              <a:t>), default=(1,1)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6279A-16FB-B449-BCAC-76ABCAA93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When extracting features from documents, sometimes we may want to look like at bigrams too!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Example: “this movie’s execution of a plot twist was a great disaster!”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7085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B542-4053-1A63-B3EA-1592EEDD8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1AF4A-97F2-5388-50D6-3B29E9100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9032826" cy="707400"/>
          </a:xfrm>
        </p:spPr>
        <p:txBody>
          <a:bodyPr>
            <a:noAutofit/>
          </a:bodyPr>
          <a:lstStyle/>
          <a:p>
            <a:r>
              <a:rPr lang="en-US" sz="2400" dirty="0"/>
              <a:t>Parameterizing TFIDF – </a:t>
            </a:r>
            <a:r>
              <a:rPr lang="en-US" sz="2400" dirty="0" err="1"/>
              <a:t>ngram_range</a:t>
            </a:r>
            <a:r>
              <a:rPr lang="en-US" sz="2400" dirty="0"/>
              <a:t>: tuple (</a:t>
            </a:r>
            <a:r>
              <a:rPr lang="en-US" sz="2400" dirty="0" err="1"/>
              <a:t>min_n</a:t>
            </a:r>
            <a:r>
              <a:rPr lang="en-US" sz="2400" dirty="0"/>
              <a:t>, </a:t>
            </a:r>
            <a:r>
              <a:rPr lang="en-US" sz="2400" dirty="0" err="1"/>
              <a:t>max_n</a:t>
            </a:r>
            <a:r>
              <a:rPr lang="en-US" sz="2400" dirty="0"/>
              <a:t>), default=(1,1)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9D5DD-CFA3-834B-E2BA-AB2D582307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When extracting features from documents, sometimes we may want to look like at bigrams too!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Example: “this movie’s execution of a plot twist was a </a:t>
            </a:r>
            <a:r>
              <a:rPr lang="en-US" b="1" dirty="0"/>
              <a:t>great disaster</a:t>
            </a:r>
            <a:r>
              <a:rPr lang="en-US" dirty="0"/>
              <a:t>!”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Unigrams: great, disaster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9653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86091-CF6B-7F39-E844-7B641CC03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7D830-C401-6139-6A69-8BCC756B8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9032826" cy="707400"/>
          </a:xfrm>
        </p:spPr>
        <p:txBody>
          <a:bodyPr>
            <a:noAutofit/>
          </a:bodyPr>
          <a:lstStyle/>
          <a:p>
            <a:r>
              <a:rPr lang="en-US" sz="2400" dirty="0"/>
              <a:t>Parameterizing TFIDF – </a:t>
            </a:r>
            <a:r>
              <a:rPr lang="en-US" sz="2400" dirty="0" err="1"/>
              <a:t>ngram_range</a:t>
            </a:r>
            <a:r>
              <a:rPr lang="en-US" sz="2400" dirty="0"/>
              <a:t>: tuple (</a:t>
            </a:r>
            <a:r>
              <a:rPr lang="en-US" sz="2400" dirty="0" err="1"/>
              <a:t>min_n</a:t>
            </a:r>
            <a:r>
              <a:rPr lang="en-US" sz="2400" dirty="0"/>
              <a:t>, </a:t>
            </a:r>
            <a:r>
              <a:rPr lang="en-US" sz="2400" dirty="0" err="1"/>
              <a:t>max_n</a:t>
            </a:r>
            <a:r>
              <a:rPr lang="en-US" sz="2400" dirty="0"/>
              <a:t>), default=(1,1)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95F93-168F-B783-4CDE-2B958D89A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When extracting features from documents, sometimes we may want to look like at bigrams too!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Example: “this movie’s execution of a plot twist was a </a:t>
            </a:r>
            <a:r>
              <a:rPr lang="en-US" b="1" dirty="0"/>
              <a:t>great disaster</a:t>
            </a:r>
            <a:r>
              <a:rPr lang="en-US" dirty="0"/>
              <a:t>!”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Unigrams: great, disaster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Bigram: great disaster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3943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C03AE-59C4-1D6E-33A1-EF8DB0ED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A64A0-B6EE-9C0F-BB48-4C18B5F54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9032826" cy="707400"/>
          </a:xfrm>
        </p:spPr>
        <p:txBody>
          <a:bodyPr>
            <a:noAutofit/>
          </a:bodyPr>
          <a:lstStyle/>
          <a:p>
            <a:r>
              <a:rPr lang="en-US" sz="2400" dirty="0"/>
              <a:t>Parameterizing TFIDF – </a:t>
            </a:r>
            <a:r>
              <a:rPr lang="en-US" sz="2400" dirty="0" err="1"/>
              <a:t>ngram_range</a:t>
            </a:r>
            <a:r>
              <a:rPr lang="en-US" sz="2400" dirty="0"/>
              <a:t>: tuple (</a:t>
            </a:r>
            <a:r>
              <a:rPr lang="en-US" sz="2400" dirty="0" err="1"/>
              <a:t>min_n</a:t>
            </a:r>
            <a:r>
              <a:rPr lang="en-US" sz="2400" dirty="0"/>
              <a:t>, </a:t>
            </a:r>
            <a:r>
              <a:rPr lang="en-US" sz="2400" dirty="0" err="1"/>
              <a:t>max_n</a:t>
            </a:r>
            <a:r>
              <a:rPr lang="en-US" sz="2400" dirty="0"/>
              <a:t>), default=(1,1)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56A3A6-0A9D-DED9-454B-5AC374ADE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US" dirty="0"/>
              <a:t>When extracting features from documents, sometimes we may want to look like at bigrams too!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Example: “this movie’s execution of a plot twist was a </a:t>
            </a:r>
            <a:r>
              <a:rPr lang="en-US" b="1" dirty="0"/>
              <a:t>great disaster</a:t>
            </a:r>
            <a:r>
              <a:rPr lang="en-US" dirty="0"/>
              <a:t>!”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Unigrams: great, disaster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Bigram: great disaster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If we look at the unigram, the two words by themselves conflict, but the bigram gives us insight into the reviewers feeling about the movie.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3798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EE362-76C1-59C5-EEAB-0F20B6C2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Parameterizing TFIDF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394A0-8A57-2162-BBB5-4A572FCD18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Read through the scikit documentation for </a:t>
            </a:r>
            <a:r>
              <a:rPr lang="en-US" dirty="0" err="1"/>
              <a:t>TfidfVectorizer</a:t>
            </a:r>
            <a:r>
              <a:rPr lang="en-US" dirty="0"/>
              <a:t> to see how we can control the creation of the weight matrix!</a:t>
            </a:r>
          </a:p>
        </p:txBody>
      </p:sp>
    </p:spTree>
    <p:extLst>
      <p:ext uri="{BB962C8B-B14F-4D97-AF65-F5344CB8AC3E}">
        <p14:creationId xmlns:p14="http://schemas.microsoft.com/office/powerpoint/2010/main" val="12698910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65E89-2350-BA5E-0990-67FC9A210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218050"/>
            <a:ext cx="8520600" cy="707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Singular Value Decomposition </a:t>
            </a:r>
          </a:p>
        </p:txBody>
      </p:sp>
    </p:spTree>
    <p:extLst>
      <p:ext uri="{BB962C8B-B14F-4D97-AF65-F5344CB8AC3E}">
        <p14:creationId xmlns:p14="http://schemas.microsoft.com/office/powerpoint/2010/main" val="6300854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806FA-3167-5D13-3BB1-9CD46C240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5DF22-3416-C472-C3BD-FF0BA708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SVD on Movie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3F7E8-3AB4-F5F1-B454-E3ACCAC89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movie review dataset may contain a lot of noise. People may use synonyms throughout the review, and directly using the </a:t>
            </a:r>
            <a:r>
              <a:rPr lang="en-US" dirty="0" err="1"/>
              <a:t>Tfidf</a:t>
            </a:r>
            <a:r>
              <a:rPr lang="en-US" dirty="0"/>
              <a:t> matrix for prediction may result in us looking at thousands of raw terms.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5787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D4ABB-9CA4-CD10-0D30-C87964038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496BC-36D7-AB31-2DE1-8A2117115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SVD on Movie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608A7-9102-7211-B08F-60633E105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movie review dataset may contain a lot of noise. People may use synonyms throughout the review, and directly using the </a:t>
            </a:r>
            <a:r>
              <a:rPr lang="en-US" dirty="0" err="1"/>
              <a:t>Tfidf</a:t>
            </a:r>
            <a:r>
              <a:rPr lang="en-US" dirty="0"/>
              <a:t> matrix for prediction may result in us looking at thousands of raw terms.</a:t>
            </a:r>
          </a:p>
          <a:p>
            <a:r>
              <a:rPr lang="en-US" dirty="0"/>
              <a:t>SVD will allow us to remove some of this noise from the </a:t>
            </a:r>
            <a:r>
              <a:rPr lang="en-US" dirty="0" err="1"/>
              <a:t>Tfidf</a:t>
            </a:r>
            <a:r>
              <a:rPr lang="en-US" dirty="0"/>
              <a:t> matrix and make predictions about scores based on the features that explain the most variance in our dataset.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3510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BDE8C-E870-784E-1911-33C924ABF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Latent Semantic 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37ED617-3DDF-EE2F-8701-5FCF3CD2B26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Given term-document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b="0" dirty="0"/>
                  <a:t>, we apply SVD to get the following decomposition: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37ED617-3DDF-EE2F-8701-5FCF3CD2B2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23174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E8051-F17B-0343-6DBB-DB1B6B040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51827-1B15-4584-15D2-C441E7D4D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Latent Semantic 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A24B528-62F4-446D-D408-3FBE9A921FD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Given term-document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b="0" dirty="0"/>
                  <a:t>, we apply SVD to get the following decomposition: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A24B528-62F4-446D-D408-3FBE9A921F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38904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41836-90EE-E670-4887-D821AC219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6A1B58D-7195-7F0D-55F6-4451F5F01BBE}"/>
              </a:ext>
            </a:extLst>
          </p:cNvPr>
          <p:cNvGraphicFramePr>
            <a:graphicFrameLocks noGrp="1"/>
          </p:cNvGraphicFramePr>
          <p:nvPr/>
        </p:nvGraphicFramePr>
        <p:xfrm>
          <a:off x="872092" y="1820108"/>
          <a:ext cx="1114425" cy="2827020"/>
        </p:xfrm>
        <a:graphic>
          <a:graphicData uri="http://schemas.openxmlformats.org/drawingml/2006/table">
            <a:tbl>
              <a:tblPr/>
              <a:tblGrid>
                <a:gridCol w="561975">
                  <a:extLst>
                    <a:ext uri="{9D8B030D-6E8A-4147-A177-3AD203B41FA5}">
                      <a16:colId xmlns:a16="http://schemas.microsoft.com/office/drawing/2014/main" val="227247939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5391918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0.18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200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0.36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249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0.18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714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0.90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969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0.53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701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0.80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0354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0.27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486402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57D7E3EF-3FE7-5783-A3FA-7E24B78B3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455" y="1481797"/>
            <a:ext cx="2648481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doc-to-concept similarity matrix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F93349C-9407-A1F0-A116-E9E0F303F83F}"/>
              </a:ext>
            </a:extLst>
          </p:cNvPr>
          <p:cNvGraphicFramePr>
            <a:graphicFrameLocks noGrp="1"/>
          </p:cNvGraphicFramePr>
          <p:nvPr/>
        </p:nvGraphicFramePr>
        <p:xfrm>
          <a:off x="3127020" y="2753662"/>
          <a:ext cx="1114425" cy="807720"/>
        </p:xfrm>
        <a:graphic>
          <a:graphicData uri="http://schemas.openxmlformats.org/drawingml/2006/table">
            <a:tbl>
              <a:tblPr/>
              <a:tblGrid>
                <a:gridCol w="561975">
                  <a:extLst>
                    <a:ext uri="{9D8B030D-6E8A-4147-A177-3AD203B41FA5}">
                      <a16:colId xmlns:a16="http://schemas.microsoft.com/office/drawing/2014/main" val="4243659018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10896897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9.64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136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5.29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559091"/>
                  </a:ext>
                </a:extLst>
              </a:tr>
            </a:tbl>
          </a:graphicData>
        </a:graphic>
      </p:graphicFrame>
      <p:sp>
        <p:nvSpPr>
          <p:cNvPr id="11" name="Rectangle 3">
            <a:extLst>
              <a:ext uri="{FF2B5EF4-FFF2-40B4-BE49-F238E27FC236}">
                <a16:creationId xmlns:a16="http://schemas.microsoft.com/office/drawing/2014/main" id="{06F59F7B-DFDA-F726-FFC0-9B0B77BEB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415" y="2039839"/>
            <a:ext cx="2836033" cy="1800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300" dirty="0">
              <a:solidFill>
                <a:schemeClr val="bg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         “strength” of each concept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3C04965-34D5-DF66-BB7E-A2827F0E26FD}"/>
              </a:ext>
            </a:extLst>
          </p:cNvPr>
          <p:cNvGraphicFramePr>
            <a:graphicFrameLocks noGrp="1"/>
          </p:cNvGraphicFramePr>
          <p:nvPr/>
        </p:nvGraphicFramePr>
        <p:xfrm>
          <a:off x="5517423" y="2753662"/>
          <a:ext cx="2905125" cy="807720"/>
        </p:xfrm>
        <a:graphic>
          <a:graphicData uri="http://schemas.openxmlformats.org/drawingml/2006/table">
            <a:tbl>
              <a:tblPr/>
              <a:tblGrid>
                <a:gridCol w="581025">
                  <a:extLst>
                    <a:ext uri="{9D8B030D-6E8A-4147-A177-3AD203B41FA5}">
                      <a16:colId xmlns:a16="http://schemas.microsoft.com/office/drawing/2014/main" val="3366053481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1886804556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333373658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134857957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898216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0.58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0.58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0.58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509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0.71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0.71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70811"/>
                  </a:ext>
                </a:extLst>
              </a:tr>
            </a:tbl>
          </a:graphicData>
        </a:graphic>
      </p:graphicFrame>
      <p:sp>
        <p:nvSpPr>
          <p:cNvPr id="17" name="Rectangle 4">
            <a:extLst>
              <a:ext uri="{FF2B5EF4-FFF2-40B4-BE49-F238E27FC236}">
                <a16:creationId xmlns:a16="http://schemas.microsoft.com/office/drawing/2014/main" id="{564AB36D-F5DA-D968-1981-C01BFDBBE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0058" y="2380661"/>
            <a:ext cx="2739853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bg2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term-to-concept similarity matrix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bg2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Equal 17">
            <a:extLst>
              <a:ext uri="{FF2B5EF4-FFF2-40B4-BE49-F238E27FC236}">
                <a16:creationId xmlns:a16="http://schemas.microsoft.com/office/drawing/2014/main" id="{AA480B57-E7B4-5643-6DEB-2FC326A53DB6}"/>
              </a:ext>
            </a:extLst>
          </p:cNvPr>
          <p:cNvSpPr/>
          <p:nvPr/>
        </p:nvSpPr>
        <p:spPr>
          <a:xfrm>
            <a:off x="272807" y="2854274"/>
            <a:ext cx="469535" cy="442299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A1FE5E0C-474B-69A8-99FA-F268199DB781}"/>
              </a:ext>
            </a:extLst>
          </p:cNvPr>
          <p:cNvSpPr/>
          <p:nvPr/>
        </p:nvSpPr>
        <p:spPr>
          <a:xfrm>
            <a:off x="2397985" y="2940085"/>
            <a:ext cx="371848" cy="356488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ultiply 19">
            <a:extLst>
              <a:ext uri="{FF2B5EF4-FFF2-40B4-BE49-F238E27FC236}">
                <a16:creationId xmlns:a16="http://schemas.microsoft.com/office/drawing/2014/main" id="{3AD4604F-067D-0D7C-E4BE-B941F9D3868B}"/>
              </a:ext>
            </a:extLst>
          </p:cNvPr>
          <p:cNvSpPr/>
          <p:nvPr/>
        </p:nvSpPr>
        <p:spPr>
          <a:xfrm>
            <a:off x="4784556" y="2895371"/>
            <a:ext cx="371848" cy="356488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214AEE1-B773-170B-0955-5593C29E9211}"/>
                  </a:ext>
                </a:extLst>
              </p:cNvPr>
              <p:cNvSpPr txBox="1"/>
              <p:nvPr/>
            </p:nvSpPr>
            <p:spPr>
              <a:xfrm>
                <a:off x="872092" y="1031477"/>
                <a:ext cx="1114425" cy="36933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𝑈</m:t>
                      </m:r>
                    </m:oMath>
                  </m:oMathPara>
                </a14:m>
                <a:endParaRPr lang="en-US" sz="180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214AEE1-B773-170B-0955-5593C29E9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092" y="1031477"/>
                <a:ext cx="111442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E226109-4540-6BEA-CE24-3829B8FD3B23}"/>
                  </a:ext>
                </a:extLst>
              </p:cNvPr>
              <p:cNvSpPr txBox="1"/>
              <p:nvPr/>
            </p:nvSpPr>
            <p:spPr>
              <a:xfrm>
                <a:off x="3127020" y="2066837"/>
                <a:ext cx="1114425" cy="36933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Σ</m:t>
                      </m:r>
                    </m:oMath>
                  </m:oMathPara>
                </a14:m>
                <a:endParaRPr lang="en-US" sz="180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E226109-4540-6BEA-CE24-3829B8FD3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7020" y="2066837"/>
                <a:ext cx="111442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C337ED9-F429-81E6-24A9-FD5EC7DF45DB}"/>
                  </a:ext>
                </a:extLst>
              </p:cNvPr>
              <p:cNvSpPr txBox="1"/>
              <p:nvPr/>
            </p:nvSpPr>
            <p:spPr>
              <a:xfrm>
                <a:off x="6412771" y="2039839"/>
                <a:ext cx="1114425" cy="36933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𝑉</m:t>
                          </m:r>
                        </m:e>
                        <m:sup>
                          <m:r>
                            <a:rPr lang="en-US" sz="1800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8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C337ED9-F429-81E6-24A9-FD5EC7DF4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771" y="2039839"/>
                <a:ext cx="111442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2">
                <a:extLst>
                  <a:ext uri="{FF2B5EF4-FFF2-40B4-BE49-F238E27FC236}">
                    <a16:creationId xmlns:a16="http://schemas.microsoft.com/office/drawing/2014/main" id="{2B9FFDC5-F6D1-C22C-3005-F68F4E8F3BE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20945" y="258682"/>
                <a:ext cx="8520600" cy="3302700"/>
              </a:xfrm>
            </p:spPr>
            <p:txBody>
              <a:bodyPr/>
              <a:lstStyle/>
              <a:p>
                <a:pPr marL="114300" indent="0">
                  <a:buNone/>
                </a:pPr>
                <a:endParaRPr lang="en-US" b="1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𝚺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  <a:p>
                <a:pPr marL="114300" indent="0">
                  <a:buNone/>
                </a:pPr>
                <a:endParaRPr lang="en-US" b="1" dirty="0"/>
              </a:p>
              <a:p>
                <a:pPr marL="114300" indent="0">
                  <a:buNone/>
                </a:pPr>
                <a:endParaRPr lang="en-US" b="1" dirty="0"/>
              </a:p>
              <a:p>
                <a:pPr marL="114300" indent="0">
                  <a:buNone/>
                </a:pPr>
                <a:endParaRPr lang="en-US" b="1" dirty="0"/>
              </a:p>
              <a:p>
                <a:pPr marL="114300" indent="0">
                  <a:buNone/>
                </a:pPr>
                <a:endParaRPr lang="en-US" b="1" dirty="0"/>
              </a:p>
              <a:p>
                <a:pPr marL="114300" indent="0"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2" name="Text Placeholder 2">
                <a:extLst>
                  <a:ext uri="{FF2B5EF4-FFF2-40B4-BE49-F238E27FC236}">
                    <a16:creationId xmlns:a16="http://schemas.microsoft.com/office/drawing/2014/main" id="{2B9FFDC5-F6D1-C22C-3005-F68F4E8F3B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0945" y="258682"/>
                <a:ext cx="8520600" cy="3302700"/>
              </a:xfr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59873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7E165-2913-6956-CCE8-A27086D18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Latent Semantic Similarity on Movie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975E0-EA15-39A9-B5BA-503AFE740A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Embeddings generated by a well-parameterized LSA model on the review bodies and summaries may show some separation by sentiment, because sentiment-related word usage can become aligned with latent semantic directions</a:t>
            </a:r>
          </a:p>
        </p:txBody>
      </p:sp>
    </p:spTree>
    <p:extLst>
      <p:ext uri="{BB962C8B-B14F-4D97-AF65-F5344CB8AC3E}">
        <p14:creationId xmlns:p14="http://schemas.microsoft.com/office/powerpoint/2010/main" val="25173808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25BC1-C740-6512-F69F-7B3A9C6D6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9F88B-E202-07AF-DB15-045838CFD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Latent Semantic Similarity on Movie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6B982-F8EC-C5EB-D3C1-B162BDDD2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Ideally, we may end up with embeddings like the following</a:t>
            </a:r>
          </a:p>
        </p:txBody>
      </p:sp>
    </p:spTree>
    <p:extLst>
      <p:ext uri="{BB962C8B-B14F-4D97-AF65-F5344CB8AC3E}">
        <p14:creationId xmlns:p14="http://schemas.microsoft.com/office/powerpoint/2010/main" val="36162895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95BB7-154A-BDA8-B396-8084DAE22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30F1E-C6A0-1BE7-1EE5-D54C7643F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Latent Semantic Similarity on Movie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96443-A068-3305-DE67-4A87C704B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Ideally, we may end up with embeddings like the following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EEBC8F7-4A04-85ED-7DC4-96DB2ACA668D}"/>
              </a:ext>
            </a:extLst>
          </p:cNvPr>
          <p:cNvCxnSpPr/>
          <p:nvPr/>
        </p:nvCxnSpPr>
        <p:spPr>
          <a:xfrm flipV="1">
            <a:off x="1323474" y="1900989"/>
            <a:ext cx="0" cy="2109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AF2C42E-1FA5-B58A-53FB-78BC6F8871AB}"/>
              </a:ext>
            </a:extLst>
          </p:cNvPr>
          <p:cNvCxnSpPr>
            <a:cxnSpLocks/>
          </p:cNvCxnSpPr>
          <p:nvPr/>
        </p:nvCxnSpPr>
        <p:spPr>
          <a:xfrm flipV="1">
            <a:off x="1315454" y="4010526"/>
            <a:ext cx="273517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DDAC78D-75EB-04C6-C86E-3C74C3BC82FB}"/>
              </a:ext>
            </a:extLst>
          </p:cNvPr>
          <p:cNvCxnSpPr/>
          <p:nvPr/>
        </p:nvCxnSpPr>
        <p:spPr>
          <a:xfrm flipV="1">
            <a:off x="1323474" y="2571750"/>
            <a:ext cx="368968" cy="1438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5D8D0CF-344E-3982-8166-9885DC21A795}"/>
              </a:ext>
            </a:extLst>
          </p:cNvPr>
          <p:cNvCxnSpPr>
            <a:cxnSpLocks/>
          </p:cNvCxnSpPr>
          <p:nvPr/>
        </p:nvCxnSpPr>
        <p:spPr>
          <a:xfrm flipV="1">
            <a:off x="1315453" y="2334126"/>
            <a:ext cx="296779" cy="167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1A585E4-EB53-CC5C-9300-75D2DEB3C6ED}"/>
              </a:ext>
            </a:extLst>
          </p:cNvPr>
          <p:cNvCxnSpPr>
            <a:cxnSpLocks/>
          </p:cNvCxnSpPr>
          <p:nvPr/>
        </p:nvCxnSpPr>
        <p:spPr>
          <a:xfrm flipV="1">
            <a:off x="1331495" y="2013251"/>
            <a:ext cx="537410" cy="199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91D4291-3829-7DBC-53CD-F86D700F5D67}"/>
              </a:ext>
            </a:extLst>
          </p:cNvPr>
          <p:cNvCxnSpPr/>
          <p:nvPr/>
        </p:nvCxnSpPr>
        <p:spPr>
          <a:xfrm flipV="1">
            <a:off x="1331495" y="3818021"/>
            <a:ext cx="2101516" cy="192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1A9563-4306-2A06-91DD-4A6C06705861}"/>
              </a:ext>
            </a:extLst>
          </p:cNvPr>
          <p:cNvCxnSpPr>
            <a:cxnSpLocks/>
          </p:cNvCxnSpPr>
          <p:nvPr/>
        </p:nvCxnSpPr>
        <p:spPr>
          <a:xfrm flipV="1">
            <a:off x="1307433" y="3697705"/>
            <a:ext cx="2189746" cy="312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2F26EF6-1769-DFBE-9A8F-4F0749FCD434}"/>
              </a:ext>
            </a:extLst>
          </p:cNvPr>
          <p:cNvCxnSpPr>
            <a:cxnSpLocks/>
          </p:cNvCxnSpPr>
          <p:nvPr/>
        </p:nvCxnSpPr>
        <p:spPr>
          <a:xfrm flipV="1">
            <a:off x="1339517" y="3601678"/>
            <a:ext cx="2157662" cy="396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4815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9B75C-1405-6EE4-1E9B-7E34C4DD2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B2814-3F48-AA29-5DE5-653A7732B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Latent Semantic Similarity on Movie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E9991-B163-4538-35E7-592172D2D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4"/>
            <a:ext cx="8520600" cy="3658601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US" dirty="0"/>
              <a:t>Ideally, we may end up with embeddings like the following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Where each vector represents a movie review, and reviews with similar sentiment may cluster together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29A045F-0AD7-3F00-C5CF-97FD0C539402}"/>
              </a:ext>
            </a:extLst>
          </p:cNvPr>
          <p:cNvCxnSpPr/>
          <p:nvPr/>
        </p:nvCxnSpPr>
        <p:spPr>
          <a:xfrm flipV="1">
            <a:off x="1323474" y="1900989"/>
            <a:ext cx="0" cy="2109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782781-1508-BD1B-CFDB-9CD613742CD8}"/>
              </a:ext>
            </a:extLst>
          </p:cNvPr>
          <p:cNvCxnSpPr>
            <a:cxnSpLocks/>
          </p:cNvCxnSpPr>
          <p:nvPr/>
        </p:nvCxnSpPr>
        <p:spPr>
          <a:xfrm flipV="1">
            <a:off x="1315454" y="4010526"/>
            <a:ext cx="273517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F2C9F7-2ECE-3DB2-1038-3E56DC8CA8DB}"/>
              </a:ext>
            </a:extLst>
          </p:cNvPr>
          <p:cNvCxnSpPr/>
          <p:nvPr/>
        </p:nvCxnSpPr>
        <p:spPr>
          <a:xfrm flipV="1">
            <a:off x="1323474" y="2571750"/>
            <a:ext cx="368968" cy="1438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05B2C0B-87C4-B865-4610-20A5BB09EA93}"/>
              </a:ext>
            </a:extLst>
          </p:cNvPr>
          <p:cNvCxnSpPr>
            <a:cxnSpLocks/>
          </p:cNvCxnSpPr>
          <p:nvPr/>
        </p:nvCxnSpPr>
        <p:spPr>
          <a:xfrm flipV="1">
            <a:off x="1315453" y="2334126"/>
            <a:ext cx="296779" cy="167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F81D5D-75CC-458D-3ED2-EDB8A5A8A8C2}"/>
              </a:ext>
            </a:extLst>
          </p:cNvPr>
          <p:cNvCxnSpPr>
            <a:cxnSpLocks/>
          </p:cNvCxnSpPr>
          <p:nvPr/>
        </p:nvCxnSpPr>
        <p:spPr>
          <a:xfrm flipV="1">
            <a:off x="1331495" y="2013251"/>
            <a:ext cx="537410" cy="199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EA43833-1915-DE40-4D28-295BB60C73F8}"/>
              </a:ext>
            </a:extLst>
          </p:cNvPr>
          <p:cNvCxnSpPr/>
          <p:nvPr/>
        </p:nvCxnSpPr>
        <p:spPr>
          <a:xfrm flipV="1">
            <a:off x="1331495" y="3818021"/>
            <a:ext cx="2101516" cy="192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7D8BB5D-A04A-1DA8-7E10-6B1C29CDC89E}"/>
              </a:ext>
            </a:extLst>
          </p:cNvPr>
          <p:cNvCxnSpPr>
            <a:cxnSpLocks/>
          </p:cNvCxnSpPr>
          <p:nvPr/>
        </p:nvCxnSpPr>
        <p:spPr>
          <a:xfrm flipV="1">
            <a:off x="1307433" y="3697705"/>
            <a:ext cx="2189746" cy="312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FCACD13-F744-F8E5-5E39-015C19E0EE94}"/>
              </a:ext>
            </a:extLst>
          </p:cNvPr>
          <p:cNvCxnSpPr>
            <a:cxnSpLocks/>
          </p:cNvCxnSpPr>
          <p:nvPr/>
        </p:nvCxnSpPr>
        <p:spPr>
          <a:xfrm flipV="1">
            <a:off x="1339517" y="3601678"/>
            <a:ext cx="2157662" cy="396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0509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6DE2F-3A42-E97F-0EC5-EEF3C6EE7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D3ABF-6E8D-32D3-4175-AFB95BED7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218050"/>
            <a:ext cx="8520600" cy="707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K Nearest Neighbors (KNN)</a:t>
            </a:r>
          </a:p>
        </p:txBody>
      </p:sp>
    </p:spTree>
    <p:extLst>
      <p:ext uri="{BB962C8B-B14F-4D97-AF65-F5344CB8AC3E}">
        <p14:creationId xmlns:p14="http://schemas.microsoft.com/office/powerpoint/2010/main" val="16900805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19415-1EC4-1D5E-BC85-BD4A1FDD5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1EA2-56C8-EEB3-EE49-C231B963D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KNN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4F8832B-0EEB-30F4-92D1-41EA7E72148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Goal: classify an unseen record using a set of training records.</a:t>
                </a:r>
              </a:p>
              <a:p>
                <a:r>
                  <a:rPr lang="en-US" dirty="0"/>
                  <a:t>Requirements: training set, distance function, value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How to classify an unseen record: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b="0" dirty="0"/>
                  <a:t>Compute distance of unseen record to all training records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dirty="0"/>
                  <a:t>Identify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nearest neighbors (using the specified distance function)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dirty="0"/>
                  <a:t>Aggregate the labels of these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nearest neighbors to predict the unseen record</a:t>
                </a:r>
              </a:p>
              <a:p>
                <a:r>
                  <a:rPr lang="en-US" dirty="0"/>
                  <a:t>Aggregation methods: majority rule, weighted majority based on distance, etc.</a:t>
                </a:r>
              </a:p>
              <a:p>
                <a:r>
                  <a:rPr lang="en-US" dirty="0"/>
                  <a:t>Attributes </a:t>
                </a:r>
                <a:r>
                  <a:rPr lang="en-US" b="0" dirty="0"/>
                  <a:t>should be scaled to prevent distanc</a:t>
                </a:r>
                <a:r>
                  <a:rPr lang="en-US" dirty="0"/>
                  <a:t>e measures from being dominated by a single attribute.</a:t>
                </a:r>
                <a:endParaRPr lang="en-US" b="0" dirty="0"/>
              </a:p>
              <a:p>
                <a:pPr lvl="1">
                  <a:buFont typeface="+mj-lt"/>
                  <a:buAutoNum type="arabicPeriod"/>
                </a:pPr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4F8832B-0EEB-30F4-92D1-41EA7E7214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52162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FDFE5-DD07-5B0A-D459-62BA95795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KNN on Movie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7BC83-B47E-B017-2C0C-EAADDB12D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We run KNN on movie reviews with any feature representation that turns each review into a numeric vector. </a:t>
            </a:r>
          </a:p>
        </p:txBody>
      </p:sp>
    </p:spTree>
    <p:extLst>
      <p:ext uri="{BB962C8B-B14F-4D97-AF65-F5344CB8AC3E}">
        <p14:creationId xmlns:p14="http://schemas.microsoft.com/office/powerpoint/2010/main" val="35384709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17E98-90C0-BDDB-7444-ABC1DB1F6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C1349-9490-6581-215A-E7F5B27F5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KNN on Movie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9CC2D-0362-D3D7-DCB9-8614AF415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We run KNN on movie reviews with any feature representation that turns each review into a numeric vector.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One way we can turn the text of our reviews into numeric vectors is using LSA!</a:t>
            </a:r>
          </a:p>
        </p:txBody>
      </p:sp>
    </p:spTree>
    <p:extLst>
      <p:ext uri="{BB962C8B-B14F-4D97-AF65-F5344CB8AC3E}">
        <p14:creationId xmlns:p14="http://schemas.microsoft.com/office/powerpoint/2010/main" val="33810895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71278-AA06-33B6-DD08-94D739638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0701F-2BC1-643B-F62F-EB1A862C4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KNN on Movie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C0C11-C779-C89B-FC1C-734FB1987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We run KNN on movie reviews with any feature representation that turns each review into a numeric vector.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One way we can turn the text of our reviews into numeric vectors is using LSA!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We can use LSA to generate embeddings (on the same space) for the training reviews (i.e., the reviews for which we already know the score) and the testing reviews. </a:t>
            </a:r>
          </a:p>
        </p:txBody>
      </p:sp>
    </p:spTree>
    <p:extLst>
      <p:ext uri="{BB962C8B-B14F-4D97-AF65-F5344CB8AC3E}">
        <p14:creationId xmlns:p14="http://schemas.microsoft.com/office/powerpoint/2010/main" val="13530408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25B83-E8DD-809C-0779-DEC27F803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5301D-1916-DFB8-B3BF-6CBEAE400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KNN on Movie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3DD2A-2BE5-CA93-4219-1B82686CD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We can use LSA to generate embeddings (on the same space) for the training reviews (i.e., the reviews for which we already know the score) and the testing reviews.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Once these embeddings are on the same space, we can run KNN to classify the testing reviews.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1076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5683B-BE04-BEE8-93D6-C72F0393E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26CB8-3018-EEAC-212C-1EA3382E7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Each vector is an LSA embedding for a training review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2616851-F36E-F791-EE86-CEFCFAC1B8E3}"/>
              </a:ext>
            </a:extLst>
          </p:cNvPr>
          <p:cNvCxnSpPr/>
          <p:nvPr/>
        </p:nvCxnSpPr>
        <p:spPr>
          <a:xfrm flipV="1">
            <a:off x="3031958" y="1767638"/>
            <a:ext cx="0" cy="2109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15F2E1C-7BE7-E25E-8037-C6E9C42AC274}"/>
              </a:ext>
            </a:extLst>
          </p:cNvPr>
          <p:cNvCxnSpPr>
            <a:cxnSpLocks/>
          </p:cNvCxnSpPr>
          <p:nvPr/>
        </p:nvCxnSpPr>
        <p:spPr>
          <a:xfrm flipV="1">
            <a:off x="3023938" y="3877175"/>
            <a:ext cx="273517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C72455E-9B5B-A67F-DD1F-E5D8DD508258}"/>
              </a:ext>
            </a:extLst>
          </p:cNvPr>
          <p:cNvCxnSpPr/>
          <p:nvPr/>
        </p:nvCxnSpPr>
        <p:spPr>
          <a:xfrm flipV="1">
            <a:off x="3031958" y="2438399"/>
            <a:ext cx="368968" cy="1438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9123F38-CDB4-723D-BC85-331150846C5D}"/>
              </a:ext>
            </a:extLst>
          </p:cNvPr>
          <p:cNvCxnSpPr>
            <a:cxnSpLocks/>
          </p:cNvCxnSpPr>
          <p:nvPr/>
        </p:nvCxnSpPr>
        <p:spPr>
          <a:xfrm flipV="1">
            <a:off x="3023937" y="2200775"/>
            <a:ext cx="296779" cy="167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062785-B70F-CC24-56E3-049760F5894F}"/>
              </a:ext>
            </a:extLst>
          </p:cNvPr>
          <p:cNvCxnSpPr>
            <a:cxnSpLocks/>
          </p:cNvCxnSpPr>
          <p:nvPr/>
        </p:nvCxnSpPr>
        <p:spPr>
          <a:xfrm flipV="1">
            <a:off x="3039979" y="1879900"/>
            <a:ext cx="537410" cy="199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0C8179B-2134-6468-7D18-36C983777B39}"/>
              </a:ext>
            </a:extLst>
          </p:cNvPr>
          <p:cNvCxnSpPr/>
          <p:nvPr/>
        </p:nvCxnSpPr>
        <p:spPr>
          <a:xfrm flipV="1">
            <a:off x="3039979" y="3684670"/>
            <a:ext cx="2101516" cy="192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955128-8A98-0B39-200E-1D9A3F0873F7}"/>
              </a:ext>
            </a:extLst>
          </p:cNvPr>
          <p:cNvCxnSpPr>
            <a:cxnSpLocks/>
          </p:cNvCxnSpPr>
          <p:nvPr/>
        </p:nvCxnSpPr>
        <p:spPr>
          <a:xfrm flipV="1">
            <a:off x="3015917" y="3564354"/>
            <a:ext cx="2189746" cy="312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9B4B41B-0375-0C3A-08E6-8AF08684385E}"/>
              </a:ext>
            </a:extLst>
          </p:cNvPr>
          <p:cNvCxnSpPr>
            <a:cxnSpLocks/>
          </p:cNvCxnSpPr>
          <p:nvPr/>
        </p:nvCxnSpPr>
        <p:spPr>
          <a:xfrm flipV="1">
            <a:off x="3048001" y="3468327"/>
            <a:ext cx="2157662" cy="396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4024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05FFE-0424-375F-4336-C67352E55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30455-D301-DE74-E5F7-BD875FD23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DDFB6-E6AE-1717-C85A-1D239E7AF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Assign each training review its “true value” (true score)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62C82A1-055E-FF70-9276-989714F2F3F8}"/>
              </a:ext>
            </a:extLst>
          </p:cNvPr>
          <p:cNvCxnSpPr/>
          <p:nvPr/>
        </p:nvCxnSpPr>
        <p:spPr>
          <a:xfrm flipV="1">
            <a:off x="3031958" y="1767638"/>
            <a:ext cx="0" cy="2109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4F2DE93-F3E7-A329-CD4F-700467C545D8}"/>
              </a:ext>
            </a:extLst>
          </p:cNvPr>
          <p:cNvCxnSpPr>
            <a:cxnSpLocks/>
          </p:cNvCxnSpPr>
          <p:nvPr/>
        </p:nvCxnSpPr>
        <p:spPr>
          <a:xfrm flipV="1">
            <a:off x="3023938" y="3877175"/>
            <a:ext cx="273517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BDFF399-DCE7-E87F-074A-EBA6F4990C5A}"/>
              </a:ext>
            </a:extLst>
          </p:cNvPr>
          <p:cNvSpPr txBox="1"/>
          <p:nvPr/>
        </p:nvSpPr>
        <p:spPr>
          <a:xfrm>
            <a:off x="3140243" y="2034652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CBD1CF-2203-9CCD-3B6E-B65853612463}"/>
              </a:ext>
            </a:extLst>
          </p:cNvPr>
          <p:cNvSpPr txBox="1"/>
          <p:nvPr/>
        </p:nvSpPr>
        <p:spPr>
          <a:xfrm>
            <a:off x="3400926" y="1682155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44A907-C684-C22E-8F20-2A6341967A8E}"/>
              </a:ext>
            </a:extLst>
          </p:cNvPr>
          <p:cNvSpPr txBox="1"/>
          <p:nvPr/>
        </p:nvSpPr>
        <p:spPr>
          <a:xfrm>
            <a:off x="3256547" y="2245092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C3C869-35A6-D465-CECE-73408F67BCE4}"/>
              </a:ext>
            </a:extLst>
          </p:cNvPr>
          <p:cNvSpPr txBox="1"/>
          <p:nvPr/>
        </p:nvSpPr>
        <p:spPr>
          <a:xfrm>
            <a:off x="5113980" y="3321474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32DFFB-38B8-181E-70C0-5F7C72C51C93}"/>
              </a:ext>
            </a:extLst>
          </p:cNvPr>
          <p:cNvSpPr txBox="1"/>
          <p:nvPr/>
        </p:nvSpPr>
        <p:spPr>
          <a:xfrm>
            <a:off x="5126010" y="3456394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2814D6-8524-EB51-C622-901F6D5CFE46}"/>
              </a:ext>
            </a:extLst>
          </p:cNvPr>
          <p:cNvSpPr txBox="1"/>
          <p:nvPr/>
        </p:nvSpPr>
        <p:spPr>
          <a:xfrm>
            <a:off x="5048084" y="3603247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EF4543B-0507-27C0-8C7F-0DF071DE71FD}"/>
              </a:ext>
            </a:extLst>
          </p:cNvPr>
          <p:cNvSpPr/>
          <p:nvPr/>
        </p:nvSpPr>
        <p:spPr>
          <a:xfrm>
            <a:off x="3256547" y="2209800"/>
            <a:ext cx="52137" cy="5568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1DB1150-294D-80F9-2F7E-5D0DC61ACA25}"/>
              </a:ext>
            </a:extLst>
          </p:cNvPr>
          <p:cNvSpPr/>
          <p:nvPr/>
        </p:nvSpPr>
        <p:spPr>
          <a:xfrm>
            <a:off x="3485156" y="1860881"/>
            <a:ext cx="52137" cy="5568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35A19A7-1BB0-DBE9-8386-8A2D92487656}"/>
              </a:ext>
            </a:extLst>
          </p:cNvPr>
          <p:cNvSpPr/>
          <p:nvPr/>
        </p:nvSpPr>
        <p:spPr>
          <a:xfrm>
            <a:off x="3400935" y="2406315"/>
            <a:ext cx="52137" cy="5568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4004078-5642-C26F-C0EF-C40691961CA3}"/>
              </a:ext>
            </a:extLst>
          </p:cNvPr>
          <p:cNvSpPr/>
          <p:nvPr/>
        </p:nvSpPr>
        <p:spPr>
          <a:xfrm>
            <a:off x="5128208" y="3424747"/>
            <a:ext cx="52137" cy="5568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CE359DD-FBD7-947E-09FF-6D7AAF8BEB92}"/>
              </a:ext>
            </a:extLst>
          </p:cNvPr>
          <p:cNvSpPr/>
          <p:nvPr/>
        </p:nvSpPr>
        <p:spPr>
          <a:xfrm>
            <a:off x="5147120" y="3553788"/>
            <a:ext cx="52137" cy="5568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86397C8-8D69-0C05-DAE2-954A937AAC3A}"/>
              </a:ext>
            </a:extLst>
          </p:cNvPr>
          <p:cNvSpPr/>
          <p:nvPr/>
        </p:nvSpPr>
        <p:spPr>
          <a:xfrm>
            <a:off x="5065920" y="3709525"/>
            <a:ext cx="52137" cy="5568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901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6E225-4195-1106-0E02-425DD7233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79F99-E358-C7CC-ADCC-8F5C11449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43C4F-A4B6-BCAF-90C1-CE704FC59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Assign each training review its “true value” (true score)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988D67-9386-8ACC-679B-C968CF4AB685}"/>
              </a:ext>
            </a:extLst>
          </p:cNvPr>
          <p:cNvCxnSpPr/>
          <p:nvPr/>
        </p:nvCxnSpPr>
        <p:spPr>
          <a:xfrm flipV="1">
            <a:off x="3031958" y="1767638"/>
            <a:ext cx="0" cy="2109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F2ED469-054A-AA9C-FEDE-A5391AADF84B}"/>
              </a:ext>
            </a:extLst>
          </p:cNvPr>
          <p:cNvCxnSpPr>
            <a:cxnSpLocks/>
          </p:cNvCxnSpPr>
          <p:nvPr/>
        </p:nvCxnSpPr>
        <p:spPr>
          <a:xfrm flipV="1">
            <a:off x="3023938" y="3877175"/>
            <a:ext cx="273517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D3144B9-702C-9978-C19E-52B909F916E3}"/>
              </a:ext>
            </a:extLst>
          </p:cNvPr>
          <p:cNvSpPr txBox="1"/>
          <p:nvPr/>
        </p:nvSpPr>
        <p:spPr>
          <a:xfrm>
            <a:off x="3140243" y="2034652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8C2DA6-ED85-20D0-1F1D-3BA4624FFD69}"/>
              </a:ext>
            </a:extLst>
          </p:cNvPr>
          <p:cNvSpPr txBox="1"/>
          <p:nvPr/>
        </p:nvSpPr>
        <p:spPr>
          <a:xfrm>
            <a:off x="3400926" y="1682155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D2092C-5C85-C55D-A846-26CD0DA154A6}"/>
              </a:ext>
            </a:extLst>
          </p:cNvPr>
          <p:cNvSpPr txBox="1"/>
          <p:nvPr/>
        </p:nvSpPr>
        <p:spPr>
          <a:xfrm>
            <a:off x="3256547" y="2245092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F8CE8C-D084-C51E-E904-D4E4EAA3162A}"/>
              </a:ext>
            </a:extLst>
          </p:cNvPr>
          <p:cNvSpPr txBox="1"/>
          <p:nvPr/>
        </p:nvSpPr>
        <p:spPr>
          <a:xfrm>
            <a:off x="5113980" y="3321474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344D0C-00C3-2FD1-9DEC-CA238A8F0629}"/>
              </a:ext>
            </a:extLst>
          </p:cNvPr>
          <p:cNvSpPr txBox="1"/>
          <p:nvPr/>
        </p:nvSpPr>
        <p:spPr>
          <a:xfrm>
            <a:off x="5126010" y="3456394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86F864-C16D-F6CB-CA99-6E6AA3A397A1}"/>
              </a:ext>
            </a:extLst>
          </p:cNvPr>
          <p:cNvSpPr txBox="1"/>
          <p:nvPr/>
        </p:nvSpPr>
        <p:spPr>
          <a:xfrm>
            <a:off x="5048084" y="3603247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42B0406-58CA-8D4B-2FE3-FF08855E53C0}"/>
              </a:ext>
            </a:extLst>
          </p:cNvPr>
          <p:cNvSpPr/>
          <p:nvPr/>
        </p:nvSpPr>
        <p:spPr>
          <a:xfrm>
            <a:off x="3256547" y="2209800"/>
            <a:ext cx="52137" cy="5568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AFFDD41-751A-889A-CB1B-778CF67CFC6B}"/>
              </a:ext>
            </a:extLst>
          </p:cNvPr>
          <p:cNvSpPr/>
          <p:nvPr/>
        </p:nvSpPr>
        <p:spPr>
          <a:xfrm>
            <a:off x="3485156" y="1860881"/>
            <a:ext cx="52137" cy="5568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87E916E-97A9-084B-2776-F8D52DED6696}"/>
              </a:ext>
            </a:extLst>
          </p:cNvPr>
          <p:cNvSpPr/>
          <p:nvPr/>
        </p:nvSpPr>
        <p:spPr>
          <a:xfrm>
            <a:off x="3400935" y="2406315"/>
            <a:ext cx="52137" cy="5568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E897C22-C1A3-8DFF-960B-8C541FAAFFC2}"/>
              </a:ext>
            </a:extLst>
          </p:cNvPr>
          <p:cNvSpPr/>
          <p:nvPr/>
        </p:nvSpPr>
        <p:spPr>
          <a:xfrm>
            <a:off x="5128208" y="3424747"/>
            <a:ext cx="52137" cy="5568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763541F-C190-79DA-91B6-5A1E769EBB0A}"/>
              </a:ext>
            </a:extLst>
          </p:cNvPr>
          <p:cNvSpPr/>
          <p:nvPr/>
        </p:nvSpPr>
        <p:spPr>
          <a:xfrm>
            <a:off x="5147120" y="3553788"/>
            <a:ext cx="52137" cy="5568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254A8A8-2757-89AF-B352-B7A16F3D51FE}"/>
              </a:ext>
            </a:extLst>
          </p:cNvPr>
          <p:cNvSpPr/>
          <p:nvPr/>
        </p:nvSpPr>
        <p:spPr>
          <a:xfrm>
            <a:off x="5065920" y="3709525"/>
            <a:ext cx="52137" cy="5568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58C6D1-76C1-803C-7870-8A8396634AB6}"/>
              </a:ext>
            </a:extLst>
          </p:cNvPr>
          <p:cNvCxnSpPr/>
          <p:nvPr/>
        </p:nvCxnSpPr>
        <p:spPr>
          <a:xfrm flipH="1">
            <a:off x="3793956" y="2093495"/>
            <a:ext cx="2614865" cy="116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F97B06C-7C05-8592-4706-B9EADDB236E5}"/>
              </a:ext>
            </a:extLst>
          </p:cNvPr>
          <p:cNvSpPr txBox="1"/>
          <p:nvPr/>
        </p:nvSpPr>
        <p:spPr>
          <a:xfrm>
            <a:off x="6400801" y="1864861"/>
            <a:ext cx="1900989" cy="523220"/>
          </a:xfrm>
          <a:prstGeom prst="rect">
            <a:avLst/>
          </a:prstGeom>
          <a:ln w="127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 this “cluster” be the 1-star class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C2B297E-6C7C-B6B8-D6EF-9553AF93860B}"/>
              </a:ext>
            </a:extLst>
          </p:cNvPr>
          <p:cNvCxnSpPr>
            <a:cxnSpLocks/>
          </p:cNvCxnSpPr>
          <p:nvPr/>
        </p:nvCxnSpPr>
        <p:spPr>
          <a:xfrm flipH="1">
            <a:off x="5430252" y="3584644"/>
            <a:ext cx="1090865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D01A2AF-35AE-5DBD-4898-A8E5AB7BD213}"/>
              </a:ext>
            </a:extLst>
          </p:cNvPr>
          <p:cNvSpPr txBox="1"/>
          <p:nvPr/>
        </p:nvSpPr>
        <p:spPr>
          <a:xfrm>
            <a:off x="6513097" y="3356010"/>
            <a:ext cx="1900989" cy="523220"/>
          </a:xfrm>
          <a:prstGeom prst="rect">
            <a:avLst/>
          </a:prstGeom>
          <a:ln w="12700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 this “cluster” be the 4-star class</a:t>
            </a:r>
          </a:p>
        </p:txBody>
      </p:sp>
    </p:spTree>
    <p:extLst>
      <p:ext uri="{BB962C8B-B14F-4D97-AF65-F5344CB8AC3E}">
        <p14:creationId xmlns:p14="http://schemas.microsoft.com/office/powerpoint/2010/main" val="30955796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20840-8742-F105-785F-B15B7B313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4119F-61D1-CFF1-ADD2-82744619D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E82B4-947A-97AD-D613-1509D53BB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Generate embeddings for the testing reviews (we’ll use one as an example)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86DF4A5-37C4-BD27-6944-3F6441B9139E}"/>
              </a:ext>
            </a:extLst>
          </p:cNvPr>
          <p:cNvCxnSpPr/>
          <p:nvPr/>
        </p:nvCxnSpPr>
        <p:spPr>
          <a:xfrm flipV="1">
            <a:off x="3031958" y="1767638"/>
            <a:ext cx="0" cy="2109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9A13B34-17DC-EEFA-327E-4028CAB4CD01}"/>
              </a:ext>
            </a:extLst>
          </p:cNvPr>
          <p:cNvCxnSpPr>
            <a:cxnSpLocks/>
          </p:cNvCxnSpPr>
          <p:nvPr/>
        </p:nvCxnSpPr>
        <p:spPr>
          <a:xfrm flipV="1">
            <a:off x="3023938" y="3877175"/>
            <a:ext cx="273517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BA54C4D-EC65-3970-83DA-8A46FCDF37B9}"/>
              </a:ext>
            </a:extLst>
          </p:cNvPr>
          <p:cNvSpPr txBox="1"/>
          <p:nvPr/>
        </p:nvSpPr>
        <p:spPr>
          <a:xfrm>
            <a:off x="3140243" y="2034652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57A954-1F42-97C9-A8AE-5A611E7098A9}"/>
              </a:ext>
            </a:extLst>
          </p:cNvPr>
          <p:cNvSpPr txBox="1"/>
          <p:nvPr/>
        </p:nvSpPr>
        <p:spPr>
          <a:xfrm>
            <a:off x="3400926" y="1682155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C5C551-208C-C656-FBE3-85FFD394E979}"/>
              </a:ext>
            </a:extLst>
          </p:cNvPr>
          <p:cNvSpPr txBox="1"/>
          <p:nvPr/>
        </p:nvSpPr>
        <p:spPr>
          <a:xfrm>
            <a:off x="3256547" y="2245092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0BC54A-CB22-9D54-BBD8-1F453F963AA0}"/>
              </a:ext>
            </a:extLst>
          </p:cNvPr>
          <p:cNvSpPr txBox="1"/>
          <p:nvPr/>
        </p:nvSpPr>
        <p:spPr>
          <a:xfrm>
            <a:off x="5113980" y="3321474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A5F765-39F2-D532-6A1D-EB29A28B0C24}"/>
              </a:ext>
            </a:extLst>
          </p:cNvPr>
          <p:cNvSpPr txBox="1"/>
          <p:nvPr/>
        </p:nvSpPr>
        <p:spPr>
          <a:xfrm>
            <a:off x="5126010" y="3456394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C10F55-81C2-5A80-2AE3-D5B83CAA6483}"/>
              </a:ext>
            </a:extLst>
          </p:cNvPr>
          <p:cNvSpPr txBox="1"/>
          <p:nvPr/>
        </p:nvSpPr>
        <p:spPr>
          <a:xfrm>
            <a:off x="5048084" y="3603247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9034628-6F99-7BFC-0405-ACDE32E3C16F}"/>
              </a:ext>
            </a:extLst>
          </p:cNvPr>
          <p:cNvSpPr/>
          <p:nvPr/>
        </p:nvSpPr>
        <p:spPr>
          <a:xfrm>
            <a:off x="3256547" y="2209800"/>
            <a:ext cx="52137" cy="5568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BED9B04-8997-EF8C-24D8-3BCE578EEF2E}"/>
              </a:ext>
            </a:extLst>
          </p:cNvPr>
          <p:cNvSpPr/>
          <p:nvPr/>
        </p:nvSpPr>
        <p:spPr>
          <a:xfrm>
            <a:off x="3485156" y="1860881"/>
            <a:ext cx="52137" cy="5568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400A0EC-D94E-4972-53B9-9EE3E8EEB993}"/>
              </a:ext>
            </a:extLst>
          </p:cNvPr>
          <p:cNvSpPr/>
          <p:nvPr/>
        </p:nvSpPr>
        <p:spPr>
          <a:xfrm>
            <a:off x="3400935" y="2406315"/>
            <a:ext cx="52137" cy="5568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C247CC7-818F-FDAE-E518-53A4F7AD6A96}"/>
              </a:ext>
            </a:extLst>
          </p:cNvPr>
          <p:cNvSpPr/>
          <p:nvPr/>
        </p:nvSpPr>
        <p:spPr>
          <a:xfrm>
            <a:off x="5128208" y="3424747"/>
            <a:ext cx="52137" cy="5568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81A07A4-32EB-5546-8757-8A54050E91D2}"/>
              </a:ext>
            </a:extLst>
          </p:cNvPr>
          <p:cNvSpPr/>
          <p:nvPr/>
        </p:nvSpPr>
        <p:spPr>
          <a:xfrm>
            <a:off x="5147120" y="3553788"/>
            <a:ext cx="52137" cy="5568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5825C8F-320B-20F9-0481-FA8D11B9CDE6}"/>
              </a:ext>
            </a:extLst>
          </p:cNvPr>
          <p:cNvSpPr/>
          <p:nvPr/>
        </p:nvSpPr>
        <p:spPr>
          <a:xfrm>
            <a:off x="5065920" y="3709525"/>
            <a:ext cx="52137" cy="5568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346E41D-A076-C4D9-E351-32DDD52AB9CF}"/>
              </a:ext>
            </a:extLst>
          </p:cNvPr>
          <p:cNvSpPr/>
          <p:nvPr/>
        </p:nvSpPr>
        <p:spPr>
          <a:xfrm>
            <a:off x="3300663" y="1860881"/>
            <a:ext cx="92242" cy="1122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78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9C794-9A10-DD33-62D4-8ABCE3955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19947-9153-4CD2-E3BA-389FA8B20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998C612-B173-9681-15E2-9848A1D42D2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1400" dirty="0"/>
                  <a:t>Run KNN using a cosine distance function (since we are using LSA embeddings). We’ll use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400" b="0" dirty="0"/>
                  <a:t> for the sake of this example</a:t>
                </a:r>
              </a:p>
              <a:p>
                <a:pPr marL="114300" indent="0">
                  <a:buNone/>
                </a:pPr>
                <a:endParaRPr lang="en-US" sz="14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998C612-B173-9681-15E2-9848A1D42D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D235E62-D757-8CEA-567A-6388E8005731}"/>
              </a:ext>
            </a:extLst>
          </p:cNvPr>
          <p:cNvCxnSpPr/>
          <p:nvPr/>
        </p:nvCxnSpPr>
        <p:spPr>
          <a:xfrm flipV="1">
            <a:off x="3031958" y="1767638"/>
            <a:ext cx="0" cy="2109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272678B-79A9-D882-64D7-4FF9ABFB2994}"/>
              </a:ext>
            </a:extLst>
          </p:cNvPr>
          <p:cNvCxnSpPr>
            <a:cxnSpLocks/>
          </p:cNvCxnSpPr>
          <p:nvPr/>
        </p:nvCxnSpPr>
        <p:spPr>
          <a:xfrm flipV="1">
            <a:off x="3023938" y="3877175"/>
            <a:ext cx="273517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9A443E7-3732-21B9-0210-02A7E1E87226}"/>
              </a:ext>
            </a:extLst>
          </p:cNvPr>
          <p:cNvSpPr txBox="1"/>
          <p:nvPr/>
        </p:nvSpPr>
        <p:spPr>
          <a:xfrm>
            <a:off x="3140243" y="2034652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D74C38-C64A-BDF0-0EAC-3DED132EEA27}"/>
              </a:ext>
            </a:extLst>
          </p:cNvPr>
          <p:cNvSpPr txBox="1"/>
          <p:nvPr/>
        </p:nvSpPr>
        <p:spPr>
          <a:xfrm>
            <a:off x="3400926" y="1682155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F75EBA-8117-DC34-4216-AB22336556AD}"/>
              </a:ext>
            </a:extLst>
          </p:cNvPr>
          <p:cNvSpPr txBox="1"/>
          <p:nvPr/>
        </p:nvSpPr>
        <p:spPr>
          <a:xfrm>
            <a:off x="3256547" y="2245092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BB5029-4178-F276-5FE0-9E822B878745}"/>
              </a:ext>
            </a:extLst>
          </p:cNvPr>
          <p:cNvSpPr txBox="1"/>
          <p:nvPr/>
        </p:nvSpPr>
        <p:spPr>
          <a:xfrm>
            <a:off x="5113980" y="3321474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83D9C1-F73D-17FB-C9B1-8CCC644C4987}"/>
              </a:ext>
            </a:extLst>
          </p:cNvPr>
          <p:cNvSpPr txBox="1"/>
          <p:nvPr/>
        </p:nvSpPr>
        <p:spPr>
          <a:xfrm>
            <a:off x="5126010" y="3456394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2E1922-C995-0B99-E65F-5E9296E720A4}"/>
              </a:ext>
            </a:extLst>
          </p:cNvPr>
          <p:cNvSpPr txBox="1"/>
          <p:nvPr/>
        </p:nvSpPr>
        <p:spPr>
          <a:xfrm>
            <a:off x="5048084" y="3603247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C457EF1-3777-D7C5-0086-290C2A5C1FEF}"/>
              </a:ext>
            </a:extLst>
          </p:cNvPr>
          <p:cNvSpPr/>
          <p:nvPr/>
        </p:nvSpPr>
        <p:spPr>
          <a:xfrm>
            <a:off x="3256547" y="2209800"/>
            <a:ext cx="52137" cy="5568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9664FB2-FE00-7381-468D-38D4272CEA85}"/>
              </a:ext>
            </a:extLst>
          </p:cNvPr>
          <p:cNvSpPr/>
          <p:nvPr/>
        </p:nvSpPr>
        <p:spPr>
          <a:xfrm>
            <a:off x="3485156" y="1860881"/>
            <a:ext cx="52137" cy="5568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299771E-4E68-F45A-E57F-96B803ACCBBF}"/>
              </a:ext>
            </a:extLst>
          </p:cNvPr>
          <p:cNvSpPr/>
          <p:nvPr/>
        </p:nvSpPr>
        <p:spPr>
          <a:xfrm>
            <a:off x="3400935" y="2406315"/>
            <a:ext cx="52137" cy="5568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8CCB2E4-DFF1-52ED-55D7-5C7822B16279}"/>
              </a:ext>
            </a:extLst>
          </p:cNvPr>
          <p:cNvSpPr/>
          <p:nvPr/>
        </p:nvSpPr>
        <p:spPr>
          <a:xfrm>
            <a:off x="5128208" y="3424747"/>
            <a:ext cx="52137" cy="5568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DA42DE1-8EF7-690C-9A20-40101DF7D530}"/>
              </a:ext>
            </a:extLst>
          </p:cNvPr>
          <p:cNvSpPr/>
          <p:nvPr/>
        </p:nvSpPr>
        <p:spPr>
          <a:xfrm>
            <a:off x="5147120" y="3553788"/>
            <a:ext cx="52137" cy="5568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CD74552-62C8-8C87-119B-47DF0CA8A6E2}"/>
              </a:ext>
            </a:extLst>
          </p:cNvPr>
          <p:cNvSpPr/>
          <p:nvPr/>
        </p:nvSpPr>
        <p:spPr>
          <a:xfrm>
            <a:off x="5065920" y="3709525"/>
            <a:ext cx="52137" cy="5568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63EAFC9-C5A6-8165-072C-3B8DF250DB2E}"/>
              </a:ext>
            </a:extLst>
          </p:cNvPr>
          <p:cNvSpPr/>
          <p:nvPr/>
        </p:nvSpPr>
        <p:spPr>
          <a:xfrm>
            <a:off x="3300663" y="1860881"/>
            <a:ext cx="92242" cy="1122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7584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D771E-47E8-14BD-F5C0-57750B456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70DCF-038F-B1AE-8BE5-47E6388C4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70766-7053-F822-D496-C8C251A96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Identify the two nearest neighbors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8319B1A-FA16-000B-6D68-257F4F9E2D4B}"/>
              </a:ext>
            </a:extLst>
          </p:cNvPr>
          <p:cNvCxnSpPr/>
          <p:nvPr/>
        </p:nvCxnSpPr>
        <p:spPr>
          <a:xfrm flipV="1">
            <a:off x="3031958" y="1767638"/>
            <a:ext cx="0" cy="2109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2F2DEA3-CEE9-2FAD-B2CA-B7C274BE3319}"/>
              </a:ext>
            </a:extLst>
          </p:cNvPr>
          <p:cNvCxnSpPr>
            <a:cxnSpLocks/>
          </p:cNvCxnSpPr>
          <p:nvPr/>
        </p:nvCxnSpPr>
        <p:spPr>
          <a:xfrm flipV="1">
            <a:off x="3023938" y="3877175"/>
            <a:ext cx="273517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970B41A-4C5A-8B7D-4DEE-BC904A0532D3}"/>
              </a:ext>
            </a:extLst>
          </p:cNvPr>
          <p:cNvSpPr txBox="1"/>
          <p:nvPr/>
        </p:nvSpPr>
        <p:spPr>
          <a:xfrm>
            <a:off x="3140243" y="2034652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106BF3-F699-5676-E02D-DAA2CAA04947}"/>
              </a:ext>
            </a:extLst>
          </p:cNvPr>
          <p:cNvSpPr txBox="1"/>
          <p:nvPr/>
        </p:nvSpPr>
        <p:spPr>
          <a:xfrm>
            <a:off x="3400926" y="1682155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B37B0E-5334-9919-BD27-8FA00C79ACAD}"/>
              </a:ext>
            </a:extLst>
          </p:cNvPr>
          <p:cNvSpPr txBox="1"/>
          <p:nvPr/>
        </p:nvSpPr>
        <p:spPr>
          <a:xfrm>
            <a:off x="3256547" y="2245092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C1FCA0-BBD5-707B-BE7F-B08937E02DDD}"/>
              </a:ext>
            </a:extLst>
          </p:cNvPr>
          <p:cNvSpPr txBox="1"/>
          <p:nvPr/>
        </p:nvSpPr>
        <p:spPr>
          <a:xfrm>
            <a:off x="5113980" y="3321474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0E7CF5-6C61-7558-F01F-8CE1FD8BE0A2}"/>
              </a:ext>
            </a:extLst>
          </p:cNvPr>
          <p:cNvSpPr txBox="1"/>
          <p:nvPr/>
        </p:nvSpPr>
        <p:spPr>
          <a:xfrm>
            <a:off x="5126010" y="3456394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AC1D1B-F9CC-3463-3DC7-8E2B57AA95C0}"/>
              </a:ext>
            </a:extLst>
          </p:cNvPr>
          <p:cNvSpPr txBox="1"/>
          <p:nvPr/>
        </p:nvSpPr>
        <p:spPr>
          <a:xfrm>
            <a:off x="5048084" y="3603247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6EB17DB-54C5-D9BD-6F59-3D0298B084B9}"/>
              </a:ext>
            </a:extLst>
          </p:cNvPr>
          <p:cNvSpPr/>
          <p:nvPr/>
        </p:nvSpPr>
        <p:spPr>
          <a:xfrm>
            <a:off x="3256547" y="2209800"/>
            <a:ext cx="52137" cy="5568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C0AD08-2542-F9B7-5434-108199DBEE8E}"/>
              </a:ext>
            </a:extLst>
          </p:cNvPr>
          <p:cNvSpPr/>
          <p:nvPr/>
        </p:nvSpPr>
        <p:spPr>
          <a:xfrm>
            <a:off x="3485156" y="1860881"/>
            <a:ext cx="52137" cy="5568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7717F8F-D004-5A07-AAE5-C233D62F7269}"/>
              </a:ext>
            </a:extLst>
          </p:cNvPr>
          <p:cNvSpPr/>
          <p:nvPr/>
        </p:nvSpPr>
        <p:spPr>
          <a:xfrm>
            <a:off x="3400935" y="2406315"/>
            <a:ext cx="52137" cy="5568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F72B8AB-2A73-F71D-2C8D-F8A5C598DB7F}"/>
              </a:ext>
            </a:extLst>
          </p:cNvPr>
          <p:cNvSpPr/>
          <p:nvPr/>
        </p:nvSpPr>
        <p:spPr>
          <a:xfrm>
            <a:off x="5128208" y="3424747"/>
            <a:ext cx="52137" cy="5568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49170DA-D591-5CEF-AB9C-DBD143E15E83}"/>
              </a:ext>
            </a:extLst>
          </p:cNvPr>
          <p:cNvSpPr/>
          <p:nvPr/>
        </p:nvSpPr>
        <p:spPr>
          <a:xfrm>
            <a:off x="5147120" y="3553788"/>
            <a:ext cx="52137" cy="5568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02163B4-E516-A768-486E-50DFD74A8B1B}"/>
              </a:ext>
            </a:extLst>
          </p:cNvPr>
          <p:cNvSpPr/>
          <p:nvPr/>
        </p:nvSpPr>
        <p:spPr>
          <a:xfrm>
            <a:off x="5065920" y="3709525"/>
            <a:ext cx="52137" cy="5568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A8F6CBB-67A3-2F31-796A-98FA8F869700}"/>
              </a:ext>
            </a:extLst>
          </p:cNvPr>
          <p:cNvSpPr/>
          <p:nvPr/>
        </p:nvSpPr>
        <p:spPr>
          <a:xfrm>
            <a:off x="3300663" y="1860881"/>
            <a:ext cx="92242" cy="1122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8B8FE1-5481-5924-C928-EE64CBC52EBE}"/>
              </a:ext>
            </a:extLst>
          </p:cNvPr>
          <p:cNvSpPr txBox="1"/>
          <p:nvPr/>
        </p:nvSpPr>
        <p:spPr>
          <a:xfrm>
            <a:off x="3200400" y="2073824"/>
            <a:ext cx="147141" cy="24758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174E8D-96E8-F159-0A72-448ABE251652}"/>
              </a:ext>
            </a:extLst>
          </p:cNvPr>
          <p:cNvSpPr txBox="1"/>
          <p:nvPr/>
        </p:nvSpPr>
        <p:spPr>
          <a:xfrm>
            <a:off x="3453072" y="1724291"/>
            <a:ext cx="147141" cy="24758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798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EA10B-9921-D8A9-D528-09A959106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9C5A1-F17D-452B-7039-C096C90A0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5DC7D-4F8A-00B5-F0AC-917617449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400" dirty="0"/>
              <a:t>Aggregate the labels of the 2 neighbors, and classify the testing point accordingly. We will use majority rules aggregation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7F2EE90-CB72-20DA-DB29-7E941D7CB630}"/>
              </a:ext>
            </a:extLst>
          </p:cNvPr>
          <p:cNvCxnSpPr/>
          <p:nvPr/>
        </p:nvCxnSpPr>
        <p:spPr>
          <a:xfrm flipV="1">
            <a:off x="3031958" y="1767638"/>
            <a:ext cx="0" cy="2109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1E2CDF3-AD90-B0DE-ECF6-212220853641}"/>
              </a:ext>
            </a:extLst>
          </p:cNvPr>
          <p:cNvCxnSpPr>
            <a:cxnSpLocks/>
          </p:cNvCxnSpPr>
          <p:nvPr/>
        </p:nvCxnSpPr>
        <p:spPr>
          <a:xfrm flipV="1">
            <a:off x="3023938" y="3877175"/>
            <a:ext cx="273517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CEA2B66-2D62-4112-8552-E8804D33C310}"/>
              </a:ext>
            </a:extLst>
          </p:cNvPr>
          <p:cNvSpPr txBox="1"/>
          <p:nvPr/>
        </p:nvSpPr>
        <p:spPr>
          <a:xfrm>
            <a:off x="3140243" y="2034652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3AC0DD-57F6-52E0-A4AC-D79FB86102B2}"/>
              </a:ext>
            </a:extLst>
          </p:cNvPr>
          <p:cNvSpPr txBox="1"/>
          <p:nvPr/>
        </p:nvSpPr>
        <p:spPr>
          <a:xfrm>
            <a:off x="3400926" y="1682155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6F1CB7-13C1-76FD-168F-96C3E293717D}"/>
              </a:ext>
            </a:extLst>
          </p:cNvPr>
          <p:cNvSpPr txBox="1"/>
          <p:nvPr/>
        </p:nvSpPr>
        <p:spPr>
          <a:xfrm>
            <a:off x="3256547" y="2245092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2E2651-3FC6-0EA4-5AD5-31B7496EDD0B}"/>
              </a:ext>
            </a:extLst>
          </p:cNvPr>
          <p:cNvSpPr txBox="1"/>
          <p:nvPr/>
        </p:nvSpPr>
        <p:spPr>
          <a:xfrm>
            <a:off x="5113980" y="3321474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F6D55E-494E-A384-819B-03F4DF88256A}"/>
              </a:ext>
            </a:extLst>
          </p:cNvPr>
          <p:cNvSpPr txBox="1"/>
          <p:nvPr/>
        </p:nvSpPr>
        <p:spPr>
          <a:xfrm>
            <a:off x="5126010" y="3456394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A02DAD-53C0-80D2-0716-D833CCDFD1D5}"/>
              </a:ext>
            </a:extLst>
          </p:cNvPr>
          <p:cNvSpPr txBox="1"/>
          <p:nvPr/>
        </p:nvSpPr>
        <p:spPr>
          <a:xfrm>
            <a:off x="5048084" y="3603247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8B9A3A2-FDB8-36AF-21F1-D381D200E9F9}"/>
              </a:ext>
            </a:extLst>
          </p:cNvPr>
          <p:cNvSpPr/>
          <p:nvPr/>
        </p:nvSpPr>
        <p:spPr>
          <a:xfrm>
            <a:off x="3256547" y="2209800"/>
            <a:ext cx="52137" cy="5568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24DB0FD-910F-B359-18C4-E3A4B9181711}"/>
              </a:ext>
            </a:extLst>
          </p:cNvPr>
          <p:cNvSpPr/>
          <p:nvPr/>
        </p:nvSpPr>
        <p:spPr>
          <a:xfrm>
            <a:off x="3485156" y="1860881"/>
            <a:ext cx="52137" cy="5568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4D760E1-62C1-DA0B-ABAA-F471285B749C}"/>
              </a:ext>
            </a:extLst>
          </p:cNvPr>
          <p:cNvSpPr/>
          <p:nvPr/>
        </p:nvSpPr>
        <p:spPr>
          <a:xfrm>
            <a:off x="3400935" y="2406315"/>
            <a:ext cx="52137" cy="5568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AF69BBB-72D7-D5D7-95BD-9C6A45F58D42}"/>
              </a:ext>
            </a:extLst>
          </p:cNvPr>
          <p:cNvSpPr/>
          <p:nvPr/>
        </p:nvSpPr>
        <p:spPr>
          <a:xfrm>
            <a:off x="5128208" y="3424747"/>
            <a:ext cx="52137" cy="5568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E5DFA4B-DFE1-E6FC-BD42-37525F8B9662}"/>
              </a:ext>
            </a:extLst>
          </p:cNvPr>
          <p:cNvSpPr/>
          <p:nvPr/>
        </p:nvSpPr>
        <p:spPr>
          <a:xfrm>
            <a:off x="5147120" y="3553788"/>
            <a:ext cx="52137" cy="5568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612E578-3F88-9711-DAE1-01DA06894B69}"/>
              </a:ext>
            </a:extLst>
          </p:cNvPr>
          <p:cNvSpPr/>
          <p:nvPr/>
        </p:nvSpPr>
        <p:spPr>
          <a:xfrm>
            <a:off x="5065920" y="3709525"/>
            <a:ext cx="52137" cy="5568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84F28DF-3791-D037-332B-C9449CC8A90E}"/>
              </a:ext>
            </a:extLst>
          </p:cNvPr>
          <p:cNvSpPr/>
          <p:nvPr/>
        </p:nvSpPr>
        <p:spPr>
          <a:xfrm>
            <a:off x="3300663" y="1860881"/>
            <a:ext cx="92242" cy="1122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C41156-7E24-9F73-80D4-0B57F1C2E7E9}"/>
              </a:ext>
            </a:extLst>
          </p:cNvPr>
          <p:cNvSpPr txBox="1"/>
          <p:nvPr/>
        </p:nvSpPr>
        <p:spPr>
          <a:xfrm>
            <a:off x="3200400" y="2073824"/>
            <a:ext cx="147141" cy="24758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6EC0D6-F4F1-626A-960A-94FDACB04C97}"/>
              </a:ext>
            </a:extLst>
          </p:cNvPr>
          <p:cNvSpPr txBox="1"/>
          <p:nvPr/>
        </p:nvSpPr>
        <p:spPr>
          <a:xfrm>
            <a:off x="3453072" y="1724291"/>
            <a:ext cx="147141" cy="24758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190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7DCF9-2AD6-712E-9DFD-6E510F0F5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63ADA-E050-6E3C-0C52-393546AC1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15E4-1F54-443E-8CA9-39DB6DED4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400" dirty="0"/>
              <a:t>Aggregate the labels of the 2 neighbors, and classify the testing point accordingly. We will use majority rules aggregation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C11BA60-1B86-AD76-7A2A-497AA77449E3}"/>
              </a:ext>
            </a:extLst>
          </p:cNvPr>
          <p:cNvCxnSpPr/>
          <p:nvPr/>
        </p:nvCxnSpPr>
        <p:spPr>
          <a:xfrm flipV="1">
            <a:off x="3031958" y="1767638"/>
            <a:ext cx="0" cy="2109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F8AA0D2-E4A4-706C-6944-83C507ACF9CF}"/>
              </a:ext>
            </a:extLst>
          </p:cNvPr>
          <p:cNvCxnSpPr>
            <a:cxnSpLocks/>
          </p:cNvCxnSpPr>
          <p:nvPr/>
        </p:nvCxnSpPr>
        <p:spPr>
          <a:xfrm flipV="1">
            <a:off x="3023938" y="3877175"/>
            <a:ext cx="273517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C513EB3-D13E-FBDC-66CF-7D2A232256F2}"/>
              </a:ext>
            </a:extLst>
          </p:cNvPr>
          <p:cNvSpPr txBox="1"/>
          <p:nvPr/>
        </p:nvSpPr>
        <p:spPr>
          <a:xfrm>
            <a:off x="3140243" y="2034652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BEE4B5-02D8-80D6-ADDD-BE3876297921}"/>
              </a:ext>
            </a:extLst>
          </p:cNvPr>
          <p:cNvSpPr txBox="1"/>
          <p:nvPr/>
        </p:nvSpPr>
        <p:spPr>
          <a:xfrm>
            <a:off x="3400926" y="1682155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69A9DA-B0D9-EA4D-AE31-ECD15C0D4E6A}"/>
              </a:ext>
            </a:extLst>
          </p:cNvPr>
          <p:cNvSpPr txBox="1"/>
          <p:nvPr/>
        </p:nvSpPr>
        <p:spPr>
          <a:xfrm>
            <a:off x="3256547" y="2245092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404FFD-E877-CB2F-5B38-1F74E5A6D1CA}"/>
              </a:ext>
            </a:extLst>
          </p:cNvPr>
          <p:cNvSpPr txBox="1"/>
          <p:nvPr/>
        </p:nvSpPr>
        <p:spPr>
          <a:xfrm>
            <a:off x="5113980" y="3321474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AB5DDA-BE19-F9FD-1EF1-C8F6E6381044}"/>
              </a:ext>
            </a:extLst>
          </p:cNvPr>
          <p:cNvSpPr txBox="1"/>
          <p:nvPr/>
        </p:nvSpPr>
        <p:spPr>
          <a:xfrm>
            <a:off x="5126010" y="3456394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1B5C03-39C5-FF8F-2EF8-0D2827E85C96}"/>
              </a:ext>
            </a:extLst>
          </p:cNvPr>
          <p:cNvSpPr txBox="1"/>
          <p:nvPr/>
        </p:nvSpPr>
        <p:spPr>
          <a:xfrm>
            <a:off x="5048084" y="3603247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9E2BC5B-C2BB-AB76-F2FB-3F095B5E1463}"/>
              </a:ext>
            </a:extLst>
          </p:cNvPr>
          <p:cNvSpPr/>
          <p:nvPr/>
        </p:nvSpPr>
        <p:spPr>
          <a:xfrm>
            <a:off x="3256547" y="2209800"/>
            <a:ext cx="52137" cy="5568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D963D34-35EE-8D52-1643-3AA3E7704D4D}"/>
              </a:ext>
            </a:extLst>
          </p:cNvPr>
          <p:cNvSpPr/>
          <p:nvPr/>
        </p:nvSpPr>
        <p:spPr>
          <a:xfrm>
            <a:off x="3485156" y="1860881"/>
            <a:ext cx="52137" cy="5568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C203AB6-AE0D-AA6E-C6AE-F2035FFEA485}"/>
              </a:ext>
            </a:extLst>
          </p:cNvPr>
          <p:cNvSpPr/>
          <p:nvPr/>
        </p:nvSpPr>
        <p:spPr>
          <a:xfrm>
            <a:off x="3400935" y="2406315"/>
            <a:ext cx="52137" cy="5568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C121678-4FEC-0DFF-1853-53814934ADA0}"/>
              </a:ext>
            </a:extLst>
          </p:cNvPr>
          <p:cNvSpPr/>
          <p:nvPr/>
        </p:nvSpPr>
        <p:spPr>
          <a:xfrm>
            <a:off x="5128208" y="3424747"/>
            <a:ext cx="52137" cy="5568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157C01D-157D-AFD2-7CF3-531FBF76D9EB}"/>
              </a:ext>
            </a:extLst>
          </p:cNvPr>
          <p:cNvSpPr/>
          <p:nvPr/>
        </p:nvSpPr>
        <p:spPr>
          <a:xfrm>
            <a:off x="5147120" y="3553788"/>
            <a:ext cx="52137" cy="5568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56BC053-8DE9-641C-D3A1-8E72067CB921}"/>
              </a:ext>
            </a:extLst>
          </p:cNvPr>
          <p:cNvSpPr/>
          <p:nvPr/>
        </p:nvSpPr>
        <p:spPr>
          <a:xfrm>
            <a:off x="5065920" y="3709525"/>
            <a:ext cx="52137" cy="5568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09A53D4-DAD8-DB10-A66C-39E40CE14BA8}"/>
              </a:ext>
            </a:extLst>
          </p:cNvPr>
          <p:cNvSpPr/>
          <p:nvPr/>
        </p:nvSpPr>
        <p:spPr>
          <a:xfrm>
            <a:off x="3300663" y="1860881"/>
            <a:ext cx="92242" cy="11229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271D23-1EB7-823B-3304-5CACDAD55F2D}"/>
              </a:ext>
            </a:extLst>
          </p:cNvPr>
          <p:cNvSpPr txBox="1"/>
          <p:nvPr/>
        </p:nvSpPr>
        <p:spPr>
          <a:xfrm>
            <a:off x="3216451" y="1669975"/>
            <a:ext cx="5374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333773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CDFA9-B690-1222-192F-5FD49A33E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218050"/>
            <a:ext cx="8520600" cy="707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Naïve Bayes</a:t>
            </a:r>
          </a:p>
        </p:txBody>
      </p:sp>
    </p:spTree>
    <p:extLst>
      <p:ext uri="{BB962C8B-B14F-4D97-AF65-F5344CB8AC3E}">
        <p14:creationId xmlns:p14="http://schemas.microsoft.com/office/powerpoint/2010/main" val="24321382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1E9B-DA0B-601C-0A4B-5D968AA19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Naïve Bayes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32C13F6-FAEA-B134-9392-F58E39311B0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Given features 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Predict the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b="0" dirty="0"/>
                  <a:t> that maximizes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32C13F6-FAEA-B134-9392-F58E39311B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71898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D505F-9A1D-5C4D-8F72-8516C4A9F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79129-B2F0-B139-138A-7A003EAA5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Naïve Bayes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74CB5DC-5298-00AE-6894-B5F1AD16C25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Example: binary class {yes, no}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>
                  <a:buAutoNum type="arabicPeriod"/>
                </a:pPr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</m:oMath>
                </a14:m>
                <a:endParaRPr lang="en-US" b="0" dirty="0"/>
              </a:p>
              <a:p>
                <a:pPr>
                  <a:buAutoNum type="arabicPeriod"/>
                </a:pPr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</m:oMath>
                </a14:m>
                <a:endParaRPr lang="en-US" b="0" dirty="0"/>
              </a:p>
              <a:p>
                <a:pPr>
                  <a:buAutoNum type="arabicPeriod"/>
                </a:pPr>
                <a:r>
                  <a:rPr lang="en-US" dirty="0"/>
                  <a:t>Compare then predict the class with the highest conditional probability</a:t>
                </a:r>
                <a:endParaRPr lang="en-US" b="0" dirty="0"/>
              </a:p>
              <a:p>
                <a:pPr>
                  <a:buAutoNum type="arabicPeriod"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74CB5DC-5298-00AE-6894-B5F1AD16C2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28352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35B59-A39B-3C76-7051-5AAE53B79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3FA65-FD83-C25A-2D2E-C207EFA36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Naïve Bayes: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ACBAA2B-ADB9-D007-DEFE-0780AC78E5D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Note: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ACBAA2B-ADB9-D007-DEFE-0780AC78E5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59627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7E5E8-BB72-F63F-34F5-667017286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64971-F529-BD15-0B55-AB04E9B2F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Naïve Bayes: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52FCB5E-A68A-EF1B-B857-7391D470544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Note: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To estimate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we assume independence of features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52FCB5E-A68A-EF1B-B857-7391D47054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59110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22BDA-6DB1-986E-0DE6-089487440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832DD-5754-3EBD-8B6E-AADA49D27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Naïve Bayes: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58AB00-22A4-077F-9050-B26DC0E62E9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Note: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To estimate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we assume independence of features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Then, 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×…×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58AB00-22A4-077F-9050-B26DC0E62E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0483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8140B-42DC-93DA-5364-0DDB5BD17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17B13-77DB-5657-FF71-A84B52BD0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Naïve Bayes: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0925446-BCFE-96D4-7242-E3E1B93F736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648575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Note: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To estimate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we assume independence of features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Then, 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×…×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We can retri</a:t>
                </a:r>
                <a:r>
                  <a:rPr lang="en-US" dirty="0"/>
                  <a:t>eve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b="0" dirty="0"/>
                  <a:t> by observing how many times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b="0" dirty="0"/>
                  <a:t> occurs in the set of data points belonging to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0925446-BCFE-96D4-7242-E3E1B93F73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6485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46638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9E232-B950-8641-38A5-7719F58E7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Naïve Bayes for movie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A24E0-7EEA-0F5E-A0E7-9E48C64EB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Here is a potential high-level pipeline for using Naïve Bayes to classify movie reviews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9441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31403-6308-50C9-706C-88B9EC8C8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84638-4ADC-04B5-0149-5BEA8D439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Naïve Bayes for movie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EEC50-BAAB-87A4-5F66-2D576D9F4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Here is a potential high-level pipeline for using Naïve Bayes to classify movie reviews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document-term matrix using </a:t>
            </a:r>
            <a:r>
              <a:rPr lang="en-US" dirty="0" err="1"/>
              <a:t>Tfidf</a:t>
            </a:r>
            <a:r>
              <a:rPr lang="en-US" dirty="0"/>
              <a:t> on review text</a:t>
            </a:r>
          </a:p>
        </p:txBody>
      </p:sp>
    </p:spTree>
    <p:extLst>
      <p:ext uri="{BB962C8B-B14F-4D97-AF65-F5344CB8AC3E}">
        <p14:creationId xmlns:p14="http://schemas.microsoft.com/office/powerpoint/2010/main" val="25972404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1E11C-29FD-EE2C-9D4C-D41F48E03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D21EF-8077-4F73-BA46-2A7EBD8C8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Naïve Bayes for movie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383640-4F30-92CA-F16A-74F64E8C2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Here is a potential high-level pipeline for using Naïve Bayes to classify movie reviews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document-term matrix using </a:t>
            </a:r>
            <a:r>
              <a:rPr lang="en-US" dirty="0" err="1"/>
              <a:t>Tfidf</a:t>
            </a:r>
            <a:r>
              <a:rPr lang="en-US" dirty="0"/>
              <a:t> on review text</a:t>
            </a:r>
          </a:p>
          <a:p>
            <a:pPr lvl="1"/>
            <a:r>
              <a:rPr lang="en-US" dirty="0"/>
              <a:t>Part of this step is parameterizing </a:t>
            </a:r>
            <a:r>
              <a:rPr lang="en-US" dirty="0" err="1"/>
              <a:t>Tfidf</a:t>
            </a:r>
            <a:r>
              <a:rPr lang="en-US" dirty="0"/>
              <a:t> (stop words, </a:t>
            </a:r>
            <a:r>
              <a:rPr lang="en-US" dirty="0" err="1"/>
              <a:t>n_grams</a:t>
            </a:r>
            <a:r>
              <a:rPr lang="en-US" dirty="0"/>
              <a:t>, </a:t>
            </a:r>
            <a:r>
              <a:rPr lang="en-US" dirty="0" err="1"/>
              <a:t>min_df</a:t>
            </a:r>
            <a:r>
              <a:rPr lang="en-US" dirty="0"/>
              <a:t>, </a:t>
            </a:r>
            <a:r>
              <a:rPr lang="en-US" dirty="0" err="1"/>
              <a:t>max_df</a:t>
            </a:r>
            <a:r>
              <a:rPr lang="en-US" dirty="0"/>
              <a:t>, etc.)</a:t>
            </a:r>
          </a:p>
          <a:p>
            <a:pPr lvl="1"/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6514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AE51B-BC6C-6A55-3A77-15F08B07D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12AB5-8DBA-8685-562C-305E91D1A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Naïve Bayes for movie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0C4CC-43BA-4BAC-6741-98F57DD4D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Here is a potential high-level pipeline for using Naïve Bayes to classify movie reviews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document-term matrix using </a:t>
            </a:r>
            <a:r>
              <a:rPr lang="en-US" dirty="0" err="1"/>
              <a:t>Tfidf</a:t>
            </a:r>
            <a:r>
              <a:rPr lang="en-US" dirty="0"/>
              <a:t> on review text</a:t>
            </a:r>
          </a:p>
          <a:p>
            <a:pPr lvl="1"/>
            <a:r>
              <a:rPr lang="en-US" dirty="0"/>
              <a:t>Part of this step is parameterizing </a:t>
            </a:r>
            <a:r>
              <a:rPr lang="en-US" dirty="0" err="1"/>
              <a:t>Tfidf</a:t>
            </a:r>
            <a:r>
              <a:rPr lang="en-US" dirty="0"/>
              <a:t> (stop words, </a:t>
            </a:r>
            <a:r>
              <a:rPr lang="en-US" dirty="0" err="1"/>
              <a:t>n_grams</a:t>
            </a:r>
            <a:r>
              <a:rPr lang="en-US" dirty="0"/>
              <a:t>, </a:t>
            </a:r>
            <a:r>
              <a:rPr lang="en-US" dirty="0" err="1"/>
              <a:t>min_df</a:t>
            </a:r>
            <a:r>
              <a:rPr lang="en-US" dirty="0"/>
              <a:t>, </a:t>
            </a:r>
            <a:r>
              <a:rPr lang="en-US" dirty="0" err="1"/>
              <a:t>max_df</a:t>
            </a:r>
            <a:r>
              <a:rPr lang="en-US" dirty="0"/>
              <a:t>, etc.)</a:t>
            </a:r>
          </a:p>
          <a:p>
            <a:pPr lvl="1"/>
            <a:r>
              <a:rPr lang="en-US" dirty="0"/>
              <a:t>You can also include the summary in </a:t>
            </a:r>
            <a:r>
              <a:rPr lang="en-US" dirty="0" err="1"/>
              <a:t>Tfidf</a:t>
            </a:r>
            <a:r>
              <a:rPr lang="en-US" dirty="0"/>
              <a:t> by converting each document to: summary + “ “ + body</a:t>
            </a:r>
          </a:p>
          <a:p>
            <a:pPr lvl="1"/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3635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55553-99DB-4F83-E501-84C3CC43D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82B8B-C275-C72F-3AF9-C029515C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Naïve Bayes for movie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8828F-1D8A-66C7-9D99-B99C6E386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Here is a potential high-level pipeline for using Naïve Bayes to classify movie reviews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document-term matrix using </a:t>
            </a:r>
            <a:r>
              <a:rPr lang="en-US" dirty="0" err="1"/>
              <a:t>Tfidf</a:t>
            </a:r>
            <a:r>
              <a:rPr lang="en-US" dirty="0"/>
              <a:t> on review text</a:t>
            </a:r>
          </a:p>
          <a:p>
            <a:pPr lvl="1"/>
            <a:r>
              <a:rPr lang="en-US" dirty="0"/>
              <a:t>Part of this step is parameterizing </a:t>
            </a:r>
            <a:r>
              <a:rPr lang="en-US" dirty="0" err="1"/>
              <a:t>Tfidf</a:t>
            </a:r>
            <a:r>
              <a:rPr lang="en-US" dirty="0"/>
              <a:t> (stop words, </a:t>
            </a:r>
            <a:r>
              <a:rPr lang="en-US" dirty="0" err="1"/>
              <a:t>n_grams</a:t>
            </a:r>
            <a:r>
              <a:rPr lang="en-US" dirty="0"/>
              <a:t>, </a:t>
            </a:r>
            <a:r>
              <a:rPr lang="en-US" dirty="0" err="1"/>
              <a:t>min_df</a:t>
            </a:r>
            <a:r>
              <a:rPr lang="en-US" dirty="0"/>
              <a:t>, </a:t>
            </a:r>
            <a:r>
              <a:rPr lang="en-US" dirty="0" err="1"/>
              <a:t>max_df</a:t>
            </a:r>
            <a:r>
              <a:rPr lang="en-US" dirty="0"/>
              <a:t>, etc.)</a:t>
            </a:r>
          </a:p>
          <a:p>
            <a:pPr lvl="1"/>
            <a:r>
              <a:rPr lang="en-US" dirty="0"/>
              <a:t>You can also include the summary in </a:t>
            </a:r>
            <a:r>
              <a:rPr lang="en-US" dirty="0" err="1"/>
              <a:t>Tfidf</a:t>
            </a:r>
            <a:r>
              <a:rPr lang="en-US" dirty="0"/>
              <a:t> by converting each document to: summary + “ “ + body</a:t>
            </a:r>
          </a:p>
          <a:p>
            <a:pPr lvl="1"/>
            <a:r>
              <a:rPr lang="en-US" dirty="0"/>
              <a:t>If you think the summary is particularly important, you can even do something like this: summary + “ “ + body + “ “ + summary</a:t>
            </a:r>
          </a:p>
          <a:p>
            <a:pPr lvl="1"/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4216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B8DEE-D576-1EA8-F0F4-EB4114E51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21E3A-D521-016E-6538-E4689B417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Naïve Bayes for movie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037CE-24DD-ECA2-83F7-4F8215308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Here is a potential high-level pipeline for using Naïve Bayes to classify movie reviews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document-term matrix using </a:t>
            </a:r>
            <a:r>
              <a:rPr lang="en-US" dirty="0" err="1"/>
              <a:t>Tfidf</a:t>
            </a:r>
            <a:r>
              <a:rPr lang="en-US" dirty="0"/>
              <a:t> on review text</a:t>
            </a:r>
          </a:p>
          <a:p>
            <a:pPr>
              <a:buFont typeface="+mj-lt"/>
              <a:buAutoNum type="arabicPeriod"/>
            </a:pPr>
            <a:r>
              <a:rPr lang="en-US" dirty="0"/>
              <a:t>Split the data into a training set, testing set, and validation set.</a:t>
            </a:r>
          </a:p>
        </p:txBody>
      </p:sp>
    </p:spTree>
    <p:extLst>
      <p:ext uri="{BB962C8B-B14F-4D97-AF65-F5344CB8AC3E}">
        <p14:creationId xmlns:p14="http://schemas.microsoft.com/office/powerpoint/2010/main" val="10069782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826DA-8A66-47FC-D630-BC3A1014D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3EE35-9654-80EC-BFA9-D966C241A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Naïve Bayes for movie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56B542-B0A7-C231-596C-A8C2BBF70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Here is a potential high-level pipeline for using Naïve Bayes to classify movie reviews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document-term matrix using </a:t>
            </a:r>
            <a:r>
              <a:rPr lang="en-US" dirty="0" err="1"/>
              <a:t>Tfidf</a:t>
            </a:r>
            <a:r>
              <a:rPr lang="en-US" dirty="0"/>
              <a:t> on review text</a:t>
            </a:r>
          </a:p>
          <a:p>
            <a:pPr>
              <a:buFont typeface="+mj-lt"/>
              <a:buAutoNum type="arabicPeriod"/>
            </a:pPr>
            <a:r>
              <a:rPr lang="en-US" dirty="0"/>
              <a:t>Split the data into a training set, testing set, and validation set.</a:t>
            </a:r>
          </a:p>
          <a:p>
            <a:pPr>
              <a:buFont typeface="+mj-lt"/>
              <a:buAutoNum type="arabicPeriod"/>
            </a:pPr>
            <a:r>
              <a:rPr lang="en-US" dirty="0"/>
              <a:t>Train Multinomial Naïve Bayes on the document-term matrix</a:t>
            </a:r>
          </a:p>
        </p:txBody>
      </p:sp>
    </p:spTree>
    <p:extLst>
      <p:ext uri="{BB962C8B-B14F-4D97-AF65-F5344CB8AC3E}">
        <p14:creationId xmlns:p14="http://schemas.microsoft.com/office/powerpoint/2010/main" val="9737139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545E0-0628-E7D7-AA22-180A57CBB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86707-E6AD-0AEF-D100-71106E695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Naïve Bayes for movie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1B3F0-BD00-8678-2F6B-C7DF6F2D92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Here is a potential high-level pipeline for using Naïve Bayes to classify movie reviews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document-term matrix using </a:t>
            </a:r>
            <a:r>
              <a:rPr lang="en-US" dirty="0" err="1"/>
              <a:t>Tfidf</a:t>
            </a:r>
            <a:r>
              <a:rPr lang="en-US" dirty="0"/>
              <a:t> on review text</a:t>
            </a:r>
          </a:p>
          <a:p>
            <a:pPr>
              <a:buFont typeface="+mj-lt"/>
              <a:buAutoNum type="arabicPeriod"/>
            </a:pPr>
            <a:r>
              <a:rPr lang="en-US" dirty="0"/>
              <a:t>Split the data into a training set, testing set, and validation set.</a:t>
            </a:r>
          </a:p>
          <a:p>
            <a:pPr>
              <a:buFont typeface="+mj-lt"/>
              <a:buAutoNum type="arabicPeriod"/>
            </a:pPr>
            <a:r>
              <a:rPr lang="en-US" dirty="0"/>
              <a:t>Train Multinomial Naïve Bayes on the document-term matrix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Multinomial allows us to account for the frequency of sentimental words (i.e., words we associate with positivity, negativity, neutrality, etc.)</a:t>
            </a:r>
          </a:p>
        </p:txBody>
      </p:sp>
    </p:spTree>
    <p:extLst>
      <p:ext uri="{BB962C8B-B14F-4D97-AF65-F5344CB8AC3E}">
        <p14:creationId xmlns:p14="http://schemas.microsoft.com/office/powerpoint/2010/main" val="258460488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8023F-C064-B634-4796-F55691879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DDDCF-8AC5-F9C4-6B81-8D00E91E5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Naïve Bayes for movie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D8ED9-4783-DA0B-684D-FCF86E5AD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Here is a potential high-level pipeline for using Naïve Bayes to classify movie reviews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document-term matrix using </a:t>
            </a:r>
            <a:r>
              <a:rPr lang="en-US" dirty="0" err="1"/>
              <a:t>Tfidf</a:t>
            </a:r>
            <a:r>
              <a:rPr lang="en-US" dirty="0"/>
              <a:t> on review text</a:t>
            </a:r>
          </a:p>
          <a:p>
            <a:pPr>
              <a:buFont typeface="+mj-lt"/>
              <a:buAutoNum type="arabicPeriod"/>
            </a:pPr>
            <a:r>
              <a:rPr lang="en-US" dirty="0"/>
              <a:t>Split the data into a training set, testing set, and validation set.</a:t>
            </a:r>
          </a:p>
          <a:p>
            <a:pPr>
              <a:buFont typeface="+mj-lt"/>
              <a:buAutoNum type="arabicPeriod"/>
            </a:pPr>
            <a:r>
              <a:rPr lang="en-US" dirty="0"/>
              <a:t>Train Multinomial Naïve Bayes on the document-term matrix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Multinomial allows us to account for the frequency of sentimental words (i.e., words we associate with positivity, negativity, neutrality, etc.)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If we used Bernoulli NB, we would only be accounting for whether a given word occurs or not.</a:t>
            </a:r>
          </a:p>
        </p:txBody>
      </p:sp>
    </p:spTree>
    <p:extLst>
      <p:ext uri="{BB962C8B-B14F-4D97-AF65-F5344CB8AC3E}">
        <p14:creationId xmlns:p14="http://schemas.microsoft.com/office/powerpoint/2010/main" val="292949106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796CF-F493-8A01-26F7-035C54C6E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C5346-6AB8-D142-5254-FE41B6ECD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Naïve Bayes for movie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0697D-53DF-17C0-0335-8D9064192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Here is a potential high-level pipeline for using Naïve Bayes to classify movie reviews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document-term matrix using </a:t>
            </a:r>
            <a:r>
              <a:rPr lang="en-US" dirty="0" err="1"/>
              <a:t>Tfidf</a:t>
            </a:r>
            <a:r>
              <a:rPr lang="en-US" dirty="0"/>
              <a:t> on review text</a:t>
            </a:r>
          </a:p>
          <a:p>
            <a:pPr>
              <a:buFont typeface="+mj-lt"/>
              <a:buAutoNum type="arabicPeriod"/>
            </a:pPr>
            <a:r>
              <a:rPr lang="en-US" dirty="0"/>
              <a:t>Split the data into a training set, testing set, and validation set.</a:t>
            </a:r>
          </a:p>
          <a:p>
            <a:pPr>
              <a:buFont typeface="+mj-lt"/>
              <a:buAutoNum type="arabicPeriod"/>
            </a:pPr>
            <a:r>
              <a:rPr lang="en-US" dirty="0"/>
              <a:t>Train Multinomial Naïve Bayes on the document-term matrix </a:t>
            </a:r>
          </a:p>
          <a:p>
            <a:pPr>
              <a:buFont typeface="+mj-lt"/>
              <a:buAutoNum type="arabicPeriod"/>
            </a:pPr>
            <a:r>
              <a:rPr lang="en-US" dirty="0"/>
              <a:t>Predict on validation or test reviews</a:t>
            </a:r>
          </a:p>
        </p:txBody>
      </p:sp>
    </p:spTree>
    <p:extLst>
      <p:ext uri="{BB962C8B-B14F-4D97-AF65-F5344CB8AC3E}">
        <p14:creationId xmlns:p14="http://schemas.microsoft.com/office/powerpoint/2010/main" val="426407448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5E3FE-71EF-1352-9284-2EF333626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F5D91-8B3F-EF64-7A4C-46DDA1F6C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Naïve Bayes for movie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69F80-DC60-5789-4BD1-EE97F668F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Here is a potential high-level pipeline for using Naïve Bayes to classify movie reviews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document-term matrix using </a:t>
            </a:r>
            <a:r>
              <a:rPr lang="en-US" dirty="0" err="1"/>
              <a:t>Tfidf</a:t>
            </a:r>
            <a:r>
              <a:rPr lang="en-US" dirty="0"/>
              <a:t> on review text</a:t>
            </a:r>
          </a:p>
          <a:p>
            <a:pPr>
              <a:buFont typeface="+mj-lt"/>
              <a:buAutoNum type="arabicPeriod"/>
            </a:pPr>
            <a:r>
              <a:rPr lang="en-US" dirty="0"/>
              <a:t>Split the data into a training set, testing set, and validation set.</a:t>
            </a:r>
          </a:p>
          <a:p>
            <a:pPr>
              <a:buFont typeface="+mj-lt"/>
              <a:buAutoNum type="arabicPeriod"/>
            </a:pPr>
            <a:r>
              <a:rPr lang="en-US" dirty="0"/>
              <a:t>Train Multinomial Naïve Bayes on the document-term matrix </a:t>
            </a:r>
          </a:p>
          <a:p>
            <a:pPr>
              <a:buFont typeface="+mj-lt"/>
              <a:buAutoNum type="arabicPeriod"/>
            </a:pPr>
            <a:r>
              <a:rPr lang="en-US" dirty="0"/>
              <a:t>Predict on validation or test reviews</a:t>
            </a:r>
          </a:p>
          <a:p>
            <a:pPr>
              <a:buFont typeface="+mj-lt"/>
              <a:buAutoNum type="arabicPeriod"/>
            </a:pPr>
            <a:r>
              <a:rPr lang="en-US" dirty="0"/>
              <a:t>Evaluate performance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98588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151D6-FC83-2601-91AF-78788ABC8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0B074-5D98-7A60-425B-35E90A139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Naïve Bayes for movie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052F3-7D08-00AC-E330-39E5872F0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Here is a potential high-level pipeline for using Naïve Bayes to classify movie reviews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document-term matrix using </a:t>
            </a:r>
            <a:r>
              <a:rPr lang="en-US" dirty="0" err="1"/>
              <a:t>Tfidf</a:t>
            </a:r>
            <a:r>
              <a:rPr lang="en-US" dirty="0"/>
              <a:t> on review text</a:t>
            </a:r>
          </a:p>
          <a:p>
            <a:pPr>
              <a:buFont typeface="+mj-lt"/>
              <a:buAutoNum type="arabicPeriod"/>
            </a:pPr>
            <a:r>
              <a:rPr lang="en-US" dirty="0"/>
              <a:t>Split the data into a training set, testing set, and validation set.</a:t>
            </a:r>
          </a:p>
          <a:p>
            <a:pPr>
              <a:buFont typeface="+mj-lt"/>
              <a:buAutoNum type="arabicPeriod"/>
            </a:pPr>
            <a:r>
              <a:rPr lang="en-US" dirty="0"/>
              <a:t>Train Multinomial Naïve Bayes on the document-term matrix </a:t>
            </a:r>
          </a:p>
          <a:p>
            <a:pPr>
              <a:buFont typeface="+mj-lt"/>
              <a:buAutoNum type="arabicPeriod"/>
            </a:pPr>
            <a:r>
              <a:rPr lang="en-US" dirty="0"/>
              <a:t>Predict on validation or test reviews</a:t>
            </a:r>
          </a:p>
          <a:p>
            <a:pPr>
              <a:buFont typeface="+mj-lt"/>
              <a:buAutoNum type="arabicPeriod"/>
            </a:pPr>
            <a:r>
              <a:rPr lang="en-US" dirty="0"/>
              <a:t>Evaluate performance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We can evaluate our performance on the validation set using different methods we have learned in class: confusion matrix, cost matrix, precision, recall, F-measure. Feel free to explore other model evaluation metrics!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19528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B39AA-9137-39F7-2D13-567CC76F3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9911-BE41-F02F-BA1D-9FC3102D3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Naïve Bayes for movie reviews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63EA8-4A15-04E9-8573-E603F9B65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Here is a potential high-level pipeline for using Naïve Bayes to classify movie reviews</a:t>
            </a:r>
          </a:p>
          <a:p>
            <a:pPr>
              <a:buFont typeface="+mj-lt"/>
              <a:buAutoNum type="arabicPeriod"/>
            </a:pPr>
            <a:r>
              <a:rPr lang="en-US" dirty="0"/>
              <a:t>Create document-term matrix using </a:t>
            </a:r>
            <a:r>
              <a:rPr lang="en-US" dirty="0" err="1"/>
              <a:t>Tfidf</a:t>
            </a:r>
            <a:r>
              <a:rPr lang="en-US" dirty="0"/>
              <a:t> on review text</a:t>
            </a:r>
          </a:p>
          <a:p>
            <a:pPr>
              <a:buFont typeface="+mj-lt"/>
              <a:buAutoNum type="arabicPeriod"/>
            </a:pPr>
            <a:r>
              <a:rPr lang="en-US" dirty="0"/>
              <a:t>Split the data into a training set, testing set, and validation set.</a:t>
            </a:r>
          </a:p>
          <a:p>
            <a:pPr>
              <a:buFont typeface="+mj-lt"/>
              <a:buAutoNum type="arabicPeriod"/>
            </a:pPr>
            <a:r>
              <a:rPr lang="en-US" dirty="0"/>
              <a:t>Train Multinomial Naïve Bayes on the document-term matrix </a:t>
            </a:r>
          </a:p>
          <a:p>
            <a:pPr>
              <a:buFont typeface="+mj-lt"/>
              <a:buAutoNum type="arabicPeriod"/>
            </a:pPr>
            <a:r>
              <a:rPr lang="en-US" dirty="0"/>
              <a:t>Predict on validation or test reviews</a:t>
            </a:r>
          </a:p>
          <a:p>
            <a:pPr>
              <a:buFont typeface="+mj-lt"/>
              <a:buAutoNum type="arabicPeriod"/>
            </a:pPr>
            <a:r>
              <a:rPr lang="en-US" dirty="0"/>
              <a:t>Evaluate performance</a:t>
            </a:r>
          </a:p>
          <a:p>
            <a:pPr>
              <a:buFont typeface="+mj-lt"/>
              <a:buAutoNum type="arabicPeriod"/>
            </a:pPr>
            <a:r>
              <a:rPr lang="en-US" dirty="0"/>
              <a:t>Tune the pipeline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25198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A274-1BC3-40E8-FF47-474CDA941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CAE2C-146A-4D00-796A-8E73CB0C2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Naïve Bayes for movie reviews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39DDCBB-B24F-D945-DF71-DA6F0AB0ACD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Here is a potential high-level pipeline for using Naïve Bayes to classify movie reviews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Create document-term matrix using </a:t>
                </a:r>
                <a:r>
                  <a:rPr lang="en-US" dirty="0" err="1"/>
                  <a:t>Tfidf</a:t>
                </a:r>
                <a:r>
                  <a:rPr lang="en-US" dirty="0"/>
                  <a:t> on review text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Split the data into a training set, testing set, and validation set.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Train Multinomial Naïve Bayes on the document-term matrix 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Predict on validation or test reviews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Evaluate performance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Tune the pipeline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US" dirty="0"/>
                  <a:t>In addition to tuning </a:t>
                </a:r>
                <a:r>
                  <a:rPr lang="en-US" dirty="0" err="1"/>
                  <a:t>Tfidf</a:t>
                </a:r>
                <a:r>
                  <a:rPr lang="en-US" dirty="0"/>
                  <a:t>, we have to consider how we want to tune the smoothing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b="0" dirty="0"/>
                  <a:t> for </a:t>
                </a:r>
                <a:r>
                  <a:rPr lang="en-US" b="0" dirty="0" err="1"/>
                  <a:t>MultinomialNB</a:t>
                </a:r>
                <a:r>
                  <a:rPr lang="en-US" b="0" dirty="0"/>
                  <a:t>.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39DDCBB-B24F-D945-DF71-DA6F0AB0AC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370002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E92E7-94C5-D4C8-D137-B55A29F31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BCF08-A4AF-F3DA-6578-1EA98F7C6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28697"/>
            <a:ext cx="8520600" cy="707400"/>
          </a:xfrm>
        </p:spPr>
        <p:txBody>
          <a:bodyPr>
            <a:normAutofit fontScale="90000"/>
          </a:bodyPr>
          <a:lstStyle/>
          <a:p>
            <a:r>
              <a:rPr lang="en-US" dirty="0"/>
              <a:t>Naïve Bayes for movie reviews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E58F9C1-7E5E-2D7D-47E8-8FD04269422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754711"/>
              </a:xfrm>
            </p:spPr>
            <p:txBody>
              <a:bodyPr>
                <a:normAutofit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Here is a potential high-level pipeline for using Naïve Bayes to classify movie reviews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Create document-term matrix using </a:t>
                </a:r>
                <a:r>
                  <a:rPr lang="en-US" dirty="0" err="1"/>
                  <a:t>Tfidf</a:t>
                </a:r>
                <a:r>
                  <a:rPr lang="en-US" dirty="0"/>
                  <a:t> on review text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Split the data into a training set, testing set, and validation set.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Train Multinomial Naïve Bayes on the document-term matrix 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Predict on validation or test reviews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Evaluate performance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Tune the pipeline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US" dirty="0"/>
                  <a:t>In addition to tuning </a:t>
                </a:r>
                <a:r>
                  <a:rPr lang="en-US" dirty="0" err="1"/>
                  <a:t>Tfidf</a:t>
                </a:r>
                <a:r>
                  <a:rPr lang="en-US" dirty="0"/>
                  <a:t>, we have to consider how we want to tune the smoothing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b="0" dirty="0"/>
                  <a:t> for </a:t>
                </a:r>
                <a:r>
                  <a:rPr lang="en-US" b="0" dirty="0" err="1"/>
                  <a:t>MultinomialNB</a:t>
                </a:r>
                <a:r>
                  <a:rPr lang="en-US" b="0" dirty="0"/>
                  <a:t>.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/>
                  <a:t> is small, we trust the observed word counts closely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/>
                  <a:t> is large, we make the probabilities more conservative and less extreme which will flatten probabilities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en-US" b="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en-US" b="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E58F9C1-7E5E-2D7D-47E8-8FD0426942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75471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983430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81DBF-A5AD-E958-8C33-36132A94D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218050"/>
            <a:ext cx="8520600" cy="707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Recommender Systems </a:t>
            </a:r>
          </a:p>
        </p:txBody>
      </p:sp>
    </p:spTree>
    <p:extLst>
      <p:ext uri="{BB962C8B-B14F-4D97-AF65-F5344CB8AC3E}">
        <p14:creationId xmlns:p14="http://schemas.microsoft.com/office/powerpoint/2010/main" val="93679882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20BE1-360B-134B-A02E-669C17AC6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Recommender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7C203F2-E205-809A-02CC-04C2E8EBDDA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b="0" dirty="0"/>
                  <a:t> = User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’s rating of Movie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7C203F2-E205-809A-02CC-04C2E8EBDD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0B6452E-966E-CF83-7B26-B027F754F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266325"/>
            <a:ext cx="7772400" cy="260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10449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C31C1-6EF9-42CD-A79F-9B8080440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0CBDF-24CD-562D-22EB-3D975A079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Recommender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C42EA62-CF45-D219-FF71-4A779D89658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583261"/>
              </a:xfrm>
            </p:spPr>
            <p:txBody>
              <a:bodyPr/>
              <a:lstStyle/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b="0" dirty="0"/>
                  <a:t> = User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’s rating of Movie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Call this the </a:t>
                </a:r>
                <a:r>
                  <a:rPr lang="en-US" b="1" dirty="0"/>
                  <a:t>user-to-movie </a:t>
                </a:r>
                <a:r>
                  <a:rPr lang="en-US" b="0" dirty="0"/>
                  <a:t>matrix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C42EA62-CF45-D219-FF71-4A779D8965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4"/>
                <a:ext cx="8520600" cy="358326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944D93B-4C22-6D36-5B20-405C3E6E6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266325"/>
            <a:ext cx="7772400" cy="260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52384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19D43-B19F-1AEC-FDDF-056C80BF6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Content based filtering vs Collaborative filtering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B1CEE-F71E-4105-CB23-71887138D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Content-based: assume you have features for movies – want to learn features for users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Collaborative filtering: want to learn features for both users and movies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83869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0810A-F685-2AFE-FB74-5B749EC2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Content-based: Constructing the user-to-movie matrix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447BA-1403-23B3-F4BC-CEA89BEEC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Assuming we have features for movies, we can construct the user-to-movie matrix by the following decomposition</a:t>
            </a:r>
          </a:p>
          <a:p>
            <a:pPr marL="114300" indent="0">
              <a:buNone/>
            </a:pPr>
            <a:endParaRPr lang="en-US" dirty="0"/>
          </a:p>
          <a:p>
            <a:pPr marL="114300" indent="0" algn="ctr">
              <a:buNone/>
            </a:pPr>
            <a:r>
              <a:rPr lang="en-US" b="1" dirty="0"/>
              <a:t>user-to-feature x feature-to-movie = user-to-movie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User-to-feature </a:t>
            </a:r>
            <a:r>
              <a:rPr lang="en-US" i="1" dirty="0"/>
              <a:t>could</a:t>
            </a:r>
            <a:r>
              <a:rPr lang="en-US" dirty="0"/>
              <a:t> mean how much does each user prefer each genre of movie?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17399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600E8-4BC3-7528-383B-FD01D1210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EF528-420C-3BB0-10AF-316C15754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dirty="0"/>
              <a:t>Assuming we have features for movies, we can construct the user-to-movie matrix by the following decomposition</a:t>
            </a:r>
          </a:p>
          <a:p>
            <a:pPr marL="114300" indent="0">
              <a:buNone/>
            </a:pPr>
            <a:endParaRPr lang="en-US" dirty="0"/>
          </a:p>
          <a:p>
            <a:pPr marL="114300" indent="0" algn="ctr">
              <a:buNone/>
            </a:pPr>
            <a:r>
              <a:rPr lang="en-US" b="1" dirty="0"/>
              <a:t>user-to-feature x feature-to-movie = user-to-movie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User-to-feature </a:t>
            </a:r>
            <a:r>
              <a:rPr lang="en-US" i="1" dirty="0"/>
              <a:t>could</a:t>
            </a:r>
            <a:r>
              <a:rPr lang="en-US" dirty="0"/>
              <a:t> mean how much does each user prefer each genre of movie?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Feature-to-movie </a:t>
            </a:r>
            <a:r>
              <a:rPr lang="en-US" i="1" dirty="0"/>
              <a:t>could</a:t>
            </a:r>
            <a:r>
              <a:rPr lang="en-US" dirty="0"/>
              <a:t> mean how much is each “genre” represented in each movie?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1B790B3-8B45-1D67-0FE0-94AB3C205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Content-based: Constructing the user-to-movie matrix</a:t>
            </a:r>
          </a:p>
        </p:txBody>
      </p:sp>
    </p:spTree>
    <p:extLst>
      <p:ext uri="{BB962C8B-B14F-4D97-AF65-F5344CB8AC3E}">
        <p14:creationId xmlns:p14="http://schemas.microsoft.com/office/powerpoint/2010/main" val="206316627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0C197-3BCA-F5FF-BFFD-6757A90A5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31D38-2C26-8025-3EC6-7F5B369BD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endParaRPr lang="en-US" dirty="0"/>
          </a:p>
          <a:p>
            <a:pPr marL="114300" indent="0" algn="ctr">
              <a:buNone/>
            </a:pPr>
            <a:r>
              <a:rPr lang="en-US" b="1" dirty="0"/>
              <a:t>user-to-feature x feature-to-movie = user-to-movie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User-to-feature </a:t>
            </a:r>
            <a:r>
              <a:rPr lang="en-US" i="1" dirty="0"/>
              <a:t>could</a:t>
            </a:r>
            <a:r>
              <a:rPr lang="en-US" dirty="0"/>
              <a:t> mean how much does each user prefer each genre of movie?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Feature-to-movie </a:t>
            </a:r>
            <a:r>
              <a:rPr lang="en-US" i="1" dirty="0"/>
              <a:t>could</a:t>
            </a:r>
            <a:r>
              <a:rPr lang="en-US" dirty="0"/>
              <a:t> mean how much is each “genre” represented in each movie?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But how do we find the user-to-feature matrix?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E08B16B-850D-6D8D-3C1E-2C43B98E4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Content-based: Constructing the user-to-movie matrix</a:t>
            </a:r>
          </a:p>
        </p:txBody>
      </p:sp>
    </p:spTree>
    <p:extLst>
      <p:ext uri="{BB962C8B-B14F-4D97-AF65-F5344CB8AC3E}">
        <p14:creationId xmlns:p14="http://schemas.microsoft.com/office/powerpoint/2010/main" val="47937523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AACD5-5F56-9278-C54E-1E5802D87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853CA83-3BFD-B836-2F2C-72DFEEB4EFF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endParaRPr lang="en-US" dirty="0"/>
              </a:p>
              <a:p>
                <a:pPr marL="114300" indent="0" algn="ctr">
                  <a:buNone/>
                </a:pPr>
                <a:r>
                  <a:rPr lang="en-US" b="1" dirty="0"/>
                  <a:t>user-to-feature x feature-to-movie = user-to-movie</a:t>
                </a:r>
              </a:p>
              <a:p>
                <a:pPr marL="114300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b="0" dirty="0"/>
                  <a:t> = user-to-feature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b="0" dirty="0"/>
                  <a:t> = feature-to-movie matrix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853CA83-3BFD-B836-2F2C-72DFEEB4EF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2AE33A0D-B4AA-567D-83EA-04EBBF2B3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Content-based: Constructing the user-to-movie matrix</a:t>
            </a:r>
          </a:p>
        </p:txBody>
      </p:sp>
    </p:spTree>
    <p:extLst>
      <p:ext uri="{BB962C8B-B14F-4D97-AF65-F5344CB8AC3E}">
        <p14:creationId xmlns:p14="http://schemas.microsoft.com/office/powerpoint/2010/main" val="321608389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AFBBC-A62B-154E-3662-650F6477C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5D17298-A986-5B9B-5BC2-8C8CDADA030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endParaRPr lang="en-US" dirty="0"/>
              </a:p>
              <a:p>
                <a:pPr marL="114300" indent="0" algn="ctr">
                  <a:buNone/>
                </a:pPr>
                <a:r>
                  <a:rPr lang="en-US" b="1" dirty="0"/>
                  <a:t>user-to-feature x feature-to-movie = user-to-movie</a:t>
                </a:r>
              </a:p>
              <a:p>
                <a:pPr marL="114300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b="0" dirty="0"/>
                  <a:t> = user-to-feature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b="0" dirty="0"/>
                  <a:t> = feature-to-movie matrix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5D17298-A986-5B9B-5BC2-8C8CDADA03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3C2A4E5D-8FD1-74CA-756E-8140F6DBF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Content-based: Constructing the user-to-movie matrix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64927A-869E-8602-2753-2A9177A10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235" y="2435181"/>
            <a:ext cx="5045529" cy="83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78451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38B0C-50A3-9C4A-1780-FFA815B9F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FF2DA3F-99A1-C151-E843-2930AEBD7B1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endParaRPr lang="en-US" dirty="0"/>
              </a:p>
              <a:p>
                <a:pPr marL="114300" indent="0" algn="ctr">
                  <a:buNone/>
                </a:pPr>
                <a:r>
                  <a:rPr lang="en-US" b="1" dirty="0"/>
                  <a:t>user-to-feature x feature-to-movie = user-to-movie</a:t>
                </a:r>
              </a:p>
              <a:p>
                <a:pPr marL="114300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b="0" dirty="0"/>
                  <a:t> = user-to-feature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b="0" dirty="0"/>
                  <a:t> = feature-to-movie matrix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Find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b="0" dirty="0"/>
                  <a:t> that minimizes that cost function.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FF2DA3F-99A1-C151-E843-2930AEBD7B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A48DC68B-32C0-3064-5331-1D8416FB8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Content-based: Constructing the user-to-movie matrix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559AA0-1ACA-AC5E-06D1-B2D6D0C38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235" y="2435181"/>
            <a:ext cx="5045529" cy="83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16342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53174-7DBB-8C9E-892E-085B1B4FD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2152D53-7D14-6E04-EB8E-A3FA47BC5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</p:spPr>
        <p:txBody>
          <a:bodyPr>
            <a:normAutofit fontScale="90000"/>
          </a:bodyPr>
          <a:lstStyle/>
          <a:p>
            <a:r>
              <a:rPr lang="en-US" dirty="0"/>
              <a:t>Collaborative-based: feature extraction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B2D45C24-89A2-D0BF-1282-50F049C85D6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302700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b="0" dirty="0"/>
                  <a:t> the user-to-movie matrix, we want to find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B2D45C24-89A2-D0BF-1282-50F049C85D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3027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459487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06D8C-53B8-5224-54DB-E5B5E7DA2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D18A975-2126-0923-6FFD-EA2A3E69C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</p:spPr>
        <p:txBody>
          <a:bodyPr>
            <a:normAutofit fontScale="90000"/>
          </a:bodyPr>
          <a:lstStyle/>
          <a:p>
            <a:r>
              <a:rPr lang="en-US" dirty="0"/>
              <a:t>Collaborative-based: feature extraction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A4231D51-CC9D-55A7-81B2-62263BFEB74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302700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b="0" dirty="0"/>
                  <a:t> the user-to-movie matrix, we want to find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𝑃𝑄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We can’t use SVD because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b="0" dirty="0"/>
                  <a:t> is sparse so we can use something akin to the GMM EM algorithm.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A4231D51-CC9D-55A7-81B2-62263BFEB7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3027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879132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765B7-2B89-D9BC-8ABF-6672A5067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A4BB3C3-7264-73CD-45C4-FA2C8C585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</p:spPr>
        <p:txBody>
          <a:bodyPr>
            <a:normAutofit fontScale="90000"/>
          </a:bodyPr>
          <a:lstStyle/>
          <a:p>
            <a:r>
              <a:rPr lang="en-US" dirty="0"/>
              <a:t>Collaborative-based: feature extraction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F9767BD4-3286-A94C-F644-D1C9045BEEE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689396"/>
              </a:xfrm>
            </p:spPr>
            <p:txBody>
              <a:bodyPr>
                <a:normAutofit fontScale="92500" lnSpcReduction="2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b="0" dirty="0"/>
                  <a:t> the user-to-movie matrix, we want to find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𝑃𝑄</m:t>
                      </m:r>
                    </m:oMath>
                  </m:oMathPara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Start with random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Get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Improve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Repeat 2 &amp; 3 until convergence.</a:t>
                </a:r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F9767BD4-3286-A94C-F644-D1C9045BEE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68939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692566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5AAFE-738E-19BC-5D70-11795EDF6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87F5FB5-C854-7AE0-84F6-C9EE02419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</p:spPr>
        <p:txBody>
          <a:bodyPr>
            <a:normAutofit fontScale="90000"/>
          </a:bodyPr>
          <a:lstStyle/>
          <a:p>
            <a:r>
              <a:rPr lang="en-US" dirty="0"/>
              <a:t>Collaborative-based: feature extraction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5D77E7DA-D9D7-6155-8FAD-19261DBC14B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689396"/>
              </a:xfrm>
            </p:spPr>
            <p:txBody>
              <a:bodyPr>
                <a:normAutofit fontScale="92500" lnSpcReduction="2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b="0" dirty="0"/>
                  <a:t> the user-to-movie matrix, we want to find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𝑃𝑄</m:t>
                      </m:r>
                    </m:oMath>
                  </m:oMathPara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Start with random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Get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Improve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Repeat 2 &amp; 3 until convergence.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Use scikit-surprise for implementation.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5D77E7DA-D9D7-6155-8FAD-19261DBC14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266325"/>
                <a:ext cx="8520600" cy="368939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369822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3D104-77B6-AAB0-CB86-22BA9036C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600" dirty="0"/>
              <a:t>How else can we use recommender systems for the movie review dataset?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AC61-0882-518E-296E-D161B0149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We can also use recommenders directly on features like </a:t>
            </a:r>
            <a:r>
              <a:rPr lang="en-US" dirty="0" err="1"/>
              <a:t>ProductId</a:t>
            </a:r>
            <a:r>
              <a:rPr lang="en-US" dirty="0"/>
              <a:t> and </a:t>
            </a:r>
            <a:r>
              <a:rPr lang="en-US" dirty="0" err="1"/>
              <a:t>UserId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5315431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23E27-1ADE-CC09-0510-E8C00D9DE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38EF-23CD-0C1D-92EE-FDDE858D0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600" dirty="0"/>
              <a:t>How else can we use recommender systems for the movie review dataset?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53269-D587-424A-1A7B-C583BB04E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We can also use recommenders directly on features like </a:t>
            </a:r>
            <a:r>
              <a:rPr lang="en-US" dirty="0" err="1"/>
              <a:t>ProductId</a:t>
            </a:r>
            <a:r>
              <a:rPr lang="en-US" dirty="0"/>
              <a:t> and </a:t>
            </a:r>
            <a:r>
              <a:rPr lang="en-US" dirty="0" err="1"/>
              <a:t>UserId</a:t>
            </a:r>
            <a:r>
              <a:rPr lang="en-US" dirty="0"/>
              <a:t>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Recommenders can help us account for skew. E.g., the fact that some users skew towards reviewing harshly, or maybe a movie is universally viewed as bad.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09719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34070-06C0-5B38-F9DB-645C3892E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6545C-5FCE-4298-8970-57057F4E2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600" dirty="0"/>
              <a:t>How else can we use recommender systems for the movie review dataset?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0353B-A8F8-DD4E-0DD7-594ACCF1D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We can also use recommenders directly on features like </a:t>
            </a:r>
            <a:r>
              <a:rPr lang="en-US" dirty="0" err="1"/>
              <a:t>ProductId</a:t>
            </a:r>
            <a:r>
              <a:rPr lang="en-US" dirty="0"/>
              <a:t> and </a:t>
            </a:r>
            <a:r>
              <a:rPr lang="en-US" dirty="0" err="1"/>
              <a:t>UserId</a:t>
            </a:r>
            <a:r>
              <a:rPr lang="en-US" dirty="0"/>
              <a:t>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Recommenders can help us account for skew. E.g., the fact that some users skew towards reviewing harshly, or maybe a movie is universally viewed as bad.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We can use recommenders to supplement our classification task!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24064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CC91-1FD3-8B2D-11A2-AD6FDCDB2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218050"/>
            <a:ext cx="8520600" cy="707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Support Vector Machines (SVM)</a:t>
            </a:r>
          </a:p>
        </p:txBody>
      </p:sp>
    </p:spTree>
    <p:extLst>
      <p:ext uri="{BB962C8B-B14F-4D97-AF65-F5344CB8AC3E}">
        <p14:creationId xmlns:p14="http://schemas.microsoft.com/office/powerpoint/2010/main" val="199499826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C3AA7-24AD-A5A6-8E4D-8426E2CF2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SVM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E7187-148E-C916-4ACF-2BCEC1BA00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SVM: find the widest street that separates our classes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56731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D2F33-0B61-A87B-1883-7839DA437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AFA0-A7C5-A42D-1911-192EB7010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SVM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FCFB4D-ACD2-6CAB-90E1-ADF50B054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SVM: find the widest street that separates our classes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Goals of SVM: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21415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4BC59-A842-B190-D830-D41C25C06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0A0EC-743C-80F7-9660-4D4D63303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SVM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51C0D-BBB4-6806-828E-66C57EBEA7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SVM: find the widest street that separates our classes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Goals of SVM:</a:t>
            </a:r>
          </a:p>
          <a:p>
            <a:pPr>
              <a:buFont typeface="+mj-lt"/>
              <a:buAutoNum type="arabicPeriod"/>
            </a:pPr>
            <a:r>
              <a:rPr lang="en-US" dirty="0"/>
              <a:t>Correctly classify data points</a:t>
            </a:r>
          </a:p>
          <a:p>
            <a:pPr>
              <a:buFont typeface="+mj-lt"/>
              <a:buAutoNum type="arabicPeriod"/>
            </a:pPr>
            <a:r>
              <a:rPr lang="en-US" dirty="0"/>
              <a:t>Data points cannot be in the street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7362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73F22-7307-3F5D-913B-1C99B35FA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perceptron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9B73722-BB54-D014-0306-B106BE003E1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Start with random line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Define:</a:t>
                </a:r>
              </a:p>
              <a:p>
                <a:pPr lvl="1"/>
                <a:r>
                  <a:rPr lang="en-US" b="0" dirty="0"/>
                  <a:t>A total # of iterations</a:t>
                </a:r>
              </a:p>
              <a:p>
                <a:pPr lvl="1"/>
                <a:r>
                  <a:rPr lang="en-US" dirty="0"/>
                  <a:t>A learning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An expanding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&lt;1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b="0" dirty="0"/>
                  <a:t>Repeat # of iterations times: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dirty="0"/>
                  <a:t>Pick a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/>
                  <a:t> from the dataset</a:t>
                </a:r>
              </a:p>
              <a:p>
                <a:pPr lvl="2"/>
                <a:r>
                  <a:rPr lang="en-US" dirty="0"/>
                  <a:t>If correctly classified: do nothing</a:t>
                </a:r>
              </a:p>
              <a:p>
                <a:pPr lvl="2"/>
                <a:r>
                  <a:rPr lang="en-US" b="0" dirty="0"/>
                  <a:t>Else: adjust the street by tuning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r>
                  <a:rPr lang="en-US" b="0" dirty="0"/>
                  <a:t>The points </a:t>
                </a:r>
                <a:r>
                  <a:rPr lang="en-US" dirty="0"/>
                  <a:t>on the boundaries of the streets are called support vectors</a:t>
                </a:r>
                <a:endParaRPr lang="en-US" b="0" dirty="0"/>
              </a:p>
              <a:p>
                <a:pPr lvl="2"/>
                <a:endParaRPr lang="en-US" b="0" dirty="0"/>
              </a:p>
              <a:p>
                <a:pPr lvl="1">
                  <a:buFont typeface="+mj-lt"/>
                  <a:buAutoNum type="arabicPeriod"/>
                </a:pPr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9B73722-BB54-D014-0306-B106BE003E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406049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8D3B1-14F2-D59C-9D73-9B1F98FC6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if there is no clear line for a decision boundary?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A573E-E05F-E397-D591-0C52977E1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Option 1: Soft margins</a:t>
            </a:r>
          </a:p>
          <a:p>
            <a:r>
              <a:rPr lang="en-US" dirty="0"/>
              <a:t>Allow some amount of error (i.e., some points are misclassified)</a:t>
            </a:r>
          </a:p>
          <a:p>
            <a:pPr marL="114300" indent="0">
              <a:buNone/>
            </a:pPr>
            <a:r>
              <a:rPr lang="en-US" dirty="0"/>
              <a:t>Option 2: Change perspective</a:t>
            </a:r>
          </a:p>
          <a:p>
            <a:r>
              <a:rPr lang="en-US" dirty="0"/>
              <a:t>Utilize a kernel function to specify closeness/similarity of points in a hypothetical transformed space.</a:t>
            </a:r>
          </a:p>
          <a:p>
            <a:r>
              <a:rPr lang="en-US" dirty="0"/>
              <a:t>This will </a:t>
            </a:r>
            <a:r>
              <a:rPr lang="en-US" i="1" dirty="0"/>
              <a:t>hopefully</a:t>
            </a:r>
            <a:r>
              <a:rPr lang="en-US" dirty="0"/>
              <a:t> allow us to create a decision boundary, even though we can’t immediately see one on our Euclidean plane. </a:t>
            </a:r>
          </a:p>
        </p:txBody>
      </p:sp>
    </p:spTree>
    <p:extLst>
      <p:ext uri="{BB962C8B-B14F-4D97-AF65-F5344CB8AC3E}">
        <p14:creationId xmlns:p14="http://schemas.microsoft.com/office/powerpoint/2010/main" val="226117992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03F90-D88D-302B-7E4A-DAE42ED17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can we use SVMs for our problem?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446AD-6602-377C-D8D6-7A060F39C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SVM works well for sparse high-dimensional text data.</a:t>
            </a:r>
          </a:p>
        </p:txBody>
      </p:sp>
    </p:spTree>
    <p:extLst>
      <p:ext uri="{BB962C8B-B14F-4D97-AF65-F5344CB8AC3E}">
        <p14:creationId xmlns:p14="http://schemas.microsoft.com/office/powerpoint/2010/main" val="209910068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BAE60-A5B3-30E4-0748-7C74CA620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83846-2916-0694-1272-C420C8DD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can we use SVMs for our problem?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83593-C95A-B184-800F-4E5B1CF80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SVM works well for sparse high-dimensional text data.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Here are two </a:t>
            </a:r>
            <a:r>
              <a:rPr lang="en-US" i="1" dirty="0"/>
              <a:t>possible </a:t>
            </a:r>
            <a:r>
              <a:rPr lang="en-US" dirty="0"/>
              <a:t>pipelines we could use: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79832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CD0C6-8540-5B93-5CC7-7317DA033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CDAE6-0208-382B-E20C-2C9D8A6DE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can we use SVMs for our problem?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25EAC-A9CD-17B8-AC05-38010288EC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SVM works well for sparse high-dimensional text data.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Here are two </a:t>
            </a:r>
            <a:r>
              <a:rPr lang="en-US" i="1" dirty="0"/>
              <a:t>possible </a:t>
            </a:r>
            <a:r>
              <a:rPr lang="en-US" dirty="0"/>
              <a:t>pipelines we could use:</a:t>
            </a:r>
          </a:p>
          <a:p>
            <a:pPr marL="114300" indent="0"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 err="1"/>
              <a:t>Tfidf</a:t>
            </a:r>
            <a:r>
              <a:rPr lang="en-US" dirty="0"/>
              <a:t>(text, summary)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Linear SVM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17476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881F9-80E8-9E1C-8251-10EA95651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19F30-5940-CF38-A957-CCEC6D444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can we use SVMs for our problem?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6A989-BF42-AB90-E9F4-D91981A50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SVM works well for sparse high-dimensional text data.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Here are two </a:t>
            </a:r>
            <a:r>
              <a:rPr lang="en-US" i="1" dirty="0"/>
              <a:t>possible </a:t>
            </a:r>
            <a:r>
              <a:rPr lang="en-US" dirty="0"/>
              <a:t>pipelines we could use:</a:t>
            </a:r>
          </a:p>
          <a:p>
            <a:pPr marL="114300" indent="0"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 err="1"/>
              <a:t>Tfidf</a:t>
            </a:r>
            <a:r>
              <a:rPr lang="en-US" dirty="0"/>
              <a:t>(text, summary)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Linear SVM</a:t>
            </a:r>
          </a:p>
          <a:p>
            <a:pPr>
              <a:buFont typeface="+mj-lt"/>
              <a:buAutoNum type="arabicPeriod"/>
            </a:pPr>
            <a:r>
              <a:rPr lang="en-US" dirty="0" err="1"/>
              <a:t>Tfidf</a:t>
            </a:r>
            <a:r>
              <a:rPr lang="en-US" dirty="0"/>
              <a:t>(text, summary) </a:t>
            </a:r>
            <a:r>
              <a:rPr lang="en-US" dirty="0">
                <a:sym typeface="Wingdings" pitchFamily="2" charset="2"/>
              </a:rPr>
              <a:t> SVD  Linear SVM</a:t>
            </a:r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08968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727C8-1172-C8E7-6610-890441497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5A8B8-117C-39FB-B6DA-AFAB9852F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can we use SVMs for our problem?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24E33-0382-BD25-30E0-F69DE61F6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SVM works well for sparse high-dimensional text data.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Here are two </a:t>
            </a:r>
            <a:r>
              <a:rPr lang="en-US" i="1" dirty="0"/>
              <a:t>possible </a:t>
            </a:r>
            <a:r>
              <a:rPr lang="en-US" dirty="0"/>
              <a:t>pipelines we could use:</a:t>
            </a:r>
          </a:p>
          <a:p>
            <a:pPr marL="114300" indent="0"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 err="1"/>
              <a:t>Tfidf</a:t>
            </a:r>
            <a:r>
              <a:rPr lang="en-US" dirty="0"/>
              <a:t>(text, summary)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Linear SVM</a:t>
            </a:r>
          </a:p>
          <a:p>
            <a:pPr>
              <a:buFont typeface="+mj-lt"/>
              <a:buAutoNum type="arabicPeriod"/>
            </a:pPr>
            <a:r>
              <a:rPr lang="en-US" dirty="0" err="1"/>
              <a:t>Tfidf</a:t>
            </a:r>
            <a:r>
              <a:rPr lang="en-US" dirty="0"/>
              <a:t>(text, summary) </a:t>
            </a:r>
            <a:r>
              <a:rPr lang="en-US" dirty="0">
                <a:sym typeface="Wingdings" pitchFamily="2" charset="2"/>
              </a:rPr>
              <a:t> SVD  Linear SVM</a:t>
            </a:r>
          </a:p>
          <a:p>
            <a:pPr>
              <a:buFont typeface="+mj-lt"/>
              <a:buAutoNum type="arabicPeriod"/>
            </a:pPr>
            <a:endParaRPr lang="en-US" dirty="0">
              <a:sym typeface="Wingdings" pitchFamily="2" charset="2"/>
            </a:endParaRPr>
          </a:p>
          <a:p>
            <a:pPr marL="114300" indent="0">
              <a:buNone/>
            </a:pPr>
            <a:r>
              <a:rPr lang="en-US" dirty="0">
                <a:sym typeface="Wingdings" pitchFamily="2" charset="2"/>
              </a:rPr>
              <a:t>If we don’t care about predicting </a:t>
            </a:r>
            <a:r>
              <a:rPr lang="en-US" b="1" dirty="0">
                <a:sym typeface="Wingdings" pitchFamily="2" charset="2"/>
              </a:rPr>
              <a:t>exact</a:t>
            </a:r>
            <a:r>
              <a:rPr lang="en-US" dirty="0">
                <a:sym typeface="Wingdings" pitchFamily="2" charset="2"/>
              </a:rPr>
              <a:t> scores but rather, we care about being close, we could use a linear SVR (support vector regression).</a:t>
            </a:r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20042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726CD-E03E-E2D8-C74C-3AE15F286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6B535-38C2-E1D4-F365-939B55CF8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218050"/>
            <a:ext cx="8520600" cy="707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Data Exploration</a:t>
            </a:r>
          </a:p>
        </p:txBody>
      </p:sp>
    </p:spTree>
    <p:extLst>
      <p:ext uri="{BB962C8B-B14F-4D97-AF65-F5344CB8AC3E}">
        <p14:creationId xmlns:p14="http://schemas.microsoft.com/office/powerpoint/2010/main" val="222451911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EF389-A383-B93A-26F5-38F504AEA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Noise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AEC3A-EE74-3F5A-1B81-895BE41194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Like we mentioned before, words like “movie” probably occur very frequently and are useless in distinguishing reviews! </a:t>
            </a:r>
          </a:p>
        </p:txBody>
      </p:sp>
    </p:spTree>
    <p:extLst>
      <p:ext uri="{BB962C8B-B14F-4D97-AF65-F5344CB8AC3E}">
        <p14:creationId xmlns:p14="http://schemas.microsoft.com/office/powerpoint/2010/main" val="2532968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795B4-C2DB-E311-1199-F212FDE39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9307B-7D71-542A-245C-6A7F5AB5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Noise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82487-A41D-4A4E-1B2D-AA94B8C0D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Like we mentioned before, words like “movie” probably occur very frequently and are useless in distinguishing reviews!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We can use different methods for “manually” finding and removing noise in our dataset!</a:t>
            </a:r>
          </a:p>
        </p:txBody>
      </p:sp>
    </p:spTree>
    <p:extLst>
      <p:ext uri="{BB962C8B-B14F-4D97-AF65-F5344CB8AC3E}">
        <p14:creationId xmlns:p14="http://schemas.microsoft.com/office/powerpoint/2010/main" val="87096200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F4725-680F-2C38-A852-8ADA850B9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C7AC2-B131-8437-320C-5A9EC29C2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Noise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4EA150C-A6F6-BAA0-26D8-39F19B31316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We can use different methods for “manually” finding and removing noise in our dataset!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Document frequency: for each unique word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 in the corpus, calculate the following: 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reviews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containing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#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𝑜𝑓𝑟𝑒𝑣𝑖𝑒𝑤𝑠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b="0" dirty="0"/>
                  <a:t>      If a word appears in a large proportion of </a:t>
                </a:r>
                <a:r>
                  <a:rPr lang="en-US" dirty="0"/>
                  <a:t>our reviews (for example 80%), </a:t>
                </a:r>
              </a:p>
              <a:p>
                <a:pPr marL="114300" indent="0">
                  <a:buNone/>
                </a:pPr>
                <a:r>
                  <a:rPr lang="en-US" b="0" dirty="0"/>
                  <a:t>      it may be a candidate for noise!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4EA150C-A6F6-BAA0-26D8-39F19B3131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103242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C70B3-1CE2-CD2C-3506-78FC4E5A7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4D364-E42F-03A7-4F21-F4627AAA0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Noise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E3FD3-F3AB-7527-0BFA-CF7490A4E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We can use different methods for “manually” finding and removing noise in our dataset!</a:t>
            </a:r>
          </a:p>
          <a:p>
            <a:pPr marL="114300" indent="0"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Document frequency</a:t>
            </a:r>
          </a:p>
          <a:p>
            <a:pPr>
              <a:buFont typeface="+mj-lt"/>
              <a:buAutoNum type="arabicPeriod"/>
            </a:pPr>
            <a:r>
              <a:rPr lang="en-US" dirty="0"/>
              <a:t>Check class commonality</a:t>
            </a:r>
          </a:p>
          <a:p>
            <a:pPr lvl="1"/>
            <a:r>
              <a:rPr lang="en-US" dirty="0"/>
              <a:t>For a given word that you suspect of being noise, calculate the following:</a:t>
            </a:r>
          </a:p>
        </p:txBody>
      </p:sp>
    </p:spTree>
    <p:extLst>
      <p:ext uri="{BB962C8B-B14F-4D97-AF65-F5344CB8AC3E}">
        <p14:creationId xmlns:p14="http://schemas.microsoft.com/office/powerpoint/2010/main" val="145108348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3B211-1500-B283-3834-5B1DD0E9D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FE815-2184-581F-F1D6-7C071FE6F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Noise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B2CB6F7-231C-1DF2-6895-699F33FA616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We can use different methods for “manually” finding and removing noise in our dataset!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Document frequency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Check class commonality</a:t>
                </a:r>
              </a:p>
              <a:p>
                <a:pPr lvl="1"/>
                <a:r>
                  <a:rPr lang="en-US" dirty="0"/>
                  <a:t>For a given word that you suspect of being noise, calculate the following: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=5</m:t>
                        </m:r>
                      </m:e>
                    </m:d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corresponds to a k-star review</a:t>
                </a:r>
              </a:p>
              <a:p>
                <a:pPr lvl="2"/>
                <a:endParaRPr lang="en-US" b="0" dirty="0"/>
              </a:p>
              <a:p>
                <a:pPr marL="1054100" lvl="2" indent="0">
                  <a:buNone/>
                </a:pPr>
                <a:endParaRPr lang="en-US" b="0" dirty="0"/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B2CB6F7-231C-1DF2-6895-699F33FA61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308389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AB177-A9CF-E4C7-B2C5-6D6770EF3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6EDF-D596-3E35-23F4-EB271A1FE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Noise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CC4EDDA-C57C-662E-AAE9-33837735B85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We can use different methods for “manually” finding and removing noise in our dataset!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Document frequency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Check class commonality</a:t>
                </a:r>
              </a:p>
              <a:p>
                <a:pPr lvl="1"/>
                <a:r>
                  <a:rPr lang="en-US" dirty="0"/>
                  <a:t>For a given word that you suspect of being noise, calculate the following: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=5</m:t>
                        </m:r>
                      </m:e>
                    </m:d>
                  </m:oMath>
                </a14:m>
                <a:r>
                  <a:rPr lang="en-US" b="0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corresponds to a k-star review</a:t>
                </a:r>
                <a:endParaRPr lang="en-US" b="0" dirty="0"/>
              </a:p>
              <a:p>
                <a:pPr lvl="2"/>
                <a:r>
                  <a:rPr lang="en-US" dirty="0"/>
                  <a:t>If these probabilities are all similar and high,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b="0" dirty="0"/>
                  <a:t> is probably not useful for our task.</a:t>
                </a:r>
              </a:p>
              <a:p>
                <a:pPr marL="1054100" lvl="2" indent="0">
                  <a:buNone/>
                </a:pPr>
                <a:endParaRPr lang="en-US" b="0" dirty="0"/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CC4EDDA-C57C-662E-AAE9-33837735B8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060840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7D84-FA94-99E7-86D9-3015217AF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2A119-C2EC-40E6-62C2-455FD9CE4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Noise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8DE8A-90CD-7C9A-6803-7F1D07F11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We can use different methods for “manually” finding and removing noise in our dataset!</a:t>
            </a:r>
          </a:p>
          <a:p>
            <a:pPr marL="114300" indent="0"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Document frequency</a:t>
            </a:r>
          </a:p>
          <a:p>
            <a:pPr>
              <a:buFont typeface="+mj-lt"/>
              <a:buAutoNum type="arabicPeriod"/>
            </a:pPr>
            <a:r>
              <a:rPr lang="en-US" dirty="0"/>
              <a:t>Check class commonality</a:t>
            </a:r>
          </a:p>
          <a:p>
            <a:pPr>
              <a:buFont typeface="+mj-lt"/>
              <a:buAutoNum type="arabicPeriod"/>
            </a:pPr>
            <a:r>
              <a:rPr lang="en-US" dirty="0"/>
              <a:t>Parameterization!</a:t>
            </a:r>
          </a:p>
        </p:txBody>
      </p:sp>
    </p:spTree>
    <p:extLst>
      <p:ext uri="{BB962C8B-B14F-4D97-AF65-F5344CB8AC3E}">
        <p14:creationId xmlns:p14="http://schemas.microsoft.com/office/powerpoint/2010/main" val="297737298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E364A-D2C3-A0B5-5039-65525E139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7E6D2-B57A-F4F9-E2A6-D9691C701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Noise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180C5-D4FF-5D97-6CAF-93A7CE23C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We can use different methods for “manually” finding and removing noise in our dataset!</a:t>
            </a:r>
          </a:p>
          <a:p>
            <a:pPr marL="114300" indent="0"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Document frequency</a:t>
            </a:r>
          </a:p>
          <a:p>
            <a:pPr>
              <a:buFont typeface="+mj-lt"/>
              <a:buAutoNum type="arabicPeriod"/>
            </a:pPr>
            <a:r>
              <a:rPr lang="en-US" dirty="0"/>
              <a:t>Check class commonality</a:t>
            </a:r>
          </a:p>
          <a:p>
            <a:pPr>
              <a:buFont typeface="+mj-lt"/>
              <a:buAutoNum type="arabicPeriod"/>
            </a:pPr>
            <a:r>
              <a:rPr lang="en-US" dirty="0"/>
              <a:t>Parameterization!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sklearn</a:t>
            </a:r>
            <a:r>
              <a:rPr lang="en-US" dirty="0"/>
              <a:t> methods like </a:t>
            </a:r>
            <a:r>
              <a:rPr lang="en-US" dirty="0" err="1"/>
              <a:t>TfidfVectorizer</a:t>
            </a:r>
            <a:r>
              <a:rPr lang="en-US" dirty="0"/>
              <a:t>() allow us to specify </a:t>
            </a:r>
            <a:r>
              <a:rPr lang="en-US" dirty="0" err="1"/>
              <a:t>min_df</a:t>
            </a:r>
            <a:r>
              <a:rPr lang="en-US" dirty="0"/>
              <a:t> and </a:t>
            </a:r>
            <a:r>
              <a:rPr lang="en-US" dirty="0" err="1"/>
              <a:t>max_df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2997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965E2-8907-2619-4CDA-EC5D0DA47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19770-5E56-5BDE-D337-DD679F8DC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Noise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7250F-8D53-E782-7400-30FA7F538B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We can use different methods for “manually” finding and removing noise in our dataset!</a:t>
            </a:r>
          </a:p>
          <a:p>
            <a:pPr marL="114300" indent="0"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Document frequency</a:t>
            </a:r>
          </a:p>
          <a:p>
            <a:pPr>
              <a:buFont typeface="+mj-lt"/>
              <a:buAutoNum type="arabicPeriod"/>
            </a:pPr>
            <a:r>
              <a:rPr lang="en-US" dirty="0"/>
              <a:t>Check class commonality</a:t>
            </a:r>
          </a:p>
          <a:p>
            <a:pPr>
              <a:buFont typeface="+mj-lt"/>
              <a:buAutoNum type="arabicPeriod"/>
            </a:pPr>
            <a:r>
              <a:rPr lang="en-US" dirty="0"/>
              <a:t>Parameterization!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sklearn</a:t>
            </a:r>
            <a:r>
              <a:rPr lang="en-US" dirty="0"/>
              <a:t> methods like </a:t>
            </a:r>
            <a:r>
              <a:rPr lang="en-US" dirty="0" err="1"/>
              <a:t>TfidfVectorizer</a:t>
            </a:r>
            <a:r>
              <a:rPr lang="en-US" dirty="0"/>
              <a:t>() allow us to specify </a:t>
            </a:r>
            <a:r>
              <a:rPr lang="en-US" dirty="0" err="1"/>
              <a:t>min_df</a:t>
            </a:r>
            <a:r>
              <a:rPr lang="en-US" dirty="0"/>
              <a:t> and </a:t>
            </a:r>
            <a:r>
              <a:rPr lang="en-US" dirty="0" err="1"/>
              <a:t>max_df</a:t>
            </a:r>
            <a:endParaRPr lang="en-US" dirty="0"/>
          </a:p>
          <a:p>
            <a:pPr lvl="2">
              <a:buFont typeface="Wingdings" pitchFamily="2" charset="2"/>
              <a:buChar char="§"/>
            </a:pPr>
            <a:r>
              <a:rPr lang="en-US" dirty="0" err="1"/>
              <a:t>min_df</a:t>
            </a:r>
            <a:r>
              <a:rPr lang="en-US" dirty="0"/>
              <a:t> is the minimum number of documents that a term must appear in to be considered a term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 err="1"/>
              <a:t>max_df</a:t>
            </a:r>
            <a:r>
              <a:rPr lang="en-US" dirty="0"/>
              <a:t> is the maximum </a:t>
            </a:r>
            <a:r>
              <a:rPr lang="en-US" i="1" dirty="0"/>
              <a:t>proportion </a:t>
            </a:r>
            <a:r>
              <a:rPr lang="en-US" dirty="0"/>
              <a:t>of documents that a term </a:t>
            </a:r>
            <a:r>
              <a:rPr lang="en-US" i="1" dirty="0"/>
              <a:t>can</a:t>
            </a:r>
            <a:r>
              <a:rPr lang="en-US" dirty="0"/>
              <a:t> appear in to be considered a term.</a:t>
            </a:r>
            <a:endParaRPr lang="en-US" i="1" dirty="0"/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16180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6EEA5-E6AC-FB6A-8E94-0CD897F8F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AE4E-FE64-C130-C3A6-44ACA1F2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Noise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EA762-6BF7-7E65-776E-B6763F85B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We can use different methods for “manually” finding and removing noise in our dataset!</a:t>
            </a:r>
          </a:p>
          <a:p>
            <a:pPr marL="114300" indent="0"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Document frequency</a:t>
            </a:r>
          </a:p>
          <a:p>
            <a:pPr>
              <a:buFont typeface="+mj-lt"/>
              <a:buAutoNum type="arabicPeriod"/>
            </a:pPr>
            <a:r>
              <a:rPr lang="en-US" dirty="0"/>
              <a:t>Check class commonality</a:t>
            </a:r>
          </a:p>
          <a:p>
            <a:pPr>
              <a:buFont typeface="+mj-lt"/>
              <a:buAutoNum type="arabicPeriod"/>
            </a:pPr>
            <a:r>
              <a:rPr lang="en-US" dirty="0"/>
              <a:t>Parameterization!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sklearn</a:t>
            </a:r>
            <a:r>
              <a:rPr lang="en-US" dirty="0"/>
              <a:t> methods like </a:t>
            </a:r>
            <a:r>
              <a:rPr lang="en-US" dirty="0" err="1"/>
              <a:t>TfidfVectorizer</a:t>
            </a:r>
            <a:r>
              <a:rPr lang="en-US" dirty="0"/>
              <a:t>() allow us to specify </a:t>
            </a:r>
            <a:r>
              <a:rPr lang="en-US" dirty="0" err="1"/>
              <a:t>min_df</a:t>
            </a:r>
            <a:r>
              <a:rPr lang="en-US" dirty="0"/>
              <a:t> and </a:t>
            </a:r>
            <a:r>
              <a:rPr lang="en-US" dirty="0" err="1"/>
              <a:t>max_df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TfidfVectorizer</a:t>
            </a:r>
            <a:r>
              <a:rPr lang="en-US" dirty="0"/>
              <a:t>() allows us to specify </a:t>
            </a:r>
            <a:r>
              <a:rPr lang="en-US" dirty="0" err="1"/>
              <a:t>stop_words</a:t>
            </a:r>
            <a:r>
              <a:rPr lang="en-US" dirty="0"/>
              <a:t>, too: i.e., words that will automatically be dismissed as noise!</a:t>
            </a:r>
          </a:p>
        </p:txBody>
      </p:sp>
    </p:spTree>
    <p:extLst>
      <p:ext uri="{BB962C8B-B14F-4D97-AF65-F5344CB8AC3E}">
        <p14:creationId xmlns:p14="http://schemas.microsoft.com/office/powerpoint/2010/main" val="145122462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A51A6-3CFD-7B3D-768B-6A62FCBA2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Validating our feature choice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672F1-A561-09F8-7BF2-424A2B710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Typically, when we introduce features, we want to be able to measure whether those features positively contribute to our model.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40036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53524-0BCD-4E41-15B2-8B5F59393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A2C54-C0AF-6E68-D518-4FF3FB462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Validating our feature choice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73FBF-12D6-DFA3-753A-83E7CCE4C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Typically, when we introduce features, we want to be able to measure whether those features positively contribute to our model.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We can compare our validation performance across feature sets, use some numeric to measure our classification, test ablations, inspect class separation visually, and more!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33795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3C1F9-852C-2F84-1138-BFC0210B5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81A11-DF92-0142-5A87-82C66EA23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Validating features: Performance across feature sets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77117-074E-AFA1-8333-1A93E0D78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We can compare our model’s performance on a validation dataset using different candidate feature sets. </a:t>
            </a:r>
          </a:p>
        </p:txBody>
      </p:sp>
    </p:spTree>
    <p:extLst>
      <p:ext uri="{BB962C8B-B14F-4D97-AF65-F5344CB8AC3E}">
        <p14:creationId xmlns:p14="http://schemas.microsoft.com/office/powerpoint/2010/main" val="382682498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CC91A-F818-C4B3-9400-7699D21DF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86DBB-311D-D199-C9F0-6BAEB4AF5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Validating features: Performance across feature sets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0EF8E-E822-02BA-0AFD-E23EFE7F5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We can compare our model’s performance on a validation dataset using different candidate feature sets.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For example, we can compare performance for each of the following feature sets:</a:t>
            </a:r>
          </a:p>
          <a:p>
            <a:pPr>
              <a:buFont typeface="+mj-lt"/>
              <a:buAutoNum type="arabicPeriod"/>
            </a:pPr>
            <a:r>
              <a:rPr lang="en-US" dirty="0"/>
              <a:t>summary</a:t>
            </a:r>
          </a:p>
          <a:p>
            <a:pPr>
              <a:buFont typeface="+mj-lt"/>
              <a:buAutoNum type="arabicPeriod"/>
            </a:pPr>
            <a:r>
              <a:rPr lang="en-US" dirty="0"/>
              <a:t>text</a:t>
            </a:r>
          </a:p>
          <a:p>
            <a:pPr>
              <a:buFont typeface="+mj-lt"/>
              <a:buAutoNum type="arabicPeriod"/>
            </a:pPr>
            <a:r>
              <a:rPr lang="en-US" dirty="0"/>
              <a:t>summary, text</a:t>
            </a:r>
          </a:p>
          <a:p>
            <a:pPr>
              <a:buFont typeface="+mj-lt"/>
              <a:buAutoNum type="arabicPeriod"/>
            </a:pPr>
            <a:r>
              <a:rPr lang="en-US" dirty="0"/>
              <a:t>summary, text, numeric measure</a:t>
            </a:r>
          </a:p>
        </p:txBody>
      </p:sp>
    </p:spTree>
    <p:extLst>
      <p:ext uri="{BB962C8B-B14F-4D97-AF65-F5344CB8AC3E}">
        <p14:creationId xmlns:p14="http://schemas.microsoft.com/office/powerpoint/2010/main" val="294275012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4376C-A471-73B2-FA84-4FC8618B9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2332D-1FEC-77EE-E0BA-19E313D38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Validating features: Performance across feature sets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C3D49-9781-52EB-95B4-9E88EAF61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4"/>
            <a:ext cx="8520600" cy="373079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We can compare our model’s performance on a validation dataset using different candidate feature sets.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For example, we can compare performance for each of the following feature sets:</a:t>
            </a:r>
          </a:p>
          <a:p>
            <a:pPr>
              <a:buFont typeface="+mj-lt"/>
              <a:buAutoNum type="arabicPeriod"/>
            </a:pPr>
            <a:r>
              <a:rPr lang="en-US" dirty="0"/>
              <a:t>summary</a:t>
            </a:r>
          </a:p>
          <a:p>
            <a:pPr>
              <a:buFont typeface="+mj-lt"/>
              <a:buAutoNum type="arabicPeriod"/>
            </a:pPr>
            <a:r>
              <a:rPr lang="en-US" dirty="0"/>
              <a:t>text</a:t>
            </a:r>
          </a:p>
          <a:p>
            <a:pPr>
              <a:buFont typeface="+mj-lt"/>
              <a:buAutoNum type="arabicPeriod"/>
            </a:pPr>
            <a:r>
              <a:rPr lang="en-US" dirty="0"/>
              <a:t>summary, text</a:t>
            </a:r>
          </a:p>
          <a:p>
            <a:pPr>
              <a:buFont typeface="+mj-lt"/>
              <a:buAutoNum type="arabicPeriod"/>
            </a:pPr>
            <a:r>
              <a:rPr lang="en-US" dirty="0"/>
              <a:t>summary, text, numeric measure</a:t>
            </a:r>
          </a:p>
          <a:p>
            <a:pPr marL="114300" indent="0">
              <a:buNone/>
            </a:pPr>
            <a:r>
              <a:rPr lang="en-US" dirty="0"/>
              <a:t>If the validation set performance gets better with each addition, we have evidence that the introduced feature contributes positively to the model!</a:t>
            </a:r>
          </a:p>
        </p:txBody>
      </p:sp>
    </p:spTree>
    <p:extLst>
      <p:ext uri="{BB962C8B-B14F-4D97-AF65-F5344CB8AC3E}">
        <p14:creationId xmlns:p14="http://schemas.microsoft.com/office/powerpoint/2010/main" val="241555421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61E0B-4EA0-2C92-927A-4A5173CEA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Validating features: numerical measure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F2236-0032-6657-3322-22F9C50AA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If we are looking at explicit class prediction, we can consider the following for different feature sets: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66909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68D7-3931-F69F-0027-38256D151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73041-4B70-C2D0-A126-40D2BA124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Validating features: numerical measure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FE8EC-435E-3CCD-0E73-BF05FC9C3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If we are looking at explicit class prediction, we can consider the following for different feature sets:</a:t>
            </a:r>
          </a:p>
          <a:p>
            <a:r>
              <a:rPr lang="en-US" dirty="0"/>
              <a:t>Accuracy</a:t>
            </a:r>
          </a:p>
          <a:p>
            <a:r>
              <a:rPr lang="en-US" dirty="0"/>
              <a:t>Precision</a:t>
            </a:r>
          </a:p>
          <a:p>
            <a:r>
              <a:rPr lang="en-US" dirty="0"/>
              <a:t>Recall</a:t>
            </a:r>
          </a:p>
          <a:p>
            <a:r>
              <a:rPr lang="en-US" dirty="0"/>
              <a:t>F1-measure</a:t>
            </a:r>
          </a:p>
          <a:p>
            <a:r>
              <a:rPr lang="en-US" dirty="0"/>
              <a:t>Confusion Matrix</a:t>
            </a:r>
          </a:p>
          <a:p>
            <a:r>
              <a:rPr lang="en-US" dirty="0"/>
              <a:t>Cost Matrix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1004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C4DA6-37DC-E498-4558-748058470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BC592-0EF6-D73B-CB11-553DC756F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Validating features: numerical measure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FCD9D-2534-E39F-F0AE-7B7F44861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If we want to prioritize being numerically close to the true value, we can compute the following for different feature sets:</a:t>
            </a:r>
          </a:p>
          <a:p>
            <a:r>
              <a:rPr lang="en-US" dirty="0"/>
              <a:t>RMSE (root mean squared error)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80305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81817-3BE3-8140-884C-9BC2B3D72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92D60-E645-A54C-0411-83BC7938D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Validating features: numerical measure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CB558DD-1F99-F7C5-06C8-28DF4E9E7D3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If we want to prioritize being numerically close to the true value, we can compute the following for different feature sets:</a:t>
                </a:r>
              </a:p>
              <a:p>
                <a:r>
                  <a:rPr lang="en-US" dirty="0"/>
                  <a:t>RMSE (root mean squared error) 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nary>
                        </m:e>
                      </m:rad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      Where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b="0" dirty="0"/>
                  <a:t> is the predicted value for review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is the actual value,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is </a:t>
                </a:r>
                <a:r>
                  <a:rPr lang="en-US" b="0" dirty="0"/>
                  <a:t>the total number of reviews.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CB558DD-1F99-F7C5-06C8-28DF4E9E7D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b="-6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884762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EE121-84D8-33AD-BB2A-CA20D971C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1CB07-AEF1-F578-CDD1-2F42248D2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Validating features: numerical measure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30916-7F33-DBCE-4F7F-D616346B2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If we want to prioritize being numerically close to the true value, we can compute the following for different feature sets:</a:t>
            </a:r>
          </a:p>
          <a:p>
            <a:r>
              <a:rPr lang="en-US" dirty="0"/>
              <a:t>RMSE (root mean squared error) </a:t>
            </a:r>
          </a:p>
          <a:p>
            <a:r>
              <a:rPr lang="en-US" b="0" dirty="0"/>
              <a:t>MAE (</a:t>
            </a:r>
            <a:r>
              <a:rPr lang="en-US" dirty="0"/>
              <a:t>mean absolute error)</a:t>
            </a:r>
            <a:endParaRPr lang="en-US" b="0" dirty="0"/>
          </a:p>
          <a:p>
            <a:pPr marL="114300" indent="0">
              <a:buNone/>
            </a:pPr>
            <a:endParaRPr lang="en-US" b="0" dirty="0"/>
          </a:p>
          <a:p>
            <a:pPr marL="114300" indent="0">
              <a:buNone/>
            </a:pPr>
            <a:endParaRPr lang="en-US" b="0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03228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C8D3B-023E-FA64-401E-BA6218AAA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8F66F-9420-8B85-5066-D65C1B21F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Validating features: numerical measure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8986A0F-F8E6-065D-214C-CA4F74F3155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If we want to prioritize being numerically close to the true value, we can compute the following for different feature sets:</a:t>
                </a:r>
              </a:p>
              <a:p>
                <a:r>
                  <a:rPr lang="en-US" dirty="0"/>
                  <a:t>RMSE (root mean squared error) </a:t>
                </a:r>
              </a:p>
              <a:p>
                <a:r>
                  <a:rPr lang="en-US" b="0" dirty="0"/>
                  <a:t>MAE (</a:t>
                </a:r>
                <a:r>
                  <a:rPr lang="en-US" dirty="0"/>
                  <a:t>mean absolute error)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8986A0F-F8E6-065D-214C-CA4F74F315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b="-8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070881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F3C3D-852F-A9F1-8B83-FDE11B742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Validating features: inspecting class separation visually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E889D-82CD-54D4-948E-4156D05B4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It can be supporting evidence to see that the introduction of a feature leads to stronger class separation. We can inspect this visually by projecting our data onto a 2D or 3D plane. </a:t>
            </a:r>
          </a:p>
        </p:txBody>
      </p:sp>
    </p:spTree>
    <p:extLst>
      <p:ext uri="{BB962C8B-B14F-4D97-AF65-F5344CB8AC3E}">
        <p14:creationId xmlns:p14="http://schemas.microsoft.com/office/powerpoint/2010/main" val="368066052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FC2CB-0B90-3D2C-3CDE-E000E5C4D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B5883-9280-D614-AA88-51BB856EB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Validating features: inspecting class separation visually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14B05-B87A-9001-592D-50D700DAE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It can be supporting evidence to see that the introduction of a feature leads to stronger class separation. We can inspect this visually by projecting our data onto a 2D or 3D plane.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For example, if we want to visually inspect the quality of LSA embeddings: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40903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8EB54-9E38-7E41-CC6E-15BC577D5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2A5E7-9C73-72AB-7CA8-876FA0517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Validating features: inspecting class separation visually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1FF2A-A804-1347-BA47-8A5A6301EA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It can be </a:t>
            </a:r>
            <a:r>
              <a:rPr lang="en-US" i="1" dirty="0"/>
              <a:t>supporting </a:t>
            </a:r>
            <a:r>
              <a:rPr lang="en-US" dirty="0"/>
              <a:t>evidence to see that the introduction of a feature leads to stronger visual class separation. We can inspect this visually by projecting our data onto a 2D or 3D plane.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For example, if we want to visually inspect the quality of LSA embeddings:</a:t>
            </a:r>
          </a:p>
          <a:p>
            <a:pPr>
              <a:buFont typeface="+mj-lt"/>
              <a:buAutoNum type="arabicPeriod"/>
            </a:pPr>
            <a:r>
              <a:rPr lang="en-US" dirty="0"/>
              <a:t>project data to 2D using PCA (principal component analysis)</a:t>
            </a:r>
          </a:p>
          <a:p>
            <a:pPr>
              <a:buFont typeface="+mj-lt"/>
              <a:buAutoNum type="arabicPeriod"/>
            </a:pPr>
            <a:r>
              <a:rPr lang="en-US" dirty="0"/>
              <a:t>color data by score</a:t>
            </a:r>
          </a:p>
          <a:p>
            <a:pPr>
              <a:buFont typeface="+mj-lt"/>
              <a:buAutoNum type="arabicPeriod"/>
            </a:pPr>
            <a:r>
              <a:rPr lang="en-US" dirty="0"/>
              <a:t>look for partial clustering or coherent structure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410831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DD4E1-108E-E45D-8EEA-3909F8AD3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218050"/>
            <a:ext cx="8520600" cy="707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Working with a multi-class dataset</a:t>
            </a:r>
          </a:p>
        </p:txBody>
      </p:sp>
    </p:spTree>
    <p:extLst>
      <p:ext uri="{BB962C8B-B14F-4D97-AF65-F5344CB8AC3E}">
        <p14:creationId xmlns:p14="http://schemas.microsoft.com/office/powerpoint/2010/main" val="229769952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91378-3CA9-D18E-8662-550DBF1C6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Multi-class classification tasks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5548DC-5E0E-8A9B-606F-F3EF45CB7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In many cases, we aren’t doing binary classification (e.g., yes or no). Rather, there are many possible classes, ordinal or nominal. </a:t>
            </a:r>
          </a:p>
        </p:txBody>
      </p:sp>
    </p:spTree>
    <p:extLst>
      <p:ext uri="{BB962C8B-B14F-4D97-AF65-F5344CB8AC3E}">
        <p14:creationId xmlns:p14="http://schemas.microsoft.com/office/powerpoint/2010/main" val="445323609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F9A00-F077-E8D8-2B4F-56EF488B4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F5C89-16CF-6ADB-BA77-7600AF416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Multi-class classification tasks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AA736-2632-9D00-3A22-087225FB1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In many cases, we aren’t doing binary classification (e.g., yes or no). Rather, there are many possible classes, ordinal or nominal.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Our movie review dataset is an example of a multi-class dataset! We have reviews ranging from 1 star to 5 stars</a:t>
            </a:r>
          </a:p>
        </p:txBody>
      </p:sp>
    </p:spTree>
    <p:extLst>
      <p:ext uri="{BB962C8B-B14F-4D97-AF65-F5344CB8AC3E}">
        <p14:creationId xmlns:p14="http://schemas.microsoft.com/office/powerpoint/2010/main" val="1577330226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10909-6E49-BF9A-106C-BB4EBF075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2D046-9FBE-B7AD-6248-39492867E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Multi-class classification tasks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33FB8-4E52-8097-6096-85B2245E7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In many cases, we aren’t doing binary classification (e.g., yes or no). Rather, there are many possible classes, ordinal or nominal.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Our movie review dataset is an example of a multi-class dataset! We have reviews ranging from 1 star to 5 stars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Not all models handle multi-class classification tasks well. Additionally, there are different ways to tackle the multi-class problem</a:t>
            </a:r>
          </a:p>
        </p:txBody>
      </p:sp>
    </p:spTree>
    <p:extLst>
      <p:ext uri="{BB962C8B-B14F-4D97-AF65-F5344CB8AC3E}">
        <p14:creationId xmlns:p14="http://schemas.microsoft.com/office/powerpoint/2010/main" val="201361621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4516D-3E91-F112-85F0-270CA75DD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B6F74-F22B-1251-72F8-8C513692A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 1: problem reduction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72EF9-D4C9-EB87-97E6-9678C7649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We can turn our multi-class classification problem into multiple binary problems.</a:t>
            </a:r>
          </a:p>
        </p:txBody>
      </p:sp>
    </p:spTree>
    <p:extLst>
      <p:ext uri="{BB962C8B-B14F-4D97-AF65-F5344CB8AC3E}">
        <p14:creationId xmlns:p14="http://schemas.microsoft.com/office/powerpoint/2010/main" val="361605310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A537B-0520-DBAF-7B79-19A703D98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7E77F-B32B-02F9-9F07-03C3688D6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 1: problem reduction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B12A0-F853-4FBC-EB4F-BFBAD7271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We can turn our multi-class classification problem into multiple binary problems.</a:t>
            </a:r>
          </a:p>
          <a:p>
            <a:r>
              <a:rPr lang="en-US" dirty="0"/>
              <a:t>One vs. rest: for a new point, choose the class with the strongest score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1 star vs NOT 1 star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2 stars vs NOT 2 stars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3 stars vs NOT 3 stars</a:t>
            </a:r>
          </a:p>
          <a:p>
            <a:pPr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661454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EE55D-3C57-067C-8AB2-3C9C4BE59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530D9-1F5C-5FBB-EC56-1A5121BEF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 1: problem reduction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9E3FE-8D83-75E4-03E7-6A781B640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We can turn our multi-class classification problem into multiple binary problems.</a:t>
            </a:r>
          </a:p>
          <a:p>
            <a:r>
              <a:rPr lang="en-US" dirty="0"/>
              <a:t>One vs. rest: for a new point, choose the class with the strongest score</a:t>
            </a:r>
          </a:p>
          <a:p>
            <a:r>
              <a:rPr lang="en-US" dirty="0"/>
              <a:t>One vs. one: train a classifier for ever pair of classes</a:t>
            </a:r>
          </a:p>
          <a:p>
            <a:pPr lvl="1"/>
            <a:r>
              <a:rPr lang="en-US" dirty="0"/>
              <a:t>1 star vs 2 stars</a:t>
            </a:r>
          </a:p>
          <a:p>
            <a:pPr lvl="1"/>
            <a:r>
              <a:rPr lang="en-US" dirty="0"/>
              <a:t>1 star vs 3 stars</a:t>
            </a:r>
          </a:p>
          <a:p>
            <a:pPr lvl="1"/>
            <a:r>
              <a:rPr lang="en-US" dirty="0"/>
              <a:t>1 star vs 4 stars</a:t>
            </a:r>
          </a:p>
          <a:p>
            <a:pPr lvl="1"/>
            <a:r>
              <a:rPr lang="en-US" dirty="0"/>
              <a:t>etc. </a:t>
            </a:r>
          </a:p>
          <a:p>
            <a:pPr marL="114300" indent="0">
              <a:buNone/>
            </a:pPr>
            <a:r>
              <a:rPr lang="en-US" dirty="0"/>
              <a:t>      Then, combine all pairwise votes</a:t>
            </a:r>
          </a:p>
        </p:txBody>
      </p:sp>
    </p:spTree>
    <p:extLst>
      <p:ext uri="{BB962C8B-B14F-4D97-AF65-F5344CB8AC3E}">
        <p14:creationId xmlns:p14="http://schemas.microsoft.com/office/powerpoint/2010/main" val="394906235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183D0-8C5D-EEBA-02E0-5E0A66F61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 2: Changing how we treat the target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FF7B3-337A-E3F9-F68D-3A6026439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If the class labels are ordinal and we care about being close to the true value as opposed to spot on, we can use a regression model instead. </a:t>
            </a:r>
          </a:p>
        </p:txBody>
      </p:sp>
    </p:spTree>
    <p:extLst>
      <p:ext uri="{BB962C8B-B14F-4D97-AF65-F5344CB8AC3E}">
        <p14:creationId xmlns:p14="http://schemas.microsoft.com/office/powerpoint/2010/main" val="8142504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0E899-BB61-B8CC-1D70-B0A43F41D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93A0C-7B59-035C-3FD4-9D8660933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 2: Changing how we treat the target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D4268-5B99-9C8D-9268-787C5E006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If the class labels are ordinal and we care about being close to the true value as opposed to spot on, we can use a regression model instead.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For example, if predicting 4 stars instead of 5 stars isn’t that bad, we can use a regression model instead of a classification model.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2047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3687A-D5A3-D725-8FBB-2208E6BF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11396-391E-3365-67B0-5EF64F60B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 2: Changing how we treat the target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EEE1B-CC0E-C277-9419-9D17B21E8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If the class labels are ordinal and we care about being close to the true value as opposed to spot on, we can use a regression model instead.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For example, if predicting 4 stars instead of 5 stars isn’t that bad, we can use a regression model instead of a classification model. </a:t>
            </a:r>
          </a:p>
          <a:p>
            <a:r>
              <a:rPr lang="en-US" dirty="0"/>
              <a:t>E.g., KNN regression, SVR, etc.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32916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72C12-FB2A-1C94-05D0-210BED674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D8D82-9B4A-561A-AD03-119109980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 2: Changing how we treat the target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C1CA2-671B-5DC0-EB02-3AE0744D1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If the class labels are ordinal and we care about being close to the true value as opposed to spot on, we can use a regression model instead.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For example, if predicting 4 stars instead of 5 stars isn’t that bad, we can use a regression model instead of a classification model. </a:t>
            </a:r>
          </a:p>
          <a:p>
            <a:r>
              <a:rPr lang="en-US" dirty="0"/>
              <a:t>E.g., KNN regression, SVR, etc.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Instead of forcing exact class prediction, we predict a numeric score.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9813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B6B44-A6B8-361C-58FD-5E0BAE764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 3: Handling class imbalance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AAC5D-1CE4-9F96-2079-5E1C886D7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5"/>
            <a:ext cx="8520600" cy="377920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Multiclass datasets may be imbalanced. For example, we may have mostly 5-star reviews and then fewer 1-, 2-, 3-, and 4-star reviews.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09478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951DC-8033-B1E6-2719-00F05BA8B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E7AAB-E880-1348-8D35-D90F70B26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 3: Handling class imbalance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98693-3D2A-B3E3-627C-16F82FF76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5"/>
            <a:ext cx="8520600" cy="377920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Multiclass datasets may be imbalanced. For example, we may have mostly 5-star reviews and then fewer 1-, 2-, 3-, and 4-star reviews.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Here are some approaches to deal with this bias:</a:t>
            </a:r>
          </a:p>
        </p:txBody>
      </p:sp>
    </p:spTree>
    <p:extLst>
      <p:ext uri="{BB962C8B-B14F-4D97-AF65-F5344CB8AC3E}">
        <p14:creationId xmlns:p14="http://schemas.microsoft.com/office/powerpoint/2010/main" val="275532717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22710-3E1F-0B67-34D1-C3C6B07E7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95034-EA90-648F-7484-A51E2A898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 3: Handling class imbalance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77080-A184-4ED0-069A-A972E86F4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5"/>
            <a:ext cx="8520600" cy="377920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Multiclass datasets may be imbalanced. For example, we may have mostly 5-star reviews and then fewer 1-, 2-, 3-, and 4-star reviews.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Here are some approaches to deal with this bias:</a:t>
            </a:r>
          </a:p>
          <a:p>
            <a:pPr>
              <a:buFont typeface="+mj-lt"/>
              <a:buAutoNum type="arabicPeriod"/>
            </a:pPr>
            <a:r>
              <a:rPr lang="en-US" dirty="0"/>
              <a:t>Class weights: e.g., weighing the rare classes heavier</a:t>
            </a:r>
          </a:p>
        </p:txBody>
      </p:sp>
    </p:spTree>
    <p:extLst>
      <p:ext uri="{BB962C8B-B14F-4D97-AF65-F5344CB8AC3E}">
        <p14:creationId xmlns:p14="http://schemas.microsoft.com/office/powerpoint/2010/main" val="11849451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ADFB0-3F5E-303C-62EF-6E2E0EEA3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D7-AFD2-09A1-D9C2-8CC20EC53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 3: Handling class imbalance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FCECC-7852-1F86-6BA7-372276017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5"/>
            <a:ext cx="8520600" cy="377920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Multiclass datasets may be imbalanced. For example, we may have mostly 5-star reviews and then fewer 1-, 2-, 3-, and 4-star reviews.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Here are some approaches to deal with this bias:</a:t>
            </a:r>
          </a:p>
          <a:p>
            <a:pPr>
              <a:buFont typeface="+mj-lt"/>
              <a:buAutoNum type="arabicPeriod"/>
            </a:pPr>
            <a:r>
              <a:rPr lang="en-US" dirty="0"/>
              <a:t>Class weights</a:t>
            </a:r>
          </a:p>
          <a:p>
            <a:pPr>
              <a:buFont typeface="+mj-lt"/>
              <a:buAutoNum type="arabicPeriod"/>
            </a:pPr>
            <a:r>
              <a:rPr lang="en-US" dirty="0"/>
              <a:t>Stratified train/test split: intentionally evening out the classes that we train on</a:t>
            </a:r>
          </a:p>
        </p:txBody>
      </p:sp>
    </p:spTree>
    <p:extLst>
      <p:ext uri="{BB962C8B-B14F-4D97-AF65-F5344CB8AC3E}">
        <p14:creationId xmlns:p14="http://schemas.microsoft.com/office/powerpoint/2010/main" val="57731503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6DEC7-BF06-0B7A-8EA9-502E89070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30ED6-4FBF-6B83-45BC-F40139D7D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 3: Handling class imbalance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B515D-C904-ACCA-22A0-1B465875A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5"/>
            <a:ext cx="8520600" cy="377920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Multiclass datasets may be imbalanced. For example, we may have mostly 5-star reviews and then fewer 1-, 2-, 3-, and 4-star reviews.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Here are some approaches to deal with this bias:</a:t>
            </a:r>
          </a:p>
          <a:p>
            <a:pPr>
              <a:buFont typeface="+mj-lt"/>
              <a:buAutoNum type="arabicPeriod"/>
            </a:pPr>
            <a:r>
              <a:rPr lang="en-US" dirty="0"/>
              <a:t>Class weights</a:t>
            </a:r>
          </a:p>
          <a:p>
            <a:pPr>
              <a:buFont typeface="+mj-lt"/>
              <a:buAutoNum type="arabicPeriod"/>
            </a:pPr>
            <a:r>
              <a:rPr lang="en-US" dirty="0"/>
              <a:t>Stratified train/test split</a:t>
            </a:r>
          </a:p>
          <a:p>
            <a:pPr>
              <a:buFont typeface="+mj-lt"/>
              <a:buAutoNum type="arabicPeriod"/>
            </a:pPr>
            <a:r>
              <a:rPr lang="en-US" dirty="0"/>
              <a:t>F1 measure or cost matrix as opposed to plain accuracy or 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21289164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26B6E-3A4F-FB69-7F2F-C75BC61E3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4DDC0-2BB7-2BBB-9E88-722B826B2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 3: Handling class imbalance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93ADE-FD98-3990-D6DB-D5BEAD26C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5"/>
            <a:ext cx="8520600" cy="377920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Multiclass datasets may be imbalanced. For example, we may have mostly 5-star reviews and then fewer 1-, 2-, 3-, and 4-star reviews.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Here are some approaches to deal with this bias:</a:t>
            </a:r>
          </a:p>
          <a:p>
            <a:pPr>
              <a:buFont typeface="+mj-lt"/>
              <a:buAutoNum type="arabicPeriod"/>
            </a:pPr>
            <a:r>
              <a:rPr lang="en-US" dirty="0"/>
              <a:t>Class weights</a:t>
            </a:r>
          </a:p>
          <a:p>
            <a:pPr>
              <a:buFont typeface="+mj-lt"/>
              <a:buAutoNum type="arabicPeriod"/>
            </a:pPr>
            <a:r>
              <a:rPr lang="en-US" dirty="0"/>
              <a:t>Stratified train/test split</a:t>
            </a:r>
          </a:p>
          <a:p>
            <a:pPr>
              <a:buFont typeface="+mj-lt"/>
              <a:buAutoNum type="arabicPeriod"/>
            </a:pPr>
            <a:r>
              <a:rPr lang="en-US" dirty="0"/>
              <a:t>F1 measure or cost matrix</a:t>
            </a:r>
          </a:p>
          <a:p>
            <a:pPr marL="114300" indent="0">
              <a:buNone/>
            </a:pPr>
            <a:r>
              <a:rPr lang="en-US" dirty="0"/>
              <a:t>If we take no precautions, we run the danger of the model favoring the biggest classes!</a:t>
            </a:r>
          </a:p>
          <a:p>
            <a:pPr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200266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49396-FD4F-F344-1023-76B591708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61B25-6E6B-F376-8768-961821FEA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218050"/>
            <a:ext cx="8520600" cy="707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Working with many features</a:t>
            </a:r>
          </a:p>
        </p:txBody>
      </p:sp>
    </p:spTree>
    <p:extLst>
      <p:ext uri="{BB962C8B-B14F-4D97-AF65-F5344CB8AC3E}">
        <p14:creationId xmlns:p14="http://schemas.microsoft.com/office/powerpoint/2010/main" val="114316010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38145-CA6B-3DD9-EBFC-0DBE6CB70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 we care about utilizing multiple features?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26F19-47E0-BD52-C02D-7C76257B8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In our movie review dataset, when predicting a review, we may want to consider:</a:t>
            </a:r>
          </a:p>
        </p:txBody>
      </p:sp>
    </p:spTree>
    <p:extLst>
      <p:ext uri="{BB962C8B-B14F-4D97-AF65-F5344CB8AC3E}">
        <p14:creationId xmlns:p14="http://schemas.microsoft.com/office/powerpoint/2010/main" val="3481573263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3F24F-BB4B-EA44-599D-325F8BEBF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465E6-49A7-3806-F003-C021B7247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 we care about utilizing multiple features?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D9B90-6432-1D71-3E7D-9DDF3411C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In our movie review dataset, when predicting a review, we may want to consider: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The reviewer’s historical bias </a:t>
            </a:r>
            <a:r>
              <a:rPr lang="en-US" b="1" dirty="0"/>
              <a:t>AND</a:t>
            </a:r>
          </a:p>
        </p:txBody>
      </p:sp>
    </p:spTree>
    <p:extLst>
      <p:ext uri="{BB962C8B-B14F-4D97-AF65-F5344CB8AC3E}">
        <p14:creationId xmlns:p14="http://schemas.microsoft.com/office/powerpoint/2010/main" val="76643940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00926-D0F9-B18D-A630-306BD1C44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965C2-853B-CFAA-D3F5-58FC21B07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 we care about utilizing multiple features?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5EB46-7CB3-FF1D-D09F-2B2EEEDAD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In our movie review dataset, when predicting a review, we may want to consider: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The reviewer’s historical bias </a:t>
            </a:r>
            <a:r>
              <a:rPr lang="en-US" b="1" dirty="0"/>
              <a:t>AND </a:t>
            </a:r>
            <a:r>
              <a:rPr lang="en-US" dirty="0"/>
              <a:t>the movie’s historical reviews </a:t>
            </a:r>
            <a:r>
              <a:rPr lang="en-US" b="1" dirty="0"/>
              <a:t>AND </a:t>
            </a:r>
          </a:p>
        </p:txBody>
      </p:sp>
    </p:spTree>
    <p:extLst>
      <p:ext uri="{BB962C8B-B14F-4D97-AF65-F5344CB8AC3E}">
        <p14:creationId xmlns:p14="http://schemas.microsoft.com/office/powerpoint/2010/main" val="1725199702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FF64A-BC75-A1DE-EFA6-F7D4DD4F1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3D748-C03C-FFBC-34A2-DB837328C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 we care about utilizing multiple features?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B53F3-D744-DE35-565B-E280079F8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In our movie review dataset, when predicting a review, we may want to consider: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The reviewer’s historical bias </a:t>
            </a:r>
            <a:r>
              <a:rPr lang="en-US" b="1" dirty="0"/>
              <a:t>AND </a:t>
            </a:r>
            <a:r>
              <a:rPr lang="en-US" dirty="0"/>
              <a:t>the movie’s historical reviews </a:t>
            </a:r>
            <a:r>
              <a:rPr lang="en-US" b="1" dirty="0"/>
              <a:t>AND </a:t>
            </a:r>
            <a:r>
              <a:rPr lang="en-US" dirty="0"/>
              <a:t>the sentiment of the summary </a:t>
            </a:r>
            <a:r>
              <a:rPr lang="en-US" b="1" dirty="0"/>
              <a:t>AND</a:t>
            </a:r>
            <a:r>
              <a:rPr lang="en-US" dirty="0"/>
              <a:t>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20910079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E8B0E-C80C-D9DD-B464-37B59704F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A2973-82FA-B89C-6D8B-2F47979A8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 we care about utilizing multiple features?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6D55E-7C2D-1921-D020-9C3243544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In our movie review dataset, when predicting a review, we may want to consider: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The reviewer’s historical bias </a:t>
            </a:r>
            <a:r>
              <a:rPr lang="en-US" b="1" dirty="0"/>
              <a:t>AND </a:t>
            </a:r>
            <a:r>
              <a:rPr lang="en-US" dirty="0"/>
              <a:t>the movie’s historical reviews </a:t>
            </a:r>
            <a:r>
              <a:rPr lang="en-US" b="1" dirty="0"/>
              <a:t>AND </a:t>
            </a:r>
            <a:r>
              <a:rPr lang="en-US" dirty="0"/>
              <a:t>the sentiment of the summary </a:t>
            </a:r>
            <a:r>
              <a:rPr lang="en-US" b="1" dirty="0"/>
              <a:t>AND</a:t>
            </a:r>
            <a:r>
              <a:rPr lang="en-US" dirty="0"/>
              <a:t> the sentiment of the text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3805522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9E780-FE2B-6E0A-EE68-0E9043D74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A86B7-3376-7E95-346D-8D4E321A0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 we care about utilizing multiple features?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51C37-E73B-E95E-4533-8B26ED4EB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In our movie review dataset, when predicting a review, we may want to consider: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The reviewer’s historical bias </a:t>
            </a:r>
            <a:r>
              <a:rPr lang="en-US" b="1" dirty="0"/>
              <a:t>AND </a:t>
            </a:r>
            <a:r>
              <a:rPr lang="en-US" dirty="0"/>
              <a:t>the movie’s historical reviews </a:t>
            </a:r>
            <a:r>
              <a:rPr lang="en-US" b="1" dirty="0"/>
              <a:t>AND </a:t>
            </a:r>
            <a:r>
              <a:rPr lang="en-US" dirty="0"/>
              <a:t>the sentiment of the summary </a:t>
            </a:r>
            <a:r>
              <a:rPr lang="en-US" b="1" dirty="0"/>
              <a:t>AND</a:t>
            </a:r>
            <a:r>
              <a:rPr lang="en-US" dirty="0"/>
              <a:t> the sentiment of the text</a:t>
            </a:r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167952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52D21-0946-6CD4-0204-C045455BB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E78B8-2777-3152-7066-2F162EB0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 we care about utilizing multiple features?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3354A-47C3-1433-6C3F-A924259BB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In our movie review dataset, when predicting a review, we may want to consider: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The reviewer’s historical bias </a:t>
            </a:r>
            <a:r>
              <a:rPr lang="en-US" b="1" dirty="0"/>
              <a:t>AND </a:t>
            </a:r>
            <a:r>
              <a:rPr lang="en-US" dirty="0"/>
              <a:t>the movie’s historical reviews </a:t>
            </a:r>
            <a:r>
              <a:rPr lang="en-US" b="1" dirty="0"/>
              <a:t>AND </a:t>
            </a:r>
            <a:r>
              <a:rPr lang="en-US" dirty="0"/>
              <a:t>the sentiment of the summary </a:t>
            </a:r>
            <a:r>
              <a:rPr lang="en-US" b="1" dirty="0"/>
              <a:t>AND</a:t>
            </a:r>
            <a:r>
              <a:rPr lang="en-US" dirty="0"/>
              <a:t> the sentiment of the text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Instead of passing in </a:t>
            </a:r>
            <a:r>
              <a:rPr lang="en-US" i="1" dirty="0"/>
              <a:t>just </a:t>
            </a:r>
            <a:r>
              <a:rPr lang="en-US" dirty="0"/>
              <a:t>embeddings or </a:t>
            </a:r>
            <a:r>
              <a:rPr lang="en-US" i="1" dirty="0"/>
              <a:t>just </a:t>
            </a:r>
            <a:r>
              <a:rPr lang="en-US" dirty="0"/>
              <a:t>numerical values for user or product biases, we can form a feature matrix that encompasses all of these!</a:t>
            </a:r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244798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A6AC1-FE23-4422-24CA-C13666E2E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1F905-A57B-40AF-6636-C1C56DD00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 matrix: concatenation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88E42E5-CA38-DBE5-D251-86C6014B303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For example, we can construct a feature matrix that looks like the following: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summary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text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user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bias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product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bias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Where each row is a review</a:t>
                </a: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88E42E5-CA38-DBE5-D251-86C6014B30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3821303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F2DCD-5AE6-C8E5-D1D0-8A92BBFD8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66B21-F5C8-BB29-05E3-0AAB64051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 matrix: concatenation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8EA6309-7F1D-1F5C-802A-F609078752F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For example, we can construct a feature matrix that looks like the following: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summary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text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user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bias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product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bias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Where each row is a review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Then, the classifier or model will learn to predict from this representation of our data!</a:t>
                </a: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8EA6309-7F1D-1F5C-802A-F609078752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2151300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57123-53C0-D984-6078-EC7815368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7B292-4F4C-067F-0903-E7A4172FC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 matrix: concatenation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8247AA8-9158-B1EA-389D-F3A54DBE1F4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For example, we can construct a feature matrix that looks like the following: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summary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text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user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bias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product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bias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Where each row is a review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Then, the classifier or model will learn to predict from this representation of our data!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r>
                  <a:rPr lang="en-US" dirty="0"/>
                  <a:t>As we have discussed, you can get creative with how you represent each of these features! (e.g., LSA embeddings for summary and text)</a:t>
                </a: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8247AA8-9158-B1EA-389D-F3A54DBE1F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893732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7B6B1-B0F3-822B-9D3B-BFD58711D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 matrix: combination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2B2A0-101E-85BF-5DD0-7DAB45F85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Going back to the example with summary and text, we can combine the two (total = summary + “ “ + text), extract features using LSA then include those extracted features in our feature matrix:</a:t>
            </a:r>
          </a:p>
        </p:txBody>
      </p:sp>
    </p:spTree>
    <p:extLst>
      <p:ext uri="{BB962C8B-B14F-4D97-AF65-F5344CB8AC3E}">
        <p14:creationId xmlns:p14="http://schemas.microsoft.com/office/powerpoint/2010/main" val="23710816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3A222-9962-946B-64EE-19F22ABC1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FEA4E-7C15-993E-242B-01916CE4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 matrix: combination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C2D4002-6ADA-E7D5-487F-E769C9273DF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Going back to the example with summary and text, we can combine the two (total = summary + “ “ + text), extract features using LSA then include those extracted features in our feature matrix: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summary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text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numeric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C2D4002-6ADA-E7D5-487F-E769C9273D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3402172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778A2-9CBE-98E8-D0BA-BB60A42B6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DEF1D-12C5-87FB-332E-FF83C7717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 matrix: combination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9E0E303-D051-B9BA-91F7-464CCBFED60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Going back to the example with summary and text, we can combine the two (total = summary + “ “ + text), extract features using LSA then include those extracted features in our feature matrix: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summary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text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numeric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Additionally, if we think that the summary is going to be very important, we can do the following: total = summary + “ “ + text + “ “ + summary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9E0E303-D051-B9BA-91F7-464CCBFED6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3598165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AD424-DA82-2BAD-FAAB-96D347ABD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 matrix: combination then dimension reduction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4F633B6-8CC8-085F-39BE-A491350E80D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If we end up combining our features and making a very large feature matrix: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summary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text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user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bias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product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bias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4F633B6-8CC8-085F-39BE-A491350E8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4790964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DE941-F3AD-AD08-1BF2-9E06934DD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EDA11-8265-B2A4-62AA-C4D8E0990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Feature matrix: combination then dimension reduction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7F52856-C3D7-2767-F5D2-DF185792969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If we end up combining our features and making a very large feature matrix: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summary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text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user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bias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product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bias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We can run SVD after combination to compress our feature matrix then train our model on the reduced version!</a:t>
                </a:r>
              </a:p>
              <a:p>
                <a:pPr marL="114300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7F52856-C3D7-2767-F5D2-DF18579296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4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9747932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B70CA-05F1-5F81-FD87-205681531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Important consideration: scaling!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76A06-05EC-0F16-2682-8F69097C1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When combining different feature types with different scales, some features may end up dominating unintentionally!</a:t>
            </a:r>
          </a:p>
        </p:txBody>
      </p:sp>
    </p:spTree>
    <p:extLst>
      <p:ext uri="{BB962C8B-B14F-4D97-AF65-F5344CB8AC3E}">
        <p14:creationId xmlns:p14="http://schemas.microsoft.com/office/powerpoint/2010/main" val="2762577663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ACCFB-C8EA-B4ED-B71F-383C25A87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EDEE0-475C-9F0C-00E7-997F4B862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Important consideration: scaling!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A3827-4C73-AE80-8CB8-50EF9D5EF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When combining different feature types with different scales, some features may end up dominating unintentionally!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We can avoid this problem by: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905495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CCC3C-CB41-58AA-297C-9C15FE04C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6E679-E512-007B-656D-1ED46A1E7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Important consideration: scaling!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1DC81-9E79-0BE1-D01C-DDA494B65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When combining different feature types with different scales, some features may end up dominating unintentionally!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We can avoid this problem by:</a:t>
            </a:r>
          </a:p>
          <a:p>
            <a:pPr>
              <a:buFont typeface="+mj-lt"/>
              <a:buAutoNum type="arabicPeriod"/>
            </a:pPr>
            <a:r>
              <a:rPr lang="en-US" dirty="0"/>
              <a:t>build each feature block separately</a:t>
            </a:r>
          </a:p>
          <a:p>
            <a:pPr>
              <a:buFont typeface="+mj-lt"/>
              <a:buAutoNum type="arabicPeriod"/>
            </a:pPr>
            <a:r>
              <a:rPr lang="en-US" dirty="0"/>
              <a:t>normalize or scale each block in a sensible manner</a:t>
            </a:r>
          </a:p>
          <a:p>
            <a:pPr>
              <a:buFont typeface="+mj-lt"/>
              <a:buAutoNum type="arabicPeriod"/>
            </a:pPr>
            <a:r>
              <a:rPr lang="en-US" dirty="0"/>
              <a:t>combine them into a single matrix 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889201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BE669-2CC1-B849-36D0-711B3BC67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B7778-A292-D95D-C04E-6D4FE94F5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Important consideration: scaling!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C9C1E-CE54-3020-0D5A-16BB18DDA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6324"/>
            <a:ext cx="8520600" cy="3546307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When combining different feature types with different scales, some features may end up dominating unintentionally!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We can avoid this problem by:</a:t>
            </a:r>
          </a:p>
          <a:p>
            <a:pPr>
              <a:buFont typeface="+mj-lt"/>
              <a:buAutoNum type="arabicPeriod"/>
            </a:pPr>
            <a:r>
              <a:rPr lang="en-US" dirty="0"/>
              <a:t>build each feature block separately</a:t>
            </a:r>
          </a:p>
          <a:p>
            <a:pPr>
              <a:buFont typeface="+mj-lt"/>
              <a:buAutoNum type="arabicPeriod"/>
            </a:pPr>
            <a:r>
              <a:rPr lang="en-US" dirty="0"/>
              <a:t>normalize or scale each block in a sensible manner</a:t>
            </a:r>
          </a:p>
          <a:p>
            <a:pPr>
              <a:buFont typeface="+mj-lt"/>
              <a:buAutoNum type="arabicPeriod"/>
            </a:pPr>
            <a:r>
              <a:rPr lang="en-US" dirty="0"/>
              <a:t>combine them horizontally into a single matrix 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All of the features required to do this are easily found in scikit-learn and </a:t>
            </a:r>
            <a:r>
              <a:rPr lang="en-US" dirty="0" err="1"/>
              <a:t>numpy</a:t>
            </a:r>
            <a:r>
              <a:rPr lang="en-US" dirty="0"/>
              <a:t>!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755062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9E7AB-892B-3AA3-0929-1558B7338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Note about the midterm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C15B0-FB9B-1D18-1778-A416D3B6C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critical that you do not try to spam submissions to Kaggle! This will not help you. </a:t>
            </a:r>
          </a:p>
          <a:p>
            <a:r>
              <a:rPr lang="en-US" dirty="0"/>
              <a:t>Utilize the evaluation and parameter-tuning techniques discussed in this slide show! </a:t>
            </a:r>
          </a:p>
          <a:p>
            <a:r>
              <a:rPr lang="en-US" dirty="0"/>
              <a:t>Please consider creating a validation set for your model so that you can test your model without uploading to Kaggle every time!</a:t>
            </a:r>
          </a:p>
          <a:p>
            <a:pPr lvl="1"/>
            <a:r>
              <a:rPr lang="en-US" dirty="0"/>
              <a:t>When you finalize your model or are ready to make a submission, you can train your model on the training set + validation set if you want!</a:t>
            </a:r>
          </a:p>
        </p:txBody>
      </p:sp>
    </p:spTree>
    <p:extLst>
      <p:ext uri="{BB962C8B-B14F-4D97-AF65-F5344CB8AC3E}">
        <p14:creationId xmlns:p14="http://schemas.microsoft.com/office/powerpoint/2010/main" val="2963638971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7243</Words>
  <Application>Microsoft Macintosh PowerPoint</Application>
  <PresentationFormat>On-screen Show (16:9)</PresentationFormat>
  <Paragraphs>957</Paragraphs>
  <Slides>167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167</vt:i4>
      </vt:variant>
    </vt:vector>
  </HeadingPairs>
  <TitlesOfParts>
    <vt:vector size="174" baseType="lpstr">
      <vt:lpstr>Courier New</vt:lpstr>
      <vt:lpstr>Arial</vt:lpstr>
      <vt:lpstr>Cambria Math</vt:lpstr>
      <vt:lpstr>Open Sans</vt:lpstr>
      <vt:lpstr>Wingdings</vt:lpstr>
      <vt:lpstr>PT Sans Narrow</vt:lpstr>
      <vt:lpstr>Tropic</vt:lpstr>
      <vt:lpstr>Review</vt:lpstr>
      <vt:lpstr>Dataset</vt:lpstr>
      <vt:lpstr>PowerPoint Presentation</vt:lpstr>
      <vt:lpstr>PowerPoint Presentation</vt:lpstr>
      <vt:lpstr>Recall: data science workflow</vt:lpstr>
      <vt:lpstr>TFIDF Matrices</vt:lpstr>
      <vt:lpstr>Recall: TF-IDF</vt:lpstr>
      <vt:lpstr>TF-IDF for movie reviews</vt:lpstr>
      <vt:lpstr>TF-IDF for movie reviews</vt:lpstr>
      <vt:lpstr>Parameterizing TFIDF</vt:lpstr>
      <vt:lpstr>Parameterizing TFIDF</vt:lpstr>
      <vt:lpstr>Parameterizing TFIDF</vt:lpstr>
      <vt:lpstr>Parameterizing TFIDF</vt:lpstr>
      <vt:lpstr>Parameterizing TFIDF – lowercase: bool</vt:lpstr>
      <vt:lpstr>Parameterizing TFIDF – lowercase: bool</vt:lpstr>
      <vt:lpstr>Parameterizing TFIDF – lowercase: bool</vt:lpstr>
      <vt:lpstr>Parameterizing TFIDF – lowercase: bool</vt:lpstr>
      <vt:lpstr>Parameterizing TFIDF – lowercase: bool</vt:lpstr>
      <vt:lpstr>Parameterizing TFIDF – lowercase: bool</vt:lpstr>
      <vt:lpstr>Parameterizing TFIDF – lowercase: bool</vt:lpstr>
      <vt:lpstr>Parameterizing TFIDF – lowercase: bool</vt:lpstr>
      <vt:lpstr>Parameterizing TFIDF – stop_words: {‘english’}, list, default=None</vt:lpstr>
      <vt:lpstr>Parameterizing TFIDF – stop_words: {‘english’}, list, default=None</vt:lpstr>
      <vt:lpstr>Parameterizing TFIDF – stop_words: {‘english’}, list, default=None</vt:lpstr>
      <vt:lpstr>Parameterizing TFIDF – ngram_range: tuple (min_n, max_n), default=(1,1)</vt:lpstr>
      <vt:lpstr>Parameterizing TFIDF – ngram_range: tuple (min_n, max_n), default=(1,1)</vt:lpstr>
      <vt:lpstr>Parameterizing TFIDF – ngram_range: tuple (min_n, max_n), default=(1,1)</vt:lpstr>
      <vt:lpstr>Parameterizing TFIDF – ngram_range: tuple (min_n, max_n), default=(1,1)</vt:lpstr>
      <vt:lpstr>Parameterizing TFIDF – ngram_range: tuple (min_n, max_n), default=(1,1)</vt:lpstr>
      <vt:lpstr>Parameterizing TFIDF</vt:lpstr>
      <vt:lpstr>Singular Value Decomposition </vt:lpstr>
      <vt:lpstr>SVD on Movie Reviews</vt:lpstr>
      <vt:lpstr>SVD on Movie Reviews</vt:lpstr>
      <vt:lpstr>Recall: Latent Semantic Similarity</vt:lpstr>
      <vt:lpstr>Recall: Latent Semantic Similarity</vt:lpstr>
      <vt:lpstr>PowerPoint Presentation</vt:lpstr>
      <vt:lpstr>Latent Semantic Similarity on Movie Reviews</vt:lpstr>
      <vt:lpstr>Latent Semantic Similarity on Movie Reviews</vt:lpstr>
      <vt:lpstr>Latent Semantic Similarity on Movie Reviews</vt:lpstr>
      <vt:lpstr>Latent Semantic Similarity on Movie Reviews</vt:lpstr>
      <vt:lpstr>K Nearest Neighbors (KNN)</vt:lpstr>
      <vt:lpstr>Recall: KNN Classifier</vt:lpstr>
      <vt:lpstr>KNN on Movie Reviews</vt:lpstr>
      <vt:lpstr>KNN on Movie Reviews</vt:lpstr>
      <vt:lpstr>KNN on Movie Reviews</vt:lpstr>
      <vt:lpstr>KNN on Movie Reviews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Naïve Bayes</vt:lpstr>
      <vt:lpstr>Recall: Naïve Bayes</vt:lpstr>
      <vt:lpstr>Recall: Naïve Bayes</vt:lpstr>
      <vt:lpstr>Naïve Bayes: Assumptions</vt:lpstr>
      <vt:lpstr>Naïve Bayes: Assumptions</vt:lpstr>
      <vt:lpstr>Naïve Bayes: Assumptions</vt:lpstr>
      <vt:lpstr>Naïve Bayes: Assumptions</vt:lpstr>
      <vt:lpstr>Naïve Bayes for movie reviews</vt:lpstr>
      <vt:lpstr>Naïve Bayes for movie reviews</vt:lpstr>
      <vt:lpstr>Naïve Bayes for movie reviews</vt:lpstr>
      <vt:lpstr>Naïve Bayes for movie reviews</vt:lpstr>
      <vt:lpstr>Naïve Bayes for movie reviews</vt:lpstr>
      <vt:lpstr>Naïve Bayes for movie reviews</vt:lpstr>
      <vt:lpstr>Naïve Bayes for movie reviews</vt:lpstr>
      <vt:lpstr>Naïve Bayes for movie reviews</vt:lpstr>
      <vt:lpstr>Naïve Bayes for movie reviews</vt:lpstr>
      <vt:lpstr>Naïve Bayes for movie reviews</vt:lpstr>
      <vt:lpstr>Naïve Bayes for movie reviews</vt:lpstr>
      <vt:lpstr>Naïve Bayes for movie reviews</vt:lpstr>
      <vt:lpstr>Naïve Bayes for movie reviews</vt:lpstr>
      <vt:lpstr>Naïve Bayes for movie reviews</vt:lpstr>
      <vt:lpstr>Naïve Bayes for movie reviews</vt:lpstr>
      <vt:lpstr>Recommender Systems </vt:lpstr>
      <vt:lpstr>Recall: Recommender Systems</vt:lpstr>
      <vt:lpstr>Recall: Recommender Systems</vt:lpstr>
      <vt:lpstr>Content based filtering vs Collaborative filtering</vt:lpstr>
      <vt:lpstr>Content-based: Constructing the user-to-movie matrix</vt:lpstr>
      <vt:lpstr>Content-based: Constructing the user-to-movie matrix</vt:lpstr>
      <vt:lpstr>Content-based: Constructing the user-to-movie matrix</vt:lpstr>
      <vt:lpstr>Content-based: Constructing the user-to-movie matrix</vt:lpstr>
      <vt:lpstr>Content-based: Constructing the user-to-movie matrix</vt:lpstr>
      <vt:lpstr>Content-based: Constructing the user-to-movie matrix</vt:lpstr>
      <vt:lpstr>Collaborative-based: feature extraction</vt:lpstr>
      <vt:lpstr>Collaborative-based: feature extraction</vt:lpstr>
      <vt:lpstr>Collaborative-based: feature extraction</vt:lpstr>
      <vt:lpstr>Collaborative-based: feature extraction</vt:lpstr>
      <vt:lpstr>How else can we use recommender systems for the movie review dataset?</vt:lpstr>
      <vt:lpstr>How else can we use recommender systems for the movie review dataset?</vt:lpstr>
      <vt:lpstr>How else can we use recommender systems for the movie review dataset?</vt:lpstr>
      <vt:lpstr>Support Vector Machines (SVM)</vt:lpstr>
      <vt:lpstr>Recall: SVM</vt:lpstr>
      <vt:lpstr>Recall: SVM</vt:lpstr>
      <vt:lpstr>Recall: SVM</vt:lpstr>
      <vt:lpstr>Recall: perceptron algorithm</vt:lpstr>
      <vt:lpstr>What if there is no clear line for a decision boundary?</vt:lpstr>
      <vt:lpstr>How can we use SVMs for our problem?</vt:lpstr>
      <vt:lpstr>How can we use SVMs for our problem?</vt:lpstr>
      <vt:lpstr>How can we use SVMs for our problem?</vt:lpstr>
      <vt:lpstr>How can we use SVMs for our problem?</vt:lpstr>
      <vt:lpstr>How can we use SVMs for our problem?</vt:lpstr>
      <vt:lpstr>Data Exploration</vt:lpstr>
      <vt:lpstr>Finding Noise</vt:lpstr>
      <vt:lpstr>Finding Noise</vt:lpstr>
      <vt:lpstr>Finding Noise</vt:lpstr>
      <vt:lpstr>Finding Noise</vt:lpstr>
      <vt:lpstr>Finding Noise</vt:lpstr>
      <vt:lpstr>Finding Noise</vt:lpstr>
      <vt:lpstr>Finding Noise</vt:lpstr>
      <vt:lpstr>Finding Noise</vt:lpstr>
      <vt:lpstr>Finding Noise</vt:lpstr>
      <vt:lpstr>Finding Noise</vt:lpstr>
      <vt:lpstr>Validating our feature choice</vt:lpstr>
      <vt:lpstr>Validating our feature choice</vt:lpstr>
      <vt:lpstr>Validating features: Performance across feature sets </vt:lpstr>
      <vt:lpstr>Validating features: Performance across feature sets </vt:lpstr>
      <vt:lpstr>Validating features: Performance across feature sets </vt:lpstr>
      <vt:lpstr>Validating features: numerical measure </vt:lpstr>
      <vt:lpstr>Validating features: numerical measure </vt:lpstr>
      <vt:lpstr>Validating features: numerical measure </vt:lpstr>
      <vt:lpstr>Validating features: numerical measure </vt:lpstr>
      <vt:lpstr>Validating features: numerical measure </vt:lpstr>
      <vt:lpstr>Validating features: numerical measure </vt:lpstr>
      <vt:lpstr>Validating features: inspecting class separation visually</vt:lpstr>
      <vt:lpstr>Validating features: inspecting class separation visually</vt:lpstr>
      <vt:lpstr>Validating features: inspecting class separation visually</vt:lpstr>
      <vt:lpstr>Working with a multi-class dataset</vt:lpstr>
      <vt:lpstr>Multi-class classification tasks</vt:lpstr>
      <vt:lpstr>Multi-class classification tasks</vt:lpstr>
      <vt:lpstr>Multi-class classification tasks</vt:lpstr>
      <vt:lpstr>Method 1: problem reduction </vt:lpstr>
      <vt:lpstr>Method 1: problem reduction </vt:lpstr>
      <vt:lpstr>Method 1: problem reduction </vt:lpstr>
      <vt:lpstr>Method 2: Changing how we treat the target</vt:lpstr>
      <vt:lpstr>Method 2: Changing how we treat the target</vt:lpstr>
      <vt:lpstr>Method 2: Changing how we treat the target</vt:lpstr>
      <vt:lpstr>Method 2: Changing how we treat the target</vt:lpstr>
      <vt:lpstr>Method 3: Handling class imbalance</vt:lpstr>
      <vt:lpstr>Method 3: Handling class imbalance</vt:lpstr>
      <vt:lpstr>Method 3: Handling class imbalance</vt:lpstr>
      <vt:lpstr>Method 3: Handling class imbalance</vt:lpstr>
      <vt:lpstr>Method 3: Handling class imbalance</vt:lpstr>
      <vt:lpstr>Method 3: Handling class imbalance</vt:lpstr>
      <vt:lpstr>Working with many features</vt:lpstr>
      <vt:lpstr>Why do we care about utilizing multiple features?</vt:lpstr>
      <vt:lpstr>Why do we care about utilizing multiple features?</vt:lpstr>
      <vt:lpstr>Why do we care about utilizing multiple features?</vt:lpstr>
      <vt:lpstr>Why do we care about utilizing multiple features?</vt:lpstr>
      <vt:lpstr>Why do we care about utilizing multiple features?</vt:lpstr>
      <vt:lpstr>Why do we care about utilizing multiple features?</vt:lpstr>
      <vt:lpstr>Why do we care about utilizing multiple features?</vt:lpstr>
      <vt:lpstr>Feature matrix: concatenation</vt:lpstr>
      <vt:lpstr>Feature matrix: concatenation</vt:lpstr>
      <vt:lpstr>Feature matrix: concatenation</vt:lpstr>
      <vt:lpstr>Feature matrix: combination</vt:lpstr>
      <vt:lpstr>Feature matrix: combination</vt:lpstr>
      <vt:lpstr>Feature matrix: combination</vt:lpstr>
      <vt:lpstr>Feature matrix: combination then dimension reduction</vt:lpstr>
      <vt:lpstr>Feature matrix: combination then dimension reduction</vt:lpstr>
      <vt:lpstr>Important consideration: scaling!</vt:lpstr>
      <vt:lpstr>Important consideration: scaling!</vt:lpstr>
      <vt:lpstr>Important consideration: scaling!</vt:lpstr>
      <vt:lpstr>Important consideration: scaling!</vt:lpstr>
      <vt:lpstr>Note about the midterm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Gattupalli, Eeshwar</cp:lastModifiedBy>
  <cp:revision>4</cp:revision>
  <dcterms:modified xsi:type="dcterms:W3CDTF">2026-04-01T20:42:26Z</dcterms:modified>
</cp:coreProperties>
</file>