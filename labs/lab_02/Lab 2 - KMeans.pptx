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4_EED7A847.xml" ContentType="application/vnd.ms-powerpoint.comment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88" r:id="rId3"/>
    <p:sldId id="289" r:id="rId4"/>
    <p:sldId id="290" r:id="rId5"/>
    <p:sldId id="291" r:id="rId6"/>
    <p:sldId id="292" r:id="rId7"/>
    <p:sldId id="258" r:id="rId8"/>
    <p:sldId id="260" r:id="rId9"/>
    <p:sldId id="293" r:id="rId10"/>
    <p:sldId id="261" r:id="rId11"/>
    <p:sldId id="262" r:id="rId12"/>
    <p:sldId id="265" r:id="rId13"/>
    <p:sldId id="263" r:id="rId14"/>
    <p:sldId id="298" r:id="rId15"/>
    <p:sldId id="268" r:id="rId16"/>
    <p:sldId id="269" r:id="rId17"/>
    <p:sldId id="271" r:id="rId18"/>
    <p:sldId id="299" r:id="rId19"/>
    <p:sldId id="273" r:id="rId20"/>
    <p:sldId id="294" r:id="rId21"/>
    <p:sldId id="301" r:id="rId22"/>
    <p:sldId id="297" r:id="rId23"/>
    <p:sldId id="295" r:id="rId24"/>
    <p:sldId id="300" r:id="rId25"/>
    <p:sldId id="276" r:id="rId26"/>
    <p:sldId id="277" r:id="rId27"/>
    <p:sldId id="278" r:id="rId28"/>
    <p:sldId id="279" r:id="rId29"/>
    <p:sldId id="302" r:id="rId30"/>
    <p:sldId id="282" r:id="rId31"/>
    <p:sldId id="283" r:id="rId32"/>
    <p:sldId id="284" r:id="rId33"/>
    <p:sldId id="285" r:id="rId34"/>
    <p:sldId id="286" r:id="rId3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B71B5C-C160-F17B-ED32-C30F30E32A39}" name="Gattupalli, Eeshwar" initials="GE" userId="S::eeshwarg@bu.edu::85c70b28-1dd1-44af-b410-175c386fe1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34"/>
    <p:restoredTop sz="94670"/>
  </p:normalViewPr>
  <p:slideViewPr>
    <p:cSldViewPr snapToGrid="0">
      <p:cViewPr varScale="1">
        <p:scale>
          <a:sx n="99" d="100"/>
          <a:sy n="99" d="100"/>
        </p:scale>
        <p:origin x="192" y="1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47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comments/modernComment_104_EED7A8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05DE8C-F1D1-024F-A141-3F5B671166FC}" authorId="{AFB71B5C-C160-F17B-ED32-C30F30E32A39}" created="2026-01-28T22:55:14.573">
    <pc:sldMkLst xmlns:pc="http://schemas.microsoft.com/office/powerpoint/2013/main/command">
      <pc:docMk/>
      <pc:sldMk cId="4007110727" sldId="260"/>
    </pc:sldMkLst>
    <p188:txBody>
      <a:bodyPr/>
      <a:lstStyle/>
      <a:p>
        <a:r>
          <a:rPr lang="en-US"/>
          <a:t>Put a circle around the clusters and roughly look at the center. Maybe remove one cluster and only look at one of them and reason about where the center is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0D64FD-A572-E257-3E64-E1CB57DABDC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86106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4_EED7A84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6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8.svg"/><Relationship Id="rId5" Type="http://schemas.openxmlformats.org/officeDocument/2006/relationships/tags" Target="../tags/tag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5.xml"/><Relationship Id="rId9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9.xml"/><Relationship Id="rId7" Type="http://schemas.openxmlformats.org/officeDocument/2006/relationships/image" Target="../media/image6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8.svg"/><Relationship Id="rId5" Type="http://schemas.openxmlformats.org/officeDocument/2006/relationships/tags" Target="../tags/tag11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10.xml"/><Relationship Id="rId9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14.xml"/><Relationship Id="rId7" Type="http://schemas.openxmlformats.org/officeDocument/2006/relationships/image" Target="../media/image6.sv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8.svg"/><Relationship Id="rId5" Type="http://schemas.openxmlformats.org/officeDocument/2006/relationships/tags" Target="../tags/tag1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15.xml"/><Relationship Id="rId9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19.xml"/><Relationship Id="rId7" Type="http://schemas.openxmlformats.org/officeDocument/2006/relationships/image" Target="../media/image6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8.svg"/><Relationship Id="rId5" Type="http://schemas.openxmlformats.org/officeDocument/2006/relationships/tags" Target="../tags/tag21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20.xml"/><Relationship Id="rId9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24.xml"/><Relationship Id="rId7" Type="http://schemas.openxmlformats.org/officeDocument/2006/relationships/image" Target="../media/image6.sv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8.svg"/><Relationship Id="rId5" Type="http://schemas.openxmlformats.org/officeDocument/2006/relationships/tags" Target="../tags/tag2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25.xml"/><Relationship Id="rId9" Type="http://schemas.openxmlformats.org/officeDocument/2006/relationships/image" Target="../media/image7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K-means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 506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9C6D-53A3-44C2-5584-12B2FF9D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center of C2?</a:t>
            </a:r>
          </a:p>
        </p:txBody>
      </p:sp>
      <p:pic>
        <p:nvPicPr>
          <p:cNvPr id="5" name="Picture 4" descr="A black and white drawing of a triangle with dots&#10;&#10;AI-generated content may be incorrect.">
            <a:extLst>
              <a:ext uri="{FF2B5EF4-FFF2-40B4-BE49-F238E27FC236}">
                <a16:creationId xmlns:a16="http://schemas.microsoft.com/office/drawing/2014/main" id="{53E6EC08-4757-655F-81DE-862182E29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4" y="1152425"/>
            <a:ext cx="5501368" cy="366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242A-82F5-BE2A-6134-1EE19FD03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drawing of a triangle with dots&#10;&#10;AI-generated content may be incorrect.">
            <a:extLst>
              <a:ext uri="{FF2B5EF4-FFF2-40B4-BE49-F238E27FC236}">
                <a16:creationId xmlns:a16="http://schemas.microsoft.com/office/drawing/2014/main" id="{D770C92F-E857-C615-2C7D-81E97A055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4" y="1152425"/>
            <a:ext cx="5501368" cy="3667579"/>
          </a:xfrm>
          <a:prstGeom prst="rect">
            <a:avLst/>
          </a:prstGeom>
        </p:spPr>
      </p:pic>
      <p:sp>
        <p:nvSpPr>
          <p:cNvPr id="6" name="Multiply 5">
            <a:extLst>
              <a:ext uri="{FF2B5EF4-FFF2-40B4-BE49-F238E27FC236}">
                <a16:creationId xmlns:a16="http://schemas.microsoft.com/office/drawing/2014/main" id="{C4EC5200-5BC1-2F51-2160-377F50F86296}"/>
              </a:ext>
            </a:extLst>
          </p:cNvPr>
          <p:cNvSpPr/>
          <p:nvPr/>
        </p:nvSpPr>
        <p:spPr>
          <a:xfrm>
            <a:off x="4528932" y="2951258"/>
            <a:ext cx="239486" cy="21771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62740F-44A0-C940-FB33-83E40F30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the center of C2?</a:t>
            </a:r>
          </a:p>
        </p:txBody>
      </p:sp>
    </p:spTree>
    <p:extLst>
      <p:ext uri="{BB962C8B-B14F-4D97-AF65-F5344CB8AC3E}">
        <p14:creationId xmlns:p14="http://schemas.microsoft.com/office/powerpoint/2010/main" val="489701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50953-D091-29D1-07B2-30EBE3AF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center of C1?</a:t>
            </a:r>
          </a:p>
        </p:txBody>
      </p:sp>
      <p:pic>
        <p:nvPicPr>
          <p:cNvPr id="6" name="Picture 5" descr="A black and white drawing of a half of a half of a half of a half of a half of a half of a half of a half of a half of a half of a half of&#10;&#10;AI-generated content may be incorrect.">
            <a:extLst>
              <a:ext uri="{FF2B5EF4-FFF2-40B4-BE49-F238E27FC236}">
                <a16:creationId xmlns:a16="http://schemas.microsoft.com/office/drawing/2014/main" id="{9F7D59D3-DA08-00AB-E487-4E3368D46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43" y="1152425"/>
            <a:ext cx="5312714" cy="354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39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BDE5-06D2-940F-9D1D-F89FFB7AE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drawing of a half of a half of a half of a half of a half of a half of a half of a half of a half of a half of a half of&#10;&#10;AI-generated content may be incorrect.">
            <a:extLst>
              <a:ext uri="{FF2B5EF4-FFF2-40B4-BE49-F238E27FC236}">
                <a16:creationId xmlns:a16="http://schemas.microsoft.com/office/drawing/2014/main" id="{3643932B-F324-3811-DBD9-F1994D9B0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43" y="1152425"/>
            <a:ext cx="5312714" cy="3541809"/>
          </a:xfrm>
          <a:prstGeom prst="rect">
            <a:avLst/>
          </a:prstGeom>
        </p:spPr>
      </p:pic>
      <p:sp>
        <p:nvSpPr>
          <p:cNvPr id="7" name="Multiply 6">
            <a:extLst>
              <a:ext uri="{FF2B5EF4-FFF2-40B4-BE49-F238E27FC236}">
                <a16:creationId xmlns:a16="http://schemas.microsoft.com/office/drawing/2014/main" id="{01E344FA-1896-FB1C-87E6-EE23FA57E309}"/>
              </a:ext>
            </a:extLst>
          </p:cNvPr>
          <p:cNvSpPr/>
          <p:nvPr/>
        </p:nvSpPr>
        <p:spPr>
          <a:xfrm>
            <a:off x="4476584" y="2814762"/>
            <a:ext cx="222637" cy="19878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7605E-372A-49C2-BDD6-63488A3D7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the center of C1?</a:t>
            </a:r>
          </a:p>
        </p:txBody>
      </p:sp>
    </p:spTree>
    <p:extLst>
      <p:ext uri="{BB962C8B-B14F-4D97-AF65-F5344CB8AC3E}">
        <p14:creationId xmlns:p14="http://schemas.microsoft.com/office/powerpoint/2010/main" val="1965436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B5405-C064-31C0-A937-C69413EB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Hmmm… does this make sense?</a:t>
            </a:r>
          </a:p>
        </p:txBody>
      </p:sp>
      <p:pic>
        <p:nvPicPr>
          <p:cNvPr id="4" name="Picture 3" descr="A black and white drawing of a spiral&#10;&#10;AI-generated content may be incorrect.">
            <a:extLst>
              <a:ext uri="{FF2B5EF4-FFF2-40B4-BE49-F238E27FC236}">
                <a16:creationId xmlns:a16="http://schemas.microsoft.com/office/drawing/2014/main" id="{192D3838-5E5A-F01E-FCF5-E396E2A2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907" y="1152425"/>
            <a:ext cx="4378185" cy="3153832"/>
          </a:xfrm>
          <a:prstGeom prst="rect">
            <a:avLst/>
          </a:prstGeom>
        </p:spPr>
      </p:pic>
      <p:sp>
        <p:nvSpPr>
          <p:cNvPr id="5" name="Multiply 4">
            <a:extLst>
              <a:ext uri="{FF2B5EF4-FFF2-40B4-BE49-F238E27FC236}">
                <a16:creationId xmlns:a16="http://schemas.microsoft.com/office/drawing/2014/main" id="{82EDDA32-1FE2-EB19-05F4-680B960BF9BB}"/>
              </a:ext>
            </a:extLst>
          </p:cNvPr>
          <p:cNvSpPr/>
          <p:nvPr/>
        </p:nvSpPr>
        <p:spPr>
          <a:xfrm>
            <a:off x="3816623" y="2600074"/>
            <a:ext cx="174929" cy="20877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DF59FFB6-2C56-4EF4-BD8A-9C8E63B1FFBA}"/>
              </a:ext>
            </a:extLst>
          </p:cNvPr>
          <p:cNvSpPr/>
          <p:nvPr/>
        </p:nvSpPr>
        <p:spPr>
          <a:xfrm>
            <a:off x="4937760" y="2878372"/>
            <a:ext cx="151075" cy="166978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0CD6A05-E18A-88B8-6D19-9EA213810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47332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i.e., if we were to iterate through Lloyd’s algorithm again, would we have this clustering?</a:t>
            </a:r>
          </a:p>
        </p:txBody>
      </p:sp>
    </p:spTree>
    <p:extLst>
      <p:ext uri="{BB962C8B-B14F-4D97-AF65-F5344CB8AC3E}">
        <p14:creationId xmlns:p14="http://schemas.microsoft.com/office/powerpoint/2010/main" val="1913098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4CCA-068F-9258-C7D4-132DFA3B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2146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Another perspective: can we minimize our cost function any further?</a:t>
            </a:r>
          </a:p>
        </p:txBody>
      </p:sp>
      <p:pic>
        <p:nvPicPr>
          <p:cNvPr id="5" name="Picture 4" descr="A black and white drawing of a spiral&#10;&#10;AI-generated content may be incorrect.">
            <a:extLst>
              <a:ext uri="{FF2B5EF4-FFF2-40B4-BE49-F238E27FC236}">
                <a16:creationId xmlns:a16="http://schemas.microsoft.com/office/drawing/2014/main" id="{57AA7B9B-1F62-6BEC-C54F-ADDE09DCC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172" y="1831636"/>
            <a:ext cx="3605655" cy="259733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A8A92-8373-43F6-4AE9-F3D4B590A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compute the center of each cluster and see if any of the points in one cluster is closer to the center of the </a:t>
            </a:r>
            <a:r>
              <a:rPr lang="en-US" b="1" dirty="0"/>
              <a:t>other</a:t>
            </a:r>
            <a:r>
              <a:rPr lang="en-US" dirty="0"/>
              <a:t> cluster.</a:t>
            </a:r>
          </a:p>
        </p:txBody>
      </p:sp>
    </p:spTree>
    <p:extLst>
      <p:ext uri="{BB962C8B-B14F-4D97-AF65-F5344CB8AC3E}">
        <p14:creationId xmlns:p14="http://schemas.microsoft.com/office/powerpoint/2010/main" val="2311122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31815-EB35-BD8F-A884-FA128F85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drawing of a spiral&#10;&#10;AI-generated content may be incorrect.">
            <a:extLst>
              <a:ext uri="{FF2B5EF4-FFF2-40B4-BE49-F238E27FC236}">
                <a16:creationId xmlns:a16="http://schemas.microsoft.com/office/drawing/2014/main" id="{9B38A2C6-A01F-B25E-02CD-CC1C50147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172" y="1831636"/>
            <a:ext cx="3605655" cy="259733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30EC4-2593-699D-9D85-1192CF51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676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want to compute the center of each cluster and see if any of the points in one cluster is closer to the center of the </a:t>
            </a:r>
            <a:r>
              <a:rPr lang="en-US" b="1" dirty="0"/>
              <a:t>other</a:t>
            </a:r>
            <a:r>
              <a:rPr lang="en-US" dirty="0"/>
              <a:t> cluster.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this case, there are points in C1 closer to C2’s mean and vice-versa. Hence, K-means cannot converge to this clustering!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789D4-2580-A147-C935-75CB79DE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2146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Another perspective: can we minimize our cost function any further?</a:t>
            </a:r>
          </a:p>
        </p:txBody>
      </p:sp>
    </p:spTree>
    <p:extLst>
      <p:ext uri="{BB962C8B-B14F-4D97-AF65-F5344CB8AC3E}">
        <p14:creationId xmlns:p14="http://schemas.microsoft.com/office/powerpoint/2010/main" val="4007110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Takeaway: Why This Clustering Fails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3000"/>
          </a:bodyPr>
          <a:lstStyle/>
          <a:p>
            <a:r>
              <a:rPr lang="en-US" dirty="0"/>
              <a:t>Lloyd’s algorithm only guarantees convergence to a local optimum not necessarily the best possible clustering.</a:t>
            </a:r>
          </a:p>
          <a:p>
            <a:pPr lvl="1"/>
            <a:r>
              <a:rPr lang="en-US" dirty="0"/>
              <a:t>Whether it lands on a good or a bad clustering depends heavily on where the centroids started.</a:t>
            </a:r>
          </a:p>
          <a:p>
            <a:r>
              <a:rPr lang="en-US" dirty="0"/>
              <a:t>If reassigning even one point to a different cluster would lower the total cost, the algorithm hasn’t truly settled on the best solution, exactly what we just saw with the spiral example.</a:t>
            </a:r>
          </a:p>
          <a:p>
            <a:pPr lvl="1"/>
            <a:r>
              <a:rPr lang="en-US" dirty="0"/>
              <a:t>In practice: run K-means many times with different random initializations (scikit-learn’s n_init parameter) and keep the lowest-cost result.</a:t>
            </a:r>
          </a:p>
          <a:p>
            <a:r>
              <a:rPr lang="en-US" dirty="0"/>
              <a:t>Next: let’s precisely define the cost function that K-means is trying to minimize.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8199-7CAF-01A6-5D35-B6DDD971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exactly is the cost function?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AA5F835-C6CF-FCA1-9DA3-F45052F2AC0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K-means, the cost function measures the “quality” of our clustering</a:t>
                </a:r>
              </a:p>
              <a:p>
                <a:pPr lvl="1"/>
                <a:r>
                  <a:rPr lang="en-US" dirty="0"/>
                  <a:t>i.e., if we have points in one cluster that are way closer to another cluster’s mean, we will have a higher output to our cost function </a:t>
                </a:r>
                <a:r>
                  <a:rPr lang="en-US" dirty="0">
                    <a:sym typeface="Wingdings" pitchFamily="2" charset="2"/>
                  </a:rPr>
                  <a:t> “bad” clustering job.</a:t>
                </a:r>
              </a:p>
              <a:p>
                <a:r>
                  <a:rPr lang="en-US" dirty="0">
                    <a:sym typeface="Wingdings" pitchFamily="2" charset="2"/>
                  </a:rPr>
                  <a:t>K-means cost function: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AA5F835-C6CF-FCA1-9DA3-F45052F2AC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132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DEFE0-FD4E-77CC-5B82-691F2A89B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B2CDFA0-9DCF-670D-D250-91243D2CB01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K-means, the cost function measures the “quality” of our clustering</a:t>
                </a:r>
              </a:p>
              <a:p>
                <a:pPr lvl="1"/>
                <a:r>
                  <a:rPr lang="en-US" dirty="0"/>
                  <a:t>i.e., if we have points in one cluster that are way closer to another cluster’s mean, we will have a higher output to our cost function </a:t>
                </a:r>
                <a:r>
                  <a:rPr lang="en-US" dirty="0">
                    <a:sym typeface="Wingdings" pitchFamily="2" charset="2"/>
                  </a:rPr>
                  <a:t> “bad” clustering job.</a:t>
                </a:r>
              </a:p>
              <a:p>
                <a:r>
                  <a:rPr lang="en-US" dirty="0">
                    <a:sym typeface="Wingdings" pitchFamily="2" charset="2"/>
                  </a:rPr>
                  <a:t>K-means cost function: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B2CDFA0-9DCF-670D-D250-91243D2CB0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6EB4854-ACDE-72C0-5C2C-B2E775FFD148}"/>
              </a:ext>
            </a:extLst>
          </p:cNvPr>
          <p:cNvCxnSpPr/>
          <p:nvPr/>
        </p:nvCxnSpPr>
        <p:spPr>
          <a:xfrm flipH="1" flipV="1">
            <a:off x="4928135" y="3089709"/>
            <a:ext cx="558266" cy="43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FA93A2-98EB-6464-1893-E238432B17DF}"/>
              </a:ext>
            </a:extLst>
          </p:cNvPr>
          <p:cNvSpPr txBox="1"/>
          <p:nvPr/>
        </p:nvSpPr>
        <p:spPr>
          <a:xfrm>
            <a:off x="4225491" y="2733575"/>
            <a:ext cx="702644" cy="35613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8452D2-0AA7-2D7D-0596-6EECF18B803B}"/>
                  </a:ext>
                </a:extLst>
              </p:cNvPr>
              <p:cNvSpPr txBox="1"/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“squared distance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and the center of cluster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8452D2-0AA7-2D7D-0596-6EECF18B8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blipFill>
                <a:blip r:embed="rId3"/>
                <a:stretch>
                  <a:fillRect l="-9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F48957E-CCED-4718-7222-0A3BA9070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exactly is the cost function?</a:t>
            </a:r>
          </a:p>
        </p:txBody>
      </p:sp>
    </p:spTree>
    <p:extLst>
      <p:ext uri="{BB962C8B-B14F-4D97-AF65-F5344CB8AC3E}">
        <p14:creationId xmlns:p14="http://schemas.microsoft.com/office/powerpoint/2010/main" val="3379312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E0759-25DF-DAC1-2B78-7D3BF2F91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191BFF-C7E1-EA06-7843-F8DB645A9963}"/>
              </a:ext>
            </a:extLst>
          </p:cNvPr>
          <p:cNvSpPr txBox="1"/>
          <p:nvPr/>
        </p:nvSpPr>
        <p:spPr>
          <a:xfrm>
            <a:off x="3907857" y="2571750"/>
            <a:ext cx="3041579" cy="141656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F258AED-E6DD-0D7A-8807-00780C9732F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K-means, the cost function measures the “quality” of our clustering</a:t>
                </a:r>
              </a:p>
              <a:p>
                <a:pPr lvl="1"/>
                <a:r>
                  <a:rPr lang="en-US" dirty="0"/>
                  <a:t>i.e., if we have points in one cluster that are way closer to another cluster’s mean, we will have a higher output to our cost function </a:t>
                </a:r>
                <a:r>
                  <a:rPr lang="en-US" dirty="0">
                    <a:sym typeface="Wingdings" pitchFamily="2" charset="2"/>
                  </a:rPr>
                  <a:t> “bad” clustering job.</a:t>
                </a:r>
              </a:p>
              <a:p>
                <a:r>
                  <a:rPr lang="en-US" dirty="0">
                    <a:sym typeface="Wingdings" pitchFamily="2" charset="2"/>
                  </a:rPr>
                  <a:t>K-means cost function: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F258AED-E6DD-0D7A-8807-00780C9732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C30E60A-15DF-2DEA-6EFA-064807D49C58}"/>
              </a:ext>
            </a:extLst>
          </p:cNvPr>
          <p:cNvCxnSpPr/>
          <p:nvPr/>
        </p:nvCxnSpPr>
        <p:spPr>
          <a:xfrm flipH="1" flipV="1">
            <a:off x="4928135" y="3089709"/>
            <a:ext cx="558266" cy="43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DC0ECE-1C4E-0D6B-58BF-8F3EEAF45F69}"/>
              </a:ext>
            </a:extLst>
          </p:cNvPr>
          <p:cNvSpPr txBox="1"/>
          <p:nvPr/>
        </p:nvSpPr>
        <p:spPr>
          <a:xfrm>
            <a:off x="4225491" y="2733575"/>
            <a:ext cx="702644" cy="35613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C240CC-2714-BC6A-88E5-49E9127AE88D}"/>
                  </a:ext>
                </a:extLst>
              </p:cNvPr>
              <p:cNvSpPr txBox="1"/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“squared distance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and the center of cluster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”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C240CC-2714-BC6A-88E5-49E9127A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blipFill>
                <a:blip r:embed="rId3"/>
                <a:stretch>
                  <a:fillRect l="-9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C33A62-B2A1-ED1A-4836-C3A89773D17D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287025" y="3280033"/>
            <a:ext cx="620832" cy="583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4F6532-F5B7-7FE0-F6DD-A5B3C56DD8C5}"/>
                  </a:ext>
                </a:extLst>
              </p:cNvPr>
              <p:cNvSpPr txBox="1"/>
              <p:nvPr/>
            </p:nvSpPr>
            <p:spPr>
              <a:xfrm>
                <a:off x="2242689" y="3797056"/>
                <a:ext cx="178067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“sum for all points in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𝑖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”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4F6532-F5B7-7FE0-F6DD-A5B3C56DD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689" y="3797056"/>
                <a:ext cx="1780670" cy="738664"/>
              </a:xfrm>
              <a:prstGeom prst="rect">
                <a:avLst/>
              </a:prstGeom>
              <a:blipFill>
                <a:blip r:embed="rId4"/>
                <a:stretch>
                  <a:fillRect l="-709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A5F454A-29EF-32FF-238F-67E0FDBAA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exactly is the cost function?</a:t>
            </a:r>
          </a:p>
        </p:txBody>
      </p:sp>
    </p:spTree>
    <p:extLst>
      <p:ext uri="{BB962C8B-B14F-4D97-AF65-F5344CB8AC3E}">
        <p14:creationId xmlns:p14="http://schemas.microsoft.com/office/powerpoint/2010/main" val="2496663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4E87-A48D-14DE-DA91-855112D7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289FAB7-4334-FB4C-81F8-1EFD01F3C221}"/>
              </a:ext>
            </a:extLst>
          </p:cNvPr>
          <p:cNvSpPr txBox="1"/>
          <p:nvPr/>
        </p:nvSpPr>
        <p:spPr>
          <a:xfrm>
            <a:off x="2059806" y="2435192"/>
            <a:ext cx="5139891" cy="195392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7A2CF-F5FD-8E2D-CC98-0F3481684179}"/>
              </a:ext>
            </a:extLst>
          </p:cNvPr>
          <p:cNvSpPr txBox="1"/>
          <p:nvPr/>
        </p:nvSpPr>
        <p:spPr>
          <a:xfrm>
            <a:off x="3907857" y="2571750"/>
            <a:ext cx="3041579" cy="141656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4A8AA5-833D-5125-A69C-DCD77BC36A5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K-means, the cost function measures the “quality” of our clustering</a:t>
                </a:r>
              </a:p>
              <a:p>
                <a:pPr lvl="1"/>
                <a:r>
                  <a:rPr lang="en-US" dirty="0"/>
                  <a:t>i.e., if we have points in one cluster that are way closer to another cluster’s mean, we will have a higher output to our cost function </a:t>
                </a:r>
                <a:r>
                  <a:rPr lang="en-US" dirty="0">
                    <a:sym typeface="Wingdings" pitchFamily="2" charset="2"/>
                  </a:rPr>
                  <a:t> “bad” clustering job.</a:t>
                </a:r>
              </a:p>
              <a:p>
                <a:r>
                  <a:rPr lang="en-US" dirty="0">
                    <a:sym typeface="Wingdings" pitchFamily="2" charset="2"/>
                  </a:rPr>
                  <a:t>K-means cost function: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sym typeface="Wingdings" pitchFamily="2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4A8AA5-833D-5125-A69C-DCD77BC36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DA490B9-C7BC-BA34-F0CE-7BEFB3C55536}"/>
              </a:ext>
            </a:extLst>
          </p:cNvPr>
          <p:cNvCxnSpPr/>
          <p:nvPr/>
        </p:nvCxnSpPr>
        <p:spPr>
          <a:xfrm flipH="1" flipV="1">
            <a:off x="4928135" y="3089709"/>
            <a:ext cx="558266" cy="43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305BA8E-2D1C-39E0-CCAE-5619167F8F01}"/>
              </a:ext>
            </a:extLst>
          </p:cNvPr>
          <p:cNvSpPr txBox="1"/>
          <p:nvPr/>
        </p:nvSpPr>
        <p:spPr>
          <a:xfrm>
            <a:off x="4225491" y="2733575"/>
            <a:ext cx="702644" cy="35613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98264F-91CF-1646-BA8C-C15DA7B5738B}"/>
                  </a:ext>
                </a:extLst>
              </p:cNvPr>
              <p:cNvSpPr txBox="1"/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“squared distance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and the center of cluster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”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98264F-91CF-1646-BA8C-C15DA7B57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115" y="3465096"/>
                <a:ext cx="2637321" cy="523220"/>
              </a:xfrm>
              <a:prstGeom prst="rect">
                <a:avLst/>
              </a:prstGeom>
              <a:blipFill>
                <a:blip r:embed="rId3"/>
                <a:stretch>
                  <a:fillRect l="-9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C59B0A-F165-8C87-48E1-96E0C338A2AF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287025" y="3280033"/>
            <a:ext cx="620832" cy="583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6B64AF-CBE0-FF27-3786-90C174296055}"/>
                  </a:ext>
                </a:extLst>
              </p:cNvPr>
              <p:cNvSpPr txBox="1"/>
              <p:nvPr/>
            </p:nvSpPr>
            <p:spPr>
              <a:xfrm>
                <a:off x="2242689" y="3797056"/>
                <a:ext cx="178067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“sum for all points in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𝑖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”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6B64AF-CBE0-FF27-3786-90C174296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689" y="3797056"/>
                <a:ext cx="1780670" cy="738664"/>
              </a:xfrm>
              <a:prstGeom prst="rect">
                <a:avLst/>
              </a:prstGeom>
              <a:blipFill>
                <a:blip r:embed="rId4"/>
                <a:stretch>
                  <a:fillRect l="-709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9172365-14A7-9F17-EE02-BBD8C086F6E4}"/>
              </a:ext>
            </a:extLst>
          </p:cNvPr>
          <p:cNvSpPr txBox="1"/>
          <p:nvPr/>
        </p:nvSpPr>
        <p:spPr>
          <a:xfrm>
            <a:off x="1845" y="3465487"/>
            <a:ext cx="3378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“sum over all k clusters”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29F891-E80F-B14A-2736-7894E1BB9F7D}"/>
              </a:ext>
            </a:extLst>
          </p:cNvPr>
          <p:cNvCxnSpPr/>
          <p:nvPr/>
        </p:nvCxnSpPr>
        <p:spPr>
          <a:xfrm flipV="1">
            <a:off x="991402" y="2911642"/>
            <a:ext cx="991402" cy="611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C69045F-93A8-F0EF-8CAF-3F4E853C6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exactly is the cost function?</a:t>
            </a:r>
          </a:p>
        </p:txBody>
      </p:sp>
    </p:spTree>
    <p:extLst>
      <p:ext uri="{BB962C8B-B14F-4D97-AF65-F5344CB8AC3E}">
        <p14:creationId xmlns:p14="http://schemas.microsoft.com/office/powerpoint/2010/main" val="3966316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5D8373-5CA5-DA38-EB5D-80005064D50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395F91-12E4-2916-4D07-4EB6FED8D08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For a dataset X with N points, when k = 1, the total cost is: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588BFB-202E-A351-FF2E-0D446F0C666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9C59B4A-8EDE-837A-C822-9A0DF4DE026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591D206-E844-D78B-10A0-F7689D4DA96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810B3B-3E04-EDB6-125D-B8E901DE6ED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535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1A92-E024-44D1-E74A-5B70F6D0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3303CA-1A50-0FD2-A6BE-835F5BCE6DF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k = 1, formula becomes…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3303CA-1A50-0FD2-A6BE-835F5BCE6D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0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761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6D03A-94AF-943D-603F-D84A9503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C61850-D240-40E9-C13A-D3A328B7C3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k = 1, formula becomes…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C61850-D240-40E9-C13A-D3A328B7C3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0728" b="-5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2E5DD83-D14C-1B85-B376-295FC660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494598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9A9BD-0D31-338E-542E-CA5BE06DA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4F7D5E-4BD5-733A-8D37-05AE66CC536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72918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Given k = 1, formula becomes…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Note: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b="0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is the total number of data points in population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Qualitatively, variance measures the distance from each point in the population to the population mean</a:t>
                </a: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4F7D5E-4BD5-733A-8D37-05AE66CC5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729187"/>
              </a:xfrm>
              <a:blipFill>
                <a:blip r:embed="rId2"/>
                <a:stretch>
                  <a:fillRect t="-9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4E135FE-BDBF-91C3-D0F3-E5DC7BBA7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564396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A72E37-9485-CF2E-3F3B-7D0C8967482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AA76E7-7163-E702-5FB9-99120921A2D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 For a dataset X with N points, when k = N the total cost is: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925E2E-F49D-6433-462D-599380B9CB0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C11A88D-D88A-1AAB-A88E-E7AB9330DD0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7A6DA10B-8151-3531-C48A-D2C1CEF334B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3E5149-99A7-865B-81EB-A50706C0BF8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996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FA1A2-EB1C-2BA6-7F40-A182A470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4F8D49-43DE-F9D1-0533-1B02DCD93D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Each cluster will only have 1 point</a:t>
                </a:r>
              </a:p>
              <a:p>
                <a:pPr lvl="1"/>
                <a:r>
                  <a:rPr lang="en-US" dirty="0"/>
                  <a:t>Distance between each point in a cluster and the center is 0 (the center of the cluster will lie on the single point!)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4F8D49-43DE-F9D1-0533-1B02DCD93D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2777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Lloyd’s Algorithm,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500"/>
          </a:bodyPr>
          <a:lstStyle/>
          <a:p>
            <a:pPr>
              <a:buAutoNum type="arabicPeriod"/>
            </a:pPr>
            <a:r>
              <a:rPr lang="en-US" b="1" dirty="0"/>
              <a:t>Initialize</a:t>
            </a:r>
            <a:r>
              <a:rPr lang="en-US" dirty="0"/>
              <a:t> — randomly choose k points as the starting centroids μ₁, …, μₖ.</a:t>
            </a:r>
          </a:p>
          <a:p>
            <a:pPr lvl="1"/>
            <a:r>
              <a:rPr lang="en-US" dirty="0"/>
              <a:t>The starting positions matter: different initial centroids can lead the algorithm to completely different final clusters.</a:t>
            </a:r>
          </a:p>
          <a:p>
            <a:pPr>
              <a:buAutoNum type="arabicPeriod"/>
            </a:pPr>
            <a:r>
              <a:rPr lang="en-US" b="1" dirty="0"/>
              <a:t>Assign</a:t>
            </a:r>
            <a:r>
              <a:rPr lang="en-US" dirty="0"/>
              <a:t> — for every data point, measure its distance to all k centroids and assign it to the nearest one.</a:t>
            </a:r>
          </a:p>
          <a:p>
            <a:pPr lvl="1"/>
            <a:r>
              <a:rPr lang="en-US" dirty="0"/>
              <a:t>This groups the data into k clusters based on where the centroids currently sit.</a:t>
            </a:r>
          </a:p>
          <a:p>
            <a:pPr>
              <a:buAutoNum type="arabicPeriod"/>
            </a:pPr>
            <a:r>
              <a:rPr lang="en-US" b="1" dirty="0"/>
              <a:t>Update</a:t>
            </a:r>
            <a:r>
              <a:rPr lang="en-US" dirty="0"/>
              <a:t> — recompute each centroid as the mean position of all points now assigned to it.</a:t>
            </a:r>
          </a:p>
          <a:p>
            <a:pPr lvl="1"/>
            <a:r>
              <a:rPr lang="en-US" dirty="0"/>
              <a:t>Each centroid moves toward the “center of mass” of its cluster.</a:t>
            </a:r>
          </a:p>
          <a:p>
            <a:pPr>
              <a:buAutoNum type="arabicPeriod"/>
            </a:pPr>
            <a:r>
              <a:rPr lang="en-US" b="1" dirty="0"/>
              <a:t>Repeat</a:t>
            </a:r>
            <a:r>
              <a:rPr lang="en-US" dirty="0"/>
              <a:t> — alternate the Assign and Update steps until the assignments stop changing.</a:t>
            </a:r>
          </a:p>
          <a:p>
            <a:pPr lvl="1"/>
            <a:r>
              <a:rPr lang="en-US" dirty="0"/>
              <a:t>Each full pass never increases the total cost — it only goes down or stays the same.</a:t>
            </a:r>
          </a:p>
          <a:p>
            <a:pPr lvl="1"/>
            <a:r>
              <a:rPr lang="en-US" dirty="0"/>
              <a:t>Converged! Once Assign produces the same clusters as the previous round, the centroids have stabilized.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C04233-35D6-6AAA-3490-F728302B6A5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06FE51-5868-933F-00A4-FB5D19FC788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True or False: Lloyd’s algorithm always converges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125219-85EF-321B-33A1-CFB75A182DB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ADE486F-C0B1-C2A4-E6E6-7A7E9CE9650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3A921610-8998-C5AC-3117-EE0147AFBE2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5FE4A22-F5F5-8B03-4EC4-80B693B9A21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900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3000"/>
          </a:bodyPr>
          <a:lstStyle/>
          <a:p>
            <a:r>
              <a:rPr lang="en-US" dirty="0"/>
              <a:t>True.</a:t>
            </a:r>
          </a:p>
          <a:p>
            <a:pPr lvl="1"/>
            <a:r>
              <a:rPr lang="en-US" dirty="0"/>
              <a:t>Lloyd’s algorithm always converges in a finite number of iterations.</a:t>
            </a:r>
          </a:p>
          <a:p>
            <a:pPr lvl="1"/>
            <a:r>
              <a:rPr lang="en-US" dirty="0"/>
              <a:t>Why: there are only finitely many ways to partition N points into k clusters, and the total cost is non-increasing at every step, so it can’t loop forever.</a:t>
            </a:r>
          </a:p>
          <a:p>
            <a:pPr marL="596900" lvl="1" indent="0">
              <a:buNone/>
            </a:pPr>
            <a:endParaRPr lang="en-US" dirty="0"/>
          </a:p>
          <a:p>
            <a:pPr lvl="1"/>
            <a:r>
              <a:rPr lang="en-US" b="1" u="sng" dirty="0"/>
              <a:t>Careful: </a:t>
            </a:r>
            <a:r>
              <a:rPr lang="en-US" dirty="0"/>
              <a:t>“converges” just means the assignments stop changing (a local optimum), it does NOT mean K-means found the best possible clustering. See “Key Takeaway” earlier in the deck!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Lloyd’s Algorithm: What Convergence Really Means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500"/>
          </a:bodyPr>
          <a:lstStyle/>
          <a:p>
            <a:r>
              <a:rPr lang="en-US" dirty="0"/>
              <a:t>Always converges: with N points and k clusters there are only finitely many ways to partition the data, and the cost never increases, so the algorithm must stop after a finite number of iterations.</a:t>
            </a:r>
          </a:p>
          <a:p>
            <a:r>
              <a:rPr lang="en-US" dirty="0"/>
              <a:t>But not to the global optimum: it stops at a local optimum, a point where no single reassignment helps, which may not be the best clustering overall (recall the spiral example!).</a:t>
            </a:r>
          </a:p>
          <a:p>
            <a:r>
              <a:rPr lang="en-US" dirty="0"/>
              <a:t>Sensitive to initialization: a poor set of starting centroids can trap the algorithm in a bad clustering.</a:t>
            </a:r>
          </a:p>
          <a:p>
            <a:pPr lvl="1"/>
            <a:r>
              <a:rPr lang="en-US" dirty="0"/>
              <a:t>In practice: scikit-learn’s KMeans reruns the algorithm from several random initializations (n_init) and keeps the lowest-cost result; smarter seeding (k-means++) also helps.</a:t>
            </a:r>
          </a:p>
          <a:p>
            <a:r>
              <a:rPr lang="en-US" dirty="0"/>
              <a:t>Cost per iteration: O(N·k·d) for N points, k clusters, d dimensions — fast, which is part of why K-means scales to large datasets.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A824E1-8BD0-B734-BCC1-7879C689839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6BEAB7-291A-380C-4DBB-39A6D6F4EA7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>
                <a:solidFill>
                  <a:srgbClr val="000000"/>
                </a:solidFill>
              </a:rPr>
              <a:t>Dataset: [−2,−1.5, .5, 1, 5.5, 6, 6.5]. With initial centroids 0 and 2, what
are the final centroids?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7906D1-C066-98E5-F41D-7E26015F84B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B945412-1D57-47AD-D00B-7A6F66E41B2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3E996F1-8BAF-AE97-6B66-1F96D3206DD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8809B39-2481-5DFA-14FF-803A375FE52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16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CD98B-D8E0-63F2-9C8B-9336A9AF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E640-EA99-1002-9FE4-FF17E631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2490E-C605-A8E9-C948-A0FB8CAEE61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We’re 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This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2490E-C605-A8E9-C948-A0FB8CAEE6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747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A5A1-C340-088B-A767-CCC867736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A7F1-FB2C-9725-88F6-FA1A85CD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97D7D9-27FF-C73D-9F88-962F0DE2A2D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We’re 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This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Based on the K-means algorithm, each point will be assigned to the closest cluster mean. </a:t>
                </a:r>
                <a:r>
                  <a:rPr lang="en-US" dirty="0"/>
                  <a:t>Hence, we get the following clusters: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2,−1.5,0.5,1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5.5,6,7.5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97D7D9-27FF-C73D-9F88-962F0DE2A2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143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D1DC-E5D0-0805-B35D-62DEA6C9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A798-272D-38E3-6564-2E65E0AF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FE31583-5EB2-63EE-929E-8EE7AF6659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We’re 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This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Based on the K-means algorithm, each point will be assigned to the closest cluster mean. </a:t>
                </a:r>
                <a:r>
                  <a:rPr lang="en-US" dirty="0"/>
                  <a:t>Hence, we get the following clusters: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2,−1.5,0.5,1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5.5,6,7.5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0" dirty="0"/>
                  <a:t>Computing the new means we get</a:t>
                </a:r>
                <a:r>
                  <a:rPr lang="en-US" dirty="0"/>
                  <a:t>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FE31583-5EB2-63EE-929E-8EE7AF665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869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D1C4A-2FBD-6DBC-F1F1-8AEBF37FD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7EA34-F9FE-131D-C44E-0FBAAAE6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C78D79F-EE87-B6F0-F0FC-2ADE6F1271D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We’re 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This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Based on the K-means algorithm, each point will be assigned to the closest cluster mean. </a:t>
                </a:r>
                <a:r>
                  <a:rPr lang="en-US" dirty="0"/>
                  <a:t>Hence, we get the following clusters:</a:t>
                </a:r>
              </a:p>
              <a:p>
                <a:pPr marL="5969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2,−1.5,0.5,1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5.5,6,7.5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0" dirty="0"/>
                  <a:t>Computing the new means we get</a:t>
                </a:r>
                <a:r>
                  <a:rPr lang="en-US" dirty="0"/>
                  <a:t>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Next, we try to reassign points to clusters based on the new means and get the same two clusters </a:t>
                </a:r>
                <a:r>
                  <a:rPr lang="en-US" dirty="0">
                    <a:sym typeface="Wingdings" pitchFamily="2" charset="2"/>
                  </a:rPr>
                  <a:t> K-means has converged.</a:t>
                </a:r>
                <a:endParaRPr lang="en-US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C78D79F-EE87-B6F0-F0FC-2ADE6F1271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997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0E6FD1-2FD2-36D3-DC67-83FFE32B176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547816-4519-E711-543C-B4AFE09F8B6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Consider the 1-dimensional dataset: [3, 5, x]. With k = 2, what is the
smallest integer value of x, (x &gt; 5) for which x will always be alone in its
own cluster no matter the initialization?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C98BB8-CE46-B7FC-97A1-51BFE1612F3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33FCB26-0466-F60B-3CB5-306B8FA1835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234C8568-E35C-E8AF-406A-4224E9312EF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885DEE4-7528-D203-EAC8-B3FC0D8435F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247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  <p:bldP spid="3" grpId="3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A075-DD50-82C3-E5FF-93C65293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F820B9-5EC1-3A08-6D05-A401BC865E4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following clustering: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 5,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F820B9-5EC1-3A08-6D05-A401BC865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433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9FB3-2280-AAB4-2143-C985AC6B6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88DE-9383-545D-6684-CD9F797D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8981C27-8EFB-ABF6-4E98-57D4147F52D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following clustering: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 5,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Question: for what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1" dirty="0"/>
                  <a:t>will</a:t>
                </a:r>
                <a:r>
                  <a:rPr lang="en-US" b="0" dirty="0"/>
                  <a:t> 5 switch clusters?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8981C27-8EFB-ABF6-4E98-57D4147F52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114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717FD-6CF2-E42A-0278-1AC5B242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4030-2B06-C010-0C77-498AB82FD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E0840E-903E-137D-0AD8-B3432F0783C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following clustering: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 5,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Question: for what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1" dirty="0"/>
                  <a:t>will</a:t>
                </a:r>
                <a:r>
                  <a:rPr lang="en-US" b="0" dirty="0"/>
                  <a:t> 5 switch clusters?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=|5–3|=2</m:t>
                      </m:r>
                    </m:oMath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Goal: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BE0840E-903E-137D-0AD8-B3432F078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1216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B11E-4151-3F15-A278-5BA28F1DD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6844F-35E0-D372-2527-F89AC323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977F49-25E7-DCBA-DFD8-EADF301299D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Goal: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977F49-25E7-DCBA-DFD8-EADF301299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653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7DAB9-93A6-DC4A-027D-F91132892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2CBF-A5CF-A76B-91B0-6FBF3B20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8565BAF-EA0B-5937-CBFB-933BB3900D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Goal: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Recall: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&gt;5</m:t>
                    </m:r>
                  </m:oMath>
                </a14:m>
                <a:r>
                  <a:rPr lang="en-US" dirty="0"/>
                  <a:t> </a:t>
                </a:r>
                <a:endParaRPr lang="en-US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&gt;9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Interpretation: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&gt;9 </m:t>
                    </m:r>
                  </m:oMath>
                </a14:m>
                <a:r>
                  <a:rPr lang="en-US" b="0" dirty="0"/>
                  <a:t>then we </a:t>
                </a:r>
                <a:r>
                  <a:rPr lang="en-US" dirty="0"/>
                  <a:t>will</a:t>
                </a:r>
                <a:r>
                  <a:rPr lang="en-US" b="0" dirty="0"/>
                  <a:t> end with the clustering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3, 5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8565BAF-EA0B-5937-CBFB-933BB3900D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135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f8c893a0-0602-409a-b912-54905ebd9202"/>
  <p:tag name="SLIDO_EVENT_UUID" val="95d000ac-1c3d-473b-992f-433a6d05bcf7"/>
  <p:tag name="SLIDO_EVENT_SECTION_UUID" val="8f54b616-52fa-4d91-874e-f907f1214e8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981735a-d087-424b-9f9c-2343db175b6f"/>
  <p:tag name="SLIDO_POLL_QUESTION_UUID" val="3235bf47-1150-4d03-b63d-efd49c22e6ff"/>
  <p:tag name="SLIDO_KEEP_POLL_ACTIVE" val="false"/>
  <p:tag name="SLIDO_TIMELINE" val="W3sic2NyZWVuIjoiUXVpekpvaW5pbmcifSx7InNob3dDb3JyZWN0QW5zd2VycyI6ZmFsc2UsInNob3dSZXN1bHRzIjpmYWxzZSwicG9sbFF1ZXN0aW9uVXVpZCI6IjMyMzViZjQ3LTExNTAtNGQwMy1iNjNkLWVmZDQ5YzIyZTZmZiIsInZvdGluZ0xvY2tlZCI6ZmFsc2V9LHsic2hvd0NvcnJlY3RBbnN3ZXJzIjpmYWxzZSwic2hvd1Jlc3VsdHMiOnRydWUsInBvbGxRdWVzdGlvblV1aWQiOiIzMjM1YmY0Ny0xMTUwLTRkMDMtYjYzZC1lZmQ0OWMyMmU2ZmYiLCJ2b3RpbmdMb2NrZWQiOnRydWV9LHsic2hvd0NvcnJlY3RBbnN3ZXJzIjp0cnVlLCJzaG93UmVzdWx0cyI6dHJ1ZSwicG9sbFF1ZXN0aW9uVXVpZCI6IjMyMzViZjQ3LTExNTAtNGQwMy1iNjNkLWVmZDQ5YzIyZTZmZiIsInZvdGluZ0xvY2tlZCI6dHJ1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981735a-d087-424b-9f9c-2343db175b6f"/>
  <p:tag name="SLIDO_POLL_QUESTION_UUID" val="2ca26b6e-63d7-4771-9c29-9bf39e616fb8"/>
  <p:tag name="SLIDO_KEEP_POLL_ACTIVE" val="false"/>
  <p:tag name="SLIDO_TIMELINE" val="W3sic2NyZWVuIjoiUXVpekdldFJlYWR5In0seyJ2b3RpbmdMb2NrZWQiOmZhbHNlLCJwb2xsUXVlc3Rpb25VdWlkIjoiMmNhMjZiNmUtNjNkNy00NzcxLTljMjktOWJmMzllNjE2ZmI4Iiwic2hvd0NvcnJlY3RBbnN3ZXJzIjpmYWxzZSwic2hvd1Jlc3VsdHMiOmZhbHNlfSx7InZvdGluZ0xvY2tlZCI6dHJ1ZSwicG9sbFF1ZXN0aW9uVXVpZCI6IjJjYTI2YjZlLTYzZDctNDc3MS05YzI5LTliZjM5ZTYxNmZiOCIsInNob3dDb3JyZWN0QW5zd2VycyI6ZmFsc2UsInNob3dSZXN1bHRzIjp0cnVlfSx7InZvdGluZ0xvY2tlZCI6dHJ1ZSwicG9sbFF1ZXN0aW9uVXVpZCI6IjJjYTI2YjZlLTYzZDctNDc3MS05YzI5LTliZjM5ZTYxNmZiOCIsInNob3dDb3JyZWN0QW5zd2VycyI6dHJ1ZSwic2hvd1Jlc3VsdHMiOnRydWV9XQ=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981735a-d087-424b-9f9c-2343db175b6f"/>
  <p:tag name="SLIDO_POLL_QUESTION_UUID" val="73563c3f-1936-4712-aa32-2a404f9511a8"/>
  <p:tag name="SLIDO_KEEP_POLL_ACTIVE" val="false"/>
  <p:tag name="SLIDO_TIMELINE" val="W3sic2NyZWVuIjoiUXVpekdldFJlYWR5In0seyJ2b3RpbmdMb2NrZWQiOmZhbHNlLCJwb2xsUXVlc3Rpb25VdWlkIjoiNzM1NjNjM2YtMTkzNi00NzEyLWFhMzItMmE0MDRmOTUxMWE4Iiwic2hvd1Jlc3VsdHMiOmZhbHNlLCJzaG93Q29ycmVjdEFuc3dlcnMiOmZhbHNlfSx7InZvdGluZ0xvY2tlZCI6dHJ1ZSwicG9sbFF1ZXN0aW9uVXVpZCI6IjczNTYzYzNmLTE5MzYtNDcxMi1hYTMyLTJhNDA0Zjk1MTFhOCIsInNob3dSZXN1bHRzIjp0cnVlLCJzaG93Q29ycmVjdEFuc3dlcnMiOmZhbHNlfSx7InZvdGluZ0xvY2tlZCI6dHJ1ZSwicG9sbFF1ZXN0aW9uVXVpZCI6IjczNTYzYzNmLTE5MzYtNDcxMi1hYTMyLTJhNDA0Zjk1MTFhOCIsInNob3dSZXN1bHRzIjp0cnVlLCJzaG93Q29ycmVjdEFuc3dlcnMiOnRydWV9XQ=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981735a-d087-424b-9f9c-2343db175b6f"/>
  <p:tag name="SLIDO_POLL_QUESTION_UUID" val="e0d040a9-912b-499b-9019-bc5e2ff57bf9"/>
  <p:tag name="SLIDO_KEEP_POLL_ACTIVE" val="false"/>
  <p:tag name="SLIDO_TIMELINE" val="W3sic2NyZWVuIjoiUXVpekdldFJlYWR5In0seyJzaG93Q29ycmVjdEFuc3dlcnMiOmZhbHNlLCJzaG93UmVzdWx0cyI6ZmFsc2UsInZvdGluZ0xvY2tlZCI6ZmFsc2UsInBvbGxRdWVzdGlvblV1aWQiOiJlMGQwNDBhOS05MTJiLTQ5OWItOTAxOS1iYzVlMmZmNTdiZjkifSx7InNob3dDb3JyZWN0QW5zd2VycyI6ZmFsc2UsInNob3dSZXN1bHRzIjp0cnVlLCJ2b3RpbmdMb2NrZWQiOnRydWUsInBvbGxRdWVzdGlvblV1aWQiOiJlMGQwNDBhOS05MTJiLTQ5OWItOTAxOS1iYzVlMmZmNTdiZjkifSx7InNob3dDb3JyZWN0QW5zd2VycyI6dHJ1ZSwic2hvd1Jlc3VsdHMiOnRydWUsInZvdGluZ0xvY2tlZCI6dHJ1ZSwicG9sbFF1ZXN0aW9uVXVpZCI6ImUwZDA0MGE5LTkxMmItNDk5Yi05MDE5LWJjNWUyZmY1N2JmOSJ9XQ=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981735a-d087-424b-9f9c-2343db175b6f"/>
  <p:tag name="SLIDO_POLL_QUESTION_UUID" val="f7a9f8a1-cd97-4c77-98aa-4cbecd66d209"/>
  <p:tag name="SLIDO_KEEP_POLL_ACTIVE" val="false"/>
  <p:tag name="SLIDO_TIMELINE" val="W3sic2NyZWVuIjoiUXVpekdldFJlYWR5In0seyJwb2xsUXVlc3Rpb25VdWlkIjoiZjdhOWY4YTEtY2Q5Ny00Yzc3LTk4YWEtNGNiZWNkNjZkMjA5Iiwic2hvd1Jlc3VsdHMiOmZhbHNlLCJzaG93Q29ycmVjdEFuc3dlcnMiOmZhbHNlLCJ2b3RpbmdMb2NrZWQiOmZhbHNlfSx7InBvbGxRdWVzdGlvblV1aWQiOiJmN2E5ZjhhMS1jZDk3LTRjNzctOThhYS00Y2JlY2Q2NmQyMDkiLCJzaG93UmVzdWx0cyI6dHJ1ZSwic2hvd0NvcnJlY3RBbnN3ZXJzIjpmYWxzZSwidm90aW5nTG9ja2VkIjp0cnVlfSx7InBvbGxRdWVzdGlvblV1aWQiOiJmN2E5ZjhhMS1jZDk3LTRjNzctOThhYS00Y2JlY2Q2NmQyMDkiLCJzaG93UmVzdWx0cyI6dHJ1ZSwic2hvd0NvcnJlY3RBbnN3ZXJzIjp0cnVlLCJ2b3RpbmdMb2NrZWQiOnRydWV9LHsic2NyZWVuIjoiUXVpekxlYWRlcmJvYXJkIiwicG9sbFF1ZXN0aW9uVXVpZCI6ImY3YTlmOGExLWNkOTctNGM3Ny05OGFhLTRjYmVjZDY2ZDIwOSIsInNob3dSZXN1bHRzIjp0cnVlLCJzaG93Q29ycmVjdEFuc3dlcnMiOnRydWUsInZvdGluZ0xvY2tlZCI6dHJ1ZX1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1767</Words>
  <Application>Microsoft Macintosh PowerPoint</Application>
  <PresentationFormat>On-screen Show (16:9)</PresentationFormat>
  <Paragraphs>235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Wingdings</vt:lpstr>
      <vt:lpstr>Cambria Math</vt:lpstr>
      <vt:lpstr>PT Sans Narrow</vt:lpstr>
      <vt:lpstr>Arial</vt:lpstr>
      <vt:lpstr>Open Sans</vt:lpstr>
      <vt:lpstr>Tropic</vt:lpstr>
      <vt:lpstr>K-means</vt:lpstr>
      <vt:lpstr>What is the center of C2?</vt:lpstr>
      <vt:lpstr>What is the center of C2?</vt:lpstr>
      <vt:lpstr>What is the center of C1?</vt:lpstr>
      <vt:lpstr>What is the center of C1?</vt:lpstr>
      <vt:lpstr>Hmmm… does this make sense?</vt:lpstr>
      <vt:lpstr>Another perspective: can we minimize our cost function any further?</vt:lpstr>
      <vt:lpstr>Another perspective: can we minimize our cost function any further?</vt:lpstr>
      <vt:lpstr>Key Takeaway: Why This Clustering Fails</vt:lpstr>
      <vt:lpstr>What exactly is the cost function?</vt:lpstr>
      <vt:lpstr>What exactly is the cost function?</vt:lpstr>
      <vt:lpstr>What exactly is the cost function?</vt:lpstr>
      <vt:lpstr>What exactly is the cost function?</vt:lpstr>
      <vt:lpstr>PowerPoint Presentation</vt:lpstr>
      <vt:lpstr>Solution</vt:lpstr>
      <vt:lpstr>Solution</vt:lpstr>
      <vt:lpstr>Solution</vt:lpstr>
      <vt:lpstr>PowerPoint Presentation</vt:lpstr>
      <vt:lpstr>Solution</vt:lpstr>
      <vt:lpstr>Lloyd’s Algorithm, Step by Step</vt:lpstr>
      <vt:lpstr>PowerPoint Presentation</vt:lpstr>
      <vt:lpstr>Solution</vt:lpstr>
      <vt:lpstr>Lloyd’s Algorithm: What Convergence Really Means</vt:lpstr>
      <vt:lpstr>PowerPoint Presentation</vt:lpstr>
      <vt:lpstr>Solution</vt:lpstr>
      <vt:lpstr>Solution</vt:lpstr>
      <vt:lpstr>Solution</vt:lpstr>
      <vt:lpstr>Solution</vt:lpstr>
      <vt:lpstr>PowerPoint Presentation</vt:lpstr>
      <vt:lpstr>Solution</vt:lpstr>
      <vt:lpstr>Solution</vt:lpstr>
      <vt:lpstr>Solution</vt:lpstr>
      <vt:lpstr>Solution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Betco, Marius</cp:lastModifiedBy>
  <cp:revision>9</cp:revision>
  <dcterms:modified xsi:type="dcterms:W3CDTF">2026-09-22T20:47:55Z</dcterms:modified>
</cp:coreProperties>
</file>