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PT Sans Narrow" panose="020B0506020203020204" pitchFamily="34" charset="77"/>
      <p:regular r:id="rId37"/>
      <p:bold r:id="rId38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/>
    <p:restoredTop sz="94737"/>
  </p:normalViewPr>
  <p:slideViewPr>
    <p:cSldViewPr snapToGrid="0">
      <p:cViewPr varScale="1">
        <p:scale>
          <a:sx n="124" d="100"/>
          <a:sy n="124" d="100"/>
        </p:scale>
        <p:origin x="176" y="7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scores are missing!</a:t>
            </a:r>
          </a:p>
        </p:txBody>
      </p:sp>
    </p:spTree>
    <p:extLst>
      <p:ext uri="{BB962C8B-B14F-4D97-AF65-F5344CB8AC3E}">
        <p14:creationId xmlns:p14="http://schemas.microsoft.com/office/powerpoint/2010/main" val="3232249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will the orange point be classified?</a:t>
            </a:r>
          </a:p>
        </p:txBody>
      </p:sp>
    </p:spTree>
    <p:extLst>
      <p:ext uri="{BB962C8B-B14F-4D97-AF65-F5344CB8AC3E}">
        <p14:creationId xmlns:p14="http://schemas.microsoft.com/office/powerpoint/2010/main" val="2306924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01AF-11A9-CEE3-0D74-1893D96A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2C249-BBD6-86DF-9F09-0F1F23AB9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0464D-5512-3ECD-C561-6A4BDA6D9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will the orange point be classified?</a:t>
            </a:r>
          </a:p>
        </p:txBody>
      </p:sp>
    </p:spTree>
    <p:extLst>
      <p:ext uri="{BB962C8B-B14F-4D97-AF65-F5344CB8AC3E}">
        <p14:creationId xmlns:p14="http://schemas.microsoft.com/office/powerpoint/2010/main" val="222298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3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0.xml"/><Relationship Id="rId7" Type="http://schemas.openxmlformats.org/officeDocument/2006/relationships/image" Target="../media/image3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3.xml"/><Relationship Id="rId7" Type="http://schemas.openxmlformats.org/officeDocument/2006/relationships/image" Target="../media/image3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 Nearest Neighbors Classification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8E25-5308-AAF6-3BE5-39AB07F9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classification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22D4F-2A7A-1BB8-89FB-B915154E6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Attempting to predict some outcome (i.e. a class) based on features and other outcomes.</a:t>
            </a:r>
          </a:p>
          <a:p>
            <a:r>
              <a:rPr lang="en-US" dirty="0"/>
              <a:t>We want features that are related to the target but not each other</a:t>
            </a:r>
          </a:p>
          <a:p>
            <a:r>
              <a:rPr lang="en-US" dirty="0"/>
              <a:t>Split up our data into a training set and a testing set.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672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EFC2-3E5D-8E7D-DE07-75248CBD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dataset: movie reviews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05635-DDCB-6784-6344-5221811D0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25"/>
            <a:ext cx="4709179" cy="336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4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B334-04E3-ADB7-3AD9-92646E9B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Goal of classification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0B437-47C8-4BCB-BB59-D9A8809A1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Predict the scores of the movie reviews for the reviews where the scores are hidden. </a:t>
            </a:r>
          </a:p>
        </p:txBody>
      </p:sp>
    </p:spTree>
    <p:extLst>
      <p:ext uri="{BB962C8B-B14F-4D97-AF65-F5344CB8AC3E}">
        <p14:creationId xmlns:p14="http://schemas.microsoft.com/office/powerpoint/2010/main" val="151625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95FB-2DA4-00A1-E0EC-8A590745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0599-A0DA-D3DF-5874-F8B107DD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Goal of classification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1C84C-3077-7719-800E-032BAA1DC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Predict the scores of the movie reviews for the reviews where the scores are hidden.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Training set – utilize some subset of the dataset (users with scores) to train our model.</a:t>
            </a:r>
          </a:p>
        </p:txBody>
      </p:sp>
    </p:spTree>
    <p:extLst>
      <p:ext uri="{BB962C8B-B14F-4D97-AF65-F5344CB8AC3E}">
        <p14:creationId xmlns:p14="http://schemas.microsoft.com/office/powerpoint/2010/main" val="365847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1649E-57F9-9A45-F22C-1F9ECA87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173A-047D-FF25-B6B3-0F520595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Goal of classification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87812-F248-AF3F-E3FE-419D32208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Predict the scores of the movie reviews for the reviews where the scores are hidden.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Training set – utilize some subset of the dataset (users with scores) to train our model.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Testing set – test the model on data it hasn’t seen before (i.e. the users with no scores attached to their reviews)</a:t>
            </a:r>
          </a:p>
        </p:txBody>
      </p:sp>
    </p:spTree>
    <p:extLst>
      <p:ext uri="{BB962C8B-B14F-4D97-AF65-F5344CB8AC3E}">
        <p14:creationId xmlns:p14="http://schemas.microsoft.com/office/powerpoint/2010/main" val="1832909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080B-1983-89B7-2282-6EF59B93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628E-CA90-4FAA-3DA0-E697A878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Goal of classification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82145-2EAA-7742-5D9E-31CD2E6DB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Predict the scores of the movie reviews for the reviews where the scores are hidden.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Training set – utilize some subset of the dataset (users with scores) to train our model.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Testing set – test the model on data it hasn’t seen before (i.e. the users with no scores attached to their reviews)</a:t>
            </a:r>
          </a:p>
          <a:p>
            <a:pPr lvl="1"/>
            <a:r>
              <a:rPr lang="en-US" dirty="0"/>
              <a:t>Evaluate the model by comparing the results to the true values</a:t>
            </a:r>
          </a:p>
        </p:txBody>
      </p:sp>
    </p:spTree>
    <p:extLst>
      <p:ext uri="{BB962C8B-B14F-4D97-AF65-F5344CB8AC3E}">
        <p14:creationId xmlns:p14="http://schemas.microsoft.com/office/powerpoint/2010/main" val="266258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097A-FFB2-1700-74EA-4C02B176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types of classifiers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F6C6-494E-3CAA-1B93-48F3CD61C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Instance-based classifier:</a:t>
            </a:r>
          </a:p>
          <a:p>
            <a:r>
              <a:rPr lang="en-US" dirty="0"/>
              <a:t>Use the stored training records to predict the class label of unseen cases</a:t>
            </a:r>
          </a:p>
          <a:p>
            <a:r>
              <a:rPr lang="en-US" dirty="0"/>
              <a:t>Rote-learners: perform classification </a:t>
            </a:r>
            <a:r>
              <a:rPr lang="en-US" b="1" dirty="0"/>
              <a:t>only </a:t>
            </a:r>
            <a:r>
              <a:rPr lang="en-US" dirty="0"/>
              <a:t>if the attributes of the unseen record </a:t>
            </a:r>
            <a:r>
              <a:rPr lang="en-US" b="1" dirty="0"/>
              <a:t>exactly</a:t>
            </a:r>
            <a:r>
              <a:rPr lang="en-US" dirty="0"/>
              <a:t> match a record in our training set.</a:t>
            </a:r>
            <a:endParaRPr lang="en-US" b="1" dirty="0"/>
          </a:p>
          <a:p>
            <a:r>
              <a:rPr lang="en-US" dirty="0"/>
              <a:t>There isn’t exactly a training step. The dataset itself is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ED97-7184-9828-A97F-BBC0E63B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94D0-5D19-1723-D5F7-F4831303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types of classifiers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5B914-21DE-778F-B85D-E3E3AB86A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Instance-based classifier:</a:t>
            </a:r>
          </a:p>
          <a:p>
            <a:r>
              <a:rPr lang="en-US" dirty="0"/>
              <a:t>Use the stored training records to predict the class label of unseen cases</a:t>
            </a:r>
          </a:p>
          <a:p>
            <a:r>
              <a:rPr lang="en-US" dirty="0"/>
              <a:t>Rote-learners: perform classification </a:t>
            </a:r>
            <a:r>
              <a:rPr lang="en-US" b="1" dirty="0"/>
              <a:t>only </a:t>
            </a:r>
            <a:r>
              <a:rPr lang="en-US" dirty="0"/>
              <a:t>if the attributes of the unseen record </a:t>
            </a:r>
            <a:r>
              <a:rPr lang="en-US" b="1" dirty="0"/>
              <a:t>exactly</a:t>
            </a:r>
            <a:r>
              <a:rPr lang="en-US" dirty="0"/>
              <a:t> match a record in our training set.</a:t>
            </a:r>
            <a:endParaRPr lang="en-US" b="1" dirty="0"/>
          </a:p>
          <a:p>
            <a:r>
              <a:rPr lang="en-US" dirty="0"/>
              <a:t>There isn’t exactly a training step. The dataset itself is the model.</a:t>
            </a:r>
          </a:p>
          <a:p>
            <a:pPr marL="114300" indent="0">
              <a:buNone/>
            </a:pPr>
            <a:r>
              <a:rPr lang="en-US" dirty="0"/>
              <a:t>Nearest neighbor classifier</a:t>
            </a:r>
          </a:p>
          <a:p>
            <a:r>
              <a:rPr lang="en-US" dirty="0"/>
              <a:t>Use similar records to perform classification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409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4AC0-B280-A989-ADC2-B9EAC372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KNN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2C8F4D1-2CDA-BE01-F4B7-6B0EBDC2BB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Requirements: training set, distance function,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How to classify an unseen record: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b="0" dirty="0"/>
                  <a:t>Compute distance of unseen record to all training records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Identify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(using the specified distance function)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Aggregate the labels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to predict the unseen record</a:t>
                </a:r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2C8F4D1-2CDA-BE01-F4B7-6B0EBDC2B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46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DBC0-8D6F-2E34-ACFF-D4C13979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F44C-471E-154F-9FD7-E5292A0D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KNN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132783-0855-5EF7-9B2F-6AD7ED4C90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Requirements: training set, distance function,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How to classify an unseen record: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b="0" dirty="0"/>
                  <a:t>Compute distance of unseen record to all training records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Identify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(using the specified distance function)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Aggregate the labels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to predict the unseen record</a:t>
                </a:r>
              </a:p>
              <a:p>
                <a:r>
                  <a:rPr lang="en-US" dirty="0"/>
                  <a:t>Aggregation methods: majority rule, weighted majority based on distance, etc.</a:t>
                </a:r>
                <a:endParaRPr lang="en-US" b="0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132783-0855-5EF7-9B2F-6AD7ED4C9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43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9415-1EC4-1D5E-BC85-BD4A1FDD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1EA2-56C8-EEB3-EE49-C231B963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KNN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F8832B-0EEB-30F4-92D1-41EA7E7214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Requirements: training set, distance function,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How to classify an unseen record: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b="0" dirty="0"/>
                  <a:t>Compute distance of unseen record to all training records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Identify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(using the specified distance function)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Aggregate the labels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to predict the unseen record</a:t>
                </a:r>
              </a:p>
              <a:p>
                <a:r>
                  <a:rPr lang="en-US" dirty="0"/>
                  <a:t>Aggregation methods: majority rule, weighted majority based on distance, etc.</a:t>
                </a:r>
              </a:p>
              <a:p>
                <a:r>
                  <a:rPr lang="en-US" dirty="0"/>
                  <a:t>Attributes </a:t>
                </a:r>
                <a:r>
                  <a:rPr lang="en-US" b="0" dirty="0"/>
                  <a:t>should be scaled to prevent distanc</a:t>
                </a:r>
                <a:r>
                  <a:rPr lang="en-US" dirty="0"/>
                  <a:t>e measures from being dominated by a single attribute.</a:t>
                </a:r>
                <a:endParaRPr lang="en-US" b="0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F8832B-0EEB-30F4-92D1-41EA7E7214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216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A4D186-27EE-1334-1AB7-23D0C9DF8DE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F76485-B69E-319D-AD8D-BA83F9DCEA3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True or false: KNN has a long training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93646-81E0-3F60-C3F7-70FEE0BE18CF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F983A72-B051-F145-F03F-7DD015C0C05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0A6E37FE-52CD-E03B-29F3-1EAE9165D05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07F3385-B97D-EBD2-36F5-019D3FD20B6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790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5E36-B697-BD78-7113-7B607F2B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9CE3-F5EF-7923-442F-9695441A6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KNN is a lazy learner. There isn’t any actual training or learning going on. The computational time comes from searching for the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2963367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F761-1C6B-CAB7-B8D9-5CF207EC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Decision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D5837-AAF1-EDB2-45CD-20055E168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4372595" cy="3302700"/>
          </a:xfrm>
        </p:spPr>
        <p:txBody>
          <a:bodyPr/>
          <a:lstStyle/>
          <a:p>
            <a:r>
              <a:rPr lang="en-US" dirty="0"/>
              <a:t>A decision boundary is a line or curve such that if a point is on one side of the curve, it’ll be classified a particular way, and if it is on another, it’ll be classified another way.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11C77-FB8A-5105-37B0-7A96F743C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512" y="1563840"/>
            <a:ext cx="4154488" cy="270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76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65AD-568E-9F1C-76C2-DB87E8F9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9ACD32-02CD-F7BF-5B22-87F758A0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71" y="866634"/>
            <a:ext cx="5232457" cy="341023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CDAC43F-7305-E2C6-1144-370CCD2B6591}"/>
              </a:ext>
            </a:extLst>
          </p:cNvPr>
          <p:cNvSpPr/>
          <p:nvPr/>
        </p:nvSpPr>
        <p:spPr>
          <a:xfrm>
            <a:off x="3569677" y="2492619"/>
            <a:ext cx="197827" cy="1934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3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0B300-4A40-04A3-7134-205D110E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09B002-08F5-2AD8-D31D-6203BF78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71" y="866634"/>
            <a:ext cx="5232457" cy="341023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DD2CCF-642E-4392-EE31-D444F9E38FE0}"/>
              </a:ext>
            </a:extLst>
          </p:cNvPr>
          <p:cNvSpPr/>
          <p:nvPr/>
        </p:nvSpPr>
        <p:spPr>
          <a:xfrm>
            <a:off x="3275135" y="1415561"/>
            <a:ext cx="197827" cy="1934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4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5CAA0ED-A1B6-C85C-AC8A-35D0DB2C54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Choosing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5CAA0ED-A1B6-C85C-AC8A-35D0DB2C5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72E3416-3538-1947-858E-112B4A8EC4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is too small: sensitive to noise points, doesn’t generalize well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is too big: neighborhood may include points from other classes (outcomes)</a:t>
                </a: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72E3416-3538-1947-858E-112B4A8EC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870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5F33E6-A20A-8A13-007B-648E1EAC134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9B282-1715-1A6D-41C3-F77370E82EA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True or false: if k is too large in KNN, this can lead to underfitting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B39C9-1112-04BE-25CC-3FA2F2E78FC1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EA448AF-40E8-D474-106D-A08190B91C9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B94AE22-D564-41A5-357B-99109D35B87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1077DC9-5BDD-2B3D-D8B2-9CAB836608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965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9F49-75D3-2935-3FCA-61450E5C1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9389649" cy="707400"/>
          </a:xfrm>
        </p:spPr>
        <p:txBody>
          <a:bodyPr>
            <a:normAutofit/>
          </a:bodyPr>
          <a:lstStyle/>
          <a:p>
            <a:r>
              <a:rPr lang="en-US" sz="2800" dirty="0"/>
              <a:t>Question: how can we apply KNN to the movie review example?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89145-6833-A062-744F-4054EFF45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First, consider just the body of the review</a:t>
            </a:r>
          </a:p>
        </p:txBody>
      </p:sp>
    </p:spTree>
    <p:extLst>
      <p:ext uri="{BB962C8B-B14F-4D97-AF65-F5344CB8AC3E}">
        <p14:creationId xmlns:p14="http://schemas.microsoft.com/office/powerpoint/2010/main" val="3240990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8B49-7EC3-326F-E0F3-D20F8D8C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40C5-FC6F-EEF9-99D5-84FDA691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9389649" cy="707400"/>
          </a:xfrm>
        </p:spPr>
        <p:txBody>
          <a:bodyPr>
            <a:normAutofit/>
          </a:bodyPr>
          <a:lstStyle/>
          <a:p>
            <a:r>
              <a:rPr lang="en-US" sz="2800" dirty="0"/>
              <a:t>Question: how can we apply KNN to the movie review example?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C33FA-9A8D-AF41-1E9D-53BE054A0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First, consider just the body of the review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need to map the semantic significance of the words to a space where we can apply a distance function and use KNN!</a:t>
            </a:r>
          </a:p>
        </p:txBody>
      </p:sp>
    </p:spTree>
    <p:extLst>
      <p:ext uri="{BB962C8B-B14F-4D97-AF65-F5344CB8AC3E}">
        <p14:creationId xmlns:p14="http://schemas.microsoft.com/office/powerpoint/2010/main" val="51769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4199-AA47-3980-16A2-1C4CA775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8FCB-CB06-F617-4DC3-478D1B6A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9389649" cy="707400"/>
          </a:xfrm>
        </p:spPr>
        <p:txBody>
          <a:bodyPr>
            <a:normAutofit/>
          </a:bodyPr>
          <a:lstStyle/>
          <a:p>
            <a:r>
              <a:rPr lang="en-US" sz="2800" dirty="0"/>
              <a:t>Question: how can we apply KNN to the movie review example?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6E0A7-C3C9-1A0F-E547-ED0E1D95D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First, consider just the body of the review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need to map the semantic significance of the words to a space where we can apply a distance function and use KNN!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Any ideas?</a:t>
            </a:r>
          </a:p>
        </p:txBody>
      </p:sp>
    </p:spTree>
    <p:extLst>
      <p:ext uri="{BB962C8B-B14F-4D97-AF65-F5344CB8AC3E}">
        <p14:creationId xmlns:p14="http://schemas.microsoft.com/office/powerpoint/2010/main" val="3391703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B70462-CAC4-6743-BFDE-1EF91FB5DD1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9C7A57-62BD-7FE1-7FDD-40EC330DD8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can we use to map the bodies of the reviews to a space where we can run KNN?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A289F-BAE4-BB9C-C8BE-B5202AE9C93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FCBD216-04CA-FD02-F0B6-8661027A77F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609CAF0-0DAE-D7DC-9E16-DAB3C370F39C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82D040-87A5-B2A3-2171-3683B955D7A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964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BB28-5BDF-ECC9-ACDD-BB45B10F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Latent Semantic Analysis (LSA)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55FEE-FC41-3487-E97B-079D7439B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LSA to create embeddings for the body of the training set movie reviews.</a:t>
            </a:r>
          </a:p>
        </p:txBody>
      </p:sp>
    </p:spTree>
    <p:extLst>
      <p:ext uri="{BB962C8B-B14F-4D97-AF65-F5344CB8AC3E}">
        <p14:creationId xmlns:p14="http://schemas.microsoft.com/office/powerpoint/2010/main" val="3789998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5AFB-6819-D0E6-E9D3-9D0581A5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022E-E0BC-D1B9-B800-121A0B45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Latent Semantic Analysis (LSA)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6ECCC-492F-A5BD-6AFD-E14DF7472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LSA to create embeddings for the body of the training set movie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Ideally, LSA will end up grouping together words by sentiment (positive, negative, neutral, etc.)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814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40A2-0B27-7724-C6AE-6A189941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A2B5-6CE0-A1DF-F9B0-80AFB725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Latent Semantic Analysis (LSA)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66D89-0A6E-BD84-AA80-AAEAF7335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LSA to create embeddings for the body of the training set movie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Ideally, LSA will end up grouping together words by sentiment (positive, negative, neutral, etc.)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Once we have generated these embeddings, we can apply KNN to predict the outcomes of the testing set!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96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83F2-E6F3-1892-753D-B6543D56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parameterizing KNN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78E90-B3CE-57ED-1238-D6B1631C9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Requirements: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Number of neighbors to examine per data point to classify</a:t>
            </a:r>
          </a:p>
          <a:p>
            <a:pPr>
              <a:buFont typeface="+mj-lt"/>
              <a:buAutoNum type="arabicPeriod"/>
            </a:pPr>
            <a:r>
              <a:rPr lang="en-US" dirty="0"/>
              <a:t>Distance function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96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B664E7-1AFE-6A76-3AE1-30A0796A39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CDBCB3-B968-782E-488E-529E1C078A1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700" b="1">
                <a:solidFill>
                  <a:srgbClr val="000000"/>
                </a:solidFill>
              </a:rPr>
              <a:t>What distance function should we use to identify the semantic similarity of embeddings?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25AC9B-D6AF-EC6B-A274-0629C397DBC3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338FD11-AFC2-491B-E821-C455D67BFCA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541F697-C4BC-D137-951E-C2AE56E7C48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06D3FA-1B1C-60B3-9EED-A2E75687EF8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531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3F0CA-2A9B-0912-E9BB-59B146BB6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Now, let’s do this!</a:t>
            </a:r>
          </a:p>
        </p:txBody>
      </p:sp>
    </p:spTree>
    <p:extLst>
      <p:ext uri="{BB962C8B-B14F-4D97-AF65-F5344CB8AC3E}">
        <p14:creationId xmlns:p14="http://schemas.microsoft.com/office/powerpoint/2010/main" val="31405443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338bf138-fd33-4dae-a50a-4b26147b803b"/>
  <p:tag name="SLIDO_EVENT_UUID" val="41af5b9b-43c8-4b44-bbe8-c9b8065fa619"/>
  <p:tag name="SLIDO_EVENT_SECTION_UUID" val="9520a3c9-bb14-4fd6-99da-cc8dc0faada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590583c-153a-4b2e-8e2c-736d4131466b"/>
  <p:tag name="SLIDO_TIMELINE" val="W3sicG9sbFF1ZXN0aW9uVXVpZCI6IjQ0OTFiMjYyLTg4NGUtNDI5YS1iNDc5LThiNDk3OWIxMjQ5MSIsInNob3dDb3JyZWN0QW5zd2VycyI6ZmFsc2UsInNob3dSZXN1bHRzIjpmYWxzZX0seyJwb2xsUXVlc3Rpb25VdWlkIjoiNDQ5MWIyNjItODg0ZS00MjlhLWI0NzktOGI0OTc5YjEyNDkxIiwic2hvd0NvcnJlY3RBbnN3ZXJzIjp0cnVlLCJzaG93UmVzdWx0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f52cd7f-8e74-4b20-85b1-2140a3f2c754"/>
  <p:tag name="SLIDO_TIMELINE" val="W3sic2hvd0NvcnJlY3RBbnN3ZXJzIjpmYWxzZSwicG9sbFF1ZXN0aW9uVXVpZCI6ImUzNzNiMTY4LWEyZjQtNGYwNS1iOWQzLWE3MTVkYWU1YTI0NCIsInNob3dSZXN1bHRzIjpmYWxzZX0seyJzaG93Q29ycmVjdEFuc3dlcnMiOnRydWUsInBvbGxRdWVzdGlvblV1aWQiOiJlMzczYjE2OC1hMmY0LTRmMDUtYjlkMy1hNzE1ZGFlNWEyNDQiLCJzaG93UmVzdWx0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a93922b-60a2-4340-9590-82ec9a768cb1"/>
  <p:tag name="SLIDO_TIMELINE" val="W3sic2hvd1Jlc3VsdHMiOmZhbHNlLCJwb2xsUXVlc3Rpb25VdWlkIjoiNjE4NWE3NWYtNmVhNC00ZDk5LWFhMjAtZjQwMGViMDJhYmUwIiwic2hvd0NvcnJlY3RBbnN3ZXJzIjpmYWxzZX0seyJzaG93UmVzdWx0cyI6dHJ1ZSwicG9sbFF1ZXN0aW9uVXVpZCI6IjYxODVhNzVmLTZlYTQtNGQ5OS1hYTIwLWY0MDBlYjAyYWJlMCIsInNob3dDb3JyZWN0QW5zd2VycyI6dHJ1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7da48e0-280f-4617-8517-dd0aed2595da"/>
  <p:tag name="SLIDO_TIMELINE" val="W3sic2hvd0NvcnJlY3RBbnN3ZXJzIjpmYWxzZSwic2hvd1Jlc3VsdHMiOmZhbHNlLCJwb2xsUXVlc3Rpb25VdWlkIjoiZjJlZThhZTYtNTExYy00NGQ0LTg5MTAtMTY3ZGMwODk4YTMzIn0seyJzaG93Q29ycmVjdEFuc3dlcnMiOnRydWUsInNob3dSZXN1bHRzIjp0cnVlLCJwb2xsUXVlc3Rpb25VdWlkIjoiZjJlZThhZTYtNTExYy00NGQ0LTg5MTAtMTY3ZGMwODk4YTMzIn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1137</Words>
  <Application>Microsoft Macintosh PowerPoint</Application>
  <PresentationFormat>On-screen Show (16:9)</PresentationFormat>
  <Paragraphs>113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PT Sans Narrow</vt:lpstr>
      <vt:lpstr>Cambria Math</vt:lpstr>
      <vt:lpstr>Open Sans</vt:lpstr>
      <vt:lpstr>Tropic</vt:lpstr>
      <vt:lpstr>K Nearest Neighbors Classification</vt:lpstr>
      <vt:lpstr>Recall: classification</vt:lpstr>
      <vt:lpstr>Example dataset: movie reviews</vt:lpstr>
      <vt:lpstr>Goal of classification </vt:lpstr>
      <vt:lpstr>Goal of classification </vt:lpstr>
      <vt:lpstr>Goal of classification </vt:lpstr>
      <vt:lpstr>Goal of classification </vt:lpstr>
      <vt:lpstr>Recall: types of classifiers</vt:lpstr>
      <vt:lpstr>Recall: types of classifiers</vt:lpstr>
      <vt:lpstr>Recall: KNN Classifier</vt:lpstr>
      <vt:lpstr>Recall: KNN Classifier</vt:lpstr>
      <vt:lpstr>Recall: KNN Classifier</vt:lpstr>
      <vt:lpstr>PowerPoint Presentation</vt:lpstr>
      <vt:lpstr>Solution</vt:lpstr>
      <vt:lpstr>Decision Boundaries</vt:lpstr>
      <vt:lpstr>PowerPoint Presentation</vt:lpstr>
      <vt:lpstr>PowerPoint Presentation</vt:lpstr>
      <vt:lpstr>Choosing k </vt:lpstr>
      <vt:lpstr>PowerPoint Presentation</vt:lpstr>
      <vt:lpstr>Question: how can we apply KNN to the movie review example?</vt:lpstr>
      <vt:lpstr>Question: how can we apply KNN to the movie review example?</vt:lpstr>
      <vt:lpstr>Question: how can we apply KNN to the movie review example?</vt:lpstr>
      <vt:lpstr>PowerPoint Presentation</vt:lpstr>
      <vt:lpstr>Recall: Latent Semantic Analysis (LSA) </vt:lpstr>
      <vt:lpstr>Recall: Latent Semantic Analysis (LSA) </vt:lpstr>
      <vt:lpstr>Recall: Latent Semantic Analysis (LSA) </vt:lpstr>
      <vt:lpstr>Recall: parameterizing KNN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9</cp:revision>
  <dcterms:modified xsi:type="dcterms:W3CDTF">2026-03-25T16:06:41Z</dcterms:modified>
</cp:coreProperties>
</file>