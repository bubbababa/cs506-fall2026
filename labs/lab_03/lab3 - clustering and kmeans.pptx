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omments/modernComment_104_EED7A847.xml" ContentType="application/vnd.ms-powerpoint.comment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58" r:id="rId9"/>
    <p:sldId id="260" r:id="rId10"/>
    <p:sldId id="261" r:id="rId11"/>
    <p:sldId id="262" r:id="rId12"/>
    <p:sldId id="265" r:id="rId13"/>
    <p:sldId id="263" r:id="rId14"/>
    <p:sldId id="267" r:id="rId15"/>
    <p:sldId id="268" r:id="rId16"/>
    <p:sldId id="269" r:id="rId17"/>
    <p:sldId id="271" r:id="rId18"/>
    <p:sldId id="272" r:id="rId19"/>
    <p:sldId id="273" r:id="rId20"/>
    <p:sldId id="275" r:id="rId21"/>
    <p:sldId id="280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PT Sans Narrow" panose="020B0506020203020204" pitchFamily="34" charset="77"/>
      <p:regular r:id="rId39"/>
      <p:bold r:id="rId40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/>
    <p:restoredTop sz="94658"/>
  </p:normalViewPr>
  <p:slideViewPr>
    <p:cSldViewPr snapToGrid="0">
      <p:cViewPr varScale="1">
        <p:scale>
          <a:sx n="155" d="100"/>
          <a:sy n="155" d="100"/>
        </p:scale>
        <p:origin x="208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comments/modernComment_104_EED7A8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05DE8C-F1D1-024F-A141-3F5B671166FC}" authorId="{AFB71B5C-C160-F17B-ED32-C30F30E32A39}" created="2026-01-28T22:55:14.573">
    <pc:sldMkLst xmlns:pc="http://schemas.microsoft.com/office/powerpoint/2013/main/command">
      <pc:docMk/>
      <pc:sldMk cId="4007110727" sldId="260"/>
    </pc:sldMkLst>
    <p188:txBody>
      <a:bodyPr/>
      <a:lstStyle/>
      <a:p>
        <a:r>
          <a:rPr lang="en-US"/>
          <a:t>Put a circle around the clusters and roughly look at the center. Maybe remove one cluster and only look at one of them and reason about where the center 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4_EED7A84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K-means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EF44B-75C3-2276-2B55-0BF8C434B59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B3F58-0272-4115-7701-3AC5C9F4C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the following a possible output from K-means clustering?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622DE-68F6-5213-4741-B442F247038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A14889-CCC9-C2DF-3FDE-3AE7612ACB2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567FA1C-FBA4-EA00-4FD2-4B2A12B12E5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524B45F-4512-8BA2-9A6C-0632102BEDE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922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9C6D-53A3-44C2-5584-12B2FF9D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C2?</a:t>
            </a:r>
          </a:p>
        </p:txBody>
      </p:sp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53E6EC08-4757-655F-81DE-862182E2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242A-82F5-BE2A-6134-1EE19FD0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D770C92F-E857-C615-2C7D-81E97A05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  <p:sp>
        <p:nvSpPr>
          <p:cNvPr id="6" name="Multiply 5">
            <a:extLst>
              <a:ext uri="{FF2B5EF4-FFF2-40B4-BE49-F238E27FC236}">
                <a16:creationId xmlns:a16="http://schemas.microsoft.com/office/drawing/2014/main" id="{C4EC5200-5BC1-2F51-2160-377F50F86296}"/>
              </a:ext>
            </a:extLst>
          </p:cNvPr>
          <p:cNvSpPr/>
          <p:nvPr/>
        </p:nvSpPr>
        <p:spPr>
          <a:xfrm>
            <a:off x="4528932" y="2951258"/>
            <a:ext cx="239486" cy="21771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0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0953-D091-29D1-07B2-30EBE3AF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C1?</a:t>
            </a:r>
          </a:p>
        </p:txBody>
      </p:sp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9F7D59D3-DA08-00AB-E487-4E3368D46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BDE5-06D2-940F-9D1D-F89FFB7A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3643932B-F324-3811-DBD9-F1994D9B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  <p:sp>
        <p:nvSpPr>
          <p:cNvPr id="7" name="Multiply 6">
            <a:extLst>
              <a:ext uri="{FF2B5EF4-FFF2-40B4-BE49-F238E27FC236}">
                <a16:creationId xmlns:a16="http://schemas.microsoft.com/office/drawing/2014/main" id="{01E344FA-1896-FB1C-87E6-EE23FA57E309}"/>
              </a:ext>
            </a:extLst>
          </p:cNvPr>
          <p:cNvSpPr/>
          <p:nvPr/>
        </p:nvSpPr>
        <p:spPr>
          <a:xfrm>
            <a:off x="4476584" y="2814762"/>
            <a:ext cx="222637" cy="19878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3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5405-C064-31C0-A937-C69413EB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Hmmm… does this make sense?</a:t>
            </a:r>
          </a:p>
        </p:txBody>
      </p:sp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192D3838-5E5A-F01E-FCF5-E396E2A2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07" y="1152425"/>
            <a:ext cx="4378185" cy="3153832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82EDDA32-1FE2-EB19-05F4-680B960BF9BB}"/>
              </a:ext>
            </a:extLst>
          </p:cNvPr>
          <p:cNvSpPr/>
          <p:nvPr/>
        </p:nvSpPr>
        <p:spPr>
          <a:xfrm>
            <a:off x="3816623" y="2600074"/>
            <a:ext cx="174929" cy="20877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DF59FFB6-2C56-4EF4-BD8A-9C8E63B1FFBA}"/>
              </a:ext>
            </a:extLst>
          </p:cNvPr>
          <p:cNvSpPr/>
          <p:nvPr/>
        </p:nvSpPr>
        <p:spPr>
          <a:xfrm>
            <a:off x="4937760" y="2878372"/>
            <a:ext cx="151075" cy="16697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0CD6A05-E18A-88B8-6D19-9EA21381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4733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i.e., if we were to iterate through Lloyd’s algorithm again, would we have this clustering?</a:t>
            </a:r>
          </a:p>
        </p:txBody>
      </p:sp>
    </p:spTree>
    <p:extLst>
      <p:ext uri="{BB962C8B-B14F-4D97-AF65-F5344CB8AC3E}">
        <p14:creationId xmlns:p14="http://schemas.microsoft.com/office/powerpoint/2010/main" val="191309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4CCA-068F-9258-C7D4-132DFA3B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146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perspective: can we minimize our cost function any further?</a:t>
            </a:r>
          </a:p>
        </p:txBody>
      </p:sp>
      <p:pic>
        <p:nvPicPr>
          <p:cNvPr id="5" name="Picture 4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57AA7B9B-1F62-6BEC-C54F-ADDE09DC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A8A92-8373-43F6-4AE9-F3D4B590A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</p:txBody>
      </p:sp>
    </p:spTree>
    <p:extLst>
      <p:ext uri="{BB962C8B-B14F-4D97-AF65-F5344CB8AC3E}">
        <p14:creationId xmlns:p14="http://schemas.microsoft.com/office/powerpoint/2010/main" val="231112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1815-EB35-BD8F-A884-FA128F85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9B38A2C6-A01F-B25E-02CD-CC1C5014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0EC4-2593-699D-9D85-1192CF51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676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case, there are points in C1 closer to C2’s mean and vice-versa. Hence, K-means cannot converge to this clustering!</a:t>
            </a:r>
          </a:p>
        </p:txBody>
      </p:sp>
    </p:spTree>
    <p:extLst>
      <p:ext uri="{BB962C8B-B14F-4D97-AF65-F5344CB8AC3E}">
        <p14:creationId xmlns:p14="http://schemas.microsoft.com/office/powerpoint/2010/main" val="400711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8199-7CAF-01A6-5D35-B6DDD971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13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EFE0-FD4E-77CC-5B82-691F2A89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EB4854-ACDE-72C0-5C2C-B2E775FFD14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FA93A2-98EB-6464-1893-E238432B17DF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31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0759-25DF-DAC1-2B78-7D3BF2F9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191BFF-C7E1-EA06-7843-F8DB645A9963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30E60A-15DF-2DEA-6EFA-064807D49C5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DC0ECE-1C4E-0D6B-58BF-8F3EEAF45F69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C33A62-B2A1-ED1A-4836-C3A89773D17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66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4E87-A48D-14DE-DA91-855112D7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289FAB7-4334-FB4C-81F8-1EFD01F3C221}"/>
              </a:ext>
            </a:extLst>
          </p:cNvPr>
          <p:cNvSpPr txBox="1"/>
          <p:nvPr/>
        </p:nvSpPr>
        <p:spPr>
          <a:xfrm>
            <a:off x="2059806" y="2435192"/>
            <a:ext cx="5139891" cy="195392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7A2CF-F5FD-8E2D-CC98-0F3481684179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A490B9-C7BC-BA34-F0CE-7BEFB3C55536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05BA8E-2D1C-39E0-CCAE-5619167F8F01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C59B0A-F165-8C87-48E1-96E0C338A2A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9172365-14A7-9F17-EE02-BBD8C086F6E4}"/>
              </a:ext>
            </a:extLst>
          </p:cNvPr>
          <p:cNvSpPr txBox="1"/>
          <p:nvPr/>
        </p:nvSpPr>
        <p:spPr>
          <a:xfrm>
            <a:off x="1845" y="3465487"/>
            <a:ext cx="3378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“sum over all k clusters”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29F891-E80F-B14A-2736-7894E1BB9F7D}"/>
              </a:ext>
            </a:extLst>
          </p:cNvPr>
          <p:cNvCxnSpPr/>
          <p:nvPr/>
        </p:nvCxnSpPr>
        <p:spPr>
          <a:xfrm flipV="1">
            <a:off x="991402" y="2911642"/>
            <a:ext cx="991402" cy="61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31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AD7A6-88F2-9CFA-CB54-3D712E8176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A950BE-0178-DEC4-45E4-8600616FD9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For a dataset X with N points, when k = 1, the total cost is:
(hint: variance formula is pictured)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A1D77-4EA0-CE52-5AB2-F96B827771A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7C7A2C-AEC8-5942-2F75-2C342FED65F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1BB590C-3083-5207-303F-816F582A577B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BF0F4C8-7D45-10D5-54BE-EC59D148B6B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737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1A92-E024-44D1-E74A-5B70F6D0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76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D03A-94AF-943D-603F-D84A950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 b="-5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59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A9BD-0D31-338E-542E-CA5BE06D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is the total number of data points in population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Qualitatively, variance measures the distance from each point in the population to the population mean</a:t>
                </a: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  <a:blipFill>
                <a:blip r:embed="rId2"/>
                <a:stretch>
                  <a:fillRect t="-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39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6DB6A1-FA29-AE58-F05B-F1C714AE94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0A10B-C406-CE46-E058-91A1C8ADEED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For a dataset X with N points, when k = N the total cost is: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8E8F84-8071-4821-DED3-132ECC2B0BA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52302-428B-BC8A-434B-45D2D3D22BF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B0CE50A-5B2C-6DF8-D485-F1B04D9EEA17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43026FC-D8B5-24FD-884E-967BF4F9801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19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A1A2-EB1C-2BA6-7F40-A182A470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Each cluster will only have 1 point</a:t>
                </a:r>
              </a:p>
              <a:p>
                <a:pPr lvl="1"/>
                <a:r>
                  <a:rPr lang="en-US" dirty="0"/>
                  <a:t>Distance between each point in a cluster and the center is 0 (the center of the cluster will lie on the single point!)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77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3711A6-A1DC-7588-1276-91EDDF4E3F1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644368-DE66-70A5-4A47-F4170D8A3DE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900" b="1">
                <a:solidFill>
                  <a:srgbClr val="000000"/>
                </a:solidFill>
              </a:rPr>
              <a:t>Dataset: [-2, -1.5, .5, 1, 5.5, 6, 6.5]. With initial centroids 0 and 2, what are the final centroids?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0CD646-98D1-150E-AC7B-FFC3C136AAC4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8550DA-89B4-4042-1753-25B26A25097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A9AA5F3-794A-18E8-7D3D-82242D66D5F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3EF92C-C09B-4F65-1A00-1A08784B286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581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0857-FF99-1313-FFAE-8AA33D18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K-means Lloyd’s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24F048-C890-1D4A-66E7-5211081129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Randomly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centers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AutoNum type="arabicPeriod"/>
                </a:pPr>
                <a:r>
                  <a:rPr lang="en-US" b="0" dirty="0"/>
                  <a:t>Assign each point in</a:t>
                </a:r>
                <a:r>
                  <a:rPr lang="en-US" dirty="0"/>
                  <a:t> the dataset to its closest center</a:t>
                </a:r>
              </a:p>
              <a:p>
                <a:pPr>
                  <a:buAutoNum type="arabicPeriod"/>
                </a:pPr>
                <a:r>
                  <a:rPr lang="en-US" b="0" dirty="0"/>
                  <a:t>Compute the new centers as the mean of </a:t>
                </a:r>
                <a:r>
                  <a:rPr lang="en-US" dirty="0"/>
                  <a:t>each cluster</a:t>
                </a:r>
              </a:p>
              <a:p>
                <a:pPr>
                  <a:buAutoNum type="arabicPeriod"/>
                </a:pPr>
                <a:r>
                  <a:rPr lang="en-US" b="0" dirty="0"/>
                  <a:t>Repeat steps 2 and 3 until convergence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* Convergence when computing of new centers results in no change to the </a:t>
                </a:r>
                <a:r>
                  <a:rPr lang="en-US" dirty="0" err="1"/>
                  <a:t>clusterings</a:t>
                </a: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24F048-C890-1D4A-66E7-521108112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650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D98B-D8E0-63F2-9C8B-9336A9AF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E640-EA99-1002-9FE4-FF17E63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47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A5A1-C340-088B-A767-CCC86773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A7F1-FB2C-9725-88F6-FA1A85CD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143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D1DC-E5D0-0805-B35D-62DEA6C9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A798-272D-38E3-6564-2E65E0AF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69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1C4A-2FBD-6DBC-F1F1-8AEBF37F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EA34-F9FE-131D-C44E-0FBAAAE6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Next, we try to reassign points to clusters based on the new means and get the same two clusters </a:t>
                </a:r>
                <a:r>
                  <a:rPr lang="en-US" dirty="0">
                    <a:sym typeface="Wingdings" pitchFamily="2" charset="2"/>
                  </a:rPr>
                  <a:t> K-means has converged.</a:t>
                </a:r>
                <a:endParaRPr lang="en-US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997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4D3690-3E35-6E1C-D6D9-16AA233CBD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11523-4BB0-58FC-5B4F-BBF7C6DF5E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Consider the 1-dimensional dataset: [3, 5, x]. With k=2, what is the smallest integer value of x (x &gt; 5) for which x will always be alone in its own cluster no matter the initialization?
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9C131-965B-5DA1-95F8-9DFF6D6747D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F8CD2A-6C83-457A-941C-99783392B8A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B26E642-7E74-DE71-6B51-583C27356EA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1407FE-D24B-F2AB-FB57-9064B2C075C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675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A075-DD50-82C3-E5FF-93C65293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433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9FB3-2280-AAB4-2143-C985AC6B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88DE-9383-545D-6684-CD9F797D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will</a:t>
                </a:r>
                <a:r>
                  <a:rPr lang="en-US" b="0" dirty="0"/>
                  <a:t> 5 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114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17FD-6CF2-E42A-0278-1AC5B242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4030-2B06-C010-0C77-498AB82F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will</a:t>
                </a:r>
                <a:r>
                  <a:rPr lang="en-US" b="0" dirty="0"/>
                  <a:t> 5 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=|5–3|=2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121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B11E-4151-3F15-A278-5BA28F1D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844F-35E0-D372-2527-F89AC323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53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DAB9-93A6-DC4A-027D-F9113289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2CBF-A5CF-A76B-91B0-6FBF3B20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Recall: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&gt;9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Interpretation: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&gt;9 </m:t>
                    </m:r>
                  </m:oMath>
                </a14:m>
                <a:r>
                  <a:rPr lang="en-US" b="0" dirty="0"/>
                  <a:t>then we </a:t>
                </a:r>
                <a:r>
                  <a:rPr lang="en-US" dirty="0"/>
                  <a:t>will</a:t>
                </a:r>
                <a:r>
                  <a:rPr lang="en-US" b="0" dirty="0"/>
                  <a:t> end with the clustering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3, 5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3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8c893a0-0602-409a-b912-54905ebd9202"/>
  <p:tag name="SLIDO_EVENT_UUID" val="d659c42b-be59-4852-8b20-6260800f2bca"/>
  <p:tag name="SLIDO_EVENT_SECTION_UUID" val="29739142-5521-4da6-931f-5d9c4224dd1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c5320b4-1d14-4ca7-89b5-51bc09900839"/>
  <p:tag name="SLIDO_TIMELINE" val="W3sic2hvd0NvcnJlY3RBbnN3ZXJzIjpmYWxzZSwic2hvd1Jlc3VsdHMiOmZhbHNlLCJwb2xsUXVlc3Rpb25VdWlkIjoiNGE0N2Y2ZGMtY2JhYS00NTQ1LWJkZWYtNGI0NmRhNzZlZGE3In0seyJzaG93Q29ycmVjdEFuc3dlcnMiOnRydWUsInNob3dSZXN1bHRzIjp0cnVlLCJwb2xsUXVlc3Rpb25VdWlkIjoiNGE0N2Y2ZGMtY2JhYS00NTQ1LWJkZWYtNGI0NmRhNzZlZGE3In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2c9467c-1b62-46a3-b35e-46f2f4e93a9c"/>
  <p:tag name="SLIDO_TIMELINE" val="W3sic2hvd0NvcnJlY3RBbnN3ZXJzIjpmYWxzZSwicG9sbFF1ZXN0aW9uVXVpZCI6IjdkZDY4YjJhLTY2MDMtNGQ0OS04ODFkLTA1MTVlNmJkOGEzNyIsInNob3dSZXN1bHRzIjpmYWxzZX0seyJzaG93Q29ycmVjdEFuc3dlcnMiOnRydWUsInBvbGxRdWVzdGlvblV1aWQiOiI3ZGQ2OGIyYS02NjAzLTRkNDktODgxZC0wNTE1ZTZiZDhhMzc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9012067-d2bf-470d-bf8d-5d301e717093"/>
  <p:tag name="SLIDO_TIMELINE" val="W3sic2hvd0NvcnJlY3RBbnN3ZXJzIjpmYWxzZSwic2hvd1Jlc3VsdHMiOmZhbHNlLCJwb2xsUXVlc3Rpb25VdWlkIjoiNGZkNTI2NDQtMWZlMS00OWZkLTlhNmMtNDllNWZkZjg1ZTExIn0seyJzaG93Q29ycmVjdEFuc3dlcnMiOnRydWUsInNob3dSZXN1bHRzIjp0cnVlLCJwb2xsUXVlc3Rpb25VdWlkIjoiNGZkNTI2NDQtMWZlMS00OWZkLTlhNmMtNDllNWZkZjg1ZTExIn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f5a8035-d0bc-4db7-a683-603a18b63cc2"/>
  <p:tag name="SLIDO_TIMELINE" val="W3sic2hvd1Jlc3VsdHMiOmZhbHNlLCJwb2xsUXVlc3Rpb25VdWlkIjoiZGYyMWNiYjgtNGE4OC00MGY1LTg5MzQtOWNiZjM4NzQ0OWQ5Iiwic2hvd0NvcnJlY3RBbnN3ZXJzIjpmYWxzZX0seyJzaG93UmVzdWx0cyI6dHJ1ZSwicG9sbFF1ZXN0aW9uVXVpZCI6ImRmMjFjYmI4LTRhODgtNDBmNS04OTM0LTljYmYzODc0NDlkOSIsInNob3dDb3JyZWN0QW5zd2Vy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92ea47c-b55a-4525-975c-5cdf3bc0c521"/>
  <p:tag name="SLIDO_TIMELINE" val="W3sic2hvd1Jlc3VsdHMiOmZhbHNlLCJzaG93Q29ycmVjdEFuc3dlcnMiOmZhbHNlLCJwb2xsUXVlc3Rpb25VdWlkIjoiNWY4MDEzZTAtZGQyNi00NDgwLThhMTMtNzQ3YWVmZGQxMGZkIn0seyJzaG93UmVzdWx0cyI6dHJ1ZSwic2hvd0NvcnJlY3RBbnN3ZXJzIjp0cnVlLCJwb2xsUXVlc3Rpb25VdWlkIjoiNWY4MDEzZTAtZGQyNi00NDgwLThhMTMtNzQ3YWVmZGQxMGZkIn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1255</Words>
  <Application>Microsoft Macintosh PowerPoint</Application>
  <PresentationFormat>On-screen Show (16:9)</PresentationFormat>
  <Paragraphs>206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Open Sans</vt:lpstr>
      <vt:lpstr>Arial</vt:lpstr>
      <vt:lpstr>Cambria Math</vt:lpstr>
      <vt:lpstr>PT Sans Narrow</vt:lpstr>
      <vt:lpstr>Wingdings</vt:lpstr>
      <vt:lpstr>Tropic</vt:lpstr>
      <vt:lpstr>K-means</vt:lpstr>
      <vt:lpstr>PowerPoint Presentation</vt:lpstr>
      <vt:lpstr>What is the center of C2?</vt:lpstr>
      <vt:lpstr>PowerPoint Presentation</vt:lpstr>
      <vt:lpstr>What is the center of C1?</vt:lpstr>
      <vt:lpstr>PowerPoint Presentation</vt:lpstr>
      <vt:lpstr>Hmmm… does this make sense?</vt:lpstr>
      <vt:lpstr>Another perspective: can we minimize our cost function any further?</vt:lpstr>
      <vt:lpstr>PowerPoint Presentation</vt:lpstr>
      <vt:lpstr>What exactly is the cost function?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PowerPoint Presentation</vt:lpstr>
      <vt:lpstr>PowerPoint Presentation</vt:lpstr>
      <vt:lpstr>Solution</vt:lpstr>
      <vt:lpstr>PowerPoint Presentation</vt:lpstr>
      <vt:lpstr>Recall: K-means Lloyd’s Algorithm</vt:lpstr>
      <vt:lpstr>Solution</vt:lpstr>
      <vt:lpstr>Solution</vt:lpstr>
      <vt:lpstr>Solution</vt:lpstr>
      <vt:lpstr>Solution</vt:lpstr>
      <vt:lpstr>PowerPoint Presentation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7</cp:revision>
  <dcterms:modified xsi:type="dcterms:W3CDTF">2026-02-11T17:17:52Z</dcterms:modified>
</cp:coreProperties>
</file>