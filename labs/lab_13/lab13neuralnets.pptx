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3"/>
  </p:notesMasterIdLst>
  <p:sldIdLst>
    <p:sldId id="256" r:id="rId2"/>
    <p:sldId id="257" r:id="rId3"/>
    <p:sldId id="259" r:id="rId4"/>
    <p:sldId id="260" r:id="rId5"/>
    <p:sldId id="261" r:id="rId6"/>
    <p:sldId id="262" r:id="rId7"/>
    <p:sldId id="258" r:id="rId8"/>
    <p:sldId id="263" r:id="rId9"/>
    <p:sldId id="268" r:id="rId10"/>
    <p:sldId id="412" r:id="rId11"/>
    <p:sldId id="417" r:id="rId12"/>
    <p:sldId id="418" r:id="rId13"/>
    <p:sldId id="416" r:id="rId14"/>
    <p:sldId id="311" r:id="rId15"/>
    <p:sldId id="269" r:id="rId16"/>
    <p:sldId id="312" r:id="rId17"/>
    <p:sldId id="313" r:id="rId18"/>
    <p:sldId id="419" r:id="rId19"/>
    <p:sldId id="410" r:id="rId20"/>
    <p:sldId id="270" r:id="rId21"/>
    <p:sldId id="271" r:id="rId22"/>
    <p:sldId id="272" r:id="rId23"/>
    <p:sldId id="273" r:id="rId24"/>
    <p:sldId id="274" r:id="rId25"/>
    <p:sldId id="314" r:id="rId26"/>
    <p:sldId id="315" r:id="rId27"/>
    <p:sldId id="275" r:id="rId28"/>
    <p:sldId id="276" r:id="rId29"/>
    <p:sldId id="319" r:id="rId30"/>
    <p:sldId id="316" r:id="rId31"/>
    <p:sldId id="317" r:id="rId32"/>
    <p:sldId id="318" r:id="rId33"/>
    <p:sldId id="278" r:id="rId34"/>
    <p:sldId id="279" r:id="rId35"/>
    <p:sldId id="320" r:id="rId36"/>
    <p:sldId id="321" r:id="rId37"/>
    <p:sldId id="280" r:id="rId38"/>
    <p:sldId id="322" r:id="rId39"/>
    <p:sldId id="323" r:id="rId40"/>
    <p:sldId id="324" r:id="rId41"/>
    <p:sldId id="325" r:id="rId42"/>
    <p:sldId id="326" r:id="rId43"/>
    <p:sldId id="281" r:id="rId44"/>
    <p:sldId id="327" r:id="rId45"/>
    <p:sldId id="282" r:id="rId46"/>
    <p:sldId id="328" r:id="rId47"/>
    <p:sldId id="329" r:id="rId48"/>
    <p:sldId id="330" r:id="rId49"/>
    <p:sldId id="331" r:id="rId50"/>
    <p:sldId id="283" r:id="rId51"/>
    <p:sldId id="284" r:id="rId52"/>
    <p:sldId id="264" r:id="rId53"/>
    <p:sldId id="266" r:id="rId54"/>
    <p:sldId id="420" r:id="rId55"/>
    <p:sldId id="421" r:id="rId56"/>
    <p:sldId id="422" r:id="rId57"/>
    <p:sldId id="265" r:id="rId58"/>
    <p:sldId id="332" r:id="rId59"/>
    <p:sldId id="333" r:id="rId60"/>
    <p:sldId id="334" r:id="rId61"/>
    <p:sldId id="335" r:id="rId62"/>
    <p:sldId id="285" r:id="rId63"/>
    <p:sldId id="336" r:id="rId64"/>
    <p:sldId id="337" r:id="rId65"/>
    <p:sldId id="293" r:id="rId66"/>
    <p:sldId id="338" r:id="rId67"/>
    <p:sldId id="339" r:id="rId68"/>
    <p:sldId id="340" r:id="rId69"/>
    <p:sldId id="341" r:id="rId70"/>
    <p:sldId id="413" r:id="rId71"/>
    <p:sldId id="423" r:id="rId72"/>
    <p:sldId id="286" r:id="rId73"/>
    <p:sldId id="294" r:id="rId74"/>
    <p:sldId id="342" r:id="rId75"/>
    <p:sldId id="343" r:id="rId76"/>
    <p:sldId id="344" r:id="rId77"/>
    <p:sldId id="415" r:id="rId78"/>
    <p:sldId id="424" r:id="rId79"/>
    <p:sldId id="287" r:id="rId80"/>
    <p:sldId id="295" r:id="rId81"/>
    <p:sldId id="345" r:id="rId82"/>
    <p:sldId id="346" r:id="rId83"/>
    <p:sldId id="347" r:id="rId84"/>
    <p:sldId id="348" r:id="rId85"/>
    <p:sldId id="349" r:id="rId86"/>
    <p:sldId id="414" r:id="rId87"/>
    <p:sldId id="296" r:id="rId88"/>
    <p:sldId id="289" r:id="rId89"/>
    <p:sldId id="297" r:id="rId90"/>
    <p:sldId id="350" r:id="rId91"/>
    <p:sldId id="351" r:id="rId92"/>
    <p:sldId id="352" r:id="rId93"/>
    <p:sldId id="353" r:id="rId94"/>
    <p:sldId id="354" r:id="rId95"/>
    <p:sldId id="290" r:id="rId96"/>
    <p:sldId id="298" r:id="rId97"/>
    <p:sldId id="355" r:id="rId98"/>
    <p:sldId id="356" r:id="rId99"/>
    <p:sldId id="357" r:id="rId100"/>
    <p:sldId id="358" r:id="rId101"/>
    <p:sldId id="359" r:id="rId102"/>
    <p:sldId id="292" r:id="rId103"/>
    <p:sldId id="299" r:id="rId104"/>
    <p:sldId id="300" r:id="rId105"/>
    <p:sldId id="360" r:id="rId106"/>
    <p:sldId id="361" r:id="rId107"/>
    <p:sldId id="362" r:id="rId108"/>
    <p:sldId id="363" r:id="rId109"/>
    <p:sldId id="301" r:id="rId110"/>
    <p:sldId id="364" r:id="rId111"/>
    <p:sldId id="365" r:id="rId112"/>
    <p:sldId id="366" r:id="rId113"/>
    <p:sldId id="367" r:id="rId114"/>
    <p:sldId id="302" r:id="rId115"/>
    <p:sldId id="368" r:id="rId116"/>
    <p:sldId id="369" r:id="rId117"/>
    <p:sldId id="370" r:id="rId118"/>
    <p:sldId id="371" r:id="rId119"/>
    <p:sldId id="372" r:id="rId120"/>
    <p:sldId id="373" r:id="rId121"/>
    <p:sldId id="376" r:id="rId122"/>
    <p:sldId id="303" r:id="rId123"/>
    <p:sldId id="377" r:id="rId124"/>
    <p:sldId id="378" r:id="rId125"/>
    <p:sldId id="379" r:id="rId126"/>
    <p:sldId id="380" r:id="rId127"/>
    <p:sldId id="381" r:id="rId128"/>
    <p:sldId id="382" r:id="rId129"/>
    <p:sldId id="383" r:id="rId130"/>
    <p:sldId id="305" r:id="rId131"/>
    <p:sldId id="384" r:id="rId132"/>
    <p:sldId id="385" r:id="rId133"/>
    <p:sldId id="386" r:id="rId134"/>
    <p:sldId id="387" r:id="rId135"/>
    <p:sldId id="388" r:id="rId136"/>
    <p:sldId id="306" r:id="rId137"/>
    <p:sldId id="389" r:id="rId138"/>
    <p:sldId id="390" r:id="rId139"/>
    <p:sldId id="391" r:id="rId140"/>
    <p:sldId id="392" r:id="rId141"/>
    <p:sldId id="307" r:id="rId142"/>
    <p:sldId id="393" r:id="rId143"/>
    <p:sldId id="394" r:id="rId144"/>
    <p:sldId id="395" r:id="rId145"/>
    <p:sldId id="396" r:id="rId146"/>
    <p:sldId id="308" r:id="rId147"/>
    <p:sldId id="397" r:id="rId148"/>
    <p:sldId id="398" r:id="rId149"/>
    <p:sldId id="399" r:id="rId150"/>
    <p:sldId id="400" r:id="rId151"/>
    <p:sldId id="309" r:id="rId152"/>
    <p:sldId id="401" r:id="rId153"/>
    <p:sldId id="402" r:id="rId154"/>
    <p:sldId id="403" r:id="rId155"/>
    <p:sldId id="404" r:id="rId156"/>
    <p:sldId id="405" r:id="rId157"/>
    <p:sldId id="310" r:id="rId158"/>
    <p:sldId id="406" r:id="rId159"/>
    <p:sldId id="407" r:id="rId160"/>
    <p:sldId id="408" r:id="rId161"/>
    <p:sldId id="409" r:id="rId162"/>
  </p:sldIdLst>
  <p:sldSz cx="9144000" cy="5143500" type="screen16x9"/>
  <p:notesSz cx="6858000" cy="9144000"/>
  <p:embeddedFontLst>
    <p:embeddedFont>
      <p:font typeface="Cambria Math" panose="02040503050406030204" pitchFamily="18" charset="0"/>
      <p:regular r:id="rId164"/>
    </p:embeddedFont>
    <p:embeddedFont>
      <p:font typeface="Open Sans" panose="020B0606030504020204" pitchFamily="34" charset="0"/>
      <p:regular r:id="rId165"/>
      <p:bold r:id="rId166"/>
      <p:italic r:id="rId167"/>
      <p:boldItalic r:id="rId168"/>
    </p:embeddedFont>
    <p:embeddedFont>
      <p:font typeface="PT Sans Narrow" panose="020B0506020203020204" pitchFamily="34" charset="77"/>
      <p:regular r:id="rId169"/>
      <p:bold r:id="rId170"/>
    </p:embeddedFont>
  </p:embeddedFontLst>
  <p:custDataLst>
    <p:tags r:id="rId17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0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986"/>
    <p:restoredTop sz="93836"/>
  </p:normalViewPr>
  <p:slideViewPr>
    <p:cSldViewPr snapToGrid="0">
      <p:cViewPr>
        <p:scale>
          <a:sx n="129" d="100"/>
          <a:sy n="129" d="100"/>
        </p:scale>
        <p:origin x="632" y="6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gs" Target="tags/tag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1.fntdata"/><Relationship Id="rId16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2.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example, the weights</a:t>
            </a:r>
            <a:r>
              <a:rPr lang="en-US" baseline="0" dirty="0"/>
              <a:t> w1 tells us the strength and direction of x0’s contribution to the latent feature h0 (before considering the activation function). The bias tells us the neuron’s baseline tendency to activate. The bias basically controls how easy it is for the neuron to activate.</a:t>
            </a:r>
            <a:endParaRPr lang="en-US" b="0" dirty="0"/>
          </a:p>
          <a:p>
            <a:endParaRPr lang="en-US" dirty="0"/>
          </a:p>
        </p:txBody>
      </p:sp>
    </p:spTree>
    <p:extLst>
      <p:ext uri="{BB962C8B-B14F-4D97-AF65-F5344CB8AC3E}">
        <p14:creationId xmlns:p14="http://schemas.microsoft.com/office/powerpoint/2010/main" val="946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The gradient with respect to each parameter will tell us how much a given parameter is responsible for the loss</a:t>
            </a:r>
          </a:p>
          <a:p>
            <a:r>
              <a:rPr lang="en-US" dirty="0"/>
              <a:t>We can update the weights using an algorithm like gradient descent which will take the gradients (which we calculate using backpropagation) and update every weight and bias in the direction which reduces our loss (with respect to some learning rate). You subtract the gradient because the gradient points in the direction of steepest increase and we are trying to minimize loss!</a:t>
            </a:r>
          </a:p>
        </p:txBody>
      </p:sp>
    </p:spTree>
    <p:extLst>
      <p:ext uri="{BB962C8B-B14F-4D97-AF65-F5344CB8AC3E}">
        <p14:creationId xmlns:p14="http://schemas.microsoft.com/office/powerpoint/2010/main" val="4085015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A2552-B09C-9C06-3557-6B2736A6D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35C2D-5265-C1F7-3A86-E72D781198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6B75620-A9A6-52F9-99DC-A80A95371C93}"/>
              </a:ext>
            </a:extLst>
          </p:cNvPr>
          <p:cNvSpPr>
            <a:spLocks noGrp="1"/>
          </p:cNvSpPr>
          <p:nvPr>
            <p:ph type="body" idx="1"/>
          </p:nvPr>
        </p:nvSpPr>
        <p:spPr/>
        <p:txBody>
          <a:bodyPr/>
          <a:lstStyle/>
          <a:p>
            <a:endParaRPr lang="en-US" dirty="0"/>
          </a:p>
          <a:p>
            <a:r>
              <a:rPr lang="en-US" dirty="0"/>
              <a:t>We can update the weights using an algorithm like gradient descent which will take the gradients (which we calculate using backpropagation) and update every weight and bias in the direction which reduces our loss (with respect to some learning rate). You subtract the gradient because the gradient points in the direction of steepest increase and we are trying to minimize loss!</a:t>
            </a:r>
          </a:p>
          <a:p>
            <a:r>
              <a:rPr lang="en-US" dirty="0"/>
              <a:t>Skip to slide 51</a:t>
            </a:r>
          </a:p>
        </p:txBody>
      </p:sp>
    </p:spTree>
    <p:extLst>
      <p:ext uri="{BB962C8B-B14F-4D97-AF65-F5344CB8AC3E}">
        <p14:creationId xmlns:p14="http://schemas.microsoft.com/office/powerpoint/2010/main" val="3133214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4225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gradients will tell us how MSE changes when a parameter changes. Helps answer the question ”which direction should I move a parameter to reduce MSE” and ”how sensitive is MSE to this parameter”. If the gradient is large, this indicates high sensitivity to the parameter. If the gradient is positive, that means increasing the parameter will increase MSE (which is bad!)</a:t>
            </a:r>
          </a:p>
        </p:txBody>
      </p:sp>
    </p:spTree>
    <p:extLst>
      <p:ext uri="{BB962C8B-B14F-4D97-AF65-F5344CB8AC3E}">
        <p14:creationId xmlns:p14="http://schemas.microsoft.com/office/powerpoint/2010/main" val="1441434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B7E55-53E6-E2E4-3E5B-87588EEEDB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B9BBA-76A0-871C-F280-A76CFF7AC2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318255-0171-9171-7F4D-7125D72644DE}"/>
              </a:ext>
            </a:extLst>
          </p:cNvPr>
          <p:cNvSpPr>
            <a:spLocks noGrp="1"/>
          </p:cNvSpPr>
          <p:nvPr>
            <p:ph type="body" idx="1"/>
          </p:nvPr>
        </p:nvSpPr>
        <p:spPr/>
        <p:txBody>
          <a:bodyPr/>
          <a:lstStyle/>
          <a:p>
            <a:r>
              <a:rPr lang="en-US" dirty="0"/>
              <a:t>The gradients will tell us how MSE changes when a parameter changes. Helps answer the question ”which direction should I move a parameter to reduce MSE” and ”how sensitive is MSE to this parameter”. If the gradient is large, this indicates high sensitivity to the parameter. If the gradient is positive, that means increasing the parameter will increase MSE (which is bad!)</a:t>
            </a:r>
          </a:p>
        </p:txBody>
      </p:sp>
    </p:spTree>
    <p:extLst>
      <p:ext uri="{BB962C8B-B14F-4D97-AF65-F5344CB8AC3E}">
        <p14:creationId xmlns:p14="http://schemas.microsoft.com/office/powerpoint/2010/main" val="2087002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7C35-6011-2AF3-3299-ABD4A6BD1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1032D-D364-F855-7F19-BB922BCC792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74379E-3CA6-5A0B-26D0-27C179F7A14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361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20E12-8290-DE1F-0A21-9E25084B6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2B554-F35F-B754-BCCE-9CBC6319E5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5673F9-14DB-82B5-738B-D07B024BBD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44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weird n is “eta”</a:t>
            </a:r>
          </a:p>
        </p:txBody>
      </p:sp>
    </p:spTree>
    <p:extLst>
      <p:ext uri="{BB962C8B-B14F-4D97-AF65-F5344CB8AC3E}">
        <p14:creationId xmlns:p14="http://schemas.microsoft.com/office/powerpoint/2010/main" val="1010897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6F623-2300-8F8F-39EB-4459E0C87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82E3D-D1F4-BDEC-2E54-45CCCBD0F5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CA745D-1680-1350-9269-67CFF8FB0050}"/>
              </a:ext>
            </a:extLst>
          </p:cNvPr>
          <p:cNvSpPr>
            <a:spLocks noGrp="1"/>
          </p:cNvSpPr>
          <p:nvPr>
            <p:ph type="body" idx="1"/>
          </p:nvPr>
        </p:nvSpPr>
        <p:spPr/>
        <p:txBody>
          <a:bodyPr/>
          <a:lstStyle/>
          <a:p>
            <a:r>
              <a:rPr lang="en-US" dirty="0"/>
              <a:t>the weird n is “eta”</a:t>
            </a:r>
          </a:p>
        </p:txBody>
      </p:sp>
    </p:spTree>
    <p:extLst>
      <p:ext uri="{BB962C8B-B14F-4D97-AF65-F5344CB8AC3E}">
        <p14:creationId xmlns:p14="http://schemas.microsoft.com/office/powerpoint/2010/main" val="1138949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F0EF-C0DE-8C98-D439-F16755896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9D260-FDA9-C3C4-9597-B3108BAD5A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7D5B101-BD56-F38C-6438-8E25F1D92433}"/>
              </a:ext>
            </a:extLst>
          </p:cNvPr>
          <p:cNvSpPr>
            <a:spLocks noGrp="1"/>
          </p:cNvSpPr>
          <p:nvPr>
            <p:ph type="body" idx="1"/>
          </p:nvPr>
        </p:nvSpPr>
        <p:spPr/>
        <p:txBody>
          <a:bodyPr/>
          <a:lstStyle/>
          <a:p>
            <a:r>
              <a:rPr lang="en-US" dirty="0"/>
              <a:t>the weird n is “eta”</a:t>
            </a:r>
          </a:p>
        </p:txBody>
      </p:sp>
    </p:spTree>
    <p:extLst>
      <p:ext uri="{BB962C8B-B14F-4D97-AF65-F5344CB8AC3E}">
        <p14:creationId xmlns:p14="http://schemas.microsoft.com/office/powerpoint/2010/main" val="1314099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31E3-32C7-D5E6-E041-409235A1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70250-1E1F-B993-2162-BA32DC273F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BACE53-F65B-BA9E-6B79-5FB5162A26AE}"/>
              </a:ext>
            </a:extLst>
          </p:cNvPr>
          <p:cNvSpPr>
            <a:spLocks noGrp="1"/>
          </p:cNvSpPr>
          <p:nvPr>
            <p:ph type="body" idx="1"/>
          </p:nvPr>
        </p:nvSpPr>
        <p:spPr/>
        <p:txBody>
          <a:bodyPr/>
          <a:lstStyle/>
          <a:p>
            <a:r>
              <a:rPr lang="en-US" dirty="0"/>
              <a:t>the weird n is “eta”</a:t>
            </a:r>
          </a:p>
        </p:txBody>
      </p:sp>
    </p:spTree>
    <p:extLst>
      <p:ext uri="{BB962C8B-B14F-4D97-AF65-F5344CB8AC3E}">
        <p14:creationId xmlns:p14="http://schemas.microsoft.com/office/powerpoint/2010/main" val="2887198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7478-13F8-8A29-5EED-5F727731A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B76A8-8575-6D2E-7F1E-20E53D12E9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99F0D6B-8CB6-D547-AFA2-E6D1FE7559AB}"/>
              </a:ext>
            </a:extLst>
          </p:cNvPr>
          <p:cNvSpPr>
            <a:spLocks noGrp="1"/>
          </p:cNvSpPr>
          <p:nvPr>
            <p:ph type="body" idx="1"/>
          </p:nvPr>
        </p:nvSpPr>
        <p:spPr/>
        <p:txBody>
          <a:bodyPr/>
          <a:lstStyle/>
          <a:p>
            <a:r>
              <a:rPr lang="en-US" dirty="0"/>
              <a:t>the weird n is “eta”</a:t>
            </a:r>
          </a:p>
        </p:txBody>
      </p:sp>
    </p:spTree>
    <p:extLst>
      <p:ext uri="{BB962C8B-B14F-4D97-AF65-F5344CB8AC3E}">
        <p14:creationId xmlns:p14="http://schemas.microsoft.com/office/powerpoint/2010/main" val="3975935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2453-3E2C-B760-C6A3-13FE54B8C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6CDC7-32D3-2B34-0CBC-535580AFB1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C970C6-E34D-1F67-16A1-4D64D18BFB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98704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d>
                  </m:oMath>
                </a14:m>
                <a:endParaRPr lang="en-US" b="0" dirty="0"/>
              </a:p>
              <a:p>
                <a:endParaRPr lang="en-US" dirty="0"/>
              </a:p>
            </p:txBody>
          </p:sp>
        </mc:Choice>
        <mc:Fallback>
          <p:sp>
            <p:nvSpPr>
              <p:cNvPr id="3" name="Notes Placeholder 2"/>
              <p:cNvSpPr>
                <a:spLocks noGrp="1"/>
              </p:cNvSpPr>
              <p:nvPr>
                <p:ph type="body" idx="1"/>
              </p:nvPr>
            </p:nvSpPr>
            <p:spPr/>
            <p:txBody>
              <a:bodyPr/>
              <a:lstStyle/>
              <a:p>
                <a:r>
                  <a:rPr lang="en-US" b="0" i="0">
                    <a:latin typeface="Cambria Math" panose="02040503050406030204" pitchFamily="18" charset="0"/>
                  </a:rPr>
                  <a:t>𝜎‘(𝑥)=𝜎(𝑥)(1−𝜎(𝑥))</a:t>
                </a:r>
                <a:endParaRPr lang="en-US" b="0" dirty="0"/>
              </a:p>
              <a:p>
                <a:endParaRPr lang="en-US" dirty="0"/>
              </a:p>
            </p:txBody>
          </p:sp>
        </mc:Fallback>
      </mc:AlternateContent>
    </p:spTree>
    <p:extLst>
      <p:ext uri="{BB962C8B-B14F-4D97-AF65-F5344CB8AC3E}">
        <p14:creationId xmlns:p14="http://schemas.microsoft.com/office/powerpoint/2010/main" val="3846579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Sparse representation means that only some subset of neurons will be activated at a given time which helps reduce computational overhead </a:t>
            </a:r>
            <a:r>
              <a:rPr lang="en-US" dirty="0">
                <a:sym typeface="Wingdings" pitchFamily="2" charset="2"/>
              </a:rPr>
              <a:t> efficiently handle really large models</a:t>
            </a:r>
            <a:endParaRPr lang="en-US" dirty="0"/>
          </a:p>
        </p:txBody>
      </p:sp>
    </p:spTree>
    <p:extLst>
      <p:ext uri="{BB962C8B-B14F-4D97-AF65-F5344CB8AC3E}">
        <p14:creationId xmlns:p14="http://schemas.microsoft.com/office/powerpoint/2010/main" val="1595399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D89DE-94AD-1A76-FA55-A8E6C9B2F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DBD03-E2F3-DCF1-836B-BD1D3875AF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807DDF-775D-2268-7B15-8B5C490C63DD}"/>
              </a:ext>
            </a:extLst>
          </p:cNvPr>
          <p:cNvSpPr>
            <a:spLocks noGrp="1"/>
          </p:cNvSpPr>
          <p:nvPr>
            <p:ph type="body" idx="1"/>
          </p:nvPr>
        </p:nvSpPr>
        <p:spPr/>
        <p:txBody>
          <a:bodyPr/>
          <a:lstStyle/>
          <a:p>
            <a:r>
              <a:rPr lang="en-US" dirty="0"/>
              <a:t>Sparse representation means that only some subset of neurons will be activated at a given time which helps reduce computational overhead </a:t>
            </a:r>
            <a:r>
              <a:rPr lang="en-US" dirty="0">
                <a:sym typeface="Wingdings" pitchFamily="2" charset="2"/>
              </a:rPr>
              <a:t> efficiently handle really large models</a:t>
            </a:r>
            <a:endParaRPr lang="en-US" dirty="0"/>
          </a:p>
        </p:txBody>
      </p:sp>
    </p:spTree>
    <p:extLst>
      <p:ext uri="{BB962C8B-B14F-4D97-AF65-F5344CB8AC3E}">
        <p14:creationId xmlns:p14="http://schemas.microsoft.com/office/powerpoint/2010/main" val="3541749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B16DA-553B-8377-62B8-DCEEEF275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25322-29E3-15C6-3EC4-C1A7F30CB4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F05514-BE4E-0275-093B-8C654206CEE7}"/>
              </a:ext>
            </a:extLst>
          </p:cNvPr>
          <p:cNvSpPr>
            <a:spLocks noGrp="1"/>
          </p:cNvSpPr>
          <p:nvPr>
            <p:ph type="body" idx="1"/>
          </p:nvPr>
        </p:nvSpPr>
        <p:spPr/>
        <p:txBody>
          <a:bodyPr/>
          <a:lstStyle/>
          <a:p>
            <a:r>
              <a:rPr lang="en-US" dirty="0"/>
              <a:t>Sparse representation means that only some subset of neurons will be activated at a given time which helps reduce computational overhead </a:t>
            </a:r>
            <a:r>
              <a:rPr lang="en-US" dirty="0">
                <a:sym typeface="Wingdings" pitchFamily="2" charset="2"/>
              </a:rPr>
              <a:t> efficiently handle really large models</a:t>
            </a:r>
            <a:endParaRPr lang="en-US" dirty="0"/>
          </a:p>
        </p:txBody>
      </p:sp>
    </p:spTree>
    <p:extLst>
      <p:ext uri="{BB962C8B-B14F-4D97-AF65-F5344CB8AC3E}">
        <p14:creationId xmlns:p14="http://schemas.microsoft.com/office/powerpoint/2010/main" val="4225156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5B01-99BA-D821-1C4B-92885B3F4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E4E80-A737-DB88-5874-BA1440004C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897971A-5799-B274-2AEB-DBD335E16C8D}"/>
              </a:ext>
            </a:extLst>
          </p:cNvPr>
          <p:cNvSpPr>
            <a:spLocks noGrp="1"/>
          </p:cNvSpPr>
          <p:nvPr>
            <p:ph type="body" idx="1"/>
          </p:nvPr>
        </p:nvSpPr>
        <p:spPr/>
        <p:txBody>
          <a:bodyPr/>
          <a:lstStyle/>
          <a:p>
            <a:r>
              <a:rPr lang="en-US" dirty="0"/>
              <a:t>Sparse representation means that only some subset of neurons will be activated at a given time which helps reduce computational overhead </a:t>
            </a:r>
            <a:r>
              <a:rPr lang="en-US" dirty="0">
                <a:sym typeface="Wingdings" pitchFamily="2" charset="2"/>
              </a:rPr>
              <a:t> efficiently handle really large models</a:t>
            </a:r>
            <a:endParaRPr lang="en-US" dirty="0"/>
          </a:p>
        </p:txBody>
      </p:sp>
    </p:spTree>
    <p:extLst>
      <p:ext uri="{BB962C8B-B14F-4D97-AF65-F5344CB8AC3E}">
        <p14:creationId xmlns:p14="http://schemas.microsoft.com/office/powerpoint/2010/main" val="4218134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 differentiable at 0 (because not continuous at 0) but most libraries like </a:t>
            </a:r>
            <a:r>
              <a:rPr lang="en-US" dirty="0" err="1"/>
              <a:t>pytorch</a:t>
            </a:r>
            <a:r>
              <a:rPr lang="en-US" dirty="0"/>
              <a:t> and </a:t>
            </a:r>
            <a:r>
              <a:rPr lang="en-US" dirty="0" err="1"/>
              <a:t>tensorflow</a:t>
            </a:r>
            <a:r>
              <a:rPr lang="en-US" dirty="0"/>
              <a:t> just define a gradient at x = 0 to be 1 or 0 to solve the problem</a:t>
            </a:r>
          </a:p>
        </p:txBody>
      </p:sp>
    </p:spTree>
    <p:extLst>
      <p:ext uri="{BB962C8B-B14F-4D97-AF65-F5344CB8AC3E}">
        <p14:creationId xmlns:p14="http://schemas.microsoft.com/office/powerpoint/2010/main" val="26725876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1998942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BF4A0-84C3-277A-DE78-36CA003B6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56E97-F03D-8612-CC59-7BA28FC788D2}"/>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260B8F1-B376-65A2-9568-F0D890501862}"/>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a:extLst>
                  <a:ext uri="{FF2B5EF4-FFF2-40B4-BE49-F238E27FC236}">
                    <a16:creationId xmlns:a16="http://schemas.microsoft.com/office/drawing/2014/main" id="{3260B8F1-B376-65A2-9568-F0D890501862}"/>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13401251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9FA7B-1F6C-FC5E-422F-0D2AB6E6A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512C8-DAAC-E79D-CF20-B1ED0FADD14E}"/>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D02123B-49B8-F56B-F39E-6368D74CA558}"/>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a:extLst>
                  <a:ext uri="{FF2B5EF4-FFF2-40B4-BE49-F238E27FC236}">
                    <a16:creationId xmlns:a16="http://schemas.microsoft.com/office/drawing/2014/main" id="{CD02123B-49B8-F56B-F39E-6368D74CA558}"/>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3864334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83C1-4286-EBB1-A73D-6CC7CF9A1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6794B-55E7-F651-8071-1FD6B38F7C69}"/>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C08A7B2-E7C2-8CD6-46EC-24831B5A0949}"/>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a:extLst>
                  <a:ext uri="{FF2B5EF4-FFF2-40B4-BE49-F238E27FC236}">
                    <a16:creationId xmlns:a16="http://schemas.microsoft.com/office/drawing/2014/main" id="{FC08A7B2-E7C2-8CD6-46EC-24831B5A0949}"/>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2725498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DC278-6B9F-677A-C645-D252B1E8D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8149B-5A3B-A6C5-7211-F3431ABE647E}"/>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5025902-CD3B-DBE7-8760-BAD6DFEC320E}"/>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a:extLst>
                  <a:ext uri="{FF2B5EF4-FFF2-40B4-BE49-F238E27FC236}">
                    <a16:creationId xmlns:a16="http://schemas.microsoft.com/office/drawing/2014/main" id="{D5025902-CD3B-DBE7-8760-BAD6DFEC320E}"/>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3955352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C8537-2A5F-AF7F-B3DF-2E21B9F60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46BF0-0195-62B0-674C-166FEB71B612}"/>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DE91423-A402-BF00-1DDA-77B20297A5EF}"/>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14:m>
                  <m:oMath xmlns:m="http://schemas.openxmlformats.org/officeDocument/2006/math">
                    <m:r>
                      <a:rPr lang="en-US" b="0" i="1" smtClean="0">
                        <a:latin typeface="Cambria Math" panose="02040503050406030204" pitchFamily="18" charset="0"/>
                      </a:rPr>
                      <m:t>𝛼</m:t>
                    </m:r>
                  </m:oMath>
                </a14:m>
                <a:r>
                  <a:rPr lang="en-US" b="0" dirty="0"/>
                  <a:t> times x</a:t>
                </a:r>
              </a:p>
              <a:p>
                <a:endParaRPr lang="en-US" dirty="0"/>
              </a:p>
            </p:txBody>
          </p:sp>
        </mc:Choice>
        <mc:Fallback xmlns="">
          <p:sp>
            <p:nvSpPr>
              <p:cNvPr id="3" name="Notes Placeholder 2">
                <a:extLst>
                  <a:ext uri="{FF2B5EF4-FFF2-40B4-BE49-F238E27FC236}">
                    <a16:creationId xmlns:a16="http://schemas.microsoft.com/office/drawing/2014/main" id="{EDE91423-A402-BF00-1DDA-77B20297A5EF}"/>
                  </a:ext>
                </a:extLst>
              </p:cNvPr>
              <p:cNvSpPr>
                <a:spLocks noGrp="1"/>
              </p:cNvSpPr>
              <p:nvPr>
                <p:ph type="body" idx="1"/>
              </p:nvPr>
            </p:nvSpPr>
            <p:spPr/>
            <p:txBody>
              <a:bodyPr/>
              <a:lstStyle/>
              <a:p>
                <a:r>
                  <a:rPr lang="en-US" dirty="0"/>
                  <a:t>briefly mention leaky </a:t>
                </a:r>
                <a:r>
                  <a:rPr lang="en-US" dirty="0" err="1"/>
                  <a:t>relu</a:t>
                </a:r>
                <a:r>
                  <a:rPr lang="en-US" dirty="0"/>
                  <a:t> which confronts the dying </a:t>
                </a:r>
                <a:r>
                  <a:rPr lang="en-US" dirty="0" err="1"/>
                  <a:t>relu</a:t>
                </a:r>
                <a:r>
                  <a:rPr lang="en-US" dirty="0"/>
                  <a:t> problem by replacing zero with some small constant </a:t>
                </a:r>
                <a:r>
                  <a:rPr lang="en-US" b="0" i="0">
                    <a:latin typeface="Cambria Math" panose="02040503050406030204" pitchFamily="18" charset="0"/>
                  </a:rPr>
                  <a:t>𝛼</a:t>
                </a:r>
                <a:r>
                  <a:rPr lang="en-US" b="0" dirty="0"/>
                  <a:t> times x</a:t>
                </a:r>
              </a:p>
              <a:p>
                <a:endParaRPr lang="en-US" dirty="0"/>
              </a:p>
            </p:txBody>
          </p:sp>
        </mc:Fallback>
      </mc:AlternateContent>
    </p:spTree>
    <p:extLst>
      <p:ext uri="{BB962C8B-B14F-4D97-AF65-F5344CB8AC3E}">
        <p14:creationId xmlns:p14="http://schemas.microsoft.com/office/powerpoint/2010/main" val="2084562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Skip to slide 103</a:t>
            </a:r>
          </a:p>
        </p:txBody>
      </p:sp>
    </p:spTree>
    <p:extLst>
      <p:ext uri="{BB962C8B-B14F-4D97-AF65-F5344CB8AC3E}">
        <p14:creationId xmlns:p14="http://schemas.microsoft.com/office/powerpoint/2010/main" val="1987210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log as in natural log (ln)</a:t>
            </a:r>
          </a:p>
        </p:txBody>
      </p:sp>
    </p:spTree>
    <p:extLst>
      <p:ext uri="{BB962C8B-B14F-4D97-AF65-F5344CB8AC3E}">
        <p14:creationId xmlns:p14="http://schemas.microsoft.com/office/powerpoint/2010/main" val="9304683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41388929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53529-681E-BB14-6EEB-9DA842626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D6445-00FF-40E2-998C-9CA3E219B8A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40CB5A-A78B-E77A-4D12-C6CE2C7F4D87}"/>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3730514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28444-9670-5CAB-6EB6-3B5466EC2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33B85-0C39-13AE-5EFB-2233BAEA7CB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9222B67-E805-27B8-67BD-367418B94571}"/>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2297803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19AEA-6C63-E665-6863-9306DCF7C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66001-3EAA-0E40-1F59-10891BE6BA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7B515C-B24D-3D52-5AA7-C879BA1ABE5A}"/>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4261205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DC5C-08F1-657C-9B37-F17CFB0F6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64495-F8BC-2BC4-DD02-0020967491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46C543-5B3F-5E74-D493-F06688244DB8}"/>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7275340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D5555-8B65-27D7-9ED7-F04FCF3F5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07CCC-2623-5AA6-2DD2-2172B5AEBE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765FCE-9503-F279-CE32-E82368509BE3}"/>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21911427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67A80-933D-B45F-8C0E-7302AFAD45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76D92-ED5D-80C2-CE96-C4C2791C27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127131-BCDC-FCC0-B988-007A3BF54583}"/>
              </a:ext>
            </a:extLst>
          </p:cNvPr>
          <p:cNvSpPr>
            <a:spLocks noGrp="1"/>
          </p:cNvSpPr>
          <p:nvPr>
            <p:ph type="body" idx="1"/>
          </p:nvPr>
        </p:nvSpPr>
        <p:spPr/>
        <p:txBody>
          <a:bodyPr/>
          <a:lstStyle/>
          <a:p>
            <a:r>
              <a:rPr lang="en-US" dirty="0"/>
              <a:t>Iterative constant pruning is where you remove a constant number of parameters every iteration and geometric pruning is where you prune a fixed percentage of the remaining parameters per step</a:t>
            </a:r>
          </a:p>
        </p:txBody>
      </p:sp>
    </p:spTree>
    <p:extLst>
      <p:ext uri="{BB962C8B-B14F-4D97-AF65-F5344CB8AC3E}">
        <p14:creationId xmlns:p14="http://schemas.microsoft.com/office/powerpoint/2010/main" val="17673911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05D2-AFA0-67F2-3EB4-085C1B512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4E7D1-BABF-9529-409F-F40B289708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FBBE54-9091-C00D-A2D3-FDC6951CA8C8}"/>
              </a:ext>
            </a:extLst>
          </p:cNvPr>
          <p:cNvSpPr>
            <a:spLocks noGrp="1"/>
          </p:cNvSpPr>
          <p:nvPr>
            <p:ph type="body" idx="1"/>
          </p:nvPr>
        </p:nvSpPr>
        <p:spPr/>
        <p:txBody>
          <a:bodyPr/>
          <a:lstStyle/>
          <a:p>
            <a:r>
              <a:rPr lang="en-US" dirty="0"/>
              <a:t>https://</a:t>
            </a:r>
            <a:r>
              <a:rPr lang="en-US" dirty="0" err="1"/>
              <a:t>www.emergentmind.com</a:t>
            </a:r>
            <a:r>
              <a:rPr lang="en-US" dirty="0"/>
              <a:t>/topics/one-shot-magnitude-pruning</a:t>
            </a:r>
          </a:p>
        </p:txBody>
      </p:sp>
    </p:spTree>
    <p:extLst>
      <p:ext uri="{BB962C8B-B14F-4D97-AF65-F5344CB8AC3E}">
        <p14:creationId xmlns:p14="http://schemas.microsoft.com/office/powerpoint/2010/main" val="3751473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4.xml"/><Relationship Id="rId7" Type="http://schemas.openxmlformats.org/officeDocument/2006/relationships/image" Target="../media/image3.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7.xml"/><Relationship Id="rId7" Type="http://schemas.openxmlformats.org/officeDocument/2006/relationships/image" Target="../media/image3.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jpeg"/><Relationship Id="rId7" Type="http://schemas.openxmlformats.org/officeDocument/2006/relationships/image" Target="../media/image180.png"/><Relationship Id="rId12" Type="http://schemas.openxmlformats.org/officeDocument/2006/relationships/image" Target="../media/image230.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170.png"/><Relationship Id="rId11" Type="http://schemas.openxmlformats.org/officeDocument/2006/relationships/image" Target="../media/image220.png"/><Relationship Id="rId5" Type="http://schemas.openxmlformats.org/officeDocument/2006/relationships/image" Target="../media/image160.png"/><Relationship Id="rId10" Type="http://schemas.openxmlformats.org/officeDocument/2006/relationships/image" Target="../media/image210.png"/><Relationship Id="rId4" Type="http://schemas.openxmlformats.org/officeDocument/2006/relationships/image" Target="../media/image150.png"/><Relationship Id="rId9" Type="http://schemas.openxmlformats.org/officeDocument/2006/relationships/image" Target="../media/image200.png"/></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25.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jpe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1.jpe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1.jpeg"/><Relationship Id="rId7" Type="http://schemas.openxmlformats.org/officeDocument/2006/relationships/image" Target="../media/image280.png"/><Relationship Id="rId12" Type="http://schemas.openxmlformats.org/officeDocument/2006/relationships/image" Target="../media/image330.png"/><Relationship Id="rId2" Type="http://schemas.openxmlformats.org/officeDocument/2006/relationships/image" Target="../media/image240.png"/><Relationship Id="rId1" Type="http://schemas.openxmlformats.org/officeDocument/2006/relationships/slideLayout" Target="../slideLayouts/slideLayout3.xml"/><Relationship Id="rId6" Type="http://schemas.openxmlformats.org/officeDocument/2006/relationships/image" Target="../media/image270.png"/><Relationship Id="rId11" Type="http://schemas.openxmlformats.org/officeDocument/2006/relationships/image" Target="../media/image320.png"/><Relationship Id="rId5" Type="http://schemas.openxmlformats.org/officeDocument/2006/relationships/image" Target="../media/image260.png"/><Relationship Id="rId10" Type="http://schemas.openxmlformats.org/officeDocument/2006/relationships/image" Target="../media/image310.png"/><Relationship Id="rId4" Type="http://schemas.openxmlformats.org/officeDocument/2006/relationships/image" Target="../media/image250.png"/><Relationship Id="rId9" Type="http://schemas.openxmlformats.org/officeDocument/2006/relationships/image" Target="../media/image300.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0.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280.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0.png"/><Relationship Id="rId9"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0.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280.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0.png"/><Relationship Id="rId9" Type="http://schemas.openxmlformats.org/officeDocument/2006/relationships/image" Target="../media/image39.pn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0.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280.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0.png"/><Relationship Id="rId9" Type="http://schemas.openxmlformats.org/officeDocument/2006/relationships/image" Target="../media/image39.png"/></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jpeg"/><Relationship Id="rId7" Type="http://schemas.openxmlformats.org/officeDocument/2006/relationships/image" Target="../media/image280.png"/><Relationship Id="rId12"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0.png"/><Relationship Id="rId5" Type="http://schemas.openxmlformats.org/officeDocument/2006/relationships/image" Target="../media/image350.png"/><Relationship Id="rId10" Type="http://schemas.openxmlformats.org/officeDocument/2006/relationships/image" Target="../media/image39.png"/><Relationship Id="rId4" Type="http://schemas.openxmlformats.org/officeDocument/2006/relationships/image" Target="../media/image340.png"/><Relationship Id="rId9" Type="http://schemas.openxmlformats.org/officeDocument/2006/relationships/image" Target="../media/image38.png"/></Relationships>
</file>

<file path=ppt/slides/_rels/slide2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jpe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0.png"/><Relationship Id="rId10" Type="http://schemas.openxmlformats.org/officeDocument/2006/relationships/image" Target="../media/image50.png"/><Relationship Id="rId4" Type="http://schemas.openxmlformats.org/officeDocument/2006/relationships/image" Target="../media/image440.png"/><Relationship Id="rId9" Type="http://schemas.openxmlformats.org/officeDocument/2006/relationships/image" Target="../media/image49.png"/></Relationships>
</file>

<file path=ppt/slides/_rels/slide2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3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3.png"/><Relationship Id="rId3" Type="http://schemas.openxmlformats.org/officeDocument/2006/relationships/image" Target="../media/image1.jpe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32.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3.png"/><Relationship Id="rId3" Type="http://schemas.openxmlformats.org/officeDocument/2006/relationships/image" Target="../media/image1.jpe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jpeg"/><Relationship Id="rId7" Type="http://schemas.openxmlformats.org/officeDocument/2006/relationships/image" Target="../media/image280.png"/><Relationship Id="rId12"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0.png"/><Relationship Id="rId5" Type="http://schemas.openxmlformats.org/officeDocument/2006/relationships/image" Target="../media/image350.png"/><Relationship Id="rId10" Type="http://schemas.openxmlformats.org/officeDocument/2006/relationships/image" Target="../media/image39.png"/><Relationship Id="rId4" Type="http://schemas.openxmlformats.org/officeDocument/2006/relationships/image" Target="../media/image340.png"/><Relationship Id="rId9"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0.xml"/><Relationship Id="rId7" Type="http://schemas.openxmlformats.org/officeDocument/2006/relationships/image" Target="../media/image3.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54.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3.xml"/><Relationship Id="rId7" Type="http://schemas.openxmlformats.org/officeDocument/2006/relationships/image" Target="../media/image3.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5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5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90.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790.png"/><Relationship Id="rId1" Type="http://schemas.openxmlformats.org/officeDocument/2006/relationships/slideLayout" Target="../slideLayouts/slideLayout3.xml"/><Relationship Id="rId4" Type="http://schemas.openxmlformats.org/officeDocument/2006/relationships/image" Target="../media/image8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6.xml"/><Relationship Id="rId7" Type="http://schemas.openxmlformats.org/officeDocument/2006/relationships/image" Target="../media/image3.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7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8.png"/></Relationships>
</file>

<file path=ppt/slides/_rels/slide72.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640.png"/><Relationship Id="rId1" Type="http://schemas.openxmlformats.org/officeDocument/2006/relationships/slideLayout" Target="../slideLayouts/slideLayout3.xml"/><Relationship Id="rId4" Type="http://schemas.openxmlformats.org/officeDocument/2006/relationships/image" Target="../media/image8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9.xml"/><Relationship Id="rId7" Type="http://schemas.openxmlformats.org/officeDocument/2006/relationships/image" Target="../media/image3.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7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91.png"/><Relationship Id="rId4" Type="http://schemas.openxmlformats.org/officeDocument/2006/relationships/image" Target="../media/image600.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22.xml"/><Relationship Id="rId7" Type="http://schemas.openxmlformats.org/officeDocument/2006/relationships/image" Target="../media/image3.sv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svg"/><Relationship Id="rId4" Type="http://schemas.openxmlformats.org/officeDocument/2006/relationships/slideLayout" Target="../slideLayouts/slideLayout11.xml"/><Relationship Id="rId9" Type="http://schemas.openxmlformats.org/officeDocument/2006/relationships/image" Target="../media/image4.svg"/></Relationships>
</file>

<file path=ppt/slides/_rels/slide8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93.png"/></Relationships>
</file>

<file path=ppt/slides/_rels/slide88.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9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690.png"/><Relationship Id="rId1" Type="http://schemas.openxmlformats.org/officeDocument/2006/relationships/slideLayout" Target="../slideLayouts/slideLayout3.xml"/><Relationship Id="rId4" Type="http://schemas.openxmlformats.org/officeDocument/2006/relationships/image" Target="../media/image9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880.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730.png"/><Relationship Id="rId1" Type="http://schemas.openxmlformats.org/officeDocument/2006/relationships/slideLayout" Target="../slideLayouts/slideLayout3.xml"/><Relationship Id="rId4" Type="http://schemas.openxmlformats.org/officeDocument/2006/relationships/image" Target="../media/image9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950.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960.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image" Target="../media/image970.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image" Target="../media/image980.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dirty="0"/>
              <a:t>Backpropagation and Optimization</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dirty="0"/>
              <a:t>CS 506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0E79-772B-3771-83A4-14CD72E55BA4}"/>
              </a:ext>
            </a:extLst>
          </p:cNvPr>
          <p:cNvSpPr>
            <a:spLocks noGrp="1"/>
          </p:cNvSpPr>
          <p:nvPr>
            <p:ph type="title"/>
          </p:nvPr>
        </p:nvSpPr>
        <p:spPr/>
        <p:txBody>
          <a:bodyPr>
            <a:normAutofit fontScale="90000"/>
          </a:bodyPr>
          <a:lstStyle/>
          <a:p>
            <a:r>
              <a:rPr lang="en-US" dirty="0"/>
              <a:t>Recall: neural networks</a:t>
            </a:r>
          </a:p>
        </p:txBody>
      </p:sp>
      <p:pic>
        <p:nvPicPr>
          <p:cNvPr id="5" name="Picture 4">
            <a:extLst>
              <a:ext uri="{FF2B5EF4-FFF2-40B4-BE49-F238E27FC236}">
                <a16:creationId xmlns:a16="http://schemas.microsoft.com/office/drawing/2014/main" id="{E50A4561-BC66-CE0B-7358-4DF5BB40B14A}"/>
              </a:ext>
            </a:extLst>
          </p:cNvPr>
          <p:cNvPicPr>
            <a:picLocks noChangeAspect="1"/>
          </p:cNvPicPr>
          <p:nvPr/>
        </p:nvPicPr>
        <p:blipFill>
          <a:blip r:embed="rId2"/>
          <a:stretch>
            <a:fillRect/>
          </a:stretch>
        </p:blipFill>
        <p:spPr>
          <a:xfrm>
            <a:off x="3152840" y="3047181"/>
            <a:ext cx="2838319" cy="1933891"/>
          </a:xfrm>
          <a:prstGeom prst="rect">
            <a:avLst/>
          </a:prstGeom>
        </p:spPr>
      </p:pic>
      <p:sp>
        <p:nvSpPr>
          <p:cNvPr id="21" name="Text Placeholder 20">
            <a:extLst>
              <a:ext uri="{FF2B5EF4-FFF2-40B4-BE49-F238E27FC236}">
                <a16:creationId xmlns:a16="http://schemas.microsoft.com/office/drawing/2014/main" id="{C45B7601-1501-E547-C593-6ECF6EAB2F73}"/>
              </a:ext>
            </a:extLst>
          </p:cNvPr>
          <p:cNvSpPr>
            <a:spLocks noGrp="1"/>
          </p:cNvSpPr>
          <p:nvPr>
            <p:ph type="body" idx="1"/>
          </p:nvPr>
        </p:nvSpPr>
        <p:spPr/>
        <p:txBody>
          <a:bodyPr/>
          <a:lstStyle/>
          <a:p>
            <a:pPr marL="114300" indent="0">
              <a:buNone/>
            </a:pPr>
            <a:r>
              <a:rPr lang="en-US" dirty="0"/>
              <a:t>A neural network is a model that transforms input through multiple layers of neurons to learn patterns and make predictions. </a:t>
            </a:r>
          </a:p>
          <a:p>
            <a:pPr marL="114300" indent="0">
              <a:buNone/>
            </a:pPr>
            <a:endParaRPr lang="en-US" dirty="0"/>
          </a:p>
        </p:txBody>
      </p:sp>
    </p:spTree>
    <p:extLst>
      <p:ext uri="{BB962C8B-B14F-4D97-AF65-F5344CB8AC3E}">
        <p14:creationId xmlns:p14="http://schemas.microsoft.com/office/powerpoint/2010/main" val="466331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6E0B6-741F-B6AC-E608-B9202A4BC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C3C8F-B488-2A54-06C7-4ECFD83B707B}"/>
              </a:ext>
            </a:extLst>
          </p:cNvPr>
          <p:cNvSpPr>
            <a:spLocks noGrp="1"/>
          </p:cNvSpPr>
          <p:nvPr>
            <p:ph type="title"/>
          </p:nvPr>
        </p:nvSpPr>
        <p:spPr/>
        <p:txBody>
          <a:bodyPr>
            <a:normAutofit fontScale="90000"/>
          </a:bodyPr>
          <a:lstStyle/>
          <a:p>
            <a:r>
              <a:rPr lang="en-US" dirty="0"/>
              <a:t>Recall: neural networks</a:t>
            </a:r>
          </a:p>
        </p:txBody>
      </p:sp>
      <p:sp>
        <p:nvSpPr>
          <p:cNvPr id="3" name="Text Placeholder 2">
            <a:extLst>
              <a:ext uri="{FF2B5EF4-FFF2-40B4-BE49-F238E27FC236}">
                <a16:creationId xmlns:a16="http://schemas.microsoft.com/office/drawing/2014/main" id="{A7BDAED2-CA70-C362-053B-7E89BE003391}"/>
              </a:ext>
            </a:extLst>
          </p:cNvPr>
          <p:cNvSpPr>
            <a:spLocks noGrp="1"/>
          </p:cNvSpPr>
          <p:nvPr>
            <p:ph type="body" idx="1"/>
          </p:nvPr>
        </p:nvSpPr>
        <p:spPr/>
        <p:txBody>
          <a:bodyPr/>
          <a:lstStyle/>
          <a:p>
            <a:pPr marL="114300" indent="0">
              <a:buNone/>
            </a:pPr>
            <a:r>
              <a:rPr lang="en-US" dirty="0"/>
              <a:t>A neural network is a model that transforms input through multiple layers of neurons to learn patterns and make predictions. </a:t>
            </a:r>
          </a:p>
          <a:p>
            <a:pPr marL="114300" indent="0">
              <a:buNone/>
            </a:pPr>
            <a:endParaRPr lang="en-US" dirty="0"/>
          </a:p>
          <a:p>
            <a:pPr marL="114300" indent="0">
              <a:buNone/>
            </a:pPr>
            <a:r>
              <a:rPr lang="en-US" dirty="0"/>
              <a:t>Activation functions: Determines how strongly a neuron/latent feature should be activated based on the weighted sum of inputs and a bias term. </a:t>
            </a:r>
          </a:p>
          <a:p>
            <a:pPr marL="114300" indent="0">
              <a:buNone/>
            </a:pPr>
            <a:endParaRPr lang="en-US" dirty="0"/>
          </a:p>
          <a:p>
            <a:pPr marL="114300" indent="0">
              <a:buNone/>
            </a:pPr>
            <a:endParaRPr lang="en-US" dirty="0"/>
          </a:p>
          <a:p>
            <a:pPr marL="114300" indent="0">
              <a:buNone/>
            </a:pPr>
            <a:endParaRPr lang="en-US" dirty="0"/>
          </a:p>
        </p:txBody>
      </p:sp>
      <p:pic>
        <p:nvPicPr>
          <p:cNvPr id="5" name="Picture 4">
            <a:extLst>
              <a:ext uri="{FF2B5EF4-FFF2-40B4-BE49-F238E27FC236}">
                <a16:creationId xmlns:a16="http://schemas.microsoft.com/office/drawing/2014/main" id="{E9D4B555-8906-4902-A861-57AC7AAF98F9}"/>
              </a:ext>
            </a:extLst>
          </p:cNvPr>
          <p:cNvPicPr>
            <a:picLocks noChangeAspect="1"/>
          </p:cNvPicPr>
          <p:nvPr/>
        </p:nvPicPr>
        <p:blipFill>
          <a:blip r:embed="rId2"/>
          <a:stretch>
            <a:fillRect/>
          </a:stretch>
        </p:blipFill>
        <p:spPr>
          <a:xfrm>
            <a:off x="3152840" y="3047181"/>
            <a:ext cx="2838319" cy="1933891"/>
          </a:xfrm>
          <a:prstGeom prst="rect">
            <a:avLst/>
          </a:prstGeom>
        </p:spPr>
      </p:pic>
    </p:spTree>
    <p:extLst>
      <p:ext uri="{BB962C8B-B14F-4D97-AF65-F5344CB8AC3E}">
        <p14:creationId xmlns:p14="http://schemas.microsoft.com/office/powerpoint/2010/main" val="2395232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3E82-D5BF-93D4-9D4D-D1FBFDA6B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1A4FE-073D-CCB9-408A-04EAE8B25DAF}"/>
              </a:ext>
            </a:extLst>
          </p:cNvPr>
          <p:cNvSpPr>
            <a:spLocks noGrp="1"/>
          </p:cNvSpPr>
          <p:nvPr>
            <p:ph type="title"/>
          </p:nvPr>
        </p:nvSpPr>
        <p:spPr/>
        <p:txBody>
          <a:bodyPr>
            <a:normAutofit fontScale="90000"/>
          </a:bodyPr>
          <a:lstStyle/>
          <a:p>
            <a:r>
              <a:rPr lang="en-US" dirty="0"/>
              <a:t>Recall: neural networks</a:t>
            </a:r>
          </a:p>
        </p:txBody>
      </p:sp>
      <p:sp>
        <p:nvSpPr>
          <p:cNvPr id="3" name="Text Placeholder 2">
            <a:extLst>
              <a:ext uri="{FF2B5EF4-FFF2-40B4-BE49-F238E27FC236}">
                <a16:creationId xmlns:a16="http://schemas.microsoft.com/office/drawing/2014/main" id="{19F6C709-AC1C-982D-3ED1-803C25C9D7CD}"/>
              </a:ext>
            </a:extLst>
          </p:cNvPr>
          <p:cNvSpPr>
            <a:spLocks noGrp="1"/>
          </p:cNvSpPr>
          <p:nvPr>
            <p:ph type="body" idx="1"/>
          </p:nvPr>
        </p:nvSpPr>
        <p:spPr/>
        <p:txBody>
          <a:bodyPr/>
          <a:lstStyle/>
          <a:p>
            <a:pPr marL="114300" indent="0">
              <a:buNone/>
            </a:pPr>
            <a:r>
              <a:rPr lang="en-US" dirty="0"/>
              <a:t>A neural network is a model that transforms input through multiple layers of neurons to learn patterns and make predictions. </a:t>
            </a:r>
          </a:p>
          <a:p>
            <a:pPr marL="114300" indent="0">
              <a:buNone/>
            </a:pPr>
            <a:endParaRPr lang="en-US" dirty="0"/>
          </a:p>
          <a:p>
            <a:pPr marL="114300" indent="0">
              <a:buNone/>
            </a:pPr>
            <a:r>
              <a:rPr lang="en-US" dirty="0"/>
              <a:t>Activation functions: Determines how strongly a neuron/latent feature should be activated based on the weighted sum of inputs and a bias term. </a:t>
            </a:r>
          </a:p>
          <a:p>
            <a:pPr marL="114300" indent="0">
              <a:buNone/>
            </a:pPr>
            <a:endParaRPr lang="en-US" dirty="0"/>
          </a:p>
          <a:p>
            <a:pPr marL="114300" indent="0">
              <a:buNone/>
            </a:pPr>
            <a:endParaRPr lang="en-US" dirty="0"/>
          </a:p>
          <a:p>
            <a:pPr marL="114300" indent="0">
              <a:buNone/>
            </a:pPr>
            <a:endParaRPr lang="en-US" dirty="0"/>
          </a:p>
        </p:txBody>
      </p:sp>
      <p:pic>
        <p:nvPicPr>
          <p:cNvPr id="5" name="Picture 4">
            <a:extLst>
              <a:ext uri="{FF2B5EF4-FFF2-40B4-BE49-F238E27FC236}">
                <a16:creationId xmlns:a16="http://schemas.microsoft.com/office/drawing/2014/main" id="{A23B0AF8-D141-6E9C-A478-4A706AD51DDA}"/>
              </a:ext>
            </a:extLst>
          </p:cNvPr>
          <p:cNvPicPr>
            <a:picLocks noChangeAspect="1"/>
          </p:cNvPicPr>
          <p:nvPr/>
        </p:nvPicPr>
        <p:blipFill>
          <a:blip r:embed="rId2"/>
          <a:stretch>
            <a:fillRect/>
          </a:stretch>
        </p:blipFill>
        <p:spPr>
          <a:xfrm>
            <a:off x="3152840" y="3047181"/>
            <a:ext cx="2838319" cy="1933891"/>
          </a:xfrm>
          <a:prstGeom prst="rect">
            <a:avLst/>
          </a:prstGeom>
        </p:spPr>
      </p:pic>
      <p:cxnSp>
        <p:nvCxnSpPr>
          <p:cNvPr id="7" name="Straight Arrow Connector 6">
            <a:extLst>
              <a:ext uri="{FF2B5EF4-FFF2-40B4-BE49-F238E27FC236}">
                <a16:creationId xmlns:a16="http://schemas.microsoft.com/office/drawing/2014/main" id="{2A912A35-0664-4500-EF27-48231ACDE339}"/>
              </a:ext>
            </a:extLst>
          </p:cNvPr>
          <p:cNvCxnSpPr>
            <a:cxnSpLocks/>
            <a:endCxn id="8" idx="1"/>
          </p:cNvCxnSpPr>
          <p:nvPr/>
        </p:nvCxnSpPr>
        <p:spPr>
          <a:xfrm flipV="1">
            <a:off x="2302042" y="3949959"/>
            <a:ext cx="938463" cy="261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4DA0349-4494-9503-34AB-A9830B0E8161}"/>
              </a:ext>
            </a:extLst>
          </p:cNvPr>
          <p:cNvSpPr txBox="1"/>
          <p:nvPr/>
        </p:nvSpPr>
        <p:spPr>
          <a:xfrm>
            <a:off x="3240505" y="3047181"/>
            <a:ext cx="644854" cy="1805556"/>
          </a:xfrm>
          <a:prstGeom prst="rect">
            <a:avLst/>
          </a:prstGeom>
          <a:noFill/>
          <a:ln>
            <a:solidFill>
              <a:schemeClr val="accent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260412C3-87DD-C19D-C6B0-9319B0EA5283}"/>
              </a:ext>
            </a:extLst>
          </p:cNvPr>
          <p:cNvSpPr txBox="1"/>
          <p:nvPr/>
        </p:nvSpPr>
        <p:spPr>
          <a:xfrm>
            <a:off x="978568" y="4057164"/>
            <a:ext cx="1323474" cy="307777"/>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Input</a:t>
            </a:r>
          </a:p>
        </p:txBody>
      </p:sp>
    </p:spTree>
    <p:extLst>
      <p:ext uri="{BB962C8B-B14F-4D97-AF65-F5344CB8AC3E}">
        <p14:creationId xmlns:p14="http://schemas.microsoft.com/office/powerpoint/2010/main" val="3225677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8641-0B3E-0795-E5BA-967942F7E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C4D0-74BA-E363-FFA2-9A288C598E61}"/>
              </a:ext>
            </a:extLst>
          </p:cNvPr>
          <p:cNvSpPr>
            <a:spLocks noGrp="1"/>
          </p:cNvSpPr>
          <p:nvPr>
            <p:ph type="title"/>
          </p:nvPr>
        </p:nvSpPr>
        <p:spPr/>
        <p:txBody>
          <a:bodyPr>
            <a:normAutofit fontScale="90000"/>
          </a:bodyPr>
          <a:lstStyle/>
          <a:p>
            <a:r>
              <a:rPr lang="en-US" dirty="0"/>
              <a:t>Recall: neural networks</a:t>
            </a:r>
          </a:p>
        </p:txBody>
      </p:sp>
      <p:sp>
        <p:nvSpPr>
          <p:cNvPr id="3" name="Text Placeholder 2">
            <a:extLst>
              <a:ext uri="{FF2B5EF4-FFF2-40B4-BE49-F238E27FC236}">
                <a16:creationId xmlns:a16="http://schemas.microsoft.com/office/drawing/2014/main" id="{D62E1BEF-31A0-B561-5E84-DCA0AAECC6AA}"/>
              </a:ext>
            </a:extLst>
          </p:cNvPr>
          <p:cNvSpPr>
            <a:spLocks noGrp="1"/>
          </p:cNvSpPr>
          <p:nvPr>
            <p:ph type="body" idx="1"/>
          </p:nvPr>
        </p:nvSpPr>
        <p:spPr/>
        <p:txBody>
          <a:bodyPr/>
          <a:lstStyle/>
          <a:p>
            <a:pPr marL="114300" indent="0">
              <a:buNone/>
            </a:pPr>
            <a:r>
              <a:rPr lang="en-US" dirty="0"/>
              <a:t>A neural network is a model that transforms input through multiple layers of neurons to learn patterns and make predictions. </a:t>
            </a:r>
          </a:p>
          <a:p>
            <a:pPr marL="114300" indent="0">
              <a:buNone/>
            </a:pPr>
            <a:endParaRPr lang="en-US" dirty="0"/>
          </a:p>
          <a:p>
            <a:pPr marL="114300" indent="0">
              <a:buNone/>
            </a:pPr>
            <a:r>
              <a:rPr lang="en-US" dirty="0"/>
              <a:t>Activation functions: Determines how strongly a neuron/latent feature should be activated based on the weighted sum of inputs and a bias term. </a:t>
            </a:r>
          </a:p>
          <a:p>
            <a:pPr marL="114300" indent="0">
              <a:buNone/>
            </a:pPr>
            <a:endParaRPr lang="en-US" dirty="0"/>
          </a:p>
          <a:p>
            <a:pPr marL="114300" indent="0">
              <a:buNone/>
            </a:pPr>
            <a:endParaRPr lang="en-US" dirty="0"/>
          </a:p>
          <a:p>
            <a:pPr marL="114300" indent="0">
              <a:buNone/>
            </a:pPr>
            <a:endParaRPr lang="en-US" dirty="0"/>
          </a:p>
        </p:txBody>
      </p:sp>
      <p:pic>
        <p:nvPicPr>
          <p:cNvPr id="5" name="Picture 4">
            <a:extLst>
              <a:ext uri="{FF2B5EF4-FFF2-40B4-BE49-F238E27FC236}">
                <a16:creationId xmlns:a16="http://schemas.microsoft.com/office/drawing/2014/main" id="{2994B49B-0ED3-5E68-9B97-D66AD372A8E5}"/>
              </a:ext>
            </a:extLst>
          </p:cNvPr>
          <p:cNvPicPr>
            <a:picLocks noChangeAspect="1"/>
          </p:cNvPicPr>
          <p:nvPr/>
        </p:nvPicPr>
        <p:blipFill>
          <a:blip r:embed="rId2"/>
          <a:stretch>
            <a:fillRect/>
          </a:stretch>
        </p:blipFill>
        <p:spPr>
          <a:xfrm>
            <a:off x="3152840" y="3047181"/>
            <a:ext cx="2838319" cy="1933891"/>
          </a:xfrm>
          <a:prstGeom prst="rect">
            <a:avLst/>
          </a:prstGeom>
        </p:spPr>
      </p:pic>
      <p:cxnSp>
        <p:nvCxnSpPr>
          <p:cNvPr id="7" name="Straight Arrow Connector 6">
            <a:extLst>
              <a:ext uri="{FF2B5EF4-FFF2-40B4-BE49-F238E27FC236}">
                <a16:creationId xmlns:a16="http://schemas.microsoft.com/office/drawing/2014/main" id="{483EB067-DF08-D9B1-1AC8-AFA39AF0FD59}"/>
              </a:ext>
            </a:extLst>
          </p:cNvPr>
          <p:cNvCxnSpPr>
            <a:cxnSpLocks/>
            <a:endCxn id="8" idx="1"/>
          </p:cNvCxnSpPr>
          <p:nvPr/>
        </p:nvCxnSpPr>
        <p:spPr>
          <a:xfrm flipV="1">
            <a:off x="2302042" y="3949959"/>
            <a:ext cx="938463" cy="261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3404C2D-B2F7-0F5C-8F4F-AA851030D856}"/>
              </a:ext>
            </a:extLst>
          </p:cNvPr>
          <p:cNvSpPr txBox="1"/>
          <p:nvPr/>
        </p:nvSpPr>
        <p:spPr>
          <a:xfrm>
            <a:off x="3240505" y="3047181"/>
            <a:ext cx="644854" cy="1805556"/>
          </a:xfrm>
          <a:prstGeom prst="rect">
            <a:avLst/>
          </a:prstGeom>
          <a:noFill/>
          <a:ln>
            <a:solidFill>
              <a:schemeClr val="accent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0590424A-35AB-F7E9-E565-3190166639D3}"/>
              </a:ext>
            </a:extLst>
          </p:cNvPr>
          <p:cNvSpPr txBox="1"/>
          <p:nvPr/>
        </p:nvSpPr>
        <p:spPr>
          <a:xfrm>
            <a:off x="978568" y="4057164"/>
            <a:ext cx="1323474" cy="307777"/>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Input</a:t>
            </a:r>
          </a:p>
        </p:txBody>
      </p:sp>
      <p:cxnSp>
        <p:nvCxnSpPr>
          <p:cNvPr id="12" name="Straight Arrow Connector 11">
            <a:extLst>
              <a:ext uri="{FF2B5EF4-FFF2-40B4-BE49-F238E27FC236}">
                <a16:creationId xmlns:a16="http://schemas.microsoft.com/office/drawing/2014/main" id="{BB29F417-A395-BEAC-4129-285796ADC885}"/>
              </a:ext>
            </a:extLst>
          </p:cNvPr>
          <p:cNvCxnSpPr>
            <a:cxnSpLocks/>
            <a:endCxn id="13" idx="3"/>
          </p:cNvCxnSpPr>
          <p:nvPr/>
        </p:nvCxnSpPr>
        <p:spPr>
          <a:xfrm flipH="1" flipV="1">
            <a:off x="5093372" y="3951447"/>
            <a:ext cx="627499" cy="686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8F15786-B072-CD31-9067-85F309FA2C26}"/>
              </a:ext>
            </a:extLst>
          </p:cNvPr>
          <p:cNvSpPr txBox="1"/>
          <p:nvPr/>
        </p:nvSpPr>
        <p:spPr>
          <a:xfrm>
            <a:off x="4376896" y="3048669"/>
            <a:ext cx="716476" cy="1805556"/>
          </a:xfrm>
          <a:prstGeom prst="rect">
            <a:avLst/>
          </a:prstGeom>
          <a:noFill/>
          <a:ln>
            <a:solidFill>
              <a:schemeClr val="accent1"/>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ECC16D2B-96C1-C409-75F3-3AA23329E3EF}"/>
              </a:ext>
            </a:extLst>
          </p:cNvPr>
          <p:cNvSpPr txBox="1"/>
          <p:nvPr/>
        </p:nvSpPr>
        <p:spPr>
          <a:xfrm>
            <a:off x="5709960" y="4503390"/>
            <a:ext cx="2062439" cy="523220"/>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Hidden layers/latent features</a:t>
            </a:r>
          </a:p>
        </p:txBody>
      </p:sp>
    </p:spTree>
    <p:extLst>
      <p:ext uri="{BB962C8B-B14F-4D97-AF65-F5344CB8AC3E}">
        <p14:creationId xmlns:p14="http://schemas.microsoft.com/office/powerpoint/2010/main" val="1988312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4DA36-14B1-B44D-40D8-CDB1821FA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E79AF-9101-5C62-DEE1-07CB124F238F}"/>
              </a:ext>
            </a:extLst>
          </p:cNvPr>
          <p:cNvSpPr>
            <a:spLocks noGrp="1"/>
          </p:cNvSpPr>
          <p:nvPr>
            <p:ph type="title"/>
          </p:nvPr>
        </p:nvSpPr>
        <p:spPr/>
        <p:txBody>
          <a:bodyPr>
            <a:normAutofit fontScale="90000"/>
          </a:bodyPr>
          <a:lstStyle/>
          <a:p>
            <a:r>
              <a:rPr lang="en-US" dirty="0"/>
              <a:t>Recall: neural networks</a:t>
            </a:r>
          </a:p>
        </p:txBody>
      </p:sp>
      <p:sp>
        <p:nvSpPr>
          <p:cNvPr id="3" name="Text Placeholder 2">
            <a:extLst>
              <a:ext uri="{FF2B5EF4-FFF2-40B4-BE49-F238E27FC236}">
                <a16:creationId xmlns:a16="http://schemas.microsoft.com/office/drawing/2014/main" id="{CA87959E-8D1F-3710-BA92-A6B5B4C2321A}"/>
              </a:ext>
            </a:extLst>
          </p:cNvPr>
          <p:cNvSpPr>
            <a:spLocks noGrp="1"/>
          </p:cNvSpPr>
          <p:nvPr>
            <p:ph type="body" idx="1"/>
          </p:nvPr>
        </p:nvSpPr>
        <p:spPr/>
        <p:txBody>
          <a:bodyPr/>
          <a:lstStyle/>
          <a:p>
            <a:pPr marL="114300" indent="0">
              <a:buNone/>
            </a:pPr>
            <a:r>
              <a:rPr lang="en-US" dirty="0"/>
              <a:t>A neural network is a model that transforms input through multiple layers of neurons to learn patterns and make predictions. </a:t>
            </a:r>
          </a:p>
          <a:p>
            <a:pPr marL="114300" indent="0">
              <a:buNone/>
            </a:pPr>
            <a:endParaRPr lang="en-US" dirty="0"/>
          </a:p>
          <a:p>
            <a:pPr marL="114300" indent="0">
              <a:buNone/>
            </a:pPr>
            <a:r>
              <a:rPr lang="en-US" dirty="0"/>
              <a:t>Activation functions: Determines how strongly a neuron/latent feature should be activated based on the weighted sum of inputs and a bias term. </a:t>
            </a:r>
          </a:p>
          <a:p>
            <a:pPr marL="114300" indent="0">
              <a:buNone/>
            </a:pPr>
            <a:endParaRPr lang="en-US" dirty="0"/>
          </a:p>
          <a:p>
            <a:pPr marL="114300" indent="0">
              <a:buNone/>
            </a:pPr>
            <a:endParaRPr lang="en-US" dirty="0"/>
          </a:p>
          <a:p>
            <a:pPr marL="114300" indent="0">
              <a:buNone/>
            </a:pPr>
            <a:endParaRPr lang="en-US" dirty="0"/>
          </a:p>
        </p:txBody>
      </p:sp>
      <p:pic>
        <p:nvPicPr>
          <p:cNvPr id="5" name="Picture 4">
            <a:extLst>
              <a:ext uri="{FF2B5EF4-FFF2-40B4-BE49-F238E27FC236}">
                <a16:creationId xmlns:a16="http://schemas.microsoft.com/office/drawing/2014/main" id="{B4A55DC9-138A-B4D2-7557-D436D227BF6F}"/>
              </a:ext>
            </a:extLst>
          </p:cNvPr>
          <p:cNvPicPr>
            <a:picLocks noChangeAspect="1"/>
          </p:cNvPicPr>
          <p:nvPr/>
        </p:nvPicPr>
        <p:blipFill>
          <a:blip r:embed="rId2"/>
          <a:stretch>
            <a:fillRect/>
          </a:stretch>
        </p:blipFill>
        <p:spPr>
          <a:xfrm>
            <a:off x="3152840" y="3047181"/>
            <a:ext cx="2838319" cy="1933891"/>
          </a:xfrm>
          <a:prstGeom prst="rect">
            <a:avLst/>
          </a:prstGeom>
        </p:spPr>
      </p:pic>
      <p:cxnSp>
        <p:nvCxnSpPr>
          <p:cNvPr id="7" name="Straight Arrow Connector 6">
            <a:extLst>
              <a:ext uri="{FF2B5EF4-FFF2-40B4-BE49-F238E27FC236}">
                <a16:creationId xmlns:a16="http://schemas.microsoft.com/office/drawing/2014/main" id="{9CF68984-C912-4701-58DB-79ED6F465F01}"/>
              </a:ext>
            </a:extLst>
          </p:cNvPr>
          <p:cNvCxnSpPr>
            <a:cxnSpLocks/>
            <a:endCxn id="8" idx="1"/>
          </p:cNvCxnSpPr>
          <p:nvPr/>
        </p:nvCxnSpPr>
        <p:spPr>
          <a:xfrm flipV="1">
            <a:off x="2302042" y="3949959"/>
            <a:ext cx="938463" cy="261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7CC2387-B124-5FA3-F7CC-D06482418A4A}"/>
              </a:ext>
            </a:extLst>
          </p:cNvPr>
          <p:cNvSpPr txBox="1"/>
          <p:nvPr/>
        </p:nvSpPr>
        <p:spPr>
          <a:xfrm>
            <a:off x="3240505" y="3047181"/>
            <a:ext cx="644854" cy="1805556"/>
          </a:xfrm>
          <a:prstGeom prst="rect">
            <a:avLst/>
          </a:prstGeom>
          <a:noFill/>
          <a:ln>
            <a:solidFill>
              <a:schemeClr val="accent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DE11C80F-2927-C829-C00E-89CEBBF369AD}"/>
              </a:ext>
            </a:extLst>
          </p:cNvPr>
          <p:cNvSpPr txBox="1"/>
          <p:nvPr/>
        </p:nvSpPr>
        <p:spPr>
          <a:xfrm>
            <a:off x="978568" y="4057164"/>
            <a:ext cx="1323474" cy="307777"/>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Input</a:t>
            </a:r>
          </a:p>
        </p:txBody>
      </p:sp>
      <p:cxnSp>
        <p:nvCxnSpPr>
          <p:cNvPr id="12" name="Straight Arrow Connector 11">
            <a:extLst>
              <a:ext uri="{FF2B5EF4-FFF2-40B4-BE49-F238E27FC236}">
                <a16:creationId xmlns:a16="http://schemas.microsoft.com/office/drawing/2014/main" id="{1E933C32-5E85-89CC-2BC1-C7C5E19ACF6E}"/>
              </a:ext>
            </a:extLst>
          </p:cNvPr>
          <p:cNvCxnSpPr>
            <a:cxnSpLocks/>
            <a:endCxn id="13" idx="3"/>
          </p:cNvCxnSpPr>
          <p:nvPr/>
        </p:nvCxnSpPr>
        <p:spPr>
          <a:xfrm flipH="1" flipV="1">
            <a:off x="5093372" y="3951447"/>
            <a:ext cx="627499" cy="686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311F322-42FA-8AA7-86BE-30B39B1950E2}"/>
              </a:ext>
            </a:extLst>
          </p:cNvPr>
          <p:cNvSpPr txBox="1"/>
          <p:nvPr/>
        </p:nvSpPr>
        <p:spPr>
          <a:xfrm>
            <a:off x="4376896" y="3048669"/>
            <a:ext cx="716476" cy="1805556"/>
          </a:xfrm>
          <a:prstGeom prst="rect">
            <a:avLst/>
          </a:prstGeom>
          <a:noFill/>
          <a:ln>
            <a:solidFill>
              <a:schemeClr val="accent1"/>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418C9D28-2C54-9B9C-DFC3-C84119B56DFE}"/>
              </a:ext>
            </a:extLst>
          </p:cNvPr>
          <p:cNvSpPr txBox="1"/>
          <p:nvPr/>
        </p:nvSpPr>
        <p:spPr>
          <a:xfrm>
            <a:off x="5709960" y="4503390"/>
            <a:ext cx="2062439" cy="523220"/>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Hidden layers/latent features</a:t>
            </a:r>
          </a:p>
        </p:txBody>
      </p:sp>
      <p:cxnSp>
        <p:nvCxnSpPr>
          <p:cNvPr id="4" name="Straight Arrow Connector 3">
            <a:extLst>
              <a:ext uri="{FF2B5EF4-FFF2-40B4-BE49-F238E27FC236}">
                <a16:creationId xmlns:a16="http://schemas.microsoft.com/office/drawing/2014/main" id="{C39D7704-F1E1-9695-A917-66A71A627B59}"/>
              </a:ext>
            </a:extLst>
          </p:cNvPr>
          <p:cNvCxnSpPr>
            <a:cxnSpLocks/>
            <a:stCxn id="9" idx="2"/>
            <a:endCxn id="6" idx="3"/>
          </p:cNvCxnSpPr>
          <p:nvPr/>
        </p:nvCxnSpPr>
        <p:spPr>
          <a:xfrm flipH="1">
            <a:off x="5982227" y="3572947"/>
            <a:ext cx="670669" cy="377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8D8D71F-052E-B32E-0B24-BBBC03DFFB97}"/>
              </a:ext>
            </a:extLst>
          </p:cNvPr>
          <p:cNvSpPr txBox="1"/>
          <p:nvPr/>
        </p:nvSpPr>
        <p:spPr>
          <a:xfrm>
            <a:off x="5403024" y="3656145"/>
            <a:ext cx="579203" cy="587627"/>
          </a:xfrm>
          <a:prstGeom prst="rect">
            <a:avLst/>
          </a:prstGeom>
          <a:noFill/>
          <a:ln>
            <a:solidFill>
              <a:schemeClr val="accent1"/>
            </a:solidFill>
          </a:ln>
        </p:spPr>
        <p:txBody>
          <a:bodyPr wrap="square" rtlCol="0">
            <a:spAutoFit/>
          </a:bodyPr>
          <a:lstStyle/>
          <a:p>
            <a:endParaRPr lang="en-US" dirty="0"/>
          </a:p>
        </p:txBody>
      </p:sp>
      <p:sp>
        <p:nvSpPr>
          <p:cNvPr id="9" name="TextBox 8">
            <a:extLst>
              <a:ext uri="{FF2B5EF4-FFF2-40B4-BE49-F238E27FC236}">
                <a16:creationId xmlns:a16="http://schemas.microsoft.com/office/drawing/2014/main" id="{F152F857-7846-0E8A-8DA3-71F85E4848BD}"/>
              </a:ext>
            </a:extLst>
          </p:cNvPr>
          <p:cNvSpPr txBox="1"/>
          <p:nvPr/>
        </p:nvSpPr>
        <p:spPr>
          <a:xfrm>
            <a:off x="5991159" y="3265170"/>
            <a:ext cx="1323474" cy="307777"/>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Output</a:t>
            </a:r>
          </a:p>
        </p:txBody>
      </p:sp>
    </p:spTree>
    <p:extLst>
      <p:ext uri="{BB962C8B-B14F-4D97-AF65-F5344CB8AC3E}">
        <p14:creationId xmlns:p14="http://schemas.microsoft.com/office/powerpoint/2010/main" val="359068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FB10B0-00E4-7475-D8B7-1B0366341DC5}"/>
              </a:ext>
            </a:extLst>
          </p:cNvPr>
          <p:cNvPicPr>
            <a:picLocks noChangeAspect="1"/>
          </p:cNvPicPr>
          <p:nvPr/>
        </p:nvPicPr>
        <p:blipFill>
          <a:blip r:embed="rId3"/>
          <a:stretch>
            <a:fillRect/>
          </a:stretch>
        </p:blipFill>
        <p:spPr>
          <a:xfrm>
            <a:off x="2705719" y="2155290"/>
            <a:ext cx="3732562" cy="2543185"/>
          </a:xfrm>
          <a:prstGeom prst="rect">
            <a:avLst/>
          </a:prstGeom>
        </p:spPr>
      </p:pic>
      <p:sp>
        <p:nvSpPr>
          <p:cNvPr id="2" name="Title 1">
            <a:extLst>
              <a:ext uri="{FF2B5EF4-FFF2-40B4-BE49-F238E27FC236}">
                <a16:creationId xmlns:a16="http://schemas.microsoft.com/office/drawing/2014/main" id="{B64FAE16-2040-8E0D-D726-DE087D871C6E}"/>
              </a:ext>
            </a:extLst>
          </p:cNvPr>
          <p:cNvSpPr>
            <a:spLocks noGrp="1"/>
          </p:cNvSpPr>
          <p:nvPr>
            <p:ph type="title"/>
          </p:nvPr>
        </p:nvSpPr>
        <p:spPr/>
        <p:txBody>
          <a:bodyPr>
            <a:normAutofit fontScale="90000"/>
          </a:bodyPr>
          <a:lstStyle/>
          <a:p>
            <a:r>
              <a:rPr lang="en-US" dirty="0"/>
              <a:t>Recall: hidden layers in neural networks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9E25E99-24E0-5796-2DAA-6A0A618BD336}"/>
                  </a:ext>
                </a:extLst>
              </p:cNvPr>
              <p:cNvSpPr>
                <a:spLocks noGrp="1"/>
              </p:cNvSpPr>
              <p:nvPr>
                <p:ph type="body" idx="1"/>
              </p:nvPr>
            </p:nvSpPr>
            <p:spPr/>
            <p:txBody>
              <a:bodyPr/>
              <a:lstStyle/>
              <a:p>
                <a:pPr marL="114300" indent="0">
                  <a:buNone/>
                </a:pPr>
                <a:r>
                  <a:rPr lang="en-US" dirty="0"/>
                  <a:t>The output of each hidden layer is given by a linear combination of weights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oMath>
                </a14:m>
                <a:r>
                  <a:rPr lang="en-US" dirty="0"/>
                  <a:t> plus some bias term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e>
                    </m:d>
                  </m:oMath>
                </a14:m>
                <a:r>
                  <a:rPr lang="en-US" dirty="0"/>
                  <a:t>.</a:t>
                </a:r>
              </a:p>
            </p:txBody>
          </p:sp>
        </mc:Choice>
        <mc:Fallback xmlns="">
          <p:sp>
            <p:nvSpPr>
              <p:cNvPr id="3" name="Text Placeholder 2">
                <a:extLst>
                  <a:ext uri="{FF2B5EF4-FFF2-40B4-BE49-F238E27FC236}">
                    <a16:creationId xmlns:a16="http://schemas.microsoft.com/office/drawing/2014/main" id="{B9E25E99-24E0-5796-2DAA-6A0A618BD336}"/>
                  </a:ext>
                </a:extLst>
              </p:cNvPr>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2C1FE1-D9C6-B0BD-6B09-329AC5B865EE}"/>
                  </a:ext>
                </a:extLst>
              </p:cNvPr>
              <p:cNvSpPr txBox="1"/>
              <p:nvPr/>
            </p:nvSpPr>
            <p:spPr>
              <a:xfrm>
                <a:off x="3850104" y="23261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662C1FE1-D9C6-B0BD-6B09-329AC5B865EE}"/>
                  </a:ext>
                </a:extLst>
              </p:cNvPr>
              <p:cNvSpPr txBox="1">
                <a:spLocks noRot="1" noChangeAspect="1" noMove="1" noResize="1" noEditPoints="1" noAdjustHandles="1" noChangeArrowheads="1" noChangeShapeType="1" noTextEdit="1"/>
              </p:cNvSpPr>
              <p:nvPr/>
            </p:nvSpPr>
            <p:spPr>
              <a:xfrm>
                <a:off x="3850104" y="2326105"/>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48113D-16AB-3BB8-6CC6-E5744E3A3559}"/>
                  </a:ext>
                </a:extLst>
              </p:cNvPr>
              <p:cNvSpPr txBox="1"/>
              <p:nvPr/>
            </p:nvSpPr>
            <p:spPr>
              <a:xfrm>
                <a:off x="3597764" y="28357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8548113D-16AB-3BB8-6CC6-E5744E3A3559}"/>
                  </a:ext>
                </a:extLst>
              </p:cNvPr>
              <p:cNvSpPr txBox="1">
                <a:spLocks noRot="1" noChangeAspect="1" noMove="1" noResize="1" noEditPoints="1" noAdjustHandles="1" noChangeArrowheads="1" noChangeShapeType="1" noTextEdit="1"/>
              </p:cNvSpPr>
              <p:nvPr/>
            </p:nvSpPr>
            <p:spPr>
              <a:xfrm>
                <a:off x="3597764" y="2835766"/>
                <a:ext cx="553453"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63A7BA-54D6-1EBB-4D5D-4AD7B5CB0CB9}"/>
                  </a:ext>
                </a:extLst>
              </p:cNvPr>
              <p:cNvSpPr txBox="1"/>
              <p:nvPr/>
            </p:nvSpPr>
            <p:spPr>
              <a:xfrm>
                <a:off x="3421210" y="32925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2463A7BA-54D6-1EBB-4D5D-4AD7B5CB0CB9}"/>
                  </a:ext>
                </a:extLst>
              </p:cNvPr>
              <p:cNvSpPr txBox="1">
                <a:spLocks noRot="1" noChangeAspect="1" noMove="1" noResize="1" noEditPoints="1" noAdjustHandles="1" noChangeArrowheads="1" noChangeShapeType="1" noTextEdit="1"/>
              </p:cNvSpPr>
              <p:nvPr/>
            </p:nvSpPr>
            <p:spPr>
              <a:xfrm>
                <a:off x="3421210" y="3292561"/>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EC8D4E2-3AC6-0311-2CB4-7302DCC778DA}"/>
                  </a:ext>
                </a:extLst>
              </p:cNvPr>
              <p:cNvSpPr txBox="1"/>
              <p:nvPr/>
            </p:nvSpPr>
            <p:spPr>
              <a:xfrm>
                <a:off x="3648445" y="37196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6EC8D4E2-3AC6-0311-2CB4-7302DCC778DA}"/>
                  </a:ext>
                </a:extLst>
              </p:cNvPr>
              <p:cNvSpPr txBox="1">
                <a:spLocks noRot="1" noChangeAspect="1" noMove="1" noResize="1" noEditPoints="1" noAdjustHandles="1" noChangeArrowheads="1" noChangeShapeType="1" noTextEdit="1"/>
              </p:cNvSpPr>
              <p:nvPr/>
            </p:nvSpPr>
            <p:spPr>
              <a:xfrm>
                <a:off x="3648445" y="3719665"/>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5A1C2B-59CE-9BE2-86BC-1630CCD69B12}"/>
                  </a:ext>
                </a:extLst>
              </p:cNvPr>
              <p:cNvSpPr txBox="1"/>
              <p:nvPr/>
            </p:nvSpPr>
            <p:spPr>
              <a:xfrm>
                <a:off x="5323840" y="25717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085A1C2B-59CE-9BE2-86BC-1630CCD69B12}"/>
                  </a:ext>
                </a:extLst>
              </p:cNvPr>
              <p:cNvSpPr txBox="1">
                <a:spLocks noRot="1" noChangeAspect="1" noMove="1" noResize="1" noEditPoints="1" noAdjustHandles="1" noChangeArrowheads="1" noChangeShapeType="1" noTextEdit="1"/>
              </p:cNvSpPr>
              <p:nvPr/>
            </p:nvSpPr>
            <p:spPr>
              <a:xfrm>
                <a:off x="5323840" y="2571750"/>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68902D-CC30-B170-4E62-B626EF0C2710}"/>
                  </a:ext>
                </a:extLst>
              </p:cNvPr>
              <p:cNvSpPr txBox="1"/>
              <p:nvPr/>
            </p:nvSpPr>
            <p:spPr>
              <a:xfrm>
                <a:off x="5144624" y="34164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1" name="TextBox 10">
                <a:extLst>
                  <a:ext uri="{FF2B5EF4-FFF2-40B4-BE49-F238E27FC236}">
                    <a16:creationId xmlns:a16="http://schemas.microsoft.com/office/drawing/2014/main" id="{7168902D-CC30-B170-4E62-B626EF0C2710}"/>
                  </a:ext>
                </a:extLst>
              </p:cNvPr>
              <p:cNvSpPr txBox="1">
                <a:spLocks noRot="1" noChangeAspect="1" noMove="1" noResize="1" noEditPoints="1" noAdjustHandles="1" noChangeArrowheads="1" noChangeShapeType="1" noTextEdit="1"/>
              </p:cNvSpPr>
              <p:nvPr/>
            </p:nvSpPr>
            <p:spPr>
              <a:xfrm>
                <a:off x="5144624" y="3416498"/>
                <a:ext cx="553453" cy="523220"/>
              </a:xfrm>
              <a:prstGeom prst="rect">
                <a:avLst/>
              </a:prstGeom>
              <a:blipFill>
                <a:blip r:embed="rId10"/>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3D27017E-D7A7-EEAC-DEB3-4DAADCFE1782}"/>
              </a:ext>
            </a:extLst>
          </p:cNvPr>
          <p:cNvCxnSpPr>
            <a:cxnSpLocks/>
          </p:cNvCxnSpPr>
          <p:nvPr/>
        </p:nvCxnSpPr>
        <p:spPr>
          <a:xfrm flipV="1">
            <a:off x="4403557" y="42643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54AA6B-431D-61D4-CBC7-142331120F85}"/>
              </a:ext>
            </a:extLst>
          </p:cNvPr>
          <p:cNvCxnSpPr>
            <a:cxnSpLocks/>
          </p:cNvCxnSpPr>
          <p:nvPr/>
        </p:nvCxnSpPr>
        <p:spPr>
          <a:xfrm>
            <a:off x="4403557" y="20673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C7512D9-C49D-3347-4F68-E000A1201DE5}"/>
                  </a:ext>
                </a:extLst>
              </p:cNvPr>
              <p:cNvSpPr txBox="1"/>
              <p:nvPr/>
            </p:nvSpPr>
            <p:spPr>
              <a:xfrm>
                <a:off x="4387680" y="430741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0" name="TextBox 19">
                <a:extLst>
                  <a:ext uri="{FF2B5EF4-FFF2-40B4-BE49-F238E27FC236}">
                    <a16:creationId xmlns:a16="http://schemas.microsoft.com/office/drawing/2014/main" id="{3C7512D9-C49D-3347-4F68-E000A1201DE5}"/>
                  </a:ext>
                </a:extLst>
              </p:cNvPr>
              <p:cNvSpPr txBox="1">
                <a:spLocks noRot="1" noChangeAspect="1" noMove="1" noResize="1" noEditPoints="1" noAdjustHandles="1" noChangeArrowheads="1" noChangeShapeType="1" noTextEdit="1"/>
              </p:cNvSpPr>
              <p:nvPr/>
            </p:nvSpPr>
            <p:spPr>
              <a:xfrm>
                <a:off x="4387680" y="4307415"/>
                <a:ext cx="553453"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6ECEDD9-A7EB-2521-3E90-F77BD152F188}"/>
                  </a:ext>
                </a:extLst>
              </p:cNvPr>
              <p:cNvSpPr txBox="1"/>
              <p:nvPr/>
            </p:nvSpPr>
            <p:spPr>
              <a:xfrm>
                <a:off x="4387681" y="19703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1" name="TextBox 20">
                <a:extLst>
                  <a:ext uri="{FF2B5EF4-FFF2-40B4-BE49-F238E27FC236}">
                    <a16:creationId xmlns:a16="http://schemas.microsoft.com/office/drawing/2014/main" id="{A6ECEDD9-A7EB-2521-3E90-F77BD152F188}"/>
                  </a:ext>
                </a:extLst>
              </p:cNvPr>
              <p:cNvSpPr txBox="1">
                <a:spLocks noRot="1" noChangeAspect="1" noMove="1" noResize="1" noEditPoints="1" noAdjustHandles="1" noChangeArrowheads="1" noChangeShapeType="1" noTextEdit="1"/>
              </p:cNvSpPr>
              <p:nvPr/>
            </p:nvSpPr>
            <p:spPr>
              <a:xfrm>
                <a:off x="4387681" y="1970332"/>
                <a:ext cx="553453" cy="307777"/>
              </a:xfrm>
              <a:prstGeom prst="rect">
                <a:avLst/>
              </a:prstGeom>
              <a:blipFill>
                <a:blip r:embed="rId12"/>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2FD59374-F8C9-E398-0EFA-69A026C8BEAC}"/>
              </a:ext>
            </a:extLst>
          </p:cNvPr>
          <p:cNvCxnSpPr>
            <a:cxnSpLocks/>
          </p:cNvCxnSpPr>
          <p:nvPr/>
        </p:nvCxnSpPr>
        <p:spPr>
          <a:xfrm flipH="1">
            <a:off x="5947287" y="36609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1D5C4AF-1E3D-B7F1-0A3E-56F9B5386174}"/>
                  </a:ext>
                </a:extLst>
              </p:cNvPr>
              <p:cNvSpPr txBox="1"/>
              <p:nvPr/>
            </p:nvSpPr>
            <p:spPr>
              <a:xfrm>
                <a:off x="5839943" y="36609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3" name="TextBox 22">
                <a:extLst>
                  <a:ext uri="{FF2B5EF4-FFF2-40B4-BE49-F238E27FC236}">
                    <a16:creationId xmlns:a16="http://schemas.microsoft.com/office/drawing/2014/main" id="{A1D5C4AF-1E3D-B7F1-0A3E-56F9B5386174}"/>
                  </a:ext>
                </a:extLst>
              </p:cNvPr>
              <p:cNvSpPr txBox="1">
                <a:spLocks noRot="1" noChangeAspect="1" noMove="1" noResize="1" noEditPoints="1" noAdjustHandles="1" noChangeArrowheads="1" noChangeShapeType="1" noTextEdit="1"/>
              </p:cNvSpPr>
              <p:nvPr/>
            </p:nvSpPr>
            <p:spPr>
              <a:xfrm>
                <a:off x="5839943" y="3660908"/>
                <a:ext cx="553453" cy="307777"/>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8228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824C-715E-120D-CBDD-849F89F0AF7A}"/>
              </a:ext>
            </a:extLst>
          </p:cNvPr>
          <p:cNvSpPr>
            <a:spLocks noGrp="1"/>
          </p:cNvSpPr>
          <p:nvPr>
            <p:ph type="title"/>
          </p:nvPr>
        </p:nvSpPr>
        <p:spPr/>
        <p:txBody>
          <a:bodyPr>
            <a:normAutofit fontScale="90000"/>
          </a:bodyPr>
          <a:lstStyle/>
          <a:p>
            <a:r>
              <a:rPr lang="en-US" dirty="0"/>
              <a:t>Recall: computing hidden layers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F6B6241-F5DF-EA49-62A6-BEF6C60E81B2}"/>
                  </a:ext>
                </a:extLst>
              </p:cNvPr>
              <p:cNvSpPr>
                <a:spLocks noGrp="1"/>
              </p:cNvSpPr>
              <p:nvPr>
                <p:ph type="body" idx="1"/>
              </p:nvPr>
            </p:nvSpPr>
            <p:spPr/>
            <p:txBody>
              <a:bodyPr/>
              <a:lstStyle/>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a14:m>
                <a:r>
                  <a:rPr lang="en-US" b="0" dirty="0"/>
                  <a:t> </a:t>
                </a:r>
              </a:p>
              <a:p>
                <a:pPr marL="11430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a14:m>
                <a:r>
                  <a:rPr lang="en-US" b="0" dirty="0"/>
                  <a:t> </a:t>
                </a:r>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3F6B6241-F5DF-EA49-62A6-BEF6C60E81B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D3DDFD6-7D57-2492-3FBC-1AB30E0C048B}"/>
              </a:ext>
            </a:extLst>
          </p:cNvPr>
          <p:cNvPicPr>
            <a:picLocks noChangeAspect="1"/>
          </p:cNvPicPr>
          <p:nvPr/>
        </p:nvPicPr>
        <p:blipFill>
          <a:blip r:embed="rId3"/>
          <a:stretch>
            <a:fillRect/>
          </a:stretch>
        </p:blipFill>
        <p:spPr>
          <a:xfrm>
            <a:off x="2705719" y="21552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447A3B9-C230-E10B-EBD3-D1C8013ED49C}"/>
                  </a:ext>
                </a:extLst>
              </p:cNvPr>
              <p:cNvSpPr txBox="1"/>
              <p:nvPr/>
            </p:nvSpPr>
            <p:spPr>
              <a:xfrm>
                <a:off x="3850104" y="23261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3447A3B9-C230-E10B-EBD3-D1C8013ED49C}"/>
                  </a:ext>
                </a:extLst>
              </p:cNvPr>
              <p:cNvSpPr txBox="1">
                <a:spLocks noRot="1" noChangeAspect="1" noMove="1" noResize="1" noEditPoints="1" noAdjustHandles="1" noChangeArrowheads="1" noChangeShapeType="1" noTextEdit="1"/>
              </p:cNvSpPr>
              <p:nvPr/>
            </p:nvSpPr>
            <p:spPr>
              <a:xfrm>
                <a:off x="3850104" y="23261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2189472-CE26-3BFE-C280-0104C46A8B1C}"/>
                  </a:ext>
                </a:extLst>
              </p:cNvPr>
              <p:cNvSpPr txBox="1"/>
              <p:nvPr/>
            </p:nvSpPr>
            <p:spPr>
              <a:xfrm>
                <a:off x="3597764" y="28357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A2189472-CE26-3BFE-C280-0104C46A8B1C}"/>
                  </a:ext>
                </a:extLst>
              </p:cNvPr>
              <p:cNvSpPr txBox="1">
                <a:spLocks noRot="1" noChangeAspect="1" noMove="1" noResize="1" noEditPoints="1" noAdjustHandles="1" noChangeArrowheads="1" noChangeShapeType="1" noTextEdit="1"/>
              </p:cNvSpPr>
              <p:nvPr/>
            </p:nvSpPr>
            <p:spPr>
              <a:xfrm>
                <a:off x="3597764" y="28357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0A063C-6489-A05E-0AC1-2FB8751CD5AC}"/>
                  </a:ext>
                </a:extLst>
              </p:cNvPr>
              <p:cNvSpPr txBox="1"/>
              <p:nvPr/>
            </p:nvSpPr>
            <p:spPr>
              <a:xfrm>
                <a:off x="3421210" y="32925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C20A063C-6489-A05E-0AC1-2FB8751CD5AC}"/>
                  </a:ext>
                </a:extLst>
              </p:cNvPr>
              <p:cNvSpPr txBox="1">
                <a:spLocks noRot="1" noChangeAspect="1" noMove="1" noResize="1" noEditPoints="1" noAdjustHandles="1" noChangeArrowheads="1" noChangeShapeType="1" noTextEdit="1"/>
              </p:cNvSpPr>
              <p:nvPr/>
            </p:nvSpPr>
            <p:spPr>
              <a:xfrm>
                <a:off x="3421210" y="32925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1CBD8D-7A8F-9416-6469-9ED368623A6C}"/>
                  </a:ext>
                </a:extLst>
              </p:cNvPr>
              <p:cNvSpPr txBox="1"/>
              <p:nvPr/>
            </p:nvSpPr>
            <p:spPr>
              <a:xfrm>
                <a:off x="3648445" y="37196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AC1CBD8D-7A8F-9416-6469-9ED368623A6C}"/>
                  </a:ext>
                </a:extLst>
              </p:cNvPr>
              <p:cNvSpPr txBox="1">
                <a:spLocks noRot="1" noChangeAspect="1" noMove="1" noResize="1" noEditPoints="1" noAdjustHandles="1" noChangeArrowheads="1" noChangeShapeType="1" noTextEdit="1"/>
              </p:cNvSpPr>
              <p:nvPr/>
            </p:nvSpPr>
            <p:spPr>
              <a:xfrm>
                <a:off x="3648445" y="37196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B4A18B-E0E6-BABC-3EF4-A6748E29A0A1}"/>
                  </a:ext>
                </a:extLst>
              </p:cNvPr>
              <p:cNvSpPr txBox="1"/>
              <p:nvPr/>
            </p:nvSpPr>
            <p:spPr>
              <a:xfrm>
                <a:off x="5323840" y="25717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F0B4A18B-E0E6-BABC-3EF4-A6748E29A0A1}"/>
                  </a:ext>
                </a:extLst>
              </p:cNvPr>
              <p:cNvSpPr txBox="1">
                <a:spLocks noRot="1" noChangeAspect="1" noMove="1" noResize="1" noEditPoints="1" noAdjustHandles="1" noChangeArrowheads="1" noChangeShapeType="1" noTextEdit="1"/>
              </p:cNvSpPr>
              <p:nvPr/>
            </p:nvSpPr>
            <p:spPr>
              <a:xfrm>
                <a:off x="5323840" y="25717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01E548-F263-18C9-2A51-3AE58886DE23}"/>
                  </a:ext>
                </a:extLst>
              </p:cNvPr>
              <p:cNvSpPr txBox="1"/>
              <p:nvPr/>
            </p:nvSpPr>
            <p:spPr>
              <a:xfrm>
                <a:off x="5144624" y="34164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A901E548-F263-18C9-2A51-3AE58886DE23}"/>
                  </a:ext>
                </a:extLst>
              </p:cNvPr>
              <p:cNvSpPr txBox="1">
                <a:spLocks noRot="1" noChangeAspect="1" noMove="1" noResize="1" noEditPoints="1" noAdjustHandles="1" noChangeArrowheads="1" noChangeShapeType="1" noTextEdit="1"/>
              </p:cNvSpPr>
              <p:nvPr/>
            </p:nvSpPr>
            <p:spPr>
              <a:xfrm>
                <a:off x="5144624" y="34164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D2293452-2C00-1B0B-6F0A-8A2264331C9B}"/>
              </a:ext>
            </a:extLst>
          </p:cNvPr>
          <p:cNvCxnSpPr>
            <a:cxnSpLocks/>
          </p:cNvCxnSpPr>
          <p:nvPr/>
        </p:nvCxnSpPr>
        <p:spPr>
          <a:xfrm flipV="1">
            <a:off x="4403557" y="42643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FEF885-3DB2-6209-4C61-0AADB9F109F4}"/>
              </a:ext>
            </a:extLst>
          </p:cNvPr>
          <p:cNvCxnSpPr>
            <a:cxnSpLocks/>
          </p:cNvCxnSpPr>
          <p:nvPr/>
        </p:nvCxnSpPr>
        <p:spPr>
          <a:xfrm>
            <a:off x="4403557" y="20673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A9895C0-7A82-38E6-480C-CBDAA45265C2}"/>
                  </a:ext>
                </a:extLst>
              </p:cNvPr>
              <p:cNvSpPr txBox="1"/>
              <p:nvPr/>
            </p:nvSpPr>
            <p:spPr>
              <a:xfrm>
                <a:off x="4387680" y="430741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0A9895C0-7A82-38E6-480C-CBDAA45265C2}"/>
                  </a:ext>
                </a:extLst>
              </p:cNvPr>
              <p:cNvSpPr txBox="1">
                <a:spLocks noRot="1" noChangeAspect="1" noMove="1" noResize="1" noEditPoints="1" noAdjustHandles="1" noChangeArrowheads="1" noChangeShapeType="1" noTextEdit="1"/>
              </p:cNvSpPr>
              <p:nvPr/>
            </p:nvSpPr>
            <p:spPr>
              <a:xfrm>
                <a:off x="4387680" y="4307415"/>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C7A02FE-5578-0DF1-8A62-621191E4B153}"/>
                  </a:ext>
                </a:extLst>
              </p:cNvPr>
              <p:cNvSpPr txBox="1"/>
              <p:nvPr/>
            </p:nvSpPr>
            <p:spPr>
              <a:xfrm>
                <a:off x="4387681" y="19703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8C7A02FE-5578-0DF1-8A62-621191E4B153}"/>
                  </a:ext>
                </a:extLst>
              </p:cNvPr>
              <p:cNvSpPr txBox="1">
                <a:spLocks noRot="1" noChangeAspect="1" noMove="1" noResize="1" noEditPoints="1" noAdjustHandles="1" noChangeArrowheads="1" noChangeShapeType="1" noTextEdit="1"/>
              </p:cNvSpPr>
              <p:nvPr/>
            </p:nvSpPr>
            <p:spPr>
              <a:xfrm>
                <a:off x="4387681" y="19703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7E2D278D-4F7A-1D29-DC2C-836DCB81BEED}"/>
              </a:ext>
            </a:extLst>
          </p:cNvPr>
          <p:cNvCxnSpPr>
            <a:cxnSpLocks/>
          </p:cNvCxnSpPr>
          <p:nvPr/>
        </p:nvCxnSpPr>
        <p:spPr>
          <a:xfrm flipH="1">
            <a:off x="5947287" y="36609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D6E43D8-9F7B-1D6C-5ADF-C312643BCB0F}"/>
                  </a:ext>
                </a:extLst>
              </p:cNvPr>
              <p:cNvSpPr txBox="1"/>
              <p:nvPr/>
            </p:nvSpPr>
            <p:spPr>
              <a:xfrm>
                <a:off x="5839943" y="36609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8D6E43D8-9F7B-1D6C-5ADF-C312643BCB0F}"/>
                  </a:ext>
                </a:extLst>
              </p:cNvPr>
              <p:cNvSpPr txBox="1">
                <a:spLocks noRot="1" noChangeAspect="1" noMove="1" noResize="1" noEditPoints="1" noAdjustHandles="1" noChangeArrowheads="1" noChangeShapeType="1" noTextEdit="1"/>
              </p:cNvSpPr>
              <p:nvPr/>
            </p:nvSpPr>
            <p:spPr>
              <a:xfrm>
                <a:off x="5839943" y="3660908"/>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1848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B4510-76AA-05B0-1195-6D0CE74B7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C475E-02F2-D70C-841A-C1C3B62A4AB8}"/>
              </a:ext>
            </a:extLst>
          </p:cNvPr>
          <p:cNvSpPr>
            <a:spLocks noGrp="1"/>
          </p:cNvSpPr>
          <p:nvPr>
            <p:ph type="title"/>
          </p:nvPr>
        </p:nvSpPr>
        <p:spPr/>
        <p:txBody>
          <a:bodyPr>
            <a:normAutofit fontScale="90000"/>
          </a:bodyPr>
          <a:lstStyle/>
          <a:p>
            <a:r>
              <a:rPr lang="en-US" dirty="0"/>
              <a:t>Recall: computing output layer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C07BAA4-2559-6493-BB02-1A75DEB29753}"/>
                  </a:ext>
                </a:extLst>
              </p:cNvPr>
              <p:cNvSpPr>
                <a:spLocks noGrp="1"/>
              </p:cNvSpPr>
              <p:nvPr>
                <p:ph type="body" idx="1"/>
              </p:nvPr>
            </p:nvSpPr>
            <p:spPr/>
            <p:txBody>
              <a:bodyPr/>
              <a:lstStyle/>
              <a:p>
                <a:pPr marL="114300" indent="0">
                  <a:buNone/>
                </a:pP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r>
                  <a:rPr lang="en-US" b="0" dirty="0"/>
                  <a:t> </a:t>
                </a:r>
              </a:p>
              <a:p>
                <a:pPr marL="114300" indent="0">
                  <a:buNone/>
                </a:pPr>
                <a:r>
                  <a:rPr lang="en-US" b="0" dirty="0"/>
                  <a:t> </a:t>
                </a:r>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C07BAA4-2559-6493-BB02-1A75DEB2975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F81DC88-5336-BFAA-E146-56482A9CB27A}"/>
              </a:ext>
            </a:extLst>
          </p:cNvPr>
          <p:cNvPicPr>
            <a:picLocks noChangeAspect="1"/>
          </p:cNvPicPr>
          <p:nvPr/>
        </p:nvPicPr>
        <p:blipFill>
          <a:blip r:embed="rId3"/>
          <a:stretch>
            <a:fillRect/>
          </a:stretch>
        </p:blipFill>
        <p:spPr>
          <a:xfrm>
            <a:off x="2705719" y="21552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E9285DB-2581-EB65-E363-1DB49EECF6D7}"/>
                  </a:ext>
                </a:extLst>
              </p:cNvPr>
              <p:cNvSpPr txBox="1"/>
              <p:nvPr/>
            </p:nvSpPr>
            <p:spPr>
              <a:xfrm>
                <a:off x="3850104" y="23261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2E9285DB-2581-EB65-E363-1DB49EECF6D7}"/>
                  </a:ext>
                </a:extLst>
              </p:cNvPr>
              <p:cNvSpPr txBox="1">
                <a:spLocks noRot="1" noChangeAspect="1" noMove="1" noResize="1" noEditPoints="1" noAdjustHandles="1" noChangeArrowheads="1" noChangeShapeType="1" noTextEdit="1"/>
              </p:cNvSpPr>
              <p:nvPr/>
            </p:nvSpPr>
            <p:spPr>
              <a:xfrm>
                <a:off x="3850104" y="23261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1C75DC9-1225-B64A-9414-1339CE517D54}"/>
                  </a:ext>
                </a:extLst>
              </p:cNvPr>
              <p:cNvSpPr txBox="1"/>
              <p:nvPr/>
            </p:nvSpPr>
            <p:spPr>
              <a:xfrm>
                <a:off x="3597764" y="28357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21C75DC9-1225-B64A-9414-1339CE517D54}"/>
                  </a:ext>
                </a:extLst>
              </p:cNvPr>
              <p:cNvSpPr txBox="1">
                <a:spLocks noRot="1" noChangeAspect="1" noMove="1" noResize="1" noEditPoints="1" noAdjustHandles="1" noChangeArrowheads="1" noChangeShapeType="1" noTextEdit="1"/>
              </p:cNvSpPr>
              <p:nvPr/>
            </p:nvSpPr>
            <p:spPr>
              <a:xfrm>
                <a:off x="3597764" y="28357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83D568-EAE4-200B-698C-B75F29E80889}"/>
                  </a:ext>
                </a:extLst>
              </p:cNvPr>
              <p:cNvSpPr txBox="1"/>
              <p:nvPr/>
            </p:nvSpPr>
            <p:spPr>
              <a:xfrm>
                <a:off x="3421210" y="32925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5783D568-EAE4-200B-698C-B75F29E80889}"/>
                  </a:ext>
                </a:extLst>
              </p:cNvPr>
              <p:cNvSpPr txBox="1">
                <a:spLocks noRot="1" noChangeAspect="1" noMove="1" noResize="1" noEditPoints="1" noAdjustHandles="1" noChangeArrowheads="1" noChangeShapeType="1" noTextEdit="1"/>
              </p:cNvSpPr>
              <p:nvPr/>
            </p:nvSpPr>
            <p:spPr>
              <a:xfrm>
                <a:off x="3421210" y="32925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2BE61D-6B6D-ECBC-1D50-B23C5BC1DB9F}"/>
                  </a:ext>
                </a:extLst>
              </p:cNvPr>
              <p:cNvSpPr txBox="1"/>
              <p:nvPr/>
            </p:nvSpPr>
            <p:spPr>
              <a:xfrm>
                <a:off x="3648445" y="37196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1A2BE61D-6B6D-ECBC-1D50-B23C5BC1DB9F}"/>
                  </a:ext>
                </a:extLst>
              </p:cNvPr>
              <p:cNvSpPr txBox="1">
                <a:spLocks noRot="1" noChangeAspect="1" noMove="1" noResize="1" noEditPoints="1" noAdjustHandles="1" noChangeArrowheads="1" noChangeShapeType="1" noTextEdit="1"/>
              </p:cNvSpPr>
              <p:nvPr/>
            </p:nvSpPr>
            <p:spPr>
              <a:xfrm>
                <a:off x="3648445" y="37196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272A21-2D8E-7113-2C79-34BFB9348569}"/>
                  </a:ext>
                </a:extLst>
              </p:cNvPr>
              <p:cNvSpPr txBox="1"/>
              <p:nvPr/>
            </p:nvSpPr>
            <p:spPr>
              <a:xfrm>
                <a:off x="5323840" y="25717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EA272A21-2D8E-7113-2C79-34BFB9348569}"/>
                  </a:ext>
                </a:extLst>
              </p:cNvPr>
              <p:cNvSpPr txBox="1">
                <a:spLocks noRot="1" noChangeAspect="1" noMove="1" noResize="1" noEditPoints="1" noAdjustHandles="1" noChangeArrowheads="1" noChangeShapeType="1" noTextEdit="1"/>
              </p:cNvSpPr>
              <p:nvPr/>
            </p:nvSpPr>
            <p:spPr>
              <a:xfrm>
                <a:off x="5323840" y="25717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EDB267-825C-945D-F88F-001DA77AC2A6}"/>
                  </a:ext>
                </a:extLst>
              </p:cNvPr>
              <p:cNvSpPr txBox="1"/>
              <p:nvPr/>
            </p:nvSpPr>
            <p:spPr>
              <a:xfrm>
                <a:off x="5144624" y="34164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2AEDB267-825C-945D-F88F-001DA77AC2A6}"/>
                  </a:ext>
                </a:extLst>
              </p:cNvPr>
              <p:cNvSpPr txBox="1">
                <a:spLocks noRot="1" noChangeAspect="1" noMove="1" noResize="1" noEditPoints="1" noAdjustHandles="1" noChangeArrowheads="1" noChangeShapeType="1" noTextEdit="1"/>
              </p:cNvSpPr>
              <p:nvPr/>
            </p:nvSpPr>
            <p:spPr>
              <a:xfrm>
                <a:off x="5144624" y="34164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033EA20E-0737-C127-FD81-16D472DDE348}"/>
              </a:ext>
            </a:extLst>
          </p:cNvPr>
          <p:cNvCxnSpPr>
            <a:cxnSpLocks/>
          </p:cNvCxnSpPr>
          <p:nvPr/>
        </p:nvCxnSpPr>
        <p:spPr>
          <a:xfrm flipV="1">
            <a:off x="4403557" y="42643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CFA762F-5809-4825-7821-A9D6E69B2DA6}"/>
              </a:ext>
            </a:extLst>
          </p:cNvPr>
          <p:cNvCxnSpPr>
            <a:cxnSpLocks/>
          </p:cNvCxnSpPr>
          <p:nvPr/>
        </p:nvCxnSpPr>
        <p:spPr>
          <a:xfrm>
            <a:off x="4403557" y="20673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B457F3E-E356-612A-6178-BA578C089BD0}"/>
                  </a:ext>
                </a:extLst>
              </p:cNvPr>
              <p:cNvSpPr txBox="1"/>
              <p:nvPr/>
            </p:nvSpPr>
            <p:spPr>
              <a:xfrm>
                <a:off x="4387680" y="430741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AB457F3E-E356-612A-6178-BA578C089BD0}"/>
                  </a:ext>
                </a:extLst>
              </p:cNvPr>
              <p:cNvSpPr txBox="1">
                <a:spLocks noRot="1" noChangeAspect="1" noMove="1" noResize="1" noEditPoints="1" noAdjustHandles="1" noChangeArrowheads="1" noChangeShapeType="1" noTextEdit="1"/>
              </p:cNvSpPr>
              <p:nvPr/>
            </p:nvSpPr>
            <p:spPr>
              <a:xfrm>
                <a:off x="4387680" y="4307415"/>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9121C3-F615-A5B5-FAE1-18313E9657D1}"/>
                  </a:ext>
                </a:extLst>
              </p:cNvPr>
              <p:cNvSpPr txBox="1"/>
              <p:nvPr/>
            </p:nvSpPr>
            <p:spPr>
              <a:xfrm>
                <a:off x="4387681" y="19703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299121C3-F615-A5B5-FAE1-18313E9657D1}"/>
                  </a:ext>
                </a:extLst>
              </p:cNvPr>
              <p:cNvSpPr txBox="1">
                <a:spLocks noRot="1" noChangeAspect="1" noMove="1" noResize="1" noEditPoints="1" noAdjustHandles="1" noChangeArrowheads="1" noChangeShapeType="1" noTextEdit="1"/>
              </p:cNvSpPr>
              <p:nvPr/>
            </p:nvSpPr>
            <p:spPr>
              <a:xfrm>
                <a:off x="4387681" y="19703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12DD1A8C-9494-0C6B-074B-52F78F164F4E}"/>
              </a:ext>
            </a:extLst>
          </p:cNvPr>
          <p:cNvCxnSpPr>
            <a:cxnSpLocks/>
          </p:cNvCxnSpPr>
          <p:nvPr/>
        </p:nvCxnSpPr>
        <p:spPr>
          <a:xfrm flipH="1">
            <a:off x="5947287" y="36609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419EC6-80B8-81C5-5C56-ED55F5701234}"/>
                  </a:ext>
                </a:extLst>
              </p:cNvPr>
              <p:cNvSpPr txBox="1"/>
              <p:nvPr/>
            </p:nvSpPr>
            <p:spPr>
              <a:xfrm>
                <a:off x="5839943" y="36609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26419EC6-80B8-81C5-5C56-ED55F5701234}"/>
                  </a:ext>
                </a:extLst>
              </p:cNvPr>
              <p:cNvSpPr txBox="1">
                <a:spLocks noRot="1" noChangeAspect="1" noMove="1" noResize="1" noEditPoints="1" noAdjustHandles="1" noChangeArrowheads="1" noChangeShapeType="1" noTextEdit="1"/>
              </p:cNvSpPr>
              <p:nvPr/>
            </p:nvSpPr>
            <p:spPr>
              <a:xfrm>
                <a:off x="5839943" y="3660908"/>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372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C68D3F-25A1-A8D7-5E9D-8862E8AD1EC5}"/>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28E90E2-0FD5-9966-72D9-F2D8B211155E}"/>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Consider a binary classification task requiring 2 input neurons, 4 total hidden neurons, and 1 output neuron. There will be fewer total parameters (i.e. weights and biases) if all the hidden neurons are placed into one hidden layer as opposed to two hidden layers</a:t>
            </a:r>
          </a:p>
        </p:txBody>
      </p:sp>
      <p:sp>
        <p:nvSpPr>
          <p:cNvPr id="4" name="Rectangle 3">
            <a:extLst>
              <a:ext uri="{FF2B5EF4-FFF2-40B4-BE49-F238E27FC236}">
                <a16:creationId xmlns:a16="http://schemas.microsoft.com/office/drawing/2014/main" id="{C61A29DC-8BA1-B12D-8CE2-B61F3935E0D9}"/>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81B193C8-1BB1-C20C-A256-CE95C8AC000E}"/>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CF03EA6F-E67D-DC37-74F3-447251E49EB8}"/>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2CD452F0-F9AF-1D09-7553-381D5A2BAA97}"/>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338364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E0AA-1A51-9E78-EB00-9A55B578F0AA}"/>
              </a:ext>
            </a:extLst>
          </p:cNvPr>
          <p:cNvSpPr>
            <a:spLocks noGrp="1"/>
          </p:cNvSpPr>
          <p:nvPr>
            <p:ph type="title"/>
          </p:nvPr>
        </p:nvSpPr>
        <p:spPr/>
        <p:txBody>
          <a:bodyPr>
            <a:normAutofit fontScale="90000"/>
          </a:bodyPr>
          <a:lstStyle/>
          <a:p>
            <a:r>
              <a:rPr lang="en-US" dirty="0"/>
              <a:t>Solution</a:t>
            </a:r>
          </a:p>
        </p:txBody>
      </p:sp>
      <p:sp>
        <p:nvSpPr>
          <p:cNvPr id="3" name="Text Placeholder 2">
            <a:extLst>
              <a:ext uri="{FF2B5EF4-FFF2-40B4-BE49-F238E27FC236}">
                <a16:creationId xmlns:a16="http://schemas.microsoft.com/office/drawing/2014/main" id="{DA6EC0AE-2E35-2F0B-B24E-10EB11B2E467}"/>
              </a:ext>
            </a:extLst>
          </p:cNvPr>
          <p:cNvSpPr>
            <a:spLocks noGrp="1"/>
          </p:cNvSpPr>
          <p:nvPr>
            <p:ph type="body" idx="1"/>
          </p:nvPr>
        </p:nvSpPr>
        <p:spPr>
          <a:xfrm>
            <a:off x="311700" y="1335072"/>
            <a:ext cx="2961958" cy="3302700"/>
          </a:xfrm>
        </p:spPr>
        <p:txBody>
          <a:bodyPr/>
          <a:lstStyle/>
          <a:p>
            <a:pPr marL="114300" indent="0">
              <a:buNone/>
            </a:pPr>
            <a:r>
              <a:rPr lang="en-US" dirty="0"/>
              <a:t>Option 1: 1 hidden layer</a:t>
            </a:r>
          </a:p>
          <a:p>
            <a:r>
              <a:rPr lang="en-US" dirty="0"/>
              <a:t>Each black line is a weight</a:t>
            </a:r>
          </a:p>
          <a:p>
            <a:r>
              <a:rPr lang="en-US" dirty="0"/>
              <a:t>Each orange line is a bias</a:t>
            </a:r>
          </a:p>
        </p:txBody>
      </p:sp>
      <p:sp>
        <p:nvSpPr>
          <p:cNvPr id="4" name="Oval 3">
            <a:extLst>
              <a:ext uri="{FF2B5EF4-FFF2-40B4-BE49-F238E27FC236}">
                <a16:creationId xmlns:a16="http://schemas.microsoft.com/office/drawing/2014/main" id="{328890CB-341E-339A-6495-D662CB1C9F03}"/>
              </a:ext>
            </a:extLst>
          </p:cNvPr>
          <p:cNvSpPr/>
          <p:nvPr/>
        </p:nvSpPr>
        <p:spPr>
          <a:xfrm>
            <a:off x="3364372" y="2193420"/>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47C15AC-D21A-09AF-67F8-6B9953857500}"/>
              </a:ext>
            </a:extLst>
          </p:cNvPr>
          <p:cNvSpPr/>
          <p:nvPr/>
        </p:nvSpPr>
        <p:spPr>
          <a:xfrm>
            <a:off x="5365236" y="953801"/>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1A5DA59-75AB-3608-33FF-0C81F6B86A28}"/>
              </a:ext>
            </a:extLst>
          </p:cNvPr>
          <p:cNvSpPr/>
          <p:nvPr/>
        </p:nvSpPr>
        <p:spPr>
          <a:xfrm>
            <a:off x="5365236" y="2019454"/>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F491669-66D8-95E9-BA8C-A670CC90FE7C}"/>
              </a:ext>
            </a:extLst>
          </p:cNvPr>
          <p:cNvSpPr/>
          <p:nvPr/>
        </p:nvSpPr>
        <p:spPr>
          <a:xfrm>
            <a:off x="5365236" y="3070233"/>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CA5E6E6-47B9-8F0D-56A3-0040572F2CB0}"/>
              </a:ext>
            </a:extLst>
          </p:cNvPr>
          <p:cNvSpPr/>
          <p:nvPr/>
        </p:nvSpPr>
        <p:spPr>
          <a:xfrm>
            <a:off x="5365236" y="4145718"/>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C8F7229-0D84-4449-741D-116BE8511EDF}"/>
              </a:ext>
            </a:extLst>
          </p:cNvPr>
          <p:cNvSpPr/>
          <p:nvPr/>
        </p:nvSpPr>
        <p:spPr>
          <a:xfrm>
            <a:off x="7478180" y="2638425"/>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E1C6439-FBB6-691E-D9F5-1EC23A4C07F8}"/>
              </a:ext>
            </a:extLst>
          </p:cNvPr>
          <p:cNvCxnSpPr>
            <a:cxnSpLocks/>
            <a:stCxn id="4" idx="7"/>
            <a:endCxn id="6" idx="2"/>
          </p:cNvCxnSpPr>
          <p:nvPr/>
        </p:nvCxnSpPr>
        <p:spPr>
          <a:xfrm flipV="1">
            <a:off x="3893090" y="1263517"/>
            <a:ext cx="1472146" cy="1020617"/>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F2DC02-B79F-29E5-8640-3F6A9009E702}"/>
              </a:ext>
            </a:extLst>
          </p:cNvPr>
          <p:cNvCxnSpPr>
            <a:cxnSpLocks/>
            <a:stCxn id="4" idx="6"/>
            <a:endCxn id="7" idx="2"/>
          </p:cNvCxnSpPr>
          <p:nvPr/>
        </p:nvCxnSpPr>
        <p:spPr>
          <a:xfrm flipV="1">
            <a:off x="3983804" y="2329170"/>
            <a:ext cx="1381432" cy="173966"/>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F36102B-3444-FFB8-93BC-AD8BA9B9B240}"/>
              </a:ext>
            </a:extLst>
          </p:cNvPr>
          <p:cNvCxnSpPr>
            <a:cxnSpLocks/>
            <a:endCxn id="8" idx="1"/>
          </p:cNvCxnSpPr>
          <p:nvPr/>
        </p:nvCxnSpPr>
        <p:spPr>
          <a:xfrm>
            <a:off x="3871724" y="2752034"/>
            <a:ext cx="1584226" cy="408913"/>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A7300E-15BC-BD69-EC13-BA119719ADF6}"/>
              </a:ext>
            </a:extLst>
          </p:cNvPr>
          <p:cNvCxnSpPr>
            <a:cxnSpLocks/>
            <a:stCxn id="4" idx="4"/>
          </p:cNvCxnSpPr>
          <p:nvPr/>
        </p:nvCxnSpPr>
        <p:spPr>
          <a:xfrm>
            <a:off x="3674088" y="2812852"/>
            <a:ext cx="1803228" cy="1383100"/>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CB6AB2A-7F51-2784-A6B9-356AFE95B3AD}"/>
              </a:ext>
            </a:extLst>
          </p:cNvPr>
          <p:cNvSpPr/>
          <p:nvPr/>
        </p:nvSpPr>
        <p:spPr>
          <a:xfrm>
            <a:off x="3364372" y="3771369"/>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2CAEC14F-75EE-5A99-DF4E-A6BABAB0AA27}"/>
              </a:ext>
            </a:extLst>
          </p:cNvPr>
          <p:cNvCxnSpPr>
            <a:cxnSpLocks/>
            <a:stCxn id="21" idx="7"/>
            <a:endCxn id="6" idx="3"/>
          </p:cNvCxnSpPr>
          <p:nvPr/>
        </p:nvCxnSpPr>
        <p:spPr>
          <a:xfrm flipV="1">
            <a:off x="3893090" y="1482519"/>
            <a:ext cx="1562860" cy="2379564"/>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7EDB37-3B85-6675-76DC-8094C129FD40}"/>
              </a:ext>
            </a:extLst>
          </p:cNvPr>
          <p:cNvCxnSpPr>
            <a:cxnSpLocks/>
            <a:stCxn id="21" idx="6"/>
            <a:endCxn id="7" idx="3"/>
          </p:cNvCxnSpPr>
          <p:nvPr/>
        </p:nvCxnSpPr>
        <p:spPr>
          <a:xfrm flipV="1">
            <a:off x="3983804" y="2548172"/>
            <a:ext cx="1472146" cy="1532913"/>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F699DC5-2470-7E8D-FD50-046A2BF66642}"/>
              </a:ext>
            </a:extLst>
          </p:cNvPr>
          <p:cNvCxnSpPr>
            <a:cxnSpLocks/>
            <a:endCxn id="8" idx="2"/>
          </p:cNvCxnSpPr>
          <p:nvPr/>
        </p:nvCxnSpPr>
        <p:spPr>
          <a:xfrm flipV="1">
            <a:off x="3871724" y="3379949"/>
            <a:ext cx="1493512" cy="950034"/>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9F9D49-4C32-1C9A-1F21-DB7DE36EEF6D}"/>
              </a:ext>
            </a:extLst>
          </p:cNvPr>
          <p:cNvCxnSpPr>
            <a:cxnSpLocks/>
            <a:stCxn id="21" idx="4"/>
            <a:endCxn id="9" idx="2"/>
          </p:cNvCxnSpPr>
          <p:nvPr/>
        </p:nvCxnSpPr>
        <p:spPr>
          <a:xfrm>
            <a:off x="3674088" y="4390801"/>
            <a:ext cx="1691148" cy="64633"/>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0987C4-4CA3-C2B7-8612-212D4425D5A3}"/>
              </a:ext>
            </a:extLst>
          </p:cNvPr>
          <p:cNvCxnSpPr>
            <a:cxnSpLocks/>
            <a:stCxn id="6" idx="6"/>
          </p:cNvCxnSpPr>
          <p:nvPr/>
        </p:nvCxnSpPr>
        <p:spPr>
          <a:xfrm>
            <a:off x="5984668" y="1263517"/>
            <a:ext cx="1584226" cy="1439270"/>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712B48E-4F1E-C84E-E802-C1EA895C85B9}"/>
              </a:ext>
            </a:extLst>
          </p:cNvPr>
          <p:cNvCxnSpPr>
            <a:cxnSpLocks/>
            <a:stCxn id="7" idx="6"/>
            <a:endCxn id="10" idx="2"/>
          </p:cNvCxnSpPr>
          <p:nvPr/>
        </p:nvCxnSpPr>
        <p:spPr>
          <a:xfrm>
            <a:off x="5984668" y="2329170"/>
            <a:ext cx="1493512" cy="618971"/>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F9AA1BB-10C5-0BD7-A581-91620E63BA0E}"/>
              </a:ext>
            </a:extLst>
          </p:cNvPr>
          <p:cNvCxnSpPr>
            <a:cxnSpLocks/>
            <a:endCxn id="10" idx="3"/>
          </p:cNvCxnSpPr>
          <p:nvPr/>
        </p:nvCxnSpPr>
        <p:spPr>
          <a:xfrm flipV="1">
            <a:off x="5999912" y="3167143"/>
            <a:ext cx="1568982" cy="237281"/>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5ECFEAC-443C-9201-6FFC-A16477E399A6}"/>
              </a:ext>
            </a:extLst>
          </p:cNvPr>
          <p:cNvCxnSpPr>
            <a:cxnSpLocks/>
            <a:endCxn id="10" idx="4"/>
          </p:cNvCxnSpPr>
          <p:nvPr/>
        </p:nvCxnSpPr>
        <p:spPr>
          <a:xfrm flipV="1">
            <a:off x="5999912" y="3257857"/>
            <a:ext cx="1787984" cy="1197807"/>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E5E6C1C-3E21-E103-66A0-0BE434BD44EC}"/>
              </a:ext>
            </a:extLst>
          </p:cNvPr>
          <p:cNvCxnSpPr>
            <a:endCxn id="6" idx="0"/>
          </p:cNvCxnSpPr>
          <p:nvPr/>
        </p:nvCxnSpPr>
        <p:spPr>
          <a:xfrm flipH="1">
            <a:off x="5674952" y="542925"/>
            <a:ext cx="506773" cy="410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80D4C7F-19D0-6C8B-8F91-3578E6D80FFA}"/>
              </a:ext>
            </a:extLst>
          </p:cNvPr>
          <p:cNvCxnSpPr>
            <a:cxnSpLocks/>
          </p:cNvCxnSpPr>
          <p:nvPr/>
        </p:nvCxnSpPr>
        <p:spPr>
          <a:xfrm flipH="1">
            <a:off x="5893954" y="1684325"/>
            <a:ext cx="181428" cy="403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DEC6363-2450-60DB-F384-FF64FC3106B1}"/>
              </a:ext>
            </a:extLst>
          </p:cNvPr>
          <p:cNvCxnSpPr>
            <a:cxnSpLocks/>
          </p:cNvCxnSpPr>
          <p:nvPr/>
        </p:nvCxnSpPr>
        <p:spPr>
          <a:xfrm flipH="1">
            <a:off x="5893954" y="2740221"/>
            <a:ext cx="181428" cy="403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192E09-9F50-C4E6-8170-C544212659D1}"/>
              </a:ext>
            </a:extLst>
          </p:cNvPr>
          <p:cNvCxnSpPr>
            <a:cxnSpLocks/>
          </p:cNvCxnSpPr>
          <p:nvPr/>
        </p:nvCxnSpPr>
        <p:spPr>
          <a:xfrm flipH="1">
            <a:off x="5893954" y="3786069"/>
            <a:ext cx="181428" cy="403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FF0530C-61B0-B09E-8D49-7F0533385FAD}"/>
              </a:ext>
            </a:extLst>
          </p:cNvPr>
          <p:cNvCxnSpPr>
            <a:cxnSpLocks/>
          </p:cNvCxnSpPr>
          <p:nvPr/>
        </p:nvCxnSpPr>
        <p:spPr>
          <a:xfrm flipH="1">
            <a:off x="7864574" y="2263531"/>
            <a:ext cx="181428" cy="40363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03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BEA3F-5F96-054D-34CD-00130160A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07936-7E88-F5DB-A675-2F8C6D46D9C5}"/>
              </a:ext>
            </a:extLst>
          </p:cNvPr>
          <p:cNvSpPr>
            <a:spLocks noGrp="1"/>
          </p:cNvSpPr>
          <p:nvPr>
            <p:ph type="title"/>
          </p:nvPr>
        </p:nvSpPr>
        <p:spPr/>
        <p:txBody>
          <a:bodyPr>
            <a:normAutofit fontScale="90000"/>
          </a:bodyPr>
          <a:lstStyle/>
          <a:p>
            <a:r>
              <a:rPr lang="en-US" dirty="0"/>
              <a:t>Solution</a:t>
            </a:r>
          </a:p>
        </p:txBody>
      </p:sp>
      <p:sp>
        <p:nvSpPr>
          <p:cNvPr id="3" name="Text Placeholder 2">
            <a:extLst>
              <a:ext uri="{FF2B5EF4-FFF2-40B4-BE49-F238E27FC236}">
                <a16:creationId xmlns:a16="http://schemas.microsoft.com/office/drawing/2014/main" id="{C6A717DE-C1A2-B5AB-BC69-373C4B76BA68}"/>
              </a:ext>
            </a:extLst>
          </p:cNvPr>
          <p:cNvSpPr>
            <a:spLocks noGrp="1"/>
          </p:cNvSpPr>
          <p:nvPr>
            <p:ph type="body" idx="1"/>
          </p:nvPr>
        </p:nvSpPr>
        <p:spPr>
          <a:xfrm>
            <a:off x="311700" y="1335072"/>
            <a:ext cx="3143386" cy="3302700"/>
          </a:xfrm>
        </p:spPr>
        <p:txBody>
          <a:bodyPr/>
          <a:lstStyle/>
          <a:p>
            <a:pPr marL="114300" indent="0">
              <a:buNone/>
            </a:pPr>
            <a:r>
              <a:rPr lang="en-US" dirty="0"/>
              <a:t>Option 2: 2 hidden layers</a:t>
            </a:r>
          </a:p>
        </p:txBody>
      </p:sp>
      <p:sp>
        <p:nvSpPr>
          <p:cNvPr id="4" name="Oval 3">
            <a:extLst>
              <a:ext uri="{FF2B5EF4-FFF2-40B4-BE49-F238E27FC236}">
                <a16:creationId xmlns:a16="http://schemas.microsoft.com/office/drawing/2014/main" id="{4BFC496A-9B52-55D1-A4EE-C56F62AA39F4}"/>
              </a:ext>
            </a:extLst>
          </p:cNvPr>
          <p:cNvSpPr/>
          <p:nvPr/>
        </p:nvSpPr>
        <p:spPr>
          <a:xfrm>
            <a:off x="3364372" y="2193420"/>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F4E5D01-B8BA-6622-34BD-14849EE64E1B}"/>
              </a:ext>
            </a:extLst>
          </p:cNvPr>
          <p:cNvSpPr/>
          <p:nvPr/>
        </p:nvSpPr>
        <p:spPr>
          <a:xfrm>
            <a:off x="4727982" y="2193420"/>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648B753-AB3B-143E-1A76-68831048BB72}"/>
              </a:ext>
            </a:extLst>
          </p:cNvPr>
          <p:cNvSpPr/>
          <p:nvPr/>
        </p:nvSpPr>
        <p:spPr>
          <a:xfrm>
            <a:off x="4800933" y="3767231"/>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5E85B50-5428-F9ED-3941-7FE823724807}"/>
              </a:ext>
            </a:extLst>
          </p:cNvPr>
          <p:cNvSpPr/>
          <p:nvPr/>
        </p:nvSpPr>
        <p:spPr>
          <a:xfrm>
            <a:off x="6235260" y="2193420"/>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1340009-E905-51C1-326A-D207F5F248FB}"/>
              </a:ext>
            </a:extLst>
          </p:cNvPr>
          <p:cNvSpPr/>
          <p:nvPr/>
        </p:nvSpPr>
        <p:spPr>
          <a:xfrm>
            <a:off x="6198461" y="3767231"/>
            <a:ext cx="619432" cy="619432"/>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8825E20-644F-E921-308E-6EED744401AF}"/>
              </a:ext>
            </a:extLst>
          </p:cNvPr>
          <p:cNvSpPr/>
          <p:nvPr/>
        </p:nvSpPr>
        <p:spPr>
          <a:xfrm>
            <a:off x="7478180" y="2638425"/>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D581B5B-169E-2FF2-4F0A-9130C1E5F3E3}"/>
              </a:ext>
            </a:extLst>
          </p:cNvPr>
          <p:cNvSpPr/>
          <p:nvPr/>
        </p:nvSpPr>
        <p:spPr>
          <a:xfrm>
            <a:off x="3364372" y="3771369"/>
            <a:ext cx="619432" cy="619432"/>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3E9018DB-40E5-1CF6-E9CD-04A96269F348}"/>
              </a:ext>
            </a:extLst>
          </p:cNvPr>
          <p:cNvCxnSpPr>
            <a:cxnSpLocks/>
            <a:endCxn id="6" idx="7"/>
          </p:cNvCxnSpPr>
          <p:nvPr/>
        </p:nvCxnSpPr>
        <p:spPr>
          <a:xfrm flipH="1">
            <a:off x="5256700" y="1948108"/>
            <a:ext cx="392546" cy="336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F8EB0B-BD61-EFBA-E0B8-88D687959B73}"/>
              </a:ext>
            </a:extLst>
          </p:cNvPr>
          <p:cNvCxnSpPr>
            <a:cxnSpLocks/>
          </p:cNvCxnSpPr>
          <p:nvPr/>
        </p:nvCxnSpPr>
        <p:spPr>
          <a:xfrm flipH="1">
            <a:off x="5238993" y="3361600"/>
            <a:ext cx="249458" cy="4490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069F616-5942-A9EE-CBC8-37F53F71C349}"/>
              </a:ext>
            </a:extLst>
          </p:cNvPr>
          <p:cNvCxnSpPr>
            <a:cxnSpLocks/>
            <a:endCxn id="8" idx="7"/>
          </p:cNvCxnSpPr>
          <p:nvPr/>
        </p:nvCxnSpPr>
        <p:spPr>
          <a:xfrm flipH="1">
            <a:off x="6763978" y="1977654"/>
            <a:ext cx="418253" cy="306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4A44E5F-5605-DA92-8E51-4F0D5CB0C4A8}"/>
              </a:ext>
            </a:extLst>
          </p:cNvPr>
          <p:cNvCxnSpPr>
            <a:cxnSpLocks/>
            <a:endCxn id="9" idx="7"/>
          </p:cNvCxnSpPr>
          <p:nvPr/>
        </p:nvCxnSpPr>
        <p:spPr>
          <a:xfrm flipH="1">
            <a:off x="6727179" y="3298249"/>
            <a:ext cx="226785" cy="559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DC74FB3-4956-9C1E-4D13-9A117759951F}"/>
              </a:ext>
            </a:extLst>
          </p:cNvPr>
          <p:cNvCxnSpPr>
            <a:cxnSpLocks/>
            <a:endCxn id="10" idx="7"/>
          </p:cNvCxnSpPr>
          <p:nvPr/>
        </p:nvCxnSpPr>
        <p:spPr>
          <a:xfrm flipH="1">
            <a:off x="8006898" y="2284134"/>
            <a:ext cx="356052" cy="445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B72929A-C5E3-38C5-A02E-3F9C27AC8BBD}"/>
              </a:ext>
            </a:extLst>
          </p:cNvPr>
          <p:cNvCxnSpPr>
            <a:stCxn id="4" idx="6"/>
            <a:endCxn id="6" idx="2"/>
          </p:cNvCxnSpPr>
          <p:nvPr/>
        </p:nvCxnSpPr>
        <p:spPr>
          <a:xfrm>
            <a:off x="3983804" y="2503136"/>
            <a:ext cx="744178" cy="0"/>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1750445-E776-2F2D-05CC-A26D41757ED9}"/>
              </a:ext>
            </a:extLst>
          </p:cNvPr>
          <p:cNvCxnSpPr>
            <a:cxnSpLocks/>
            <a:stCxn id="4" idx="5"/>
            <a:endCxn id="7" idx="1"/>
          </p:cNvCxnSpPr>
          <p:nvPr/>
        </p:nvCxnSpPr>
        <p:spPr>
          <a:xfrm>
            <a:off x="3893090" y="2722138"/>
            <a:ext cx="998557" cy="1135807"/>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3AE0F9-543D-CA66-C444-534832B722EA}"/>
              </a:ext>
            </a:extLst>
          </p:cNvPr>
          <p:cNvCxnSpPr>
            <a:cxnSpLocks/>
            <a:stCxn id="6" idx="3"/>
            <a:endCxn id="21" idx="7"/>
          </p:cNvCxnSpPr>
          <p:nvPr/>
        </p:nvCxnSpPr>
        <p:spPr>
          <a:xfrm flipH="1">
            <a:off x="3893090" y="2722138"/>
            <a:ext cx="925606" cy="1139945"/>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0CB90D4-7F30-E7E2-FB94-24BED4507F7C}"/>
              </a:ext>
            </a:extLst>
          </p:cNvPr>
          <p:cNvCxnSpPr>
            <a:cxnSpLocks/>
            <a:stCxn id="7" idx="2"/>
            <a:endCxn id="21" idx="6"/>
          </p:cNvCxnSpPr>
          <p:nvPr/>
        </p:nvCxnSpPr>
        <p:spPr>
          <a:xfrm flipH="1">
            <a:off x="3983804" y="4076947"/>
            <a:ext cx="817129" cy="4138"/>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AB39C75-72A2-34AA-2BE0-2652D14176AA}"/>
              </a:ext>
            </a:extLst>
          </p:cNvPr>
          <p:cNvCxnSpPr>
            <a:cxnSpLocks/>
            <a:stCxn id="8" idx="2"/>
            <a:endCxn id="6" idx="6"/>
          </p:cNvCxnSpPr>
          <p:nvPr/>
        </p:nvCxnSpPr>
        <p:spPr>
          <a:xfrm flipH="1">
            <a:off x="5347414" y="2503136"/>
            <a:ext cx="887846" cy="0"/>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F2808C1-A7AB-C7DD-6E2E-96CDC373C98C}"/>
              </a:ext>
            </a:extLst>
          </p:cNvPr>
          <p:cNvCxnSpPr>
            <a:cxnSpLocks/>
            <a:stCxn id="9" idx="1"/>
            <a:endCxn id="6" idx="5"/>
          </p:cNvCxnSpPr>
          <p:nvPr/>
        </p:nvCxnSpPr>
        <p:spPr>
          <a:xfrm flipH="1" flipV="1">
            <a:off x="5256700" y="2722138"/>
            <a:ext cx="1032475" cy="1135807"/>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90B4F47-F4D4-6EDB-7D3D-3F06817ABDB6}"/>
              </a:ext>
            </a:extLst>
          </p:cNvPr>
          <p:cNvCxnSpPr>
            <a:cxnSpLocks/>
            <a:stCxn id="9" idx="2"/>
            <a:endCxn id="7" idx="6"/>
          </p:cNvCxnSpPr>
          <p:nvPr/>
        </p:nvCxnSpPr>
        <p:spPr>
          <a:xfrm flipH="1">
            <a:off x="5420365" y="4076947"/>
            <a:ext cx="778096" cy="0"/>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3C7AA07-4BA5-C307-5BFC-3592E9D303C1}"/>
              </a:ext>
            </a:extLst>
          </p:cNvPr>
          <p:cNvCxnSpPr>
            <a:cxnSpLocks/>
            <a:stCxn id="8" idx="3"/>
            <a:endCxn id="7" idx="7"/>
          </p:cNvCxnSpPr>
          <p:nvPr/>
        </p:nvCxnSpPr>
        <p:spPr>
          <a:xfrm flipH="1">
            <a:off x="5329651" y="2722138"/>
            <a:ext cx="996323" cy="1135807"/>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F3CFC9B-C2EA-A43A-C2AC-4820360819BD}"/>
              </a:ext>
            </a:extLst>
          </p:cNvPr>
          <p:cNvCxnSpPr>
            <a:cxnSpLocks/>
            <a:stCxn id="10" idx="1"/>
            <a:endCxn id="8" idx="6"/>
          </p:cNvCxnSpPr>
          <p:nvPr/>
        </p:nvCxnSpPr>
        <p:spPr>
          <a:xfrm flipH="1" flipV="1">
            <a:off x="6854692" y="2503136"/>
            <a:ext cx="714202" cy="226003"/>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BBA60DC-557E-4144-5481-A7C1FB84E57E}"/>
              </a:ext>
            </a:extLst>
          </p:cNvPr>
          <p:cNvCxnSpPr>
            <a:cxnSpLocks/>
            <a:stCxn id="10" idx="3"/>
            <a:endCxn id="9" idx="6"/>
          </p:cNvCxnSpPr>
          <p:nvPr/>
        </p:nvCxnSpPr>
        <p:spPr>
          <a:xfrm flipH="1">
            <a:off x="6817893" y="3167143"/>
            <a:ext cx="751001" cy="909804"/>
          </a:xfrm>
          <a:prstGeom prst="line">
            <a:avLst/>
          </a:prstGeom>
          <a:ln>
            <a:solidFill>
              <a:srgbClr val="10101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486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D9F00A-F1E1-807D-1ED4-AB8EFDE93247}"/>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6E1F0C3-41C6-DBFB-BBA5-174C1EB7A77B}"/>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Consider a binary classification task requiring 1 input neuron, 5 total hidden neurons, and 1 output neuron. There are fewer total parameters in a network where all hidden neurons are in a single hidden layer compared to a network where the neurons are split into two hidden layers where layer 1 has 2 neurons and layer 2 has 3 neurons respectively.</a:t>
            </a:r>
          </a:p>
        </p:txBody>
      </p:sp>
      <p:sp>
        <p:nvSpPr>
          <p:cNvPr id="4" name="Rectangle 3">
            <a:extLst>
              <a:ext uri="{FF2B5EF4-FFF2-40B4-BE49-F238E27FC236}">
                <a16:creationId xmlns:a16="http://schemas.microsoft.com/office/drawing/2014/main" id="{9ACA36A9-0FD7-2243-A3CB-E6C6D65B3D82}"/>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91C83A4-E28D-F44B-57AC-3D733924F2BC}"/>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BDEF1C97-66AC-A361-95EC-F1D39F098B7D}"/>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F953F838-00CD-0329-2781-AEDB22AA9C08}"/>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172277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CC804-0E57-7ED1-6272-D658AD587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88C9A-D74D-9A53-4F9F-E5C1183F565D}"/>
              </a:ext>
            </a:extLst>
          </p:cNvPr>
          <p:cNvSpPr>
            <a:spLocks noGrp="1"/>
          </p:cNvSpPr>
          <p:nvPr>
            <p:ph type="title"/>
          </p:nvPr>
        </p:nvSpPr>
        <p:spPr/>
        <p:txBody>
          <a:bodyPr>
            <a:normAutofit fontScale="90000"/>
          </a:bodyPr>
          <a:lstStyle/>
          <a:p>
            <a:r>
              <a:rPr lang="en-US" dirty="0"/>
              <a:t>Typical NN training loop</a:t>
            </a:r>
          </a:p>
        </p:txBody>
      </p:sp>
      <p:sp>
        <p:nvSpPr>
          <p:cNvPr id="3" name="Text Placeholder 2">
            <a:extLst>
              <a:ext uri="{FF2B5EF4-FFF2-40B4-BE49-F238E27FC236}">
                <a16:creationId xmlns:a16="http://schemas.microsoft.com/office/drawing/2014/main" id="{C00A37C2-FF6D-9B06-6CCE-21B92BE9F7FF}"/>
              </a:ext>
            </a:extLst>
          </p:cNvPr>
          <p:cNvSpPr>
            <a:spLocks noGrp="1"/>
          </p:cNvSpPr>
          <p:nvPr>
            <p:ph type="body" idx="1"/>
          </p:nvPr>
        </p:nvSpPr>
        <p:spPr>
          <a:xfrm>
            <a:off x="311700" y="1266325"/>
            <a:ext cx="4865370" cy="3302700"/>
          </a:xfrm>
        </p:spPr>
        <p:txBody>
          <a:bodyPr/>
          <a:lstStyle/>
          <a:p>
            <a:pPr>
              <a:buFont typeface="+mj-lt"/>
              <a:buAutoNum type="arabicPeriod"/>
            </a:pPr>
            <a:r>
              <a:rPr lang="en-US" dirty="0"/>
              <a:t>Forward pass: make a prediction</a:t>
            </a:r>
          </a:p>
        </p:txBody>
      </p:sp>
      <p:pic>
        <p:nvPicPr>
          <p:cNvPr id="4" name="Picture 3">
            <a:extLst>
              <a:ext uri="{FF2B5EF4-FFF2-40B4-BE49-F238E27FC236}">
                <a16:creationId xmlns:a16="http://schemas.microsoft.com/office/drawing/2014/main" id="{F4B3CAA6-BF35-868F-84E7-79CB242DF0EB}"/>
              </a:ext>
            </a:extLst>
          </p:cNvPr>
          <p:cNvPicPr>
            <a:picLocks noChangeAspect="1"/>
          </p:cNvPicPr>
          <p:nvPr/>
        </p:nvPicPr>
        <p:blipFill>
          <a:blip r:embed="rId2"/>
          <a:stretch>
            <a:fillRect/>
          </a:stretch>
        </p:blipFill>
        <p:spPr>
          <a:xfrm>
            <a:off x="5177070" y="759433"/>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EEB44B-C257-1064-59DB-686EBC5B029D}"/>
                  </a:ext>
                </a:extLst>
              </p:cNvPr>
              <p:cNvSpPr txBox="1"/>
              <p:nvPr/>
            </p:nvSpPr>
            <p:spPr>
              <a:xfrm>
                <a:off x="6321455" y="93024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F9EEB44B-C257-1064-59DB-686EBC5B029D}"/>
                  </a:ext>
                </a:extLst>
              </p:cNvPr>
              <p:cNvSpPr txBox="1">
                <a:spLocks noRot="1" noChangeAspect="1" noMove="1" noResize="1" noEditPoints="1" noAdjustHandles="1" noChangeArrowheads="1" noChangeShapeType="1" noTextEdit="1"/>
              </p:cNvSpPr>
              <p:nvPr/>
            </p:nvSpPr>
            <p:spPr>
              <a:xfrm>
                <a:off x="6321455" y="930248"/>
                <a:ext cx="553453"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D9F9CC-24C1-1A00-C3A8-407CFFDC3AF5}"/>
                  </a:ext>
                </a:extLst>
              </p:cNvPr>
              <p:cNvSpPr txBox="1"/>
              <p:nvPr/>
            </p:nvSpPr>
            <p:spPr>
              <a:xfrm>
                <a:off x="6069115" y="143990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B4D9F9CC-24C1-1A00-C3A8-407CFFDC3AF5}"/>
                  </a:ext>
                </a:extLst>
              </p:cNvPr>
              <p:cNvSpPr txBox="1">
                <a:spLocks noRot="1" noChangeAspect="1" noMove="1" noResize="1" noEditPoints="1" noAdjustHandles="1" noChangeArrowheads="1" noChangeShapeType="1" noTextEdit="1"/>
              </p:cNvSpPr>
              <p:nvPr/>
            </p:nvSpPr>
            <p:spPr>
              <a:xfrm>
                <a:off x="6069115" y="1439909"/>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B54A628-ECE2-FEBC-9B4C-B772DF70099F}"/>
                  </a:ext>
                </a:extLst>
              </p:cNvPr>
              <p:cNvSpPr txBox="1"/>
              <p:nvPr/>
            </p:nvSpPr>
            <p:spPr>
              <a:xfrm>
                <a:off x="5892561" y="189670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4B54A628-ECE2-FEBC-9B4C-B772DF70099F}"/>
                  </a:ext>
                </a:extLst>
              </p:cNvPr>
              <p:cNvSpPr txBox="1">
                <a:spLocks noRot="1" noChangeAspect="1" noMove="1" noResize="1" noEditPoints="1" noAdjustHandles="1" noChangeArrowheads="1" noChangeShapeType="1" noTextEdit="1"/>
              </p:cNvSpPr>
              <p:nvPr/>
            </p:nvSpPr>
            <p:spPr>
              <a:xfrm>
                <a:off x="5892561" y="1896704"/>
                <a:ext cx="55345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0DF090-F095-E680-6AAD-51EE119DD645}"/>
                  </a:ext>
                </a:extLst>
              </p:cNvPr>
              <p:cNvSpPr txBox="1"/>
              <p:nvPr/>
            </p:nvSpPr>
            <p:spPr>
              <a:xfrm>
                <a:off x="6119796" y="232380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EC0DF090-F095-E680-6AAD-51EE119DD645}"/>
                  </a:ext>
                </a:extLst>
              </p:cNvPr>
              <p:cNvSpPr txBox="1">
                <a:spLocks noRot="1" noChangeAspect="1" noMove="1" noResize="1" noEditPoints="1" noAdjustHandles="1" noChangeArrowheads="1" noChangeShapeType="1" noTextEdit="1"/>
              </p:cNvSpPr>
              <p:nvPr/>
            </p:nvSpPr>
            <p:spPr>
              <a:xfrm>
                <a:off x="6119796" y="2323808"/>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B9CF38B-1AF2-A21F-32D9-B833787FF728}"/>
                  </a:ext>
                </a:extLst>
              </p:cNvPr>
              <p:cNvSpPr txBox="1"/>
              <p:nvPr/>
            </p:nvSpPr>
            <p:spPr>
              <a:xfrm>
                <a:off x="7795191" y="1175893"/>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FB9CF38B-1AF2-A21F-32D9-B833787FF728}"/>
                  </a:ext>
                </a:extLst>
              </p:cNvPr>
              <p:cNvSpPr txBox="1">
                <a:spLocks noRot="1" noChangeAspect="1" noMove="1" noResize="1" noEditPoints="1" noAdjustHandles="1" noChangeArrowheads="1" noChangeShapeType="1" noTextEdit="1"/>
              </p:cNvSpPr>
              <p:nvPr/>
            </p:nvSpPr>
            <p:spPr>
              <a:xfrm>
                <a:off x="7795191" y="1175893"/>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37F1975-B8AF-5986-C340-EA5A341250FE}"/>
                  </a:ext>
                </a:extLst>
              </p:cNvPr>
              <p:cNvSpPr txBox="1"/>
              <p:nvPr/>
            </p:nvSpPr>
            <p:spPr>
              <a:xfrm>
                <a:off x="7615975" y="202064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C37F1975-B8AF-5986-C340-EA5A341250FE}"/>
                  </a:ext>
                </a:extLst>
              </p:cNvPr>
              <p:cNvSpPr txBox="1">
                <a:spLocks noRot="1" noChangeAspect="1" noMove="1" noResize="1" noEditPoints="1" noAdjustHandles="1" noChangeArrowheads="1" noChangeShapeType="1" noTextEdit="1"/>
              </p:cNvSpPr>
              <p:nvPr/>
            </p:nvSpPr>
            <p:spPr>
              <a:xfrm>
                <a:off x="7615975" y="2020641"/>
                <a:ext cx="553453" cy="52322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C3A17CDC-E366-0D2F-FD37-84E13BBB518E}"/>
              </a:ext>
            </a:extLst>
          </p:cNvPr>
          <p:cNvCxnSpPr>
            <a:cxnSpLocks/>
          </p:cNvCxnSpPr>
          <p:nvPr/>
        </p:nvCxnSpPr>
        <p:spPr>
          <a:xfrm flipV="1">
            <a:off x="6874908" y="2868481"/>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AFEA36-89B5-3088-C46B-210C25B9F13F}"/>
              </a:ext>
            </a:extLst>
          </p:cNvPr>
          <p:cNvCxnSpPr>
            <a:cxnSpLocks/>
          </p:cNvCxnSpPr>
          <p:nvPr/>
        </p:nvCxnSpPr>
        <p:spPr>
          <a:xfrm>
            <a:off x="6874908" y="671528"/>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A8BB663-54A2-BDC7-1ED6-0FD58C8A04AF}"/>
                  </a:ext>
                </a:extLst>
              </p:cNvPr>
              <p:cNvSpPr txBox="1"/>
              <p:nvPr/>
            </p:nvSpPr>
            <p:spPr>
              <a:xfrm>
                <a:off x="6859031" y="291155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9A8BB663-54A2-BDC7-1ED6-0FD58C8A04AF}"/>
                  </a:ext>
                </a:extLst>
              </p:cNvPr>
              <p:cNvSpPr txBox="1">
                <a:spLocks noRot="1" noChangeAspect="1" noMove="1" noResize="1" noEditPoints="1" noAdjustHandles="1" noChangeArrowheads="1" noChangeShapeType="1" noTextEdit="1"/>
              </p:cNvSpPr>
              <p:nvPr/>
            </p:nvSpPr>
            <p:spPr>
              <a:xfrm>
                <a:off x="6859031" y="2911558"/>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EA2DC1A-A77D-68F0-332D-3C62E2AA3ECC}"/>
                  </a:ext>
                </a:extLst>
              </p:cNvPr>
              <p:cNvSpPr txBox="1"/>
              <p:nvPr/>
            </p:nvSpPr>
            <p:spPr>
              <a:xfrm>
                <a:off x="6859032" y="5744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8EA2DC1A-A77D-68F0-332D-3C62E2AA3ECC}"/>
                  </a:ext>
                </a:extLst>
              </p:cNvPr>
              <p:cNvSpPr txBox="1">
                <a:spLocks noRot="1" noChangeAspect="1" noMove="1" noResize="1" noEditPoints="1" noAdjustHandles="1" noChangeArrowheads="1" noChangeShapeType="1" noTextEdit="1"/>
              </p:cNvSpPr>
              <p:nvPr/>
            </p:nvSpPr>
            <p:spPr>
              <a:xfrm>
                <a:off x="6859032" y="574475"/>
                <a:ext cx="553453" cy="307777"/>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64AC8C20-E035-AE76-58EE-C2193E1A1FEA}"/>
              </a:ext>
            </a:extLst>
          </p:cNvPr>
          <p:cNvCxnSpPr>
            <a:cxnSpLocks/>
          </p:cNvCxnSpPr>
          <p:nvPr/>
        </p:nvCxnSpPr>
        <p:spPr>
          <a:xfrm flipH="1">
            <a:off x="8418638" y="2265051"/>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B52FC28-C5A1-7BD0-94BC-38A250A276D2}"/>
                  </a:ext>
                </a:extLst>
              </p:cNvPr>
              <p:cNvSpPr txBox="1"/>
              <p:nvPr/>
            </p:nvSpPr>
            <p:spPr>
              <a:xfrm>
                <a:off x="8311294" y="2265051"/>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8B52FC28-C5A1-7BD0-94BC-38A250A276D2}"/>
                  </a:ext>
                </a:extLst>
              </p:cNvPr>
              <p:cNvSpPr txBox="1">
                <a:spLocks noRot="1" noChangeAspect="1" noMove="1" noResize="1" noEditPoints="1" noAdjustHandles="1" noChangeArrowheads="1" noChangeShapeType="1" noTextEdit="1"/>
              </p:cNvSpPr>
              <p:nvPr/>
            </p:nvSpPr>
            <p:spPr>
              <a:xfrm>
                <a:off x="8311294" y="2265051"/>
                <a:ext cx="553453" cy="30777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5966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26FA-028A-2DF7-37CF-92E3E5B1BA5A}"/>
              </a:ext>
            </a:extLst>
          </p:cNvPr>
          <p:cNvSpPr>
            <a:spLocks noGrp="1"/>
          </p:cNvSpPr>
          <p:nvPr>
            <p:ph type="title"/>
          </p:nvPr>
        </p:nvSpPr>
        <p:spPr/>
        <p:txBody>
          <a:bodyPr>
            <a:normAutofit fontScale="90000"/>
          </a:bodyPr>
          <a:lstStyle/>
          <a:p>
            <a:r>
              <a:rPr lang="en-US" dirty="0"/>
              <a:t>Typical NN training loop</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0EBF31B-DF82-AE6D-6AA4-B877EDA938F5}"/>
                  </a:ext>
                </a:extLst>
              </p:cNvPr>
              <p:cNvSpPr>
                <a:spLocks noGrp="1"/>
              </p:cNvSpPr>
              <p:nvPr>
                <p:ph type="body" idx="1"/>
              </p:nvPr>
            </p:nvSpPr>
            <p:spPr>
              <a:xfrm>
                <a:off x="311700" y="1266325"/>
                <a:ext cx="4865370" cy="3302700"/>
              </a:xfrm>
            </p:spPr>
            <p:txBody>
              <a:bodyPr/>
              <a:lstStyle/>
              <a:p>
                <a:pPr>
                  <a:buFont typeface="+mj-lt"/>
                  <a:buAutoNum type="arabicPeriod"/>
                </a:pPr>
                <a:r>
                  <a:rPr lang="en-US" dirty="0"/>
                  <a:t>Forward pass: make a prediction</a:t>
                </a:r>
              </a:p>
              <a:p>
                <a:pPr>
                  <a:buFont typeface="+mj-lt"/>
                  <a:buAutoNum type="arabicPeriod"/>
                </a:pPr>
                <a:r>
                  <a:rPr lang="en-US" dirty="0"/>
                  <a:t>Compute loss: compare predicted </a:t>
                </a:r>
                <a14:m>
                  <m:oMath xmlns:m="http://schemas.openxmlformats.org/officeDocument/2006/math">
                    <m:r>
                      <a:rPr lang="en-US" b="0" i="1" smtClean="0">
                        <a:latin typeface="Cambria Math" panose="02040503050406030204" pitchFamily="18" charset="0"/>
                      </a:rPr>
                      <m:t>𝑦</m:t>
                    </m:r>
                  </m:oMath>
                </a14:m>
                <a:r>
                  <a:rPr lang="en-US" b="0" dirty="0"/>
                  <a:t> to true </a:t>
                </a:r>
                <a14:m>
                  <m:oMath xmlns:m="http://schemas.openxmlformats.org/officeDocument/2006/math">
                    <m:r>
                      <a:rPr lang="en-US" b="0" i="1" smtClean="0">
                        <a:latin typeface="Cambria Math" panose="02040503050406030204" pitchFamily="18" charset="0"/>
                      </a:rPr>
                      <m:t>𝑦</m:t>
                    </m:r>
                  </m:oMath>
                </a14:m>
                <a:endParaRPr lang="en-US" b="0" dirty="0"/>
              </a:p>
            </p:txBody>
          </p:sp>
        </mc:Choice>
        <mc:Fallback xmlns="">
          <p:sp>
            <p:nvSpPr>
              <p:cNvPr id="3" name="Text Placeholder 2">
                <a:extLst>
                  <a:ext uri="{FF2B5EF4-FFF2-40B4-BE49-F238E27FC236}">
                    <a16:creationId xmlns:a16="http://schemas.microsoft.com/office/drawing/2014/main" id="{C0EBF31B-DF82-AE6D-6AA4-B877EDA938F5}"/>
                  </a:ext>
                </a:extLst>
              </p:cNvPr>
              <p:cNvSpPr>
                <a:spLocks noGrp="1" noRot="1" noChangeAspect="1" noMove="1" noResize="1" noEditPoints="1" noAdjustHandles="1" noChangeArrowheads="1" noChangeShapeType="1" noTextEdit="1"/>
              </p:cNvSpPr>
              <p:nvPr>
                <p:ph type="body" idx="1"/>
              </p:nvPr>
            </p:nvSpPr>
            <p:spPr>
              <a:xfrm>
                <a:off x="311700" y="1266325"/>
                <a:ext cx="4865370" cy="3302700"/>
              </a:xfr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331D943-CF3B-97A7-6ECF-98EA740DE329}"/>
              </a:ext>
            </a:extLst>
          </p:cNvPr>
          <p:cNvPicPr>
            <a:picLocks noChangeAspect="1"/>
          </p:cNvPicPr>
          <p:nvPr/>
        </p:nvPicPr>
        <p:blipFill>
          <a:blip r:embed="rId3"/>
          <a:stretch>
            <a:fillRect/>
          </a:stretch>
        </p:blipFill>
        <p:spPr>
          <a:xfrm>
            <a:off x="5177070" y="759433"/>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78DC28-9397-34A8-A7BE-5BB68011C4BC}"/>
                  </a:ext>
                </a:extLst>
              </p:cNvPr>
              <p:cNvSpPr txBox="1"/>
              <p:nvPr/>
            </p:nvSpPr>
            <p:spPr>
              <a:xfrm>
                <a:off x="6321455" y="93024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A878DC28-9397-34A8-A7BE-5BB68011C4BC}"/>
                  </a:ext>
                </a:extLst>
              </p:cNvPr>
              <p:cNvSpPr txBox="1">
                <a:spLocks noRot="1" noChangeAspect="1" noMove="1" noResize="1" noEditPoints="1" noAdjustHandles="1" noChangeArrowheads="1" noChangeShapeType="1" noTextEdit="1"/>
              </p:cNvSpPr>
              <p:nvPr/>
            </p:nvSpPr>
            <p:spPr>
              <a:xfrm>
                <a:off x="6321455" y="930248"/>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ADA5C7B-AFF7-C06E-8922-E90366C17A91}"/>
                  </a:ext>
                </a:extLst>
              </p:cNvPr>
              <p:cNvSpPr txBox="1"/>
              <p:nvPr/>
            </p:nvSpPr>
            <p:spPr>
              <a:xfrm>
                <a:off x="6069115" y="143990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7ADA5C7B-AFF7-C06E-8922-E90366C17A91}"/>
                  </a:ext>
                </a:extLst>
              </p:cNvPr>
              <p:cNvSpPr txBox="1">
                <a:spLocks noRot="1" noChangeAspect="1" noMove="1" noResize="1" noEditPoints="1" noAdjustHandles="1" noChangeArrowheads="1" noChangeShapeType="1" noTextEdit="1"/>
              </p:cNvSpPr>
              <p:nvPr/>
            </p:nvSpPr>
            <p:spPr>
              <a:xfrm>
                <a:off x="6069115" y="1439909"/>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3526F4F-1284-7F95-8844-E9C8DE243901}"/>
                  </a:ext>
                </a:extLst>
              </p:cNvPr>
              <p:cNvSpPr txBox="1"/>
              <p:nvPr/>
            </p:nvSpPr>
            <p:spPr>
              <a:xfrm>
                <a:off x="5892561" y="189670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83526F4F-1284-7F95-8844-E9C8DE243901}"/>
                  </a:ext>
                </a:extLst>
              </p:cNvPr>
              <p:cNvSpPr txBox="1">
                <a:spLocks noRot="1" noChangeAspect="1" noMove="1" noResize="1" noEditPoints="1" noAdjustHandles="1" noChangeArrowheads="1" noChangeShapeType="1" noTextEdit="1"/>
              </p:cNvSpPr>
              <p:nvPr/>
            </p:nvSpPr>
            <p:spPr>
              <a:xfrm>
                <a:off x="5892561" y="1896704"/>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6DAD63-6815-59D3-9168-B4FCB2917F60}"/>
                  </a:ext>
                </a:extLst>
              </p:cNvPr>
              <p:cNvSpPr txBox="1"/>
              <p:nvPr/>
            </p:nvSpPr>
            <p:spPr>
              <a:xfrm>
                <a:off x="6119796" y="232380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8A6DAD63-6815-59D3-9168-B4FCB2917F60}"/>
                  </a:ext>
                </a:extLst>
              </p:cNvPr>
              <p:cNvSpPr txBox="1">
                <a:spLocks noRot="1" noChangeAspect="1" noMove="1" noResize="1" noEditPoints="1" noAdjustHandles="1" noChangeArrowheads="1" noChangeShapeType="1" noTextEdit="1"/>
              </p:cNvSpPr>
              <p:nvPr/>
            </p:nvSpPr>
            <p:spPr>
              <a:xfrm>
                <a:off x="6119796" y="2323808"/>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693986-F1D6-0E78-1E7C-4198630152E8}"/>
                  </a:ext>
                </a:extLst>
              </p:cNvPr>
              <p:cNvSpPr txBox="1"/>
              <p:nvPr/>
            </p:nvSpPr>
            <p:spPr>
              <a:xfrm>
                <a:off x="7795191" y="1175893"/>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70693986-F1D6-0E78-1E7C-4198630152E8}"/>
                  </a:ext>
                </a:extLst>
              </p:cNvPr>
              <p:cNvSpPr txBox="1">
                <a:spLocks noRot="1" noChangeAspect="1" noMove="1" noResize="1" noEditPoints="1" noAdjustHandles="1" noChangeArrowheads="1" noChangeShapeType="1" noTextEdit="1"/>
              </p:cNvSpPr>
              <p:nvPr/>
            </p:nvSpPr>
            <p:spPr>
              <a:xfrm>
                <a:off x="7795191" y="1175893"/>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C4C0D01-0F3E-AEE1-FB86-3C90FA18793C}"/>
                  </a:ext>
                </a:extLst>
              </p:cNvPr>
              <p:cNvSpPr txBox="1"/>
              <p:nvPr/>
            </p:nvSpPr>
            <p:spPr>
              <a:xfrm>
                <a:off x="7615975" y="202064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FC4C0D01-0F3E-AEE1-FB86-3C90FA18793C}"/>
                  </a:ext>
                </a:extLst>
              </p:cNvPr>
              <p:cNvSpPr txBox="1">
                <a:spLocks noRot="1" noChangeAspect="1" noMove="1" noResize="1" noEditPoints="1" noAdjustHandles="1" noChangeArrowheads="1" noChangeShapeType="1" noTextEdit="1"/>
              </p:cNvSpPr>
              <p:nvPr/>
            </p:nvSpPr>
            <p:spPr>
              <a:xfrm>
                <a:off x="7615975" y="2020641"/>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69571F85-4211-4F7E-E7EA-2768032E9484}"/>
              </a:ext>
            </a:extLst>
          </p:cNvPr>
          <p:cNvCxnSpPr>
            <a:cxnSpLocks/>
          </p:cNvCxnSpPr>
          <p:nvPr/>
        </p:nvCxnSpPr>
        <p:spPr>
          <a:xfrm flipV="1">
            <a:off x="6874908" y="2868481"/>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B7E17E6-49E6-E3EC-B381-2F5265F5F43D}"/>
              </a:ext>
            </a:extLst>
          </p:cNvPr>
          <p:cNvCxnSpPr>
            <a:cxnSpLocks/>
          </p:cNvCxnSpPr>
          <p:nvPr/>
        </p:nvCxnSpPr>
        <p:spPr>
          <a:xfrm>
            <a:off x="6874908" y="671528"/>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62199EA-CACF-FA87-0E01-A6235EA1E6F4}"/>
                  </a:ext>
                </a:extLst>
              </p:cNvPr>
              <p:cNvSpPr txBox="1"/>
              <p:nvPr/>
            </p:nvSpPr>
            <p:spPr>
              <a:xfrm>
                <a:off x="6859031" y="291155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A62199EA-CACF-FA87-0E01-A6235EA1E6F4}"/>
                  </a:ext>
                </a:extLst>
              </p:cNvPr>
              <p:cNvSpPr txBox="1">
                <a:spLocks noRot="1" noChangeAspect="1" noMove="1" noResize="1" noEditPoints="1" noAdjustHandles="1" noChangeArrowheads="1" noChangeShapeType="1" noTextEdit="1"/>
              </p:cNvSpPr>
              <p:nvPr/>
            </p:nvSpPr>
            <p:spPr>
              <a:xfrm>
                <a:off x="6859031" y="2911558"/>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7836D9D-DAB2-8F91-CF94-8C5F9F4543CB}"/>
                  </a:ext>
                </a:extLst>
              </p:cNvPr>
              <p:cNvSpPr txBox="1"/>
              <p:nvPr/>
            </p:nvSpPr>
            <p:spPr>
              <a:xfrm>
                <a:off x="6859032" y="5744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B7836D9D-DAB2-8F91-CF94-8C5F9F4543CB}"/>
                  </a:ext>
                </a:extLst>
              </p:cNvPr>
              <p:cNvSpPr txBox="1">
                <a:spLocks noRot="1" noChangeAspect="1" noMove="1" noResize="1" noEditPoints="1" noAdjustHandles="1" noChangeArrowheads="1" noChangeShapeType="1" noTextEdit="1"/>
              </p:cNvSpPr>
              <p:nvPr/>
            </p:nvSpPr>
            <p:spPr>
              <a:xfrm>
                <a:off x="6859032" y="574475"/>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BDA67453-56EA-B9BA-394C-B9289FD319B7}"/>
              </a:ext>
            </a:extLst>
          </p:cNvPr>
          <p:cNvCxnSpPr>
            <a:cxnSpLocks/>
          </p:cNvCxnSpPr>
          <p:nvPr/>
        </p:nvCxnSpPr>
        <p:spPr>
          <a:xfrm flipH="1">
            <a:off x="8418638" y="2265051"/>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BDB1EB6-7CEE-4755-35BB-0A6C607EAEA9}"/>
                  </a:ext>
                </a:extLst>
              </p:cNvPr>
              <p:cNvSpPr txBox="1"/>
              <p:nvPr/>
            </p:nvSpPr>
            <p:spPr>
              <a:xfrm>
                <a:off x="8311294" y="2265051"/>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ABDB1EB6-7CEE-4755-35BB-0A6C607EAEA9}"/>
                  </a:ext>
                </a:extLst>
              </p:cNvPr>
              <p:cNvSpPr txBox="1">
                <a:spLocks noRot="1" noChangeAspect="1" noMove="1" noResize="1" noEditPoints="1" noAdjustHandles="1" noChangeArrowheads="1" noChangeShapeType="1" noTextEdit="1"/>
              </p:cNvSpPr>
              <p:nvPr/>
            </p:nvSpPr>
            <p:spPr>
              <a:xfrm>
                <a:off x="8311294" y="2265051"/>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16916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48750-FDD2-8535-DA92-2B49E249F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C3829-8407-BB74-F006-4B27F6F5752D}"/>
              </a:ext>
            </a:extLst>
          </p:cNvPr>
          <p:cNvSpPr>
            <a:spLocks noGrp="1"/>
          </p:cNvSpPr>
          <p:nvPr>
            <p:ph type="title"/>
          </p:nvPr>
        </p:nvSpPr>
        <p:spPr/>
        <p:txBody>
          <a:bodyPr>
            <a:normAutofit fontScale="90000"/>
          </a:bodyPr>
          <a:lstStyle/>
          <a:p>
            <a:r>
              <a:rPr lang="en-US" dirty="0"/>
              <a:t>Typical NN training loop</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DA0E36E3-607C-553F-CE9C-EC5F70174034}"/>
                  </a:ext>
                </a:extLst>
              </p:cNvPr>
              <p:cNvSpPr>
                <a:spLocks noGrp="1"/>
              </p:cNvSpPr>
              <p:nvPr>
                <p:ph type="body" idx="1"/>
              </p:nvPr>
            </p:nvSpPr>
            <p:spPr>
              <a:xfrm>
                <a:off x="311700" y="1266325"/>
                <a:ext cx="4865370" cy="3302700"/>
              </a:xfrm>
            </p:spPr>
            <p:txBody>
              <a:bodyPr/>
              <a:lstStyle/>
              <a:p>
                <a:pPr>
                  <a:buFont typeface="+mj-lt"/>
                  <a:buAutoNum type="arabicPeriod"/>
                </a:pPr>
                <a:r>
                  <a:rPr lang="en-US" dirty="0"/>
                  <a:t>Forward pass: make a prediction</a:t>
                </a:r>
              </a:p>
              <a:p>
                <a:pPr>
                  <a:buFont typeface="+mj-lt"/>
                  <a:buAutoNum type="arabicPeriod"/>
                </a:pPr>
                <a:r>
                  <a:rPr lang="en-US" dirty="0"/>
                  <a:t>Compute loss: compare predicted </a:t>
                </a:r>
                <a14:m>
                  <m:oMath xmlns:m="http://schemas.openxmlformats.org/officeDocument/2006/math">
                    <m:r>
                      <a:rPr lang="en-US" b="0" i="1" smtClean="0">
                        <a:latin typeface="Cambria Math" panose="02040503050406030204" pitchFamily="18" charset="0"/>
                      </a:rPr>
                      <m:t>𝑦</m:t>
                    </m:r>
                  </m:oMath>
                </a14:m>
                <a:r>
                  <a:rPr lang="en-US" b="0" dirty="0"/>
                  <a:t> to true </a:t>
                </a:r>
                <a14:m>
                  <m:oMath xmlns:m="http://schemas.openxmlformats.org/officeDocument/2006/math">
                    <m:r>
                      <a:rPr lang="en-US" b="0" i="1" smtClean="0">
                        <a:latin typeface="Cambria Math" panose="02040503050406030204" pitchFamily="18" charset="0"/>
                      </a:rPr>
                      <m:t>𝑦</m:t>
                    </m:r>
                  </m:oMath>
                </a14:m>
                <a:endParaRPr lang="en-US" b="0" dirty="0"/>
              </a:p>
              <a:p>
                <a:pPr>
                  <a:buFont typeface="+mj-lt"/>
                  <a:buAutoNum type="arabicPeriod"/>
                </a:pPr>
                <a:r>
                  <a:rPr lang="en-US" dirty="0"/>
                  <a:t>Backpropagation: compute gradients</a:t>
                </a:r>
              </a:p>
              <a:p>
                <a:pPr lvl="1"/>
                <a:r>
                  <a:rPr lang="en-US" dirty="0"/>
                  <a:t>The gradient with respect to each parameter will tell us how much a given parameter is responsible for the loss</a:t>
                </a:r>
              </a:p>
              <a:p>
                <a:pPr lvl="1"/>
                <a:endParaRPr lang="en-US" dirty="0"/>
              </a:p>
              <a:p>
                <a:pPr>
                  <a:buFont typeface="+mj-lt"/>
                  <a:buAutoNum type="arabicPeriod"/>
                </a:pPr>
                <a:endParaRPr lang="en-US" b="0" dirty="0"/>
              </a:p>
              <a:p>
                <a:pPr>
                  <a:buFont typeface="+mj-lt"/>
                  <a:buAutoNum type="arabicPeriod"/>
                </a:pPr>
                <a:endParaRPr lang="en-US" dirty="0"/>
              </a:p>
            </p:txBody>
          </p:sp>
        </mc:Choice>
        <mc:Fallback>
          <p:sp>
            <p:nvSpPr>
              <p:cNvPr id="3" name="Text Placeholder 2">
                <a:extLst>
                  <a:ext uri="{FF2B5EF4-FFF2-40B4-BE49-F238E27FC236}">
                    <a16:creationId xmlns:a16="http://schemas.microsoft.com/office/drawing/2014/main" id="{DA0E36E3-607C-553F-CE9C-EC5F70174034}"/>
                  </a:ext>
                </a:extLst>
              </p:cNvPr>
              <p:cNvSpPr>
                <a:spLocks noGrp="1" noRot="1" noChangeAspect="1" noMove="1" noResize="1" noEditPoints="1" noAdjustHandles="1" noChangeArrowheads="1" noChangeShapeType="1" noTextEdit="1"/>
              </p:cNvSpPr>
              <p:nvPr>
                <p:ph type="body" idx="1"/>
              </p:nvPr>
            </p:nvSpPr>
            <p:spPr>
              <a:xfrm>
                <a:off x="311700" y="1266325"/>
                <a:ext cx="4865370" cy="3302700"/>
              </a:xfr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BCC18CA-028F-3BDB-BB75-3DAA67BB7F81}"/>
              </a:ext>
            </a:extLst>
          </p:cNvPr>
          <p:cNvPicPr>
            <a:picLocks noChangeAspect="1"/>
          </p:cNvPicPr>
          <p:nvPr/>
        </p:nvPicPr>
        <p:blipFill>
          <a:blip r:embed="rId3"/>
          <a:stretch>
            <a:fillRect/>
          </a:stretch>
        </p:blipFill>
        <p:spPr>
          <a:xfrm>
            <a:off x="5177070" y="759433"/>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CD508B6-A15E-67AA-5AE8-E8216369E069}"/>
                  </a:ext>
                </a:extLst>
              </p:cNvPr>
              <p:cNvSpPr txBox="1"/>
              <p:nvPr/>
            </p:nvSpPr>
            <p:spPr>
              <a:xfrm>
                <a:off x="6321455" y="93024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8CD508B6-A15E-67AA-5AE8-E8216369E069}"/>
                  </a:ext>
                </a:extLst>
              </p:cNvPr>
              <p:cNvSpPr txBox="1">
                <a:spLocks noRot="1" noChangeAspect="1" noMove="1" noResize="1" noEditPoints="1" noAdjustHandles="1" noChangeArrowheads="1" noChangeShapeType="1" noTextEdit="1"/>
              </p:cNvSpPr>
              <p:nvPr/>
            </p:nvSpPr>
            <p:spPr>
              <a:xfrm>
                <a:off x="6321455" y="930248"/>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856205-A59D-BCAC-9EDD-DD87003F3D4E}"/>
                  </a:ext>
                </a:extLst>
              </p:cNvPr>
              <p:cNvSpPr txBox="1"/>
              <p:nvPr/>
            </p:nvSpPr>
            <p:spPr>
              <a:xfrm>
                <a:off x="6069115" y="143990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3D856205-A59D-BCAC-9EDD-DD87003F3D4E}"/>
                  </a:ext>
                </a:extLst>
              </p:cNvPr>
              <p:cNvSpPr txBox="1">
                <a:spLocks noRot="1" noChangeAspect="1" noMove="1" noResize="1" noEditPoints="1" noAdjustHandles="1" noChangeArrowheads="1" noChangeShapeType="1" noTextEdit="1"/>
              </p:cNvSpPr>
              <p:nvPr/>
            </p:nvSpPr>
            <p:spPr>
              <a:xfrm>
                <a:off x="6069115" y="1439909"/>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33A87F-1019-E710-CBF0-09F9D26A60BB}"/>
                  </a:ext>
                </a:extLst>
              </p:cNvPr>
              <p:cNvSpPr txBox="1"/>
              <p:nvPr/>
            </p:nvSpPr>
            <p:spPr>
              <a:xfrm>
                <a:off x="5892561" y="189670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9D33A87F-1019-E710-CBF0-09F9D26A60BB}"/>
                  </a:ext>
                </a:extLst>
              </p:cNvPr>
              <p:cNvSpPr txBox="1">
                <a:spLocks noRot="1" noChangeAspect="1" noMove="1" noResize="1" noEditPoints="1" noAdjustHandles="1" noChangeArrowheads="1" noChangeShapeType="1" noTextEdit="1"/>
              </p:cNvSpPr>
              <p:nvPr/>
            </p:nvSpPr>
            <p:spPr>
              <a:xfrm>
                <a:off x="5892561" y="1896704"/>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879D3B-60EB-CABB-D92B-632A72F6CAF9}"/>
                  </a:ext>
                </a:extLst>
              </p:cNvPr>
              <p:cNvSpPr txBox="1"/>
              <p:nvPr/>
            </p:nvSpPr>
            <p:spPr>
              <a:xfrm>
                <a:off x="6119796" y="232380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D6879D3B-60EB-CABB-D92B-632A72F6CAF9}"/>
                  </a:ext>
                </a:extLst>
              </p:cNvPr>
              <p:cNvSpPr txBox="1">
                <a:spLocks noRot="1" noChangeAspect="1" noMove="1" noResize="1" noEditPoints="1" noAdjustHandles="1" noChangeArrowheads="1" noChangeShapeType="1" noTextEdit="1"/>
              </p:cNvSpPr>
              <p:nvPr/>
            </p:nvSpPr>
            <p:spPr>
              <a:xfrm>
                <a:off x="6119796" y="2323808"/>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1847B8-B3A5-E844-AC67-4827A9C5F4A6}"/>
                  </a:ext>
                </a:extLst>
              </p:cNvPr>
              <p:cNvSpPr txBox="1"/>
              <p:nvPr/>
            </p:nvSpPr>
            <p:spPr>
              <a:xfrm>
                <a:off x="7795191" y="1175893"/>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301847B8-B3A5-E844-AC67-4827A9C5F4A6}"/>
                  </a:ext>
                </a:extLst>
              </p:cNvPr>
              <p:cNvSpPr txBox="1">
                <a:spLocks noRot="1" noChangeAspect="1" noMove="1" noResize="1" noEditPoints="1" noAdjustHandles="1" noChangeArrowheads="1" noChangeShapeType="1" noTextEdit="1"/>
              </p:cNvSpPr>
              <p:nvPr/>
            </p:nvSpPr>
            <p:spPr>
              <a:xfrm>
                <a:off x="7795191" y="1175893"/>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F68F019-7502-26D1-8268-6543BCD4E724}"/>
                  </a:ext>
                </a:extLst>
              </p:cNvPr>
              <p:cNvSpPr txBox="1"/>
              <p:nvPr/>
            </p:nvSpPr>
            <p:spPr>
              <a:xfrm>
                <a:off x="7615975" y="202064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9F68F019-7502-26D1-8268-6543BCD4E724}"/>
                  </a:ext>
                </a:extLst>
              </p:cNvPr>
              <p:cNvSpPr txBox="1">
                <a:spLocks noRot="1" noChangeAspect="1" noMove="1" noResize="1" noEditPoints="1" noAdjustHandles="1" noChangeArrowheads="1" noChangeShapeType="1" noTextEdit="1"/>
              </p:cNvSpPr>
              <p:nvPr/>
            </p:nvSpPr>
            <p:spPr>
              <a:xfrm>
                <a:off x="7615975" y="2020641"/>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00BB63A6-D506-7609-7327-D7E7CA14E193}"/>
              </a:ext>
            </a:extLst>
          </p:cNvPr>
          <p:cNvCxnSpPr>
            <a:cxnSpLocks/>
          </p:cNvCxnSpPr>
          <p:nvPr/>
        </p:nvCxnSpPr>
        <p:spPr>
          <a:xfrm flipV="1">
            <a:off x="6874908" y="2868481"/>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958C0B1-B8B6-166C-4453-529AEBCB77E1}"/>
              </a:ext>
            </a:extLst>
          </p:cNvPr>
          <p:cNvCxnSpPr>
            <a:cxnSpLocks/>
          </p:cNvCxnSpPr>
          <p:nvPr/>
        </p:nvCxnSpPr>
        <p:spPr>
          <a:xfrm>
            <a:off x="6874908" y="671528"/>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F866FA6-A5A7-33DB-C580-C45416591479}"/>
                  </a:ext>
                </a:extLst>
              </p:cNvPr>
              <p:cNvSpPr txBox="1"/>
              <p:nvPr/>
            </p:nvSpPr>
            <p:spPr>
              <a:xfrm>
                <a:off x="6859031" y="291155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AF866FA6-A5A7-33DB-C580-C45416591479}"/>
                  </a:ext>
                </a:extLst>
              </p:cNvPr>
              <p:cNvSpPr txBox="1">
                <a:spLocks noRot="1" noChangeAspect="1" noMove="1" noResize="1" noEditPoints="1" noAdjustHandles="1" noChangeArrowheads="1" noChangeShapeType="1" noTextEdit="1"/>
              </p:cNvSpPr>
              <p:nvPr/>
            </p:nvSpPr>
            <p:spPr>
              <a:xfrm>
                <a:off x="6859031" y="2911558"/>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CAC9BFB-F7DB-056A-3626-C011A40904E3}"/>
                  </a:ext>
                </a:extLst>
              </p:cNvPr>
              <p:cNvSpPr txBox="1"/>
              <p:nvPr/>
            </p:nvSpPr>
            <p:spPr>
              <a:xfrm>
                <a:off x="6859032" y="5744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9CAC9BFB-F7DB-056A-3626-C011A40904E3}"/>
                  </a:ext>
                </a:extLst>
              </p:cNvPr>
              <p:cNvSpPr txBox="1">
                <a:spLocks noRot="1" noChangeAspect="1" noMove="1" noResize="1" noEditPoints="1" noAdjustHandles="1" noChangeArrowheads="1" noChangeShapeType="1" noTextEdit="1"/>
              </p:cNvSpPr>
              <p:nvPr/>
            </p:nvSpPr>
            <p:spPr>
              <a:xfrm>
                <a:off x="6859032" y="574475"/>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5065516C-BEC4-C15E-838C-073F23728B60}"/>
              </a:ext>
            </a:extLst>
          </p:cNvPr>
          <p:cNvCxnSpPr>
            <a:cxnSpLocks/>
          </p:cNvCxnSpPr>
          <p:nvPr/>
        </p:nvCxnSpPr>
        <p:spPr>
          <a:xfrm flipH="1">
            <a:off x="8418638" y="2265051"/>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B04037-67CA-7992-3E6C-16248B8F0E55}"/>
                  </a:ext>
                </a:extLst>
              </p:cNvPr>
              <p:cNvSpPr txBox="1"/>
              <p:nvPr/>
            </p:nvSpPr>
            <p:spPr>
              <a:xfrm>
                <a:off x="8311294" y="2265051"/>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96B04037-67CA-7992-3E6C-16248B8F0E55}"/>
                  </a:ext>
                </a:extLst>
              </p:cNvPr>
              <p:cNvSpPr txBox="1">
                <a:spLocks noRot="1" noChangeAspect="1" noMove="1" noResize="1" noEditPoints="1" noAdjustHandles="1" noChangeArrowheads="1" noChangeShapeType="1" noTextEdit="1"/>
              </p:cNvSpPr>
              <p:nvPr/>
            </p:nvSpPr>
            <p:spPr>
              <a:xfrm>
                <a:off x="8311294" y="2265051"/>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30821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DFB8-278C-0D47-73E3-21B37DAC1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9F96C-ECAB-1253-648B-4805121FC746}"/>
              </a:ext>
            </a:extLst>
          </p:cNvPr>
          <p:cNvSpPr>
            <a:spLocks noGrp="1"/>
          </p:cNvSpPr>
          <p:nvPr>
            <p:ph type="title"/>
          </p:nvPr>
        </p:nvSpPr>
        <p:spPr/>
        <p:txBody>
          <a:bodyPr>
            <a:normAutofit fontScale="90000"/>
          </a:bodyPr>
          <a:lstStyle/>
          <a:p>
            <a:r>
              <a:rPr lang="en-US" dirty="0"/>
              <a:t>Typical NN training loop</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FF3F8C8-B08F-D995-9D19-B91D56E8367B}"/>
                  </a:ext>
                </a:extLst>
              </p:cNvPr>
              <p:cNvSpPr>
                <a:spLocks noGrp="1"/>
              </p:cNvSpPr>
              <p:nvPr>
                <p:ph type="body" idx="1"/>
              </p:nvPr>
            </p:nvSpPr>
            <p:spPr>
              <a:xfrm>
                <a:off x="311700" y="1266325"/>
                <a:ext cx="4865370" cy="3302700"/>
              </a:xfrm>
            </p:spPr>
            <p:txBody>
              <a:bodyPr/>
              <a:lstStyle/>
              <a:p>
                <a:pPr>
                  <a:buFont typeface="+mj-lt"/>
                  <a:buAutoNum type="arabicPeriod"/>
                </a:pPr>
                <a:r>
                  <a:rPr lang="en-US" dirty="0"/>
                  <a:t>Forward pass: make a prediction</a:t>
                </a:r>
              </a:p>
              <a:p>
                <a:pPr>
                  <a:buFont typeface="+mj-lt"/>
                  <a:buAutoNum type="arabicPeriod"/>
                </a:pPr>
                <a:r>
                  <a:rPr lang="en-US" dirty="0"/>
                  <a:t>Compute loss: compare predicted </a:t>
                </a:r>
                <a14:m>
                  <m:oMath xmlns:m="http://schemas.openxmlformats.org/officeDocument/2006/math">
                    <m:r>
                      <a:rPr lang="en-US" b="0" i="1" smtClean="0">
                        <a:latin typeface="Cambria Math" panose="02040503050406030204" pitchFamily="18" charset="0"/>
                      </a:rPr>
                      <m:t>𝑦</m:t>
                    </m:r>
                  </m:oMath>
                </a14:m>
                <a:r>
                  <a:rPr lang="en-US" b="0" dirty="0"/>
                  <a:t> to true </a:t>
                </a:r>
                <a14:m>
                  <m:oMath xmlns:m="http://schemas.openxmlformats.org/officeDocument/2006/math">
                    <m:r>
                      <a:rPr lang="en-US" b="0" i="1" smtClean="0">
                        <a:latin typeface="Cambria Math" panose="02040503050406030204" pitchFamily="18" charset="0"/>
                      </a:rPr>
                      <m:t>𝑦</m:t>
                    </m:r>
                  </m:oMath>
                </a14:m>
                <a:endParaRPr lang="en-US" b="0" dirty="0"/>
              </a:p>
              <a:p>
                <a:pPr>
                  <a:buFont typeface="+mj-lt"/>
                  <a:buAutoNum type="arabicPeriod"/>
                </a:pPr>
                <a:r>
                  <a:rPr lang="en-US" dirty="0"/>
                  <a:t>Backpropagation: compute gradients</a:t>
                </a:r>
              </a:p>
              <a:p>
                <a:pPr>
                  <a:buFont typeface="+mj-lt"/>
                  <a:buAutoNum type="arabicPeriod"/>
                </a:pPr>
                <a:r>
                  <a:rPr lang="en-US" b="0" dirty="0"/>
                  <a:t>Optimizer step: update weights and biases</a:t>
                </a:r>
              </a:p>
              <a:p>
                <a:pPr>
                  <a:buFont typeface="+mj-lt"/>
                  <a:buAutoNum type="arabicPeriod"/>
                </a:pPr>
                <a:endParaRPr lang="en-US" b="0" dirty="0"/>
              </a:p>
              <a:p>
                <a:pPr>
                  <a:buFont typeface="+mj-lt"/>
                  <a:buAutoNum type="arabicPeriod"/>
                </a:pPr>
                <a:endParaRPr lang="en-US" dirty="0"/>
              </a:p>
            </p:txBody>
          </p:sp>
        </mc:Choice>
        <mc:Fallback>
          <p:sp>
            <p:nvSpPr>
              <p:cNvPr id="3" name="Text Placeholder 2">
                <a:extLst>
                  <a:ext uri="{FF2B5EF4-FFF2-40B4-BE49-F238E27FC236}">
                    <a16:creationId xmlns:a16="http://schemas.microsoft.com/office/drawing/2014/main" id="{BFF3F8C8-B08F-D995-9D19-B91D56E8367B}"/>
                  </a:ext>
                </a:extLst>
              </p:cNvPr>
              <p:cNvSpPr>
                <a:spLocks noGrp="1" noRot="1" noChangeAspect="1" noMove="1" noResize="1" noEditPoints="1" noAdjustHandles="1" noChangeArrowheads="1" noChangeShapeType="1" noTextEdit="1"/>
              </p:cNvSpPr>
              <p:nvPr>
                <p:ph type="body" idx="1"/>
              </p:nvPr>
            </p:nvSpPr>
            <p:spPr>
              <a:xfrm>
                <a:off x="311700" y="1266325"/>
                <a:ext cx="4865370" cy="3302700"/>
              </a:xfr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492FCA2-BDC2-3F42-8D93-EDC020F1F0D0}"/>
              </a:ext>
            </a:extLst>
          </p:cNvPr>
          <p:cNvPicPr>
            <a:picLocks noChangeAspect="1"/>
          </p:cNvPicPr>
          <p:nvPr/>
        </p:nvPicPr>
        <p:blipFill>
          <a:blip r:embed="rId4"/>
          <a:stretch>
            <a:fillRect/>
          </a:stretch>
        </p:blipFill>
        <p:spPr>
          <a:xfrm>
            <a:off x="5177070" y="759433"/>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450684C-3538-5C2E-55FB-A790E521106D}"/>
                  </a:ext>
                </a:extLst>
              </p:cNvPr>
              <p:cNvSpPr txBox="1"/>
              <p:nvPr/>
            </p:nvSpPr>
            <p:spPr>
              <a:xfrm>
                <a:off x="6321455" y="93024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D450684C-3538-5C2E-55FB-A790E521106D}"/>
                  </a:ext>
                </a:extLst>
              </p:cNvPr>
              <p:cNvSpPr txBox="1">
                <a:spLocks noRot="1" noChangeAspect="1" noMove="1" noResize="1" noEditPoints="1" noAdjustHandles="1" noChangeArrowheads="1" noChangeShapeType="1" noTextEdit="1"/>
              </p:cNvSpPr>
              <p:nvPr/>
            </p:nvSpPr>
            <p:spPr>
              <a:xfrm>
                <a:off x="6321455" y="930248"/>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5C73C7-7FA6-38C3-358E-A32054976D2E}"/>
                  </a:ext>
                </a:extLst>
              </p:cNvPr>
              <p:cNvSpPr txBox="1"/>
              <p:nvPr/>
            </p:nvSpPr>
            <p:spPr>
              <a:xfrm>
                <a:off x="6069115" y="143990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195C73C7-7FA6-38C3-358E-A32054976D2E}"/>
                  </a:ext>
                </a:extLst>
              </p:cNvPr>
              <p:cNvSpPr txBox="1">
                <a:spLocks noRot="1" noChangeAspect="1" noMove="1" noResize="1" noEditPoints="1" noAdjustHandles="1" noChangeArrowheads="1" noChangeShapeType="1" noTextEdit="1"/>
              </p:cNvSpPr>
              <p:nvPr/>
            </p:nvSpPr>
            <p:spPr>
              <a:xfrm>
                <a:off x="6069115" y="1439909"/>
                <a:ext cx="553453"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3D3184-4CED-2187-283B-7DD6A9E0449F}"/>
                  </a:ext>
                </a:extLst>
              </p:cNvPr>
              <p:cNvSpPr txBox="1"/>
              <p:nvPr/>
            </p:nvSpPr>
            <p:spPr>
              <a:xfrm>
                <a:off x="5892561" y="189670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A93D3184-4CED-2187-283B-7DD6A9E0449F}"/>
                  </a:ext>
                </a:extLst>
              </p:cNvPr>
              <p:cNvSpPr txBox="1">
                <a:spLocks noRot="1" noChangeAspect="1" noMove="1" noResize="1" noEditPoints="1" noAdjustHandles="1" noChangeArrowheads="1" noChangeShapeType="1" noTextEdit="1"/>
              </p:cNvSpPr>
              <p:nvPr/>
            </p:nvSpPr>
            <p:spPr>
              <a:xfrm>
                <a:off x="5892561" y="1896704"/>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5D80910-08C3-2C1A-D997-1AE02D1DCC6B}"/>
                  </a:ext>
                </a:extLst>
              </p:cNvPr>
              <p:cNvSpPr txBox="1"/>
              <p:nvPr/>
            </p:nvSpPr>
            <p:spPr>
              <a:xfrm>
                <a:off x="6119796" y="232380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F5D80910-08C3-2C1A-D997-1AE02D1DCC6B}"/>
                  </a:ext>
                </a:extLst>
              </p:cNvPr>
              <p:cNvSpPr txBox="1">
                <a:spLocks noRot="1" noChangeAspect="1" noMove="1" noResize="1" noEditPoints="1" noAdjustHandles="1" noChangeArrowheads="1" noChangeShapeType="1" noTextEdit="1"/>
              </p:cNvSpPr>
              <p:nvPr/>
            </p:nvSpPr>
            <p:spPr>
              <a:xfrm>
                <a:off x="6119796" y="2323808"/>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C3BF9EE-A2EE-EFB2-4B62-BA577789F70F}"/>
                  </a:ext>
                </a:extLst>
              </p:cNvPr>
              <p:cNvSpPr txBox="1"/>
              <p:nvPr/>
            </p:nvSpPr>
            <p:spPr>
              <a:xfrm>
                <a:off x="7795191" y="1175893"/>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1C3BF9EE-A2EE-EFB2-4B62-BA577789F70F}"/>
                  </a:ext>
                </a:extLst>
              </p:cNvPr>
              <p:cNvSpPr txBox="1">
                <a:spLocks noRot="1" noChangeAspect="1" noMove="1" noResize="1" noEditPoints="1" noAdjustHandles="1" noChangeArrowheads="1" noChangeShapeType="1" noTextEdit="1"/>
              </p:cNvSpPr>
              <p:nvPr/>
            </p:nvSpPr>
            <p:spPr>
              <a:xfrm>
                <a:off x="7795191" y="1175893"/>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CA9A0C-451B-B4B5-8EB1-5F221782EB77}"/>
                  </a:ext>
                </a:extLst>
              </p:cNvPr>
              <p:cNvSpPr txBox="1"/>
              <p:nvPr/>
            </p:nvSpPr>
            <p:spPr>
              <a:xfrm>
                <a:off x="7615975" y="202064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E9CA9A0C-451B-B4B5-8EB1-5F221782EB77}"/>
                  </a:ext>
                </a:extLst>
              </p:cNvPr>
              <p:cNvSpPr txBox="1">
                <a:spLocks noRot="1" noChangeAspect="1" noMove="1" noResize="1" noEditPoints="1" noAdjustHandles="1" noChangeArrowheads="1" noChangeShapeType="1" noTextEdit="1"/>
              </p:cNvSpPr>
              <p:nvPr/>
            </p:nvSpPr>
            <p:spPr>
              <a:xfrm>
                <a:off x="7615975" y="2020641"/>
                <a:ext cx="553453" cy="523220"/>
              </a:xfrm>
              <a:prstGeom prst="rect">
                <a:avLst/>
              </a:prstGeom>
              <a:blipFill>
                <a:blip r:embed="rId10"/>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8BCEBF6-FF03-E3BA-D3F9-5F7F9A4C2996}"/>
              </a:ext>
            </a:extLst>
          </p:cNvPr>
          <p:cNvCxnSpPr>
            <a:cxnSpLocks/>
          </p:cNvCxnSpPr>
          <p:nvPr/>
        </p:nvCxnSpPr>
        <p:spPr>
          <a:xfrm flipV="1">
            <a:off x="6874908" y="2868481"/>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A90178F-9D9A-3B08-1DF3-24F9C85DE124}"/>
              </a:ext>
            </a:extLst>
          </p:cNvPr>
          <p:cNvCxnSpPr>
            <a:cxnSpLocks/>
          </p:cNvCxnSpPr>
          <p:nvPr/>
        </p:nvCxnSpPr>
        <p:spPr>
          <a:xfrm>
            <a:off x="6874908" y="671528"/>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8B2982D-16B8-E6CE-3A52-7387F4909893}"/>
                  </a:ext>
                </a:extLst>
              </p:cNvPr>
              <p:cNvSpPr txBox="1"/>
              <p:nvPr/>
            </p:nvSpPr>
            <p:spPr>
              <a:xfrm>
                <a:off x="6859031" y="291155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98B2982D-16B8-E6CE-3A52-7387F4909893}"/>
                  </a:ext>
                </a:extLst>
              </p:cNvPr>
              <p:cNvSpPr txBox="1">
                <a:spLocks noRot="1" noChangeAspect="1" noMove="1" noResize="1" noEditPoints="1" noAdjustHandles="1" noChangeArrowheads="1" noChangeShapeType="1" noTextEdit="1"/>
              </p:cNvSpPr>
              <p:nvPr/>
            </p:nvSpPr>
            <p:spPr>
              <a:xfrm>
                <a:off x="6859031" y="2911558"/>
                <a:ext cx="553453"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846F9C4-C3B1-EC84-4740-90EB3BE99757}"/>
                  </a:ext>
                </a:extLst>
              </p:cNvPr>
              <p:cNvSpPr txBox="1"/>
              <p:nvPr/>
            </p:nvSpPr>
            <p:spPr>
              <a:xfrm>
                <a:off x="6859032" y="5744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8846F9C4-C3B1-EC84-4740-90EB3BE99757}"/>
                  </a:ext>
                </a:extLst>
              </p:cNvPr>
              <p:cNvSpPr txBox="1">
                <a:spLocks noRot="1" noChangeAspect="1" noMove="1" noResize="1" noEditPoints="1" noAdjustHandles="1" noChangeArrowheads="1" noChangeShapeType="1" noTextEdit="1"/>
              </p:cNvSpPr>
              <p:nvPr/>
            </p:nvSpPr>
            <p:spPr>
              <a:xfrm>
                <a:off x="6859032" y="574475"/>
                <a:ext cx="553453" cy="307777"/>
              </a:xfrm>
              <a:prstGeom prst="rect">
                <a:avLst/>
              </a:prstGeom>
              <a:blipFill>
                <a:blip r:embed="rId12"/>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9AA5B81-0DF9-34BF-8554-1EA056B0DBA9}"/>
              </a:ext>
            </a:extLst>
          </p:cNvPr>
          <p:cNvCxnSpPr>
            <a:cxnSpLocks/>
          </p:cNvCxnSpPr>
          <p:nvPr/>
        </p:nvCxnSpPr>
        <p:spPr>
          <a:xfrm flipH="1">
            <a:off x="8418638" y="2265051"/>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50C2464-79A5-A4E0-A04D-C7012FDEC52E}"/>
                  </a:ext>
                </a:extLst>
              </p:cNvPr>
              <p:cNvSpPr txBox="1"/>
              <p:nvPr/>
            </p:nvSpPr>
            <p:spPr>
              <a:xfrm>
                <a:off x="8311294" y="2265051"/>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C50C2464-79A5-A4E0-A04D-C7012FDEC52E}"/>
                  </a:ext>
                </a:extLst>
              </p:cNvPr>
              <p:cNvSpPr txBox="1">
                <a:spLocks noRot="1" noChangeAspect="1" noMove="1" noResize="1" noEditPoints="1" noAdjustHandles="1" noChangeArrowheads="1" noChangeShapeType="1" noTextEdit="1"/>
              </p:cNvSpPr>
              <p:nvPr/>
            </p:nvSpPr>
            <p:spPr>
              <a:xfrm>
                <a:off x="8311294" y="2265051"/>
                <a:ext cx="553453" cy="307777"/>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58711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6058-3F03-319C-67C6-A4C846839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F37CD-2981-98C5-018B-BF6085EBCE79}"/>
              </a:ext>
            </a:extLst>
          </p:cNvPr>
          <p:cNvSpPr>
            <a:spLocks noGrp="1"/>
          </p:cNvSpPr>
          <p:nvPr>
            <p:ph type="title"/>
          </p:nvPr>
        </p:nvSpPr>
        <p:spPr/>
        <p:txBody>
          <a:bodyPr>
            <a:normAutofit fontScale="90000"/>
          </a:bodyPr>
          <a:lstStyle/>
          <a:p>
            <a:r>
              <a:rPr lang="en-US" dirty="0"/>
              <a:t>Typical NN training loop</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D5DB374-1A06-3E50-C21E-45AEAB6B98AC}"/>
                  </a:ext>
                </a:extLst>
              </p:cNvPr>
              <p:cNvSpPr>
                <a:spLocks noGrp="1"/>
              </p:cNvSpPr>
              <p:nvPr>
                <p:ph type="body" idx="1"/>
              </p:nvPr>
            </p:nvSpPr>
            <p:spPr>
              <a:xfrm>
                <a:off x="311700" y="1266325"/>
                <a:ext cx="4865370" cy="3302700"/>
              </a:xfrm>
            </p:spPr>
            <p:txBody>
              <a:bodyPr>
                <a:normAutofit/>
              </a:bodyPr>
              <a:lstStyle/>
              <a:p>
                <a:pPr>
                  <a:buFont typeface="+mj-lt"/>
                  <a:buAutoNum type="arabicPeriod"/>
                </a:pPr>
                <a:r>
                  <a:rPr lang="en-US" dirty="0"/>
                  <a:t>Forward pass: make a prediction</a:t>
                </a:r>
              </a:p>
              <a:p>
                <a:pPr>
                  <a:buFont typeface="+mj-lt"/>
                  <a:buAutoNum type="arabicPeriod"/>
                </a:pPr>
                <a:r>
                  <a:rPr lang="en-US" dirty="0"/>
                  <a:t>Compute loss: compare predicted </a:t>
                </a:r>
                <a14:m>
                  <m:oMath xmlns:m="http://schemas.openxmlformats.org/officeDocument/2006/math">
                    <m:r>
                      <a:rPr lang="en-US" b="0" i="1" smtClean="0">
                        <a:latin typeface="Cambria Math" panose="02040503050406030204" pitchFamily="18" charset="0"/>
                      </a:rPr>
                      <m:t>𝑦</m:t>
                    </m:r>
                  </m:oMath>
                </a14:m>
                <a:r>
                  <a:rPr lang="en-US" b="0" dirty="0"/>
                  <a:t> to true </a:t>
                </a:r>
                <a14:m>
                  <m:oMath xmlns:m="http://schemas.openxmlformats.org/officeDocument/2006/math">
                    <m:r>
                      <a:rPr lang="en-US" b="0" i="1" smtClean="0">
                        <a:latin typeface="Cambria Math" panose="02040503050406030204" pitchFamily="18" charset="0"/>
                      </a:rPr>
                      <m:t>𝑦</m:t>
                    </m:r>
                  </m:oMath>
                </a14:m>
                <a:endParaRPr lang="en-US" b="0" dirty="0"/>
              </a:p>
              <a:p>
                <a:pPr>
                  <a:buFont typeface="+mj-lt"/>
                  <a:buAutoNum type="arabicPeriod"/>
                </a:pPr>
                <a:r>
                  <a:rPr lang="en-US" dirty="0"/>
                  <a:t>Backpropagation: compute gradients</a:t>
                </a:r>
              </a:p>
              <a:p>
                <a:pPr>
                  <a:buFont typeface="+mj-lt"/>
                  <a:buAutoNum type="arabicPeriod"/>
                </a:pPr>
                <a:r>
                  <a:rPr lang="en-US" b="0" dirty="0"/>
                  <a:t>Optimizer step: update weights and biases</a:t>
                </a:r>
              </a:p>
              <a:p>
                <a:pPr lvl="1"/>
                <a:r>
                  <a:rPr lang="en-US" dirty="0"/>
                  <a:t>We can update the weights using an algorithm like gradient descent</a:t>
                </a:r>
                <a:endParaRPr lang="en-US" b="0" dirty="0"/>
              </a:p>
              <a:p>
                <a:pPr>
                  <a:buFont typeface="+mj-lt"/>
                  <a:buAutoNum type="arabicPeriod"/>
                </a:pPr>
                <a:endParaRPr lang="en-US" dirty="0"/>
              </a:p>
            </p:txBody>
          </p:sp>
        </mc:Choice>
        <mc:Fallback>
          <p:sp>
            <p:nvSpPr>
              <p:cNvPr id="3" name="Text Placeholder 2">
                <a:extLst>
                  <a:ext uri="{FF2B5EF4-FFF2-40B4-BE49-F238E27FC236}">
                    <a16:creationId xmlns:a16="http://schemas.microsoft.com/office/drawing/2014/main" id="{0D5DB374-1A06-3E50-C21E-45AEAB6B98AC}"/>
                  </a:ext>
                </a:extLst>
              </p:cNvPr>
              <p:cNvSpPr>
                <a:spLocks noGrp="1" noRot="1" noChangeAspect="1" noMove="1" noResize="1" noEditPoints="1" noAdjustHandles="1" noChangeArrowheads="1" noChangeShapeType="1" noTextEdit="1"/>
              </p:cNvSpPr>
              <p:nvPr>
                <p:ph type="body" idx="1"/>
              </p:nvPr>
            </p:nvSpPr>
            <p:spPr>
              <a:xfrm>
                <a:off x="311700" y="1266325"/>
                <a:ext cx="4865370" cy="3302700"/>
              </a:xfr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684B602-9CCF-08FF-3923-AFE938798E72}"/>
              </a:ext>
            </a:extLst>
          </p:cNvPr>
          <p:cNvPicPr>
            <a:picLocks noChangeAspect="1"/>
          </p:cNvPicPr>
          <p:nvPr/>
        </p:nvPicPr>
        <p:blipFill>
          <a:blip r:embed="rId4"/>
          <a:stretch>
            <a:fillRect/>
          </a:stretch>
        </p:blipFill>
        <p:spPr>
          <a:xfrm>
            <a:off x="5177070" y="759433"/>
            <a:ext cx="3732562" cy="2543185"/>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9A5CEAD-88EA-CC0E-D123-7EC36C93FF61}"/>
                  </a:ext>
                </a:extLst>
              </p:cNvPr>
              <p:cNvSpPr txBox="1"/>
              <p:nvPr/>
            </p:nvSpPr>
            <p:spPr>
              <a:xfrm>
                <a:off x="6321455" y="93024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5" name="TextBox 4">
                <a:extLst>
                  <a:ext uri="{FF2B5EF4-FFF2-40B4-BE49-F238E27FC236}">
                    <a16:creationId xmlns:a16="http://schemas.microsoft.com/office/drawing/2014/main" id="{A9A5CEAD-88EA-CC0E-D123-7EC36C93FF61}"/>
                  </a:ext>
                </a:extLst>
              </p:cNvPr>
              <p:cNvSpPr txBox="1">
                <a:spLocks noRot="1" noChangeAspect="1" noMove="1" noResize="1" noEditPoints="1" noAdjustHandles="1" noChangeArrowheads="1" noChangeShapeType="1" noTextEdit="1"/>
              </p:cNvSpPr>
              <p:nvPr/>
            </p:nvSpPr>
            <p:spPr>
              <a:xfrm>
                <a:off x="6321455" y="930248"/>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14CFBCD-1D9B-82BF-B033-6B5CF5F71B81}"/>
                  </a:ext>
                </a:extLst>
              </p:cNvPr>
              <p:cNvSpPr txBox="1"/>
              <p:nvPr/>
            </p:nvSpPr>
            <p:spPr>
              <a:xfrm>
                <a:off x="6069115" y="143990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6" name="TextBox 5">
                <a:extLst>
                  <a:ext uri="{FF2B5EF4-FFF2-40B4-BE49-F238E27FC236}">
                    <a16:creationId xmlns:a16="http://schemas.microsoft.com/office/drawing/2014/main" id="{B14CFBCD-1D9B-82BF-B033-6B5CF5F71B81}"/>
                  </a:ext>
                </a:extLst>
              </p:cNvPr>
              <p:cNvSpPr txBox="1">
                <a:spLocks noRot="1" noChangeAspect="1" noMove="1" noResize="1" noEditPoints="1" noAdjustHandles="1" noChangeArrowheads="1" noChangeShapeType="1" noTextEdit="1"/>
              </p:cNvSpPr>
              <p:nvPr/>
            </p:nvSpPr>
            <p:spPr>
              <a:xfrm>
                <a:off x="6069115" y="1439909"/>
                <a:ext cx="553453"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9F9D02F-7DDB-D625-5759-C8A1787A1688}"/>
                  </a:ext>
                </a:extLst>
              </p:cNvPr>
              <p:cNvSpPr txBox="1"/>
              <p:nvPr/>
            </p:nvSpPr>
            <p:spPr>
              <a:xfrm>
                <a:off x="5892561" y="189670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7" name="TextBox 6">
                <a:extLst>
                  <a:ext uri="{FF2B5EF4-FFF2-40B4-BE49-F238E27FC236}">
                    <a16:creationId xmlns:a16="http://schemas.microsoft.com/office/drawing/2014/main" id="{59F9D02F-7DDB-D625-5759-C8A1787A1688}"/>
                  </a:ext>
                </a:extLst>
              </p:cNvPr>
              <p:cNvSpPr txBox="1">
                <a:spLocks noRot="1" noChangeAspect="1" noMove="1" noResize="1" noEditPoints="1" noAdjustHandles="1" noChangeArrowheads="1" noChangeShapeType="1" noTextEdit="1"/>
              </p:cNvSpPr>
              <p:nvPr/>
            </p:nvSpPr>
            <p:spPr>
              <a:xfrm>
                <a:off x="5892561" y="1896704"/>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2902A34-B8D0-5C55-C03B-A0DFF8E84D65}"/>
                  </a:ext>
                </a:extLst>
              </p:cNvPr>
              <p:cNvSpPr txBox="1"/>
              <p:nvPr/>
            </p:nvSpPr>
            <p:spPr>
              <a:xfrm>
                <a:off x="6119796" y="232380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8" name="TextBox 7">
                <a:extLst>
                  <a:ext uri="{FF2B5EF4-FFF2-40B4-BE49-F238E27FC236}">
                    <a16:creationId xmlns:a16="http://schemas.microsoft.com/office/drawing/2014/main" id="{82902A34-B8D0-5C55-C03B-A0DFF8E84D65}"/>
                  </a:ext>
                </a:extLst>
              </p:cNvPr>
              <p:cNvSpPr txBox="1">
                <a:spLocks noRot="1" noChangeAspect="1" noMove="1" noResize="1" noEditPoints="1" noAdjustHandles="1" noChangeArrowheads="1" noChangeShapeType="1" noTextEdit="1"/>
              </p:cNvSpPr>
              <p:nvPr/>
            </p:nvSpPr>
            <p:spPr>
              <a:xfrm>
                <a:off x="6119796" y="2323808"/>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84BFF32-D937-8597-B2D2-195BF10D7CA1}"/>
                  </a:ext>
                </a:extLst>
              </p:cNvPr>
              <p:cNvSpPr txBox="1"/>
              <p:nvPr/>
            </p:nvSpPr>
            <p:spPr>
              <a:xfrm>
                <a:off x="7795191" y="1175893"/>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9" name="TextBox 8">
                <a:extLst>
                  <a:ext uri="{FF2B5EF4-FFF2-40B4-BE49-F238E27FC236}">
                    <a16:creationId xmlns:a16="http://schemas.microsoft.com/office/drawing/2014/main" id="{C84BFF32-D937-8597-B2D2-195BF10D7CA1}"/>
                  </a:ext>
                </a:extLst>
              </p:cNvPr>
              <p:cNvSpPr txBox="1">
                <a:spLocks noRot="1" noChangeAspect="1" noMove="1" noResize="1" noEditPoints="1" noAdjustHandles="1" noChangeArrowheads="1" noChangeShapeType="1" noTextEdit="1"/>
              </p:cNvSpPr>
              <p:nvPr/>
            </p:nvSpPr>
            <p:spPr>
              <a:xfrm>
                <a:off x="7795191" y="1175893"/>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5128632-D202-9301-49EE-DE8A6D9E813D}"/>
                  </a:ext>
                </a:extLst>
              </p:cNvPr>
              <p:cNvSpPr txBox="1"/>
              <p:nvPr/>
            </p:nvSpPr>
            <p:spPr>
              <a:xfrm>
                <a:off x="7615975" y="202064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0" name="TextBox 9">
                <a:extLst>
                  <a:ext uri="{FF2B5EF4-FFF2-40B4-BE49-F238E27FC236}">
                    <a16:creationId xmlns:a16="http://schemas.microsoft.com/office/drawing/2014/main" id="{05128632-D202-9301-49EE-DE8A6D9E813D}"/>
                  </a:ext>
                </a:extLst>
              </p:cNvPr>
              <p:cNvSpPr txBox="1">
                <a:spLocks noRot="1" noChangeAspect="1" noMove="1" noResize="1" noEditPoints="1" noAdjustHandles="1" noChangeArrowheads="1" noChangeShapeType="1" noTextEdit="1"/>
              </p:cNvSpPr>
              <p:nvPr/>
            </p:nvSpPr>
            <p:spPr>
              <a:xfrm>
                <a:off x="7615975" y="2020641"/>
                <a:ext cx="553453" cy="523220"/>
              </a:xfrm>
              <a:prstGeom prst="rect">
                <a:avLst/>
              </a:prstGeom>
              <a:blipFill>
                <a:blip r:embed="rId10"/>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114F5060-4AA6-5CDD-1782-B0FBC9C2B616}"/>
              </a:ext>
            </a:extLst>
          </p:cNvPr>
          <p:cNvCxnSpPr>
            <a:cxnSpLocks/>
          </p:cNvCxnSpPr>
          <p:nvPr/>
        </p:nvCxnSpPr>
        <p:spPr>
          <a:xfrm flipV="1">
            <a:off x="6874908" y="2868481"/>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DFEA781-46D0-9EB9-A19B-910764C9CAFB}"/>
              </a:ext>
            </a:extLst>
          </p:cNvPr>
          <p:cNvCxnSpPr>
            <a:cxnSpLocks/>
          </p:cNvCxnSpPr>
          <p:nvPr/>
        </p:nvCxnSpPr>
        <p:spPr>
          <a:xfrm>
            <a:off x="6874908" y="671528"/>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CD2A58D-F0AA-ABB5-068B-AC9A758C9E92}"/>
                  </a:ext>
                </a:extLst>
              </p:cNvPr>
              <p:cNvSpPr txBox="1"/>
              <p:nvPr/>
            </p:nvSpPr>
            <p:spPr>
              <a:xfrm>
                <a:off x="6859031" y="291155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3" name="TextBox 12">
                <a:extLst>
                  <a:ext uri="{FF2B5EF4-FFF2-40B4-BE49-F238E27FC236}">
                    <a16:creationId xmlns:a16="http://schemas.microsoft.com/office/drawing/2014/main" id="{FCD2A58D-F0AA-ABB5-068B-AC9A758C9E92}"/>
                  </a:ext>
                </a:extLst>
              </p:cNvPr>
              <p:cNvSpPr txBox="1">
                <a:spLocks noRot="1" noChangeAspect="1" noMove="1" noResize="1" noEditPoints="1" noAdjustHandles="1" noChangeArrowheads="1" noChangeShapeType="1" noTextEdit="1"/>
              </p:cNvSpPr>
              <p:nvPr/>
            </p:nvSpPr>
            <p:spPr>
              <a:xfrm>
                <a:off x="6859031" y="2911558"/>
                <a:ext cx="553453"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A16EA673-2660-1CA4-D799-600DAA72BE49}"/>
                  </a:ext>
                </a:extLst>
              </p:cNvPr>
              <p:cNvSpPr txBox="1"/>
              <p:nvPr/>
            </p:nvSpPr>
            <p:spPr>
              <a:xfrm>
                <a:off x="6859032" y="5744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4" name="TextBox 13">
                <a:extLst>
                  <a:ext uri="{FF2B5EF4-FFF2-40B4-BE49-F238E27FC236}">
                    <a16:creationId xmlns:a16="http://schemas.microsoft.com/office/drawing/2014/main" id="{A16EA673-2660-1CA4-D799-600DAA72BE49}"/>
                  </a:ext>
                </a:extLst>
              </p:cNvPr>
              <p:cNvSpPr txBox="1">
                <a:spLocks noRot="1" noChangeAspect="1" noMove="1" noResize="1" noEditPoints="1" noAdjustHandles="1" noChangeArrowheads="1" noChangeShapeType="1" noTextEdit="1"/>
              </p:cNvSpPr>
              <p:nvPr/>
            </p:nvSpPr>
            <p:spPr>
              <a:xfrm>
                <a:off x="6859032" y="574475"/>
                <a:ext cx="553453" cy="307777"/>
              </a:xfrm>
              <a:prstGeom prst="rect">
                <a:avLst/>
              </a:prstGeom>
              <a:blipFill>
                <a:blip r:embed="rId12"/>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EA1B3960-345B-E72B-C5B5-3A1C4A31F466}"/>
              </a:ext>
            </a:extLst>
          </p:cNvPr>
          <p:cNvCxnSpPr>
            <a:cxnSpLocks/>
          </p:cNvCxnSpPr>
          <p:nvPr/>
        </p:nvCxnSpPr>
        <p:spPr>
          <a:xfrm flipH="1">
            <a:off x="8418638" y="2265051"/>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66D61FEC-B384-1858-8137-79A2FB28A86F}"/>
                  </a:ext>
                </a:extLst>
              </p:cNvPr>
              <p:cNvSpPr txBox="1"/>
              <p:nvPr/>
            </p:nvSpPr>
            <p:spPr>
              <a:xfrm>
                <a:off x="8311294" y="2265051"/>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6" name="TextBox 15">
                <a:extLst>
                  <a:ext uri="{FF2B5EF4-FFF2-40B4-BE49-F238E27FC236}">
                    <a16:creationId xmlns:a16="http://schemas.microsoft.com/office/drawing/2014/main" id="{66D61FEC-B384-1858-8137-79A2FB28A86F}"/>
                  </a:ext>
                </a:extLst>
              </p:cNvPr>
              <p:cNvSpPr txBox="1">
                <a:spLocks noRot="1" noChangeAspect="1" noMove="1" noResize="1" noEditPoints="1" noAdjustHandles="1" noChangeArrowheads="1" noChangeShapeType="1" noTextEdit="1"/>
              </p:cNvSpPr>
              <p:nvPr/>
            </p:nvSpPr>
            <p:spPr>
              <a:xfrm>
                <a:off x="8311294" y="2265051"/>
                <a:ext cx="553453" cy="307777"/>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9227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6D9D-2F88-925C-A519-B373F5306190}"/>
              </a:ext>
            </a:extLst>
          </p:cNvPr>
          <p:cNvSpPr>
            <a:spLocks noGrp="1"/>
          </p:cNvSpPr>
          <p:nvPr>
            <p:ph type="title"/>
          </p:nvPr>
        </p:nvSpPr>
        <p:spPr>
          <a:xfrm>
            <a:off x="311700" y="2218050"/>
            <a:ext cx="8520600" cy="707400"/>
          </a:xfrm>
        </p:spPr>
        <p:txBody>
          <a:bodyPr>
            <a:normAutofit fontScale="90000"/>
          </a:bodyPr>
          <a:lstStyle/>
          <a:p>
            <a:pPr algn="ctr"/>
            <a:r>
              <a:rPr lang="en-US" dirty="0"/>
              <a:t>Backpropagation</a:t>
            </a:r>
          </a:p>
        </p:txBody>
      </p:sp>
    </p:spTree>
    <p:extLst>
      <p:ext uri="{BB962C8B-B14F-4D97-AF65-F5344CB8AC3E}">
        <p14:creationId xmlns:p14="http://schemas.microsoft.com/office/powerpoint/2010/main" val="3144169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7CC0A-0815-A397-CE91-CF174DA4BEFE}"/>
              </a:ext>
            </a:extLst>
          </p:cNvPr>
          <p:cNvSpPr>
            <a:spLocks noGrp="1"/>
          </p:cNvSpPr>
          <p:nvPr>
            <p:ph type="title"/>
          </p:nvPr>
        </p:nvSpPr>
        <p:spPr/>
        <p:txBody>
          <a:bodyPr>
            <a:normAutofit fontScale="90000"/>
          </a:bodyPr>
          <a:lstStyle/>
          <a:p>
            <a:r>
              <a:rPr lang="en-US" dirty="0"/>
              <a:t>Recall: Backpropagation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18B0E3-7126-7A92-837E-A92933BEF3F9}"/>
                  </a:ext>
                </a:extLst>
              </p:cNvPr>
              <p:cNvSpPr>
                <a:spLocks noGrp="1"/>
              </p:cNvSpPr>
              <p:nvPr>
                <p:ph type="body" idx="1"/>
              </p:nvPr>
            </p:nvSpPr>
            <p:spPr/>
            <p:txBody>
              <a:bodyPr/>
              <a:lstStyle/>
              <a:p>
                <a:pPr marL="114300" indent="0">
                  <a:buNone/>
                </a:pPr>
                <a:r>
                  <a:rPr lang="en-US" dirty="0"/>
                  <a:t>After making a prediction (let’s say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b="0" dirty="0"/>
                  <a:t>) and computing the error (let’s say MSE =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oMath>
                </a14:m>
                <a:r>
                  <a:rPr lang="en-US" b="0" dirty="0"/>
                  <a:t>), we will try to find out which weights and biases contributed most to the error. </a:t>
                </a:r>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0E18B0E3-7126-7A92-837E-A92933BEF3F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E39C27D-576A-1608-75AA-B554E32BCC1C}"/>
              </a:ext>
            </a:extLst>
          </p:cNvPr>
          <p:cNvPicPr>
            <a:picLocks noChangeAspect="1"/>
          </p:cNvPicPr>
          <p:nvPr/>
        </p:nvPicPr>
        <p:blipFill>
          <a:blip r:embed="rId3"/>
          <a:stretch>
            <a:fillRect/>
          </a:stretch>
        </p:blipFill>
        <p:spPr>
          <a:xfrm>
            <a:off x="2557438" y="233286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2EBACC-ADC4-4EB8-17BC-5D437A415CF5}"/>
                  </a:ext>
                </a:extLst>
              </p:cNvPr>
              <p:cNvSpPr txBox="1"/>
              <p:nvPr/>
            </p:nvSpPr>
            <p:spPr>
              <a:xfrm>
                <a:off x="3701823" y="250367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DF2EBACC-ADC4-4EB8-17BC-5D437A415CF5}"/>
                  </a:ext>
                </a:extLst>
              </p:cNvPr>
              <p:cNvSpPr txBox="1">
                <a:spLocks noRot="1" noChangeAspect="1" noMove="1" noResize="1" noEditPoints="1" noAdjustHandles="1" noChangeArrowheads="1" noChangeShapeType="1" noTextEdit="1"/>
              </p:cNvSpPr>
              <p:nvPr/>
            </p:nvSpPr>
            <p:spPr>
              <a:xfrm>
                <a:off x="3701823" y="250367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DC4006-7AA2-4637-A49C-C932B1C0B7DA}"/>
                  </a:ext>
                </a:extLst>
              </p:cNvPr>
              <p:cNvSpPr txBox="1"/>
              <p:nvPr/>
            </p:nvSpPr>
            <p:spPr>
              <a:xfrm>
                <a:off x="3449483" y="301333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6FDC4006-7AA2-4637-A49C-C932B1C0B7DA}"/>
                  </a:ext>
                </a:extLst>
              </p:cNvPr>
              <p:cNvSpPr txBox="1">
                <a:spLocks noRot="1" noChangeAspect="1" noMove="1" noResize="1" noEditPoints="1" noAdjustHandles="1" noChangeArrowheads="1" noChangeShapeType="1" noTextEdit="1"/>
              </p:cNvSpPr>
              <p:nvPr/>
            </p:nvSpPr>
            <p:spPr>
              <a:xfrm>
                <a:off x="3449483" y="301333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342A3E0-C561-2ADB-1522-F28B197C3BBB}"/>
                  </a:ext>
                </a:extLst>
              </p:cNvPr>
              <p:cNvSpPr txBox="1"/>
              <p:nvPr/>
            </p:nvSpPr>
            <p:spPr>
              <a:xfrm>
                <a:off x="3272929" y="347013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B342A3E0-C561-2ADB-1522-F28B197C3BBB}"/>
                  </a:ext>
                </a:extLst>
              </p:cNvPr>
              <p:cNvSpPr txBox="1">
                <a:spLocks noRot="1" noChangeAspect="1" noMove="1" noResize="1" noEditPoints="1" noAdjustHandles="1" noChangeArrowheads="1" noChangeShapeType="1" noTextEdit="1"/>
              </p:cNvSpPr>
              <p:nvPr/>
            </p:nvSpPr>
            <p:spPr>
              <a:xfrm>
                <a:off x="3272929" y="347013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36BAB-3F07-66D8-994E-C42F2AD424FE}"/>
                  </a:ext>
                </a:extLst>
              </p:cNvPr>
              <p:cNvSpPr txBox="1"/>
              <p:nvPr/>
            </p:nvSpPr>
            <p:spPr>
              <a:xfrm>
                <a:off x="3500164" y="389723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51436BAB-3F07-66D8-994E-C42F2AD424FE}"/>
                  </a:ext>
                </a:extLst>
              </p:cNvPr>
              <p:cNvSpPr txBox="1">
                <a:spLocks noRot="1" noChangeAspect="1" noMove="1" noResize="1" noEditPoints="1" noAdjustHandles="1" noChangeArrowheads="1" noChangeShapeType="1" noTextEdit="1"/>
              </p:cNvSpPr>
              <p:nvPr/>
            </p:nvSpPr>
            <p:spPr>
              <a:xfrm>
                <a:off x="3500164" y="389723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F04B03-75F6-0B7F-2A65-4ED4D7A9478E}"/>
                  </a:ext>
                </a:extLst>
              </p:cNvPr>
              <p:cNvSpPr txBox="1"/>
              <p:nvPr/>
            </p:nvSpPr>
            <p:spPr>
              <a:xfrm>
                <a:off x="5175559" y="274932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47F04B03-75F6-0B7F-2A65-4ED4D7A9478E}"/>
                  </a:ext>
                </a:extLst>
              </p:cNvPr>
              <p:cNvSpPr txBox="1">
                <a:spLocks noRot="1" noChangeAspect="1" noMove="1" noResize="1" noEditPoints="1" noAdjustHandles="1" noChangeArrowheads="1" noChangeShapeType="1" noTextEdit="1"/>
              </p:cNvSpPr>
              <p:nvPr/>
            </p:nvSpPr>
            <p:spPr>
              <a:xfrm>
                <a:off x="5175559" y="274932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39D4BE-73D5-E7C1-A77C-FC386EE321A6}"/>
                  </a:ext>
                </a:extLst>
              </p:cNvPr>
              <p:cNvSpPr txBox="1"/>
              <p:nvPr/>
            </p:nvSpPr>
            <p:spPr>
              <a:xfrm>
                <a:off x="4996343" y="359406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9439D4BE-73D5-E7C1-A77C-FC386EE321A6}"/>
                  </a:ext>
                </a:extLst>
              </p:cNvPr>
              <p:cNvSpPr txBox="1">
                <a:spLocks noRot="1" noChangeAspect="1" noMove="1" noResize="1" noEditPoints="1" noAdjustHandles="1" noChangeArrowheads="1" noChangeShapeType="1" noTextEdit="1"/>
              </p:cNvSpPr>
              <p:nvPr/>
            </p:nvSpPr>
            <p:spPr>
              <a:xfrm>
                <a:off x="4996343" y="359406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C5086BEF-A416-4691-5C37-6B03FEE20BFA}"/>
              </a:ext>
            </a:extLst>
          </p:cNvPr>
          <p:cNvCxnSpPr>
            <a:cxnSpLocks/>
          </p:cNvCxnSpPr>
          <p:nvPr/>
        </p:nvCxnSpPr>
        <p:spPr>
          <a:xfrm flipV="1">
            <a:off x="4255276" y="444190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A9E113E-93E7-1181-334E-C4A1C79B03FE}"/>
              </a:ext>
            </a:extLst>
          </p:cNvPr>
          <p:cNvCxnSpPr>
            <a:cxnSpLocks/>
          </p:cNvCxnSpPr>
          <p:nvPr/>
        </p:nvCxnSpPr>
        <p:spPr>
          <a:xfrm>
            <a:off x="4255276" y="224495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31651-DA01-F425-B0B0-A9CEF92B07AB}"/>
                  </a:ext>
                </a:extLst>
              </p:cNvPr>
              <p:cNvSpPr txBox="1"/>
              <p:nvPr/>
            </p:nvSpPr>
            <p:spPr>
              <a:xfrm>
                <a:off x="4239399" y="44849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7AA31651-DA01-F425-B0B0-A9CEF92B07AB}"/>
                  </a:ext>
                </a:extLst>
              </p:cNvPr>
              <p:cNvSpPr txBox="1">
                <a:spLocks noRot="1" noChangeAspect="1" noMove="1" noResize="1" noEditPoints="1" noAdjustHandles="1" noChangeArrowheads="1" noChangeShapeType="1" noTextEdit="1"/>
              </p:cNvSpPr>
              <p:nvPr/>
            </p:nvSpPr>
            <p:spPr>
              <a:xfrm>
                <a:off x="4239399" y="4484985"/>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06A530A-C56C-3A05-5E97-9AEA903EDE9F}"/>
                  </a:ext>
                </a:extLst>
              </p:cNvPr>
              <p:cNvSpPr txBox="1"/>
              <p:nvPr/>
            </p:nvSpPr>
            <p:spPr>
              <a:xfrm>
                <a:off x="4239400" y="214790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A06A530A-C56C-3A05-5E97-9AEA903EDE9F}"/>
                  </a:ext>
                </a:extLst>
              </p:cNvPr>
              <p:cNvSpPr txBox="1">
                <a:spLocks noRot="1" noChangeAspect="1" noMove="1" noResize="1" noEditPoints="1" noAdjustHandles="1" noChangeArrowheads="1" noChangeShapeType="1" noTextEdit="1"/>
              </p:cNvSpPr>
              <p:nvPr/>
            </p:nvSpPr>
            <p:spPr>
              <a:xfrm>
                <a:off x="4239400" y="214790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79239DB-9768-7C2B-66D8-6F05CB6A276B}"/>
              </a:ext>
            </a:extLst>
          </p:cNvPr>
          <p:cNvCxnSpPr>
            <a:cxnSpLocks/>
          </p:cNvCxnSpPr>
          <p:nvPr/>
        </p:nvCxnSpPr>
        <p:spPr>
          <a:xfrm flipH="1">
            <a:off x="5799006" y="383847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4F8812-97CE-C00C-DF2C-9BDE2997492F}"/>
                  </a:ext>
                </a:extLst>
              </p:cNvPr>
              <p:cNvSpPr txBox="1"/>
              <p:nvPr/>
            </p:nvSpPr>
            <p:spPr>
              <a:xfrm>
                <a:off x="5691662" y="383847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164F8812-97CE-C00C-DF2C-9BDE2997492F}"/>
                  </a:ext>
                </a:extLst>
              </p:cNvPr>
              <p:cNvSpPr txBox="1">
                <a:spLocks noRot="1" noChangeAspect="1" noMove="1" noResize="1" noEditPoints="1" noAdjustHandles="1" noChangeArrowheads="1" noChangeShapeType="1" noTextEdit="1"/>
              </p:cNvSpPr>
              <p:nvPr/>
            </p:nvSpPr>
            <p:spPr>
              <a:xfrm>
                <a:off x="5691662" y="3838478"/>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31486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33911-8ABC-B5A3-9C9A-DB55B4EF300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ACA7307-23E1-80AB-9C9B-EC394664073E}"/>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pic>
        <p:nvPicPr>
          <p:cNvPr id="4" name="Picture 3">
            <a:extLst>
              <a:ext uri="{FF2B5EF4-FFF2-40B4-BE49-F238E27FC236}">
                <a16:creationId xmlns:a16="http://schemas.microsoft.com/office/drawing/2014/main" id="{2A1CEFA5-4E28-4B38-DBDA-DFF7ADEC44D5}"/>
              </a:ext>
            </a:extLst>
          </p:cNvPr>
          <p:cNvPicPr>
            <a:picLocks noChangeAspect="1"/>
          </p:cNvPicPr>
          <p:nvPr/>
        </p:nvPicPr>
        <p:blipFill>
          <a:blip r:embed="rId2"/>
          <a:stretch>
            <a:fillRect/>
          </a:stretch>
        </p:blipFill>
        <p:spPr>
          <a:xfrm>
            <a:off x="3026995" y="2455314"/>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BCFAF96-8770-437A-3220-719E850A1AB0}"/>
                  </a:ext>
                </a:extLst>
              </p:cNvPr>
              <p:cNvSpPr txBox="1"/>
              <p:nvPr/>
            </p:nvSpPr>
            <p:spPr>
              <a:xfrm>
                <a:off x="4171380" y="262612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5BCFAF96-8770-437A-3220-719E850A1AB0}"/>
                  </a:ext>
                </a:extLst>
              </p:cNvPr>
              <p:cNvSpPr txBox="1">
                <a:spLocks noRot="1" noChangeAspect="1" noMove="1" noResize="1" noEditPoints="1" noAdjustHandles="1" noChangeArrowheads="1" noChangeShapeType="1" noTextEdit="1"/>
              </p:cNvSpPr>
              <p:nvPr/>
            </p:nvSpPr>
            <p:spPr>
              <a:xfrm>
                <a:off x="4171380" y="2626129"/>
                <a:ext cx="553453"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3FC1AB-B1E9-D3F3-2194-96BD12EC413F}"/>
                  </a:ext>
                </a:extLst>
              </p:cNvPr>
              <p:cNvSpPr txBox="1"/>
              <p:nvPr/>
            </p:nvSpPr>
            <p:spPr>
              <a:xfrm>
                <a:off x="3919040" y="3135790"/>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8B3FC1AB-B1E9-D3F3-2194-96BD12EC413F}"/>
                  </a:ext>
                </a:extLst>
              </p:cNvPr>
              <p:cNvSpPr txBox="1">
                <a:spLocks noRot="1" noChangeAspect="1" noMove="1" noResize="1" noEditPoints="1" noAdjustHandles="1" noChangeArrowheads="1" noChangeShapeType="1" noTextEdit="1"/>
              </p:cNvSpPr>
              <p:nvPr/>
            </p:nvSpPr>
            <p:spPr>
              <a:xfrm>
                <a:off x="3919040" y="3135790"/>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6E00F4E-483A-0095-54A6-F6C31B73C6BF}"/>
                  </a:ext>
                </a:extLst>
              </p:cNvPr>
              <p:cNvSpPr txBox="1"/>
              <p:nvPr/>
            </p:nvSpPr>
            <p:spPr>
              <a:xfrm>
                <a:off x="3742486" y="35925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D6E00F4E-483A-0095-54A6-F6C31B73C6BF}"/>
                  </a:ext>
                </a:extLst>
              </p:cNvPr>
              <p:cNvSpPr txBox="1">
                <a:spLocks noRot="1" noChangeAspect="1" noMove="1" noResize="1" noEditPoints="1" noAdjustHandles="1" noChangeArrowheads="1" noChangeShapeType="1" noTextEdit="1"/>
              </p:cNvSpPr>
              <p:nvPr/>
            </p:nvSpPr>
            <p:spPr>
              <a:xfrm>
                <a:off x="3742486" y="3592585"/>
                <a:ext cx="55345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1147DA-320B-F0A2-CCE7-CFD018E754FA}"/>
                  </a:ext>
                </a:extLst>
              </p:cNvPr>
              <p:cNvSpPr txBox="1"/>
              <p:nvPr/>
            </p:nvSpPr>
            <p:spPr>
              <a:xfrm>
                <a:off x="3969721" y="4019689"/>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0E1147DA-320B-F0A2-CCE7-CFD018E754FA}"/>
                  </a:ext>
                </a:extLst>
              </p:cNvPr>
              <p:cNvSpPr txBox="1">
                <a:spLocks noRot="1" noChangeAspect="1" noMove="1" noResize="1" noEditPoints="1" noAdjustHandles="1" noChangeArrowheads="1" noChangeShapeType="1" noTextEdit="1"/>
              </p:cNvSpPr>
              <p:nvPr/>
            </p:nvSpPr>
            <p:spPr>
              <a:xfrm>
                <a:off x="3969721" y="4019689"/>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1D28108-070D-0CFB-59C0-EB97CCD2318E}"/>
                  </a:ext>
                </a:extLst>
              </p:cNvPr>
              <p:cNvSpPr txBox="1"/>
              <p:nvPr/>
            </p:nvSpPr>
            <p:spPr>
              <a:xfrm>
                <a:off x="5645116" y="287177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81D28108-070D-0CFB-59C0-EB97CCD2318E}"/>
                  </a:ext>
                </a:extLst>
              </p:cNvPr>
              <p:cNvSpPr txBox="1">
                <a:spLocks noRot="1" noChangeAspect="1" noMove="1" noResize="1" noEditPoints="1" noAdjustHandles="1" noChangeArrowheads="1" noChangeShapeType="1" noTextEdit="1"/>
              </p:cNvSpPr>
              <p:nvPr/>
            </p:nvSpPr>
            <p:spPr>
              <a:xfrm>
                <a:off x="5645116" y="2871774"/>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5B0AEE6-43FA-A496-2146-5AA7BBABBE3A}"/>
                  </a:ext>
                </a:extLst>
              </p:cNvPr>
              <p:cNvSpPr txBox="1"/>
              <p:nvPr/>
            </p:nvSpPr>
            <p:spPr>
              <a:xfrm>
                <a:off x="5465900" y="3716522"/>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05B0AEE6-43FA-A496-2146-5AA7BBABBE3A}"/>
                  </a:ext>
                </a:extLst>
              </p:cNvPr>
              <p:cNvSpPr txBox="1">
                <a:spLocks noRot="1" noChangeAspect="1" noMove="1" noResize="1" noEditPoints="1" noAdjustHandles="1" noChangeArrowheads="1" noChangeShapeType="1" noTextEdit="1"/>
              </p:cNvSpPr>
              <p:nvPr/>
            </p:nvSpPr>
            <p:spPr>
              <a:xfrm>
                <a:off x="5465900" y="3716522"/>
                <a:ext cx="553453" cy="52322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D5581847-2869-47FE-7EA4-6D146AB8779A}"/>
              </a:ext>
            </a:extLst>
          </p:cNvPr>
          <p:cNvCxnSpPr>
            <a:cxnSpLocks/>
          </p:cNvCxnSpPr>
          <p:nvPr/>
        </p:nvCxnSpPr>
        <p:spPr>
          <a:xfrm flipV="1">
            <a:off x="4724833" y="4564362"/>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5764DFA-A978-D45F-F8C0-A927F0AF95D2}"/>
              </a:ext>
            </a:extLst>
          </p:cNvPr>
          <p:cNvCxnSpPr>
            <a:cxnSpLocks/>
          </p:cNvCxnSpPr>
          <p:nvPr/>
        </p:nvCxnSpPr>
        <p:spPr>
          <a:xfrm>
            <a:off x="4724833" y="2367409"/>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E26246-F831-ADF3-9AEC-083F92B5A4CB}"/>
                  </a:ext>
                </a:extLst>
              </p:cNvPr>
              <p:cNvSpPr txBox="1"/>
              <p:nvPr/>
            </p:nvSpPr>
            <p:spPr>
              <a:xfrm>
                <a:off x="4616549" y="462028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49E26246-F831-ADF3-9AEC-083F92B5A4CB}"/>
                  </a:ext>
                </a:extLst>
              </p:cNvPr>
              <p:cNvSpPr txBox="1">
                <a:spLocks noRot="1" noChangeAspect="1" noMove="1" noResize="1" noEditPoints="1" noAdjustHandles="1" noChangeArrowheads="1" noChangeShapeType="1" noTextEdit="1"/>
              </p:cNvSpPr>
              <p:nvPr/>
            </p:nvSpPr>
            <p:spPr>
              <a:xfrm>
                <a:off x="4616549" y="4620280"/>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9260E5-AEB5-2518-110A-D09E028E58EB}"/>
                  </a:ext>
                </a:extLst>
              </p:cNvPr>
              <p:cNvSpPr txBox="1"/>
              <p:nvPr/>
            </p:nvSpPr>
            <p:spPr>
              <a:xfrm>
                <a:off x="4708957" y="227035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219260E5-AEB5-2518-110A-D09E028E58EB}"/>
                  </a:ext>
                </a:extLst>
              </p:cNvPr>
              <p:cNvSpPr txBox="1">
                <a:spLocks noRot="1" noChangeAspect="1" noMove="1" noResize="1" noEditPoints="1" noAdjustHandles="1" noChangeArrowheads="1" noChangeShapeType="1" noTextEdit="1"/>
              </p:cNvSpPr>
              <p:nvPr/>
            </p:nvSpPr>
            <p:spPr>
              <a:xfrm>
                <a:off x="4708957" y="2270356"/>
                <a:ext cx="553453" cy="307777"/>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BBE337A9-A737-A1B4-8794-D104A41BFFF2}"/>
              </a:ext>
            </a:extLst>
          </p:cNvPr>
          <p:cNvCxnSpPr>
            <a:cxnSpLocks/>
          </p:cNvCxnSpPr>
          <p:nvPr/>
        </p:nvCxnSpPr>
        <p:spPr>
          <a:xfrm flipH="1">
            <a:off x="6268563" y="3960932"/>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E4ABB09-3B1C-D83C-F9DF-6F27BB93E687}"/>
                  </a:ext>
                </a:extLst>
              </p:cNvPr>
              <p:cNvSpPr txBox="1"/>
              <p:nvPr/>
            </p:nvSpPr>
            <p:spPr>
              <a:xfrm>
                <a:off x="6161219" y="39609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2E4ABB09-3B1C-D83C-F9DF-6F27BB93E687}"/>
                  </a:ext>
                </a:extLst>
              </p:cNvPr>
              <p:cNvSpPr txBox="1">
                <a:spLocks noRot="1" noChangeAspect="1" noMove="1" noResize="1" noEditPoints="1" noAdjustHandles="1" noChangeArrowheads="1" noChangeShapeType="1" noTextEdit="1"/>
              </p:cNvSpPr>
              <p:nvPr/>
            </p:nvSpPr>
            <p:spPr>
              <a:xfrm>
                <a:off x="6161219" y="3960932"/>
                <a:ext cx="553453" cy="307777"/>
              </a:xfrm>
              <a:prstGeom prst="rect">
                <a:avLst/>
              </a:prstGeom>
              <a:blipFill>
                <a:blip r:embed="rId11"/>
                <a:stretch>
                  <a:fillRect/>
                </a:stretch>
              </a:blipFill>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6F8277C7-8661-F4EB-5CFE-544E78CDC5CA}"/>
              </a:ext>
            </a:extLst>
          </p:cNvPr>
          <p:cNvSpPr txBox="1">
            <a:spLocks/>
          </p:cNvSpPr>
          <p:nvPr/>
        </p:nvSpPr>
        <p:spPr>
          <a:xfrm>
            <a:off x="83579" y="180603"/>
            <a:ext cx="8777827" cy="330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dirty="0"/>
              <a:t>Backpropagation starts at the output and moves backward</a:t>
            </a:r>
          </a:p>
        </p:txBody>
      </p:sp>
      <p:sp>
        <p:nvSpPr>
          <p:cNvPr id="18" name="TextBox 17">
            <a:extLst>
              <a:ext uri="{FF2B5EF4-FFF2-40B4-BE49-F238E27FC236}">
                <a16:creationId xmlns:a16="http://schemas.microsoft.com/office/drawing/2014/main" id="{BC595761-969C-D15B-8EEF-D09327871141}"/>
              </a:ext>
            </a:extLst>
          </p:cNvPr>
          <p:cNvSpPr txBox="1"/>
          <p:nvPr/>
        </p:nvSpPr>
        <p:spPr>
          <a:xfrm>
            <a:off x="5912252" y="3263207"/>
            <a:ext cx="880257" cy="730011"/>
          </a:xfrm>
          <a:prstGeom prst="rect">
            <a:avLst/>
          </a:prstGeom>
          <a:noFill/>
          <a:ln>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1791837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45B8-4A55-2B8E-6D57-BF10DEAEDCE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CD66B9E-0A89-238A-8ADE-F1CAA8141A89}"/>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pic>
        <p:nvPicPr>
          <p:cNvPr id="4" name="Picture 3">
            <a:extLst>
              <a:ext uri="{FF2B5EF4-FFF2-40B4-BE49-F238E27FC236}">
                <a16:creationId xmlns:a16="http://schemas.microsoft.com/office/drawing/2014/main" id="{EF0466AE-02A5-827D-6F5E-08393321F854}"/>
              </a:ext>
            </a:extLst>
          </p:cNvPr>
          <p:cNvPicPr>
            <a:picLocks noChangeAspect="1"/>
          </p:cNvPicPr>
          <p:nvPr/>
        </p:nvPicPr>
        <p:blipFill>
          <a:blip r:embed="rId2"/>
          <a:stretch>
            <a:fillRect/>
          </a:stretch>
        </p:blipFill>
        <p:spPr>
          <a:xfrm>
            <a:off x="3026995" y="2455314"/>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58A340-4940-6A2D-1C2F-9B95487F1973}"/>
                  </a:ext>
                </a:extLst>
              </p:cNvPr>
              <p:cNvSpPr txBox="1"/>
              <p:nvPr/>
            </p:nvSpPr>
            <p:spPr>
              <a:xfrm>
                <a:off x="4171380" y="262612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B558A340-4940-6A2D-1C2F-9B95487F1973}"/>
                  </a:ext>
                </a:extLst>
              </p:cNvPr>
              <p:cNvSpPr txBox="1">
                <a:spLocks noRot="1" noChangeAspect="1" noMove="1" noResize="1" noEditPoints="1" noAdjustHandles="1" noChangeArrowheads="1" noChangeShapeType="1" noTextEdit="1"/>
              </p:cNvSpPr>
              <p:nvPr/>
            </p:nvSpPr>
            <p:spPr>
              <a:xfrm>
                <a:off x="4171380" y="2626129"/>
                <a:ext cx="553453"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7C125D-84C3-C09C-A98D-4499DF87AB94}"/>
                  </a:ext>
                </a:extLst>
              </p:cNvPr>
              <p:cNvSpPr txBox="1"/>
              <p:nvPr/>
            </p:nvSpPr>
            <p:spPr>
              <a:xfrm>
                <a:off x="3919040" y="3135790"/>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157C125D-84C3-C09C-A98D-4499DF87AB94}"/>
                  </a:ext>
                </a:extLst>
              </p:cNvPr>
              <p:cNvSpPr txBox="1">
                <a:spLocks noRot="1" noChangeAspect="1" noMove="1" noResize="1" noEditPoints="1" noAdjustHandles="1" noChangeArrowheads="1" noChangeShapeType="1" noTextEdit="1"/>
              </p:cNvSpPr>
              <p:nvPr/>
            </p:nvSpPr>
            <p:spPr>
              <a:xfrm>
                <a:off x="3919040" y="3135790"/>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CB73778-FD87-0A18-66B3-CD57FED8EFB8}"/>
                  </a:ext>
                </a:extLst>
              </p:cNvPr>
              <p:cNvSpPr txBox="1"/>
              <p:nvPr/>
            </p:nvSpPr>
            <p:spPr>
              <a:xfrm>
                <a:off x="3742486" y="35925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0CB73778-FD87-0A18-66B3-CD57FED8EFB8}"/>
                  </a:ext>
                </a:extLst>
              </p:cNvPr>
              <p:cNvSpPr txBox="1">
                <a:spLocks noRot="1" noChangeAspect="1" noMove="1" noResize="1" noEditPoints="1" noAdjustHandles="1" noChangeArrowheads="1" noChangeShapeType="1" noTextEdit="1"/>
              </p:cNvSpPr>
              <p:nvPr/>
            </p:nvSpPr>
            <p:spPr>
              <a:xfrm>
                <a:off x="3742486" y="3592585"/>
                <a:ext cx="55345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AD0EC11-B1C1-E208-7EF5-64FBE380FA0A}"/>
                  </a:ext>
                </a:extLst>
              </p:cNvPr>
              <p:cNvSpPr txBox="1"/>
              <p:nvPr/>
            </p:nvSpPr>
            <p:spPr>
              <a:xfrm>
                <a:off x="3969721" y="4019689"/>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9AD0EC11-B1C1-E208-7EF5-64FBE380FA0A}"/>
                  </a:ext>
                </a:extLst>
              </p:cNvPr>
              <p:cNvSpPr txBox="1">
                <a:spLocks noRot="1" noChangeAspect="1" noMove="1" noResize="1" noEditPoints="1" noAdjustHandles="1" noChangeArrowheads="1" noChangeShapeType="1" noTextEdit="1"/>
              </p:cNvSpPr>
              <p:nvPr/>
            </p:nvSpPr>
            <p:spPr>
              <a:xfrm>
                <a:off x="3969721" y="4019689"/>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BEBBF5F-6ABE-D13F-21E7-FB3EE5A44509}"/>
                  </a:ext>
                </a:extLst>
              </p:cNvPr>
              <p:cNvSpPr txBox="1"/>
              <p:nvPr/>
            </p:nvSpPr>
            <p:spPr>
              <a:xfrm>
                <a:off x="5645116" y="287177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0BEBBF5F-6ABE-D13F-21E7-FB3EE5A44509}"/>
                  </a:ext>
                </a:extLst>
              </p:cNvPr>
              <p:cNvSpPr txBox="1">
                <a:spLocks noRot="1" noChangeAspect="1" noMove="1" noResize="1" noEditPoints="1" noAdjustHandles="1" noChangeArrowheads="1" noChangeShapeType="1" noTextEdit="1"/>
              </p:cNvSpPr>
              <p:nvPr/>
            </p:nvSpPr>
            <p:spPr>
              <a:xfrm>
                <a:off x="5645116" y="2871774"/>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AEB061-EDF1-4B3D-0110-BB4EBA64C2F1}"/>
                  </a:ext>
                </a:extLst>
              </p:cNvPr>
              <p:cNvSpPr txBox="1"/>
              <p:nvPr/>
            </p:nvSpPr>
            <p:spPr>
              <a:xfrm>
                <a:off x="5465900" y="3716522"/>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B2AEB061-EDF1-4B3D-0110-BB4EBA64C2F1}"/>
                  </a:ext>
                </a:extLst>
              </p:cNvPr>
              <p:cNvSpPr txBox="1">
                <a:spLocks noRot="1" noChangeAspect="1" noMove="1" noResize="1" noEditPoints="1" noAdjustHandles="1" noChangeArrowheads="1" noChangeShapeType="1" noTextEdit="1"/>
              </p:cNvSpPr>
              <p:nvPr/>
            </p:nvSpPr>
            <p:spPr>
              <a:xfrm>
                <a:off x="5465900" y="3716522"/>
                <a:ext cx="553453" cy="52322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2FE2318A-D5DE-F47D-A4C9-7563BC706B08}"/>
              </a:ext>
            </a:extLst>
          </p:cNvPr>
          <p:cNvCxnSpPr>
            <a:cxnSpLocks/>
          </p:cNvCxnSpPr>
          <p:nvPr/>
        </p:nvCxnSpPr>
        <p:spPr>
          <a:xfrm flipV="1">
            <a:off x="4724833" y="4564362"/>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59B2787-E4DC-2408-2938-91EAC3075CB1}"/>
              </a:ext>
            </a:extLst>
          </p:cNvPr>
          <p:cNvCxnSpPr>
            <a:cxnSpLocks/>
          </p:cNvCxnSpPr>
          <p:nvPr/>
        </p:nvCxnSpPr>
        <p:spPr>
          <a:xfrm>
            <a:off x="4724833" y="2367409"/>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63C4FD9-AEA6-D285-96C1-BA5CE637962D}"/>
                  </a:ext>
                </a:extLst>
              </p:cNvPr>
              <p:cNvSpPr txBox="1"/>
              <p:nvPr/>
            </p:nvSpPr>
            <p:spPr>
              <a:xfrm>
                <a:off x="4616549" y="462028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863C4FD9-AEA6-D285-96C1-BA5CE637962D}"/>
                  </a:ext>
                </a:extLst>
              </p:cNvPr>
              <p:cNvSpPr txBox="1">
                <a:spLocks noRot="1" noChangeAspect="1" noMove="1" noResize="1" noEditPoints="1" noAdjustHandles="1" noChangeArrowheads="1" noChangeShapeType="1" noTextEdit="1"/>
              </p:cNvSpPr>
              <p:nvPr/>
            </p:nvSpPr>
            <p:spPr>
              <a:xfrm>
                <a:off x="4616549" y="4620280"/>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145A6D7-B583-42E9-0322-F9F221BA09BD}"/>
                  </a:ext>
                </a:extLst>
              </p:cNvPr>
              <p:cNvSpPr txBox="1"/>
              <p:nvPr/>
            </p:nvSpPr>
            <p:spPr>
              <a:xfrm>
                <a:off x="4708957" y="227035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A145A6D7-B583-42E9-0322-F9F221BA09BD}"/>
                  </a:ext>
                </a:extLst>
              </p:cNvPr>
              <p:cNvSpPr txBox="1">
                <a:spLocks noRot="1" noChangeAspect="1" noMove="1" noResize="1" noEditPoints="1" noAdjustHandles="1" noChangeArrowheads="1" noChangeShapeType="1" noTextEdit="1"/>
              </p:cNvSpPr>
              <p:nvPr/>
            </p:nvSpPr>
            <p:spPr>
              <a:xfrm>
                <a:off x="4708957" y="2270356"/>
                <a:ext cx="553453" cy="307777"/>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1F8CDFB8-12B1-9B72-E15E-6A85C4569327}"/>
              </a:ext>
            </a:extLst>
          </p:cNvPr>
          <p:cNvCxnSpPr>
            <a:cxnSpLocks/>
          </p:cNvCxnSpPr>
          <p:nvPr/>
        </p:nvCxnSpPr>
        <p:spPr>
          <a:xfrm flipH="1">
            <a:off x="6268563" y="3960932"/>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A3AFB6D-B540-8892-A254-E288614E442A}"/>
                  </a:ext>
                </a:extLst>
              </p:cNvPr>
              <p:cNvSpPr txBox="1"/>
              <p:nvPr/>
            </p:nvSpPr>
            <p:spPr>
              <a:xfrm>
                <a:off x="6161219" y="39609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8A3AFB6D-B540-8892-A254-E288614E442A}"/>
                  </a:ext>
                </a:extLst>
              </p:cNvPr>
              <p:cNvSpPr txBox="1">
                <a:spLocks noRot="1" noChangeAspect="1" noMove="1" noResize="1" noEditPoints="1" noAdjustHandles="1" noChangeArrowheads="1" noChangeShapeType="1" noTextEdit="1"/>
              </p:cNvSpPr>
              <p:nvPr/>
            </p:nvSpPr>
            <p:spPr>
              <a:xfrm>
                <a:off x="6161219" y="3960932"/>
                <a:ext cx="553453" cy="307777"/>
              </a:xfrm>
              <a:prstGeom prst="rect">
                <a:avLst/>
              </a:prstGeom>
              <a:blipFill>
                <a:blip r:embed="rId11"/>
                <a:stretch>
                  <a:fillRect/>
                </a:stretch>
              </a:blipFill>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94F21CBE-85F3-E811-759F-879E1CBE0309}"/>
              </a:ext>
            </a:extLst>
          </p:cNvPr>
          <p:cNvSpPr txBox="1">
            <a:spLocks/>
          </p:cNvSpPr>
          <p:nvPr/>
        </p:nvSpPr>
        <p:spPr>
          <a:xfrm>
            <a:off x="83579" y="180603"/>
            <a:ext cx="8777827" cy="330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dirty="0"/>
              <a:t>Backpropagation starts at the output and moves backward</a:t>
            </a:r>
          </a:p>
        </p:txBody>
      </p:sp>
      <p:sp>
        <p:nvSpPr>
          <p:cNvPr id="18" name="TextBox 17">
            <a:extLst>
              <a:ext uri="{FF2B5EF4-FFF2-40B4-BE49-F238E27FC236}">
                <a16:creationId xmlns:a16="http://schemas.microsoft.com/office/drawing/2014/main" id="{124B338F-9979-6BDD-E088-02002C03434A}"/>
              </a:ext>
            </a:extLst>
          </p:cNvPr>
          <p:cNvSpPr txBox="1"/>
          <p:nvPr/>
        </p:nvSpPr>
        <p:spPr>
          <a:xfrm>
            <a:off x="5912252" y="3263207"/>
            <a:ext cx="880257" cy="730011"/>
          </a:xfrm>
          <a:prstGeom prst="rect">
            <a:avLst/>
          </a:prstGeom>
          <a:noFill/>
          <a:ln>
            <a:solidFill>
              <a:schemeClr val="accent1"/>
            </a:solidFill>
          </a:ln>
        </p:spPr>
        <p:txBody>
          <a:bodyPr wrap="square" rtlCol="0">
            <a:spAutoFit/>
          </a:bodyPr>
          <a:lstStyle/>
          <a:p>
            <a:endParaRPr lang="en-US" dirty="0"/>
          </a:p>
        </p:txBody>
      </p:sp>
      <p:sp>
        <p:nvSpPr>
          <p:cNvPr id="2" name="Right Arrow 1">
            <a:extLst>
              <a:ext uri="{FF2B5EF4-FFF2-40B4-BE49-F238E27FC236}">
                <a16:creationId xmlns:a16="http://schemas.microsoft.com/office/drawing/2014/main" id="{E9907F9F-2623-E3EF-969C-F6CA7B62F87C}"/>
              </a:ext>
            </a:extLst>
          </p:cNvPr>
          <p:cNvSpPr/>
          <p:nvPr/>
        </p:nvSpPr>
        <p:spPr>
          <a:xfrm rot="10800000">
            <a:off x="5170002" y="3453951"/>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122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4729-37AD-0411-2537-E73AD88A413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ED56626-FDD6-0D0F-ACC2-4CC6501E0F52}"/>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pic>
        <p:nvPicPr>
          <p:cNvPr id="4" name="Picture 3">
            <a:extLst>
              <a:ext uri="{FF2B5EF4-FFF2-40B4-BE49-F238E27FC236}">
                <a16:creationId xmlns:a16="http://schemas.microsoft.com/office/drawing/2014/main" id="{761CE3D3-1181-200F-A6F8-AF3E95800565}"/>
              </a:ext>
            </a:extLst>
          </p:cNvPr>
          <p:cNvPicPr>
            <a:picLocks noChangeAspect="1"/>
          </p:cNvPicPr>
          <p:nvPr/>
        </p:nvPicPr>
        <p:blipFill>
          <a:blip r:embed="rId2"/>
          <a:stretch>
            <a:fillRect/>
          </a:stretch>
        </p:blipFill>
        <p:spPr>
          <a:xfrm>
            <a:off x="3026995" y="2455314"/>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01B793-9C17-66D9-0FAE-3189D5CF5AA4}"/>
                  </a:ext>
                </a:extLst>
              </p:cNvPr>
              <p:cNvSpPr txBox="1"/>
              <p:nvPr/>
            </p:nvSpPr>
            <p:spPr>
              <a:xfrm>
                <a:off x="4171380" y="262612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6D01B793-9C17-66D9-0FAE-3189D5CF5AA4}"/>
                  </a:ext>
                </a:extLst>
              </p:cNvPr>
              <p:cNvSpPr txBox="1">
                <a:spLocks noRot="1" noChangeAspect="1" noMove="1" noResize="1" noEditPoints="1" noAdjustHandles="1" noChangeArrowheads="1" noChangeShapeType="1" noTextEdit="1"/>
              </p:cNvSpPr>
              <p:nvPr/>
            </p:nvSpPr>
            <p:spPr>
              <a:xfrm>
                <a:off x="4171380" y="2626129"/>
                <a:ext cx="553453"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DDCAEE-752B-1602-D85F-550D5AB148D0}"/>
                  </a:ext>
                </a:extLst>
              </p:cNvPr>
              <p:cNvSpPr txBox="1"/>
              <p:nvPr/>
            </p:nvSpPr>
            <p:spPr>
              <a:xfrm>
                <a:off x="3919040" y="3135790"/>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9EDDCAEE-752B-1602-D85F-550D5AB148D0}"/>
                  </a:ext>
                </a:extLst>
              </p:cNvPr>
              <p:cNvSpPr txBox="1">
                <a:spLocks noRot="1" noChangeAspect="1" noMove="1" noResize="1" noEditPoints="1" noAdjustHandles="1" noChangeArrowheads="1" noChangeShapeType="1" noTextEdit="1"/>
              </p:cNvSpPr>
              <p:nvPr/>
            </p:nvSpPr>
            <p:spPr>
              <a:xfrm>
                <a:off x="3919040" y="3135790"/>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42D51AE-DD27-9F92-BB98-D78CD73B4B05}"/>
                  </a:ext>
                </a:extLst>
              </p:cNvPr>
              <p:cNvSpPr txBox="1"/>
              <p:nvPr/>
            </p:nvSpPr>
            <p:spPr>
              <a:xfrm>
                <a:off x="3742486" y="35925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542D51AE-DD27-9F92-BB98-D78CD73B4B05}"/>
                  </a:ext>
                </a:extLst>
              </p:cNvPr>
              <p:cNvSpPr txBox="1">
                <a:spLocks noRot="1" noChangeAspect="1" noMove="1" noResize="1" noEditPoints="1" noAdjustHandles="1" noChangeArrowheads="1" noChangeShapeType="1" noTextEdit="1"/>
              </p:cNvSpPr>
              <p:nvPr/>
            </p:nvSpPr>
            <p:spPr>
              <a:xfrm>
                <a:off x="3742486" y="3592585"/>
                <a:ext cx="55345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10D1F98-D8C8-B851-5E3D-184302ED3DDA}"/>
                  </a:ext>
                </a:extLst>
              </p:cNvPr>
              <p:cNvSpPr txBox="1"/>
              <p:nvPr/>
            </p:nvSpPr>
            <p:spPr>
              <a:xfrm>
                <a:off x="3969721" y="4019689"/>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B10D1F98-D8C8-B851-5E3D-184302ED3DDA}"/>
                  </a:ext>
                </a:extLst>
              </p:cNvPr>
              <p:cNvSpPr txBox="1">
                <a:spLocks noRot="1" noChangeAspect="1" noMove="1" noResize="1" noEditPoints="1" noAdjustHandles="1" noChangeArrowheads="1" noChangeShapeType="1" noTextEdit="1"/>
              </p:cNvSpPr>
              <p:nvPr/>
            </p:nvSpPr>
            <p:spPr>
              <a:xfrm>
                <a:off x="3969721" y="4019689"/>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097091-78FB-C006-5FD7-9EF9F35CE6E7}"/>
                  </a:ext>
                </a:extLst>
              </p:cNvPr>
              <p:cNvSpPr txBox="1"/>
              <p:nvPr/>
            </p:nvSpPr>
            <p:spPr>
              <a:xfrm>
                <a:off x="5645116" y="287177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50097091-78FB-C006-5FD7-9EF9F35CE6E7}"/>
                  </a:ext>
                </a:extLst>
              </p:cNvPr>
              <p:cNvSpPr txBox="1">
                <a:spLocks noRot="1" noChangeAspect="1" noMove="1" noResize="1" noEditPoints="1" noAdjustHandles="1" noChangeArrowheads="1" noChangeShapeType="1" noTextEdit="1"/>
              </p:cNvSpPr>
              <p:nvPr/>
            </p:nvSpPr>
            <p:spPr>
              <a:xfrm>
                <a:off x="5645116" y="2871774"/>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9EE03-A98B-4B93-964D-539B65012C0C}"/>
                  </a:ext>
                </a:extLst>
              </p:cNvPr>
              <p:cNvSpPr txBox="1"/>
              <p:nvPr/>
            </p:nvSpPr>
            <p:spPr>
              <a:xfrm>
                <a:off x="5465900" y="3716522"/>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F959EE03-A98B-4B93-964D-539B65012C0C}"/>
                  </a:ext>
                </a:extLst>
              </p:cNvPr>
              <p:cNvSpPr txBox="1">
                <a:spLocks noRot="1" noChangeAspect="1" noMove="1" noResize="1" noEditPoints="1" noAdjustHandles="1" noChangeArrowheads="1" noChangeShapeType="1" noTextEdit="1"/>
              </p:cNvSpPr>
              <p:nvPr/>
            </p:nvSpPr>
            <p:spPr>
              <a:xfrm>
                <a:off x="5465900" y="3716522"/>
                <a:ext cx="553453" cy="52322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B5954DE0-A213-DFBC-AF51-BCF3EB292271}"/>
              </a:ext>
            </a:extLst>
          </p:cNvPr>
          <p:cNvCxnSpPr>
            <a:cxnSpLocks/>
          </p:cNvCxnSpPr>
          <p:nvPr/>
        </p:nvCxnSpPr>
        <p:spPr>
          <a:xfrm flipV="1">
            <a:off x="4724833" y="4564362"/>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176C49E-3298-A4DD-7694-C59BB7FB4E7E}"/>
              </a:ext>
            </a:extLst>
          </p:cNvPr>
          <p:cNvCxnSpPr>
            <a:cxnSpLocks/>
          </p:cNvCxnSpPr>
          <p:nvPr/>
        </p:nvCxnSpPr>
        <p:spPr>
          <a:xfrm>
            <a:off x="4724833" y="2367409"/>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7EE73DB-53E9-ECB2-79C3-B12155BDDDE5}"/>
                  </a:ext>
                </a:extLst>
              </p:cNvPr>
              <p:cNvSpPr txBox="1"/>
              <p:nvPr/>
            </p:nvSpPr>
            <p:spPr>
              <a:xfrm>
                <a:off x="4616549" y="462028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07EE73DB-53E9-ECB2-79C3-B12155BDDDE5}"/>
                  </a:ext>
                </a:extLst>
              </p:cNvPr>
              <p:cNvSpPr txBox="1">
                <a:spLocks noRot="1" noChangeAspect="1" noMove="1" noResize="1" noEditPoints="1" noAdjustHandles="1" noChangeArrowheads="1" noChangeShapeType="1" noTextEdit="1"/>
              </p:cNvSpPr>
              <p:nvPr/>
            </p:nvSpPr>
            <p:spPr>
              <a:xfrm>
                <a:off x="4616549" y="4620280"/>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D1F9940-CE42-AEF2-1532-DCB2D5AE34DF}"/>
                  </a:ext>
                </a:extLst>
              </p:cNvPr>
              <p:cNvSpPr txBox="1"/>
              <p:nvPr/>
            </p:nvSpPr>
            <p:spPr>
              <a:xfrm>
                <a:off x="4708957" y="227035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CD1F9940-CE42-AEF2-1532-DCB2D5AE34DF}"/>
                  </a:ext>
                </a:extLst>
              </p:cNvPr>
              <p:cNvSpPr txBox="1">
                <a:spLocks noRot="1" noChangeAspect="1" noMove="1" noResize="1" noEditPoints="1" noAdjustHandles="1" noChangeArrowheads="1" noChangeShapeType="1" noTextEdit="1"/>
              </p:cNvSpPr>
              <p:nvPr/>
            </p:nvSpPr>
            <p:spPr>
              <a:xfrm>
                <a:off x="4708957" y="2270356"/>
                <a:ext cx="553453" cy="307777"/>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C85D9E1-17AA-603C-BFD8-529514329902}"/>
              </a:ext>
            </a:extLst>
          </p:cNvPr>
          <p:cNvCxnSpPr>
            <a:cxnSpLocks/>
          </p:cNvCxnSpPr>
          <p:nvPr/>
        </p:nvCxnSpPr>
        <p:spPr>
          <a:xfrm flipH="1">
            <a:off x="6268563" y="3960932"/>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AB38203-653E-9E6A-FEDE-72096EC00907}"/>
                  </a:ext>
                </a:extLst>
              </p:cNvPr>
              <p:cNvSpPr txBox="1"/>
              <p:nvPr/>
            </p:nvSpPr>
            <p:spPr>
              <a:xfrm>
                <a:off x="6161219" y="39609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DAB38203-653E-9E6A-FEDE-72096EC00907}"/>
                  </a:ext>
                </a:extLst>
              </p:cNvPr>
              <p:cNvSpPr txBox="1">
                <a:spLocks noRot="1" noChangeAspect="1" noMove="1" noResize="1" noEditPoints="1" noAdjustHandles="1" noChangeArrowheads="1" noChangeShapeType="1" noTextEdit="1"/>
              </p:cNvSpPr>
              <p:nvPr/>
            </p:nvSpPr>
            <p:spPr>
              <a:xfrm>
                <a:off x="6161219" y="3960932"/>
                <a:ext cx="553453" cy="307777"/>
              </a:xfrm>
              <a:prstGeom prst="rect">
                <a:avLst/>
              </a:prstGeom>
              <a:blipFill>
                <a:blip r:embed="rId11"/>
                <a:stretch>
                  <a:fillRect/>
                </a:stretch>
              </a:blipFill>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0DE8003B-B84E-5B9F-C512-BAA99A0D85EE}"/>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dirty="0"/>
              <a:t>Backpropagation starts at the output and moves backward</a:t>
            </a:r>
          </a:p>
          <a:p>
            <a:pPr marL="114300" indent="0">
              <a:buFont typeface="Open Sans"/>
              <a:buNone/>
            </a:pPr>
            <a:endParaRPr lang="en-US" dirty="0"/>
          </a:p>
          <a:p>
            <a:pPr marL="114300" indent="0">
              <a:buFont typeface="Open Sans"/>
              <a:buNone/>
            </a:pPr>
            <a:r>
              <a:rPr lang="en-US" dirty="0"/>
              <a:t>We start by computing the error term for the output. </a:t>
            </a:r>
          </a:p>
          <a:p>
            <a:pPr marL="114300" indent="0">
              <a:buFont typeface="Open Sans"/>
              <a:buNone/>
            </a:pPr>
            <a:endParaRPr lang="en-US" dirty="0"/>
          </a:p>
        </p:txBody>
      </p:sp>
      <p:sp>
        <p:nvSpPr>
          <p:cNvPr id="18" name="TextBox 17">
            <a:extLst>
              <a:ext uri="{FF2B5EF4-FFF2-40B4-BE49-F238E27FC236}">
                <a16:creationId xmlns:a16="http://schemas.microsoft.com/office/drawing/2014/main" id="{BDD67A15-C979-C2CA-3D93-B3DE0E76F119}"/>
              </a:ext>
            </a:extLst>
          </p:cNvPr>
          <p:cNvSpPr txBox="1"/>
          <p:nvPr/>
        </p:nvSpPr>
        <p:spPr>
          <a:xfrm>
            <a:off x="5912252" y="3263207"/>
            <a:ext cx="880257" cy="730011"/>
          </a:xfrm>
          <a:prstGeom prst="rect">
            <a:avLst/>
          </a:prstGeom>
          <a:noFill/>
          <a:ln>
            <a:solidFill>
              <a:schemeClr val="accent1"/>
            </a:solidFill>
          </a:ln>
        </p:spPr>
        <p:txBody>
          <a:bodyPr wrap="square" rtlCol="0">
            <a:spAutoFit/>
          </a:bodyPr>
          <a:lstStyle/>
          <a:p>
            <a:endParaRPr lang="en-US" dirty="0"/>
          </a:p>
        </p:txBody>
      </p:sp>
      <p:sp>
        <p:nvSpPr>
          <p:cNvPr id="2" name="Right Arrow 1">
            <a:extLst>
              <a:ext uri="{FF2B5EF4-FFF2-40B4-BE49-F238E27FC236}">
                <a16:creationId xmlns:a16="http://schemas.microsoft.com/office/drawing/2014/main" id="{52BF4758-7309-D3B4-A7C9-BC5F44885342}"/>
              </a:ext>
            </a:extLst>
          </p:cNvPr>
          <p:cNvSpPr/>
          <p:nvPr/>
        </p:nvSpPr>
        <p:spPr>
          <a:xfrm rot="10800000">
            <a:off x="5170002" y="3453951"/>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5408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E690-8953-9289-3F08-964079AECFD6}"/>
              </a:ext>
            </a:extLst>
          </p:cNvPr>
          <p:cNvSpPr>
            <a:spLocks noGrp="1"/>
          </p:cNvSpPr>
          <p:nvPr>
            <p:ph type="title"/>
          </p:nvPr>
        </p:nvSpPr>
        <p:spPr/>
        <p:txBody>
          <a:bodyPr>
            <a:normAutofit fontScale="90000"/>
          </a:bodyPr>
          <a:lstStyle/>
          <a:p>
            <a:r>
              <a:rPr lang="en-US" dirty="0"/>
              <a:t>Output error term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E0B94E0-82B2-915B-E872-A9293780A5FD}"/>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e>
                          <m:sup>
                            <m:r>
                              <a:rPr lang="en-US" i="1">
                                <a:latin typeface="Cambria Math" panose="02040503050406030204" pitchFamily="18" charset="0"/>
                              </a:rPr>
                              <m:t>2</m:t>
                            </m:r>
                          </m:sup>
                        </m:sSup>
                      </m:num>
                      <m:den>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5</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6</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e>
                        </m:d>
                      </m:den>
                    </m:f>
                  </m:oMath>
                </a14:m>
                <a:r>
                  <a:rPr lang="en-US" dirty="0"/>
                  <a:t>.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7E0B94E0-82B2-915B-E872-A9293780A5F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172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BAAE6-4806-DD36-2DEC-ADB85B2C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60C25-D343-5413-D902-64627AEC3099}"/>
              </a:ext>
            </a:extLst>
          </p:cNvPr>
          <p:cNvSpPr>
            <a:spLocks noGrp="1"/>
          </p:cNvSpPr>
          <p:nvPr>
            <p:ph type="title"/>
          </p:nvPr>
        </p:nvSpPr>
        <p:spPr/>
        <p:txBody>
          <a:bodyPr>
            <a:normAutofit fontScale="90000"/>
          </a:bodyPr>
          <a:lstStyle/>
          <a:p>
            <a:r>
              <a:rPr lang="en-US" dirty="0"/>
              <a:t>Output error term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248DE9B-ADD1-24B4-9652-A9ADCE1A62DB}"/>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e>
                          <m:sup>
                            <m:r>
                              <a:rPr lang="en-US" i="1">
                                <a:latin typeface="Cambria Math" panose="02040503050406030204" pitchFamily="18" charset="0"/>
                              </a:rPr>
                              <m:t>2</m:t>
                            </m:r>
                          </m:sup>
                        </m:sSup>
                      </m:num>
                      <m:den>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5</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6</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e>
                        </m:d>
                      </m:den>
                    </m:f>
                  </m:oMath>
                </a14:m>
                <a:r>
                  <a:rPr lang="en-US" dirty="0"/>
                  <a:t>. </a:t>
                </a:r>
              </a:p>
              <a:p>
                <a:pPr marL="114300" indent="0">
                  <a:buNone/>
                </a:pPr>
                <a:endParaRPr lang="en-US" dirty="0"/>
              </a:p>
              <a:p>
                <a:pPr marL="114300" indent="0">
                  <a:buNone/>
                </a:pPr>
                <a:r>
                  <a:rPr lang="en-US" dirty="0"/>
                  <a:t>Using the chain rule: </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num>
                        <m:den>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num>
                        <m:den>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den>
                      </m:f>
                      <m:r>
                        <a:rPr lang="en-US" b="0" i="1" smtClean="0">
                          <a:latin typeface="Cambria Math" panose="02040503050406030204" pitchFamily="18" charset="0"/>
                        </a:rPr>
                        <m:t>=</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m:rPr>
                              <m:nor/>
                            </m:rPr>
                            <a:rPr lang="en-US" b="0" i="0" smtClean="0">
                              <a:latin typeface="Cambria Math" panose="02040503050406030204" pitchFamily="18" charset="0"/>
                            </a:rPr>
                            <m:t>out</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oMath>
                  </m:oMathPara>
                </a14:m>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8248DE9B-ADD1-24B4-9652-A9ADCE1A62D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7031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D9874-CD6B-4FEF-EE54-0EB9B2834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D0438-C7F2-E1FE-85D8-B35FB4C3CB79}"/>
              </a:ext>
            </a:extLst>
          </p:cNvPr>
          <p:cNvSpPr>
            <a:spLocks noGrp="1"/>
          </p:cNvSpPr>
          <p:nvPr>
            <p:ph type="title"/>
          </p:nvPr>
        </p:nvSpPr>
        <p:spPr/>
        <p:txBody>
          <a:bodyPr>
            <a:normAutofit fontScale="90000"/>
          </a:bodyPr>
          <a:lstStyle/>
          <a:p>
            <a:r>
              <a:rPr lang="en-US" dirty="0"/>
              <a:t>Output error term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6DB1379-FE4B-5F9D-5FC4-9782616C20E1}"/>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e>
                          <m:sup>
                            <m:r>
                              <a:rPr lang="en-US" i="1">
                                <a:latin typeface="Cambria Math" panose="02040503050406030204" pitchFamily="18" charset="0"/>
                              </a:rPr>
                              <m:t>2</m:t>
                            </m:r>
                          </m:sup>
                        </m:sSup>
                      </m:num>
                      <m:den>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5</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6</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e>
                        </m:d>
                      </m:den>
                    </m:f>
                  </m:oMath>
                </a14:m>
                <a:r>
                  <a:rPr lang="en-US" dirty="0"/>
                  <a:t>. </a:t>
                </a:r>
              </a:p>
              <a:p>
                <a:pPr marL="114300" indent="0">
                  <a:buNone/>
                </a:pPr>
                <a:endParaRPr lang="en-US" dirty="0"/>
              </a:p>
              <a:p>
                <a:pPr marL="114300" indent="0">
                  <a:buNone/>
                </a:pPr>
                <a:r>
                  <a:rPr lang="en-US" dirty="0"/>
                  <a:t>Using the chain rule: </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num>
                        <m:den>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num>
                        <m:den>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den>
                      </m:f>
                      <m:r>
                        <a:rPr lang="en-US" b="0" i="1" smtClean="0">
                          <a:latin typeface="Cambria Math" panose="02040503050406030204" pitchFamily="18" charset="0"/>
                        </a:rPr>
                        <m:t>=</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m:rPr>
                              <m:nor/>
                            </m:rPr>
                            <a:rPr lang="en-US" b="0" i="0" smtClean="0">
                              <a:latin typeface="Cambria Math" panose="02040503050406030204" pitchFamily="18" charset="0"/>
                            </a:rPr>
                            <m:t>out</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oMath>
                  </m:oMathPara>
                </a14:m>
                <a:endParaRPr lang="en-US" b="0" dirty="0"/>
              </a:p>
              <a:p>
                <a:pPr marL="114300" indent="0">
                  <a:buNone/>
                </a:pPr>
                <a:endParaRPr lang="en-US" dirty="0"/>
              </a:p>
              <a:p>
                <a:pPr marL="114300" indent="0">
                  <a:buNone/>
                </a:pPr>
                <a:r>
                  <a:rPr lang="en-US" dirty="0"/>
                  <a:t>Where </a:t>
                </a:r>
                <a14:m>
                  <m:oMath xmlns:m="http://schemas.openxmlformats.org/officeDocument/2006/math">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m:rPr>
                            <m:nor/>
                          </m:rPr>
                          <a:rPr lang="en-US" b="0" i="0" smtClean="0">
                            <a:latin typeface="Cambria Math" panose="02040503050406030204" pitchFamily="18" charset="0"/>
                          </a:rPr>
                          <m:t>out</m:t>
                        </m:r>
                      </m:sub>
                    </m:sSub>
                  </m:oMath>
                </a14:m>
                <a:r>
                  <a:rPr lang="en-US" b="0" dirty="0"/>
                  <a:t> is the derivative of the output’s activation function</a:t>
                </a:r>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96DB1379-FE4B-5F9D-5FC4-9782616C20E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99590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CE2F-60DD-4C0B-8A8C-98F1DD0837E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2E79F11-095F-29F0-94F1-E57A343D9A8E}"/>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pic>
        <p:nvPicPr>
          <p:cNvPr id="4" name="Picture 3">
            <a:extLst>
              <a:ext uri="{FF2B5EF4-FFF2-40B4-BE49-F238E27FC236}">
                <a16:creationId xmlns:a16="http://schemas.microsoft.com/office/drawing/2014/main" id="{C56BEC5C-ED6C-4C9B-8794-B74651BB43F5}"/>
              </a:ext>
            </a:extLst>
          </p:cNvPr>
          <p:cNvPicPr>
            <a:picLocks noChangeAspect="1"/>
          </p:cNvPicPr>
          <p:nvPr/>
        </p:nvPicPr>
        <p:blipFill>
          <a:blip r:embed="rId3"/>
          <a:stretch>
            <a:fillRect/>
          </a:stretch>
        </p:blipFill>
        <p:spPr>
          <a:xfrm>
            <a:off x="3026995" y="2455314"/>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DC0B1D5-3CE9-B104-7CF7-7EFCA36DF2C7}"/>
                  </a:ext>
                </a:extLst>
              </p:cNvPr>
              <p:cNvSpPr txBox="1"/>
              <p:nvPr/>
            </p:nvSpPr>
            <p:spPr>
              <a:xfrm>
                <a:off x="4171380" y="262612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4DC0B1D5-3CE9-B104-7CF7-7EFCA36DF2C7}"/>
                  </a:ext>
                </a:extLst>
              </p:cNvPr>
              <p:cNvSpPr txBox="1">
                <a:spLocks noRot="1" noChangeAspect="1" noMove="1" noResize="1" noEditPoints="1" noAdjustHandles="1" noChangeArrowheads="1" noChangeShapeType="1" noTextEdit="1"/>
              </p:cNvSpPr>
              <p:nvPr/>
            </p:nvSpPr>
            <p:spPr>
              <a:xfrm>
                <a:off x="4171380" y="2626129"/>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C954CC-E1DD-B58F-92B3-53C3427CA348}"/>
                  </a:ext>
                </a:extLst>
              </p:cNvPr>
              <p:cNvSpPr txBox="1"/>
              <p:nvPr/>
            </p:nvSpPr>
            <p:spPr>
              <a:xfrm>
                <a:off x="3919040" y="3135790"/>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E3C954CC-E1DD-B58F-92B3-53C3427CA348}"/>
                  </a:ext>
                </a:extLst>
              </p:cNvPr>
              <p:cNvSpPr txBox="1">
                <a:spLocks noRot="1" noChangeAspect="1" noMove="1" noResize="1" noEditPoints="1" noAdjustHandles="1" noChangeArrowheads="1" noChangeShapeType="1" noTextEdit="1"/>
              </p:cNvSpPr>
              <p:nvPr/>
            </p:nvSpPr>
            <p:spPr>
              <a:xfrm>
                <a:off x="3919040" y="3135790"/>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33D6D4D-0B7C-B70C-7914-8AED1C61D0D9}"/>
                  </a:ext>
                </a:extLst>
              </p:cNvPr>
              <p:cNvSpPr txBox="1"/>
              <p:nvPr/>
            </p:nvSpPr>
            <p:spPr>
              <a:xfrm>
                <a:off x="3742486" y="35925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533D6D4D-0B7C-B70C-7914-8AED1C61D0D9}"/>
                  </a:ext>
                </a:extLst>
              </p:cNvPr>
              <p:cNvSpPr txBox="1">
                <a:spLocks noRot="1" noChangeAspect="1" noMove="1" noResize="1" noEditPoints="1" noAdjustHandles="1" noChangeArrowheads="1" noChangeShapeType="1" noTextEdit="1"/>
              </p:cNvSpPr>
              <p:nvPr/>
            </p:nvSpPr>
            <p:spPr>
              <a:xfrm>
                <a:off x="3742486" y="3592585"/>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06C2F4-8C8F-B591-67C1-C76DA2440608}"/>
                  </a:ext>
                </a:extLst>
              </p:cNvPr>
              <p:cNvSpPr txBox="1"/>
              <p:nvPr/>
            </p:nvSpPr>
            <p:spPr>
              <a:xfrm>
                <a:off x="3969721" y="4019689"/>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9C06C2F4-8C8F-B591-67C1-C76DA2440608}"/>
                  </a:ext>
                </a:extLst>
              </p:cNvPr>
              <p:cNvSpPr txBox="1">
                <a:spLocks noRot="1" noChangeAspect="1" noMove="1" noResize="1" noEditPoints="1" noAdjustHandles="1" noChangeArrowheads="1" noChangeShapeType="1" noTextEdit="1"/>
              </p:cNvSpPr>
              <p:nvPr/>
            </p:nvSpPr>
            <p:spPr>
              <a:xfrm>
                <a:off x="3969721" y="4019689"/>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0E95B4-DA9E-E835-A26B-796DBAF75E8E}"/>
                  </a:ext>
                </a:extLst>
              </p:cNvPr>
              <p:cNvSpPr txBox="1"/>
              <p:nvPr/>
            </p:nvSpPr>
            <p:spPr>
              <a:xfrm>
                <a:off x="5645116" y="287177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4D0E95B4-DA9E-E835-A26B-796DBAF75E8E}"/>
                  </a:ext>
                </a:extLst>
              </p:cNvPr>
              <p:cNvSpPr txBox="1">
                <a:spLocks noRot="1" noChangeAspect="1" noMove="1" noResize="1" noEditPoints="1" noAdjustHandles="1" noChangeArrowheads="1" noChangeShapeType="1" noTextEdit="1"/>
              </p:cNvSpPr>
              <p:nvPr/>
            </p:nvSpPr>
            <p:spPr>
              <a:xfrm>
                <a:off x="5645116" y="2871774"/>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8BA7AFD-B8B8-3602-DE8B-6A062746A53A}"/>
                  </a:ext>
                </a:extLst>
              </p:cNvPr>
              <p:cNvSpPr txBox="1"/>
              <p:nvPr/>
            </p:nvSpPr>
            <p:spPr>
              <a:xfrm>
                <a:off x="5465900" y="3716522"/>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B8BA7AFD-B8B8-3602-DE8B-6A062746A53A}"/>
                  </a:ext>
                </a:extLst>
              </p:cNvPr>
              <p:cNvSpPr txBox="1">
                <a:spLocks noRot="1" noChangeAspect="1" noMove="1" noResize="1" noEditPoints="1" noAdjustHandles="1" noChangeArrowheads="1" noChangeShapeType="1" noTextEdit="1"/>
              </p:cNvSpPr>
              <p:nvPr/>
            </p:nvSpPr>
            <p:spPr>
              <a:xfrm>
                <a:off x="5465900" y="3716522"/>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88A27F79-3793-2852-6953-FCAF49E5BBC3}"/>
              </a:ext>
            </a:extLst>
          </p:cNvPr>
          <p:cNvCxnSpPr>
            <a:cxnSpLocks/>
          </p:cNvCxnSpPr>
          <p:nvPr/>
        </p:nvCxnSpPr>
        <p:spPr>
          <a:xfrm flipV="1">
            <a:off x="4724833" y="4564362"/>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C7CDB7-C227-3C14-D6E4-0C29F88878E6}"/>
              </a:ext>
            </a:extLst>
          </p:cNvPr>
          <p:cNvCxnSpPr>
            <a:cxnSpLocks/>
          </p:cNvCxnSpPr>
          <p:nvPr/>
        </p:nvCxnSpPr>
        <p:spPr>
          <a:xfrm>
            <a:off x="4724833" y="2367409"/>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EF4F41A-97BB-8C83-BB01-9B9DE9878D5D}"/>
                  </a:ext>
                </a:extLst>
              </p:cNvPr>
              <p:cNvSpPr txBox="1"/>
              <p:nvPr/>
            </p:nvSpPr>
            <p:spPr>
              <a:xfrm>
                <a:off x="4616549" y="462028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FEF4F41A-97BB-8C83-BB01-9B9DE9878D5D}"/>
                  </a:ext>
                </a:extLst>
              </p:cNvPr>
              <p:cNvSpPr txBox="1">
                <a:spLocks noRot="1" noChangeAspect="1" noMove="1" noResize="1" noEditPoints="1" noAdjustHandles="1" noChangeArrowheads="1" noChangeShapeType="1" noTextEdit="1"/>
              </p:cNvSpPr>
              <p:nvPr/>
            </p:nvSpPr>
            <p:spPr>
              <a:xfrm>
                <a:off x="4616549" y="4620280"/>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71EC6D1-F8AB-8DFC-268B-848FAF47C9ED}"/>
                  </a:ext>
                </a:extLst>
              </p:cNvPr>
              <p:cNvSpPr txBox="1"/>
              <p:nvPr/>
            </p:nvSpPr>
            <p:spPr>
              <a:xfrm>
                <a:off x="4708957" y="227035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071EC6D1-F8AB-8DFC-268B-848FAF47C9ED}"/>
                  </a:ext>
                </a:extLst>
              </p:cNvPr>
              <p:cNvSpPr txBox="1">
                <a:spLocks noRot="1" noChangeAspect="1" noMove="1" noResize="1" noEditPoints="1" noAdjustHandles="1" noChangeArrowheads="1" noChangeShapeType="1" noTextEdit="1"/>
              </p:cNvSpPr>
              <p:nvPr/>
            </p:nvSpPr>
            <p:spPr>
              <a:xfrm>
                <a:off x="4708957" y="2270356"/>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43C2521-D38E-CDC9-7602-076F0068C5D8}"/>
              </a:ext>
            </a:extLst>
          </p:cNvPr>
          <p:cNvCxnSpPr>
            <a:cxnSpLocks/>
          </p:cNvCxnSpPr>
          <p:nvPr/>
        </p:nvCxnSpPr>
        <p:spPr>
          <a:xfrm flipH="1">
            <a:off x="6268563" y="3960932"/>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9C95A5-3476-3679-3D95-4D5691D2BA03}"/>
                  </a:ext>
                </a:extLst>
              </p:cNvPr>
              <p:cNvSpPr txBox="1"/>
              <p:nvPr/>
            </p:nvSpPr>
            <p:spPr>
              <a:xfrm>
                <a:off x="6161219" y="39609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569C95A5-3476-3679-3D95-4D5691D2BA03}"/>
                  </a:ext>
                </a:extLst>
              </p:cNvPr>
              <p:cNvSpPr txBox="1">
                <a:spLocks noRot="1" noChangeAspect="1" noMove="1" noResize="1" noEditPoints="1" noAdjustHandles="1" noChangeArrowheads="1" noChangeShapeType="1" noTextEdit="1"/>
              </p:cNvSpPr>
              <p:nvPr/>
            </p:nvSpPr>
            <p:spPr>
              <a:xfrm>
                <a:off x="6161219" y="3960932"/>
                <a:ext cx="553453" cy="307777"/>
              </a:xfrm>
              <a:prstGeom prst="rect">
                <a:avLst/>
              </a:prstGeom>
              <a:blipFill>
                <a:blip r:embed="rId12"/>
                <a:stretch>
                  <a:fillRect/>
                </a:stretch>
              </a:blipFill>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BA3E990B-6635-AD96-48AB-7640F5818AB8}"/>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dirty="0"/>
              <a:t>Backpropagation starts at the output and moves backward</a:t>
            </a:r>
          </a:p>
          <a:p>
            <a:pPr marL="114300" indent="0">
              <a:buFont typeface="Open Sans"/>
              <a:buNone/>
            </a:pPr>
            <a:endParaRPr lang="en-US" dirty="0"/>
          </a:p>
          <a:p>
            <a:pPr marL="114300" indent="0">
              <a:buFont typeface="Open Sans"/>
              <a:buNone/>
            </a:pPr>
            <a:r>
              <a:rPr lang="en-US" dirty="0"/>
              <a:t>We start by computing the error term for the output. Now, using the error term for the output, we can calculate gradients for the output weights and biases. </a:t>
            </a:r>
          </a:p>
          <a:p>
            <a:pPr marL="114300" indent="0">
              <a:buFont typeface="Open Sans"/>
              <a:buNone/>
            </a:pPr>
            <a:endParaRPr lang="en-US" dirty="0"/>
          </a:p>
        </p:txBody>
      </p:sp>
      <p:sp>
        <p:nvSpPr>
          <p:cNvPr id="18" name="TextBox 17">
            <a:extLst>
              <a:ext uri="{FF2B5EF4-FFF2-40B4-BE49-F238E27FC236}">
                <a16:creationId xmlns:a16="http://schemas.microsoft.com/office/drawing/2014/main" id="{4BCB9A90-4E4B-CA1D-A53B-027045F1A74A}"/>
              </a:ext>
            </a:extLst>
          </p:cNvPr>
          <p:cNvSpPr txBox="1"/>
          <p:nvPr/>
        </p:nvSpPr>
        <p:spPr>
          <a:xfrm>
            <a:off x="5912252" y="3263207"/>
            <a:ext cx="880257" cy="730011"/>
          </a:xfrm>
          <a:prstGeom prst="rect">
            <a:avLst/>
          </a:prstGeom>
          <a:noFill/>
          <a:ln>
            <a:solidFill>
              <a:schemeClr val="accent1"/>
            </a:solidFill>
          </a:ln>
        </p:spPr>
        <p:txBody>
          <a:bodyPr wrap="square" rtlCol="0">
            <a:spAutoFit/>
          </a:bodyPr>
          <a:lstStyle/>
          <a:p>
            <a:endParaRPr lang="en-US" dirty="0"/>
          </a:p>
        </p:txBody>
      </p:sp>
      <p:sp>
        <p:nvSpPr>
          <p:cNvPr id="2" name="Right Arrow 1">
            <a:extLst>
              <a:ext uri="{FF2B5EF4-FFF2-40B4-BE49-F238E27FC236}">
                <a16:creationId xmlns:a16="http://schemas.microsoft.com/office/drawing/2014/main" id="{77108A80-2AF8-4E91-F783-877BA173D2A6}"/>
              </a:ext>
            </a:extLst>
          </p:cNvPr>
          <p:cNvSpPr/>
          <p:nvPr/>
        </p:nvSpPr>
        <p:spPr>
          <a:xfrm rot="10800000">
            <a:off x="5170002" y="3453951"/>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499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FF50E-01D9-4C30-20D9-F6FB0B8D87F7}"/>
              </a:ext>
            </a:extLst>
          </p:cNvPr>
          <p:cNvSpPr>
            <a:spLocks noGrp="1"/>
          </p:cNvSpPr>
          <p:nvPr>
            <p:ph type="title"/>
          </p:nvPr>
        </p:nvSpPr>
        <p:spPr/>
        <p:txBody>
          <a:bodyPr>
            <a:normAutofit fontScale="90000"/>
          </a:bodyPr>
          <a:lstStyle/>
          <a:p>
            <a:r>
              <a:rPr lang="en-US" dirty="0"/>
              <a:t>Gradients for output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DD72BB0-2F01-6D3A-48C2-64058F6CE842}"/>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oMath>
                </a14:m>
                <a:r>
                  <a:rPr lang="en-US" dirty="0"/>
                  <a:t>. Then,</a:t>
                </a:r>
                <a:endParaRPr lang="en-US" b="0" dirty="0"/>
              </a:p>
            </p:txBody>
          </p:sp>
        </mc:Choice>
        <mc:Fallback xmlns="">
          <p:sp>
            <p:nvSpPr>
              <p:cNvPr id="3" name="Text Placeholder 2">
                <a:extLst>
                  <a:ext uri="{FF2B5EF4-FFF2-40B4-BE49-F238E27FC236}">
                    <a16:creationId xmlns:a16="http://schemas.microsoft.com/office/drawing/2014/main" id="{BDD72BB0-2F01-6D3A-48C2-64058F6CE84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A7E859C-DBC8-2C58-E27D-08A80EFECB79}"/>
              </a:ext>
            </a:extLst>
          </p:cNvPr>
          <p:cNvPicPr>
            <a:picLocks noChangeAspect="1"/>
          </p:cNvPicPr>
          <p:nvPr/>
        </p:nvPicPr>
        <p:blipFill>
          <a:blip r:embed="rId3"/>
          <a:stretch>
            <a:fillRect/>
          </a:stretch>
        </p:blipFill>
        <p:spPr>
          <a:xfrm>
            <a:off x="4773416" y="13339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5CDDC9-B995-BD27-DA6C-D3A32E25CEF1}"/>
                  </a:ext>
                </a:extLst>
              </p:cNvPr>
              <p:cNvSpPr txBox="1"/>
              <p:nvPr/>
            </p:nvSpPr>
            <p:spPr>
              <a:xfrm>
                <a:off x="5917801" y="15048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855CDDC9-B995-BD27-DA6C-D3A32E25CEF1}"/>
                  </a:ext>
                </a:extLst>
              </p:cNvPr>
              <p:cNvSpPr txBox="1">
                <a:spLocks noRot="1" noChangeAspect="1" noMove="1" noResize="1" noEditPoints="1" noAdjustHandles="1" noChangeArrowheads="1" noChangeShapeType="1" noTextEdit="1"/>
              </p:cNvSpPr>
              <p:nvPr/>
            </p:nvSpPr>
            <p:spPr>
              <a:xfrm>
                <a:off x="5917801" y="15048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78B9C0-C3E0-603D-07F9-B8BBBF8B2E5D}"/>
                  </a:ext>
                </a:extLst>
              </p:cNvPr>
              <p:cNvSpPr txBox="1"/>
              <p:nvPr/>
            </p:nvSpPr>
            <p:spPr>
              <a:xfrm>
                <a:off x="5665461" y="20144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0878B9C0-C3E0-603D-07F9-B8BBBF8B2E5D}"/>
                  </a:ext>
                </a:extLst>
              </p:cNvPr>
              <p:cNvSpPr txBox="1">
                <a:spLocks noRot="1" noChangeAspect="1" noMove="1" noResize="1" noEditPoints="1" noAdjustHandles="1" noChangeArrowheads="1" noChangeShapeType="1" noTextEdit="1"/>
              </p:cNvSpPr>
              <p:nvPr/>
            </p:nvSpPr>
            <p:spPr>
              <a:xfrm>
                <a:off x="5665461" y="20144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A4578DC-539D-0D6C-200A-FCD602482397}"/>
                  </a:ext>
                </a:extLst>
              </p:cNvPr>
              <p:cNvSpPr txBox="1"/>
              <p:nvPr/>
            </p:nvSpPr>
            <p:spPr>
              <a:xfrm>
                <a:off x="5488907" y="24712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AA4578DC-539D-0D6C-200A-FCD602482397}"/>
                  </a:ext>
                </a:extLst>
              </p:cNvPr>
              <p:cNvSpPr txBox="1">
                <a:spLocks noRot="1" noChangeAspect="1" noMove="1" noResize="1" noEditPoints="1" noAdjustHandles="1" noChangeArrowheads="1" noChangeShapeType="1" noTextEdit="1"/>
              </p:cNvSpPr>
              <p:nvPr/>
            </p:nvSpPr>
            <p:spPr>
              <a:xfrm>
                <a:off x="5488907" y="24712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701527-4777-D835-60E4-377E7805AE32}"/>
                  </a:ext>
                </a:extLst>
              </p:cNvPr>
              <p:cNvSpPr txBox="1"/>
              <p:nvPr/>
            </p:nvSpPr>
            <p:spPr>
              <a:xfrm>
                <a:off x="5716142" y="28983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BF701527-4777-D835-60E4-377E7805AE32}"/>
                  </a:ext>
                </a:extLst>
              </p:cNvPr>
              <p:cNvSpPr txBox="1">
                <a:spLocks noRot="1" noChangeAspect="1" noMove="1" noResize="1" noEditPoints="1" noAdjustHandles="1" noChangeArrowheads="1" noChangeShapeType="1" noTextEdit="1"/>
              </p:cNvSpPr>
              <p:nvPr/>
            </p:nvSpPr>
            <p:spPr>
              <a:xfrm>
                <a:off x="5716142" y="28983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762687-AA60-32B2-965F-1764FE05E193}"/>
                  </a:ext>
                </a:extLst>
              </p:cNvPr>
              <p:cNvSpPr txBox="1"/>
              <p:nvPr/>
            </p:nvSpPr>
            <p:spPr>
              <a:xfrm>
                <a:off x="7391537" y="17504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7E762687-AA60-32B2-965F-1764FE05E193}"/>
                  </a:ext>
                </a:extLst>
              </p:cNvPr>
              <p:cNvSpPr txBox="1">
                <a:spLocks noRot="1" noChangeAspect="1" noMove="1" noResize="1" noEditPoints="1" noAdjustHandles="1" noChangeArrowheads="1" noChangeShapeType="1" noTextEdit="1"/>
              </p:cNvSpPr>
              <p:nvPr/>
            </p:nvSpPr>
            <p:spPr>
              <a:xfrm>
                <a:off x="7391537" y="17504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B1E44C-AB2E-159D-C337-93B7449E6AF7}"/>
                  </a:ext>
                </a:extLst>
              </p:cNvPr>
              <p:cNvSpPr txBox="1"/>
              <p:nvPr/>
            </p:nvSpPr>
            <p:spPr>
              <a:xfrm>
                <a:off x="7212321" y="25951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DFB1E44C-AB2E-159D-C337-93B7449E6AF7}"/>
                  </a:ext>
                </a:extLst>
              </p:cNvPr>
              <p:cNvSpPr txBox="1">
                <a:spLocks noRot="1" noChangeAspect="1" noMove="1" noResize="1" noEditPoints="1" noAdjustHandles="1" noChangeArrowheads="1" noChangeShapeType="1" noTextEdit="1"/>
              </p:cNvSpPr>
              <p:nvPr/>
            </p:nvSpPr>
            <p:spPr>
              <a:xfrm>
                <a:off x="7212321" y="25951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AE665068-557C-329A-4DED-651F6E74411A}"/>
              </a:ext>
            </a:extLst>
          </p:cNvPr>
          <p:cNvCxnSpPr>
            <a:cxnSpLocks/>
          </p:cNvCxnSpPr>
          <p:nvPr/>
        </p:nvCxnSpPr>
        <p:spPr>
          <a:xfrm flipV="1">
            <a:off x="6471254" y="34430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3380BAC-B46F-B83F-726C-D10CB3F2CD43}"/>
              </a:ext>
            </a:extLst>
          </p:cNvPr>
          <p:cNvCxnSpPr>
            <a:cxnSpLocks/>
          </p:cNvCxnSpPr>
          <p:nvPr/>
        </p:nvCxnSpPr>
        <p:spPr>
          <a:xfrm>
            <a:off x="6471254" y="12460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4091FC-944D-F712-EBCC-433F766FB190}"/>
                  </a:ext>
                </a:extLst>
              </p:cNvPr>
              <p:cNvSpPr txBox="1"/>
              <p:nvPr/>
            </p:nvSpPr>
            <p:spPr>
              <a:xfrm>
                <a:off x="6362970" y="3498956"/>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774091FC-944D-F712-EBCC-433F766FB190}"/>
                  </a:ext>
                </a:extLst>
              </p:cNvPr>
              <p:cNvSpPr txBox="1">
                <a:spLocks noRot="1" noChangeAspect="1" noMove="1" noResize="1" noEditPoints="1" noAdjustHandles="1" noChangeArrowheads="1" noChangeShapeType="1" noTextEdit="1"/>
              </p:cNvSpPr>
              <p:nvPr/>
            </p:nvSpPr>
            <p:spPr>
              <a:xfrm>
                <a:off x="6362970" y="3498956"/>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8A3FCA8-98F0-24A9-F058-C4A1EAEA885D}"/>
                  </a:ext>
                </a:extLst>
              </p:cNvPr>
              <p:cNvSpPr txBox="1"/>
              <p:nvPr/>
            </p:nvSpPr>
            <p:spPr>
              <a:xfrm>
                <a:off x="6455378" y="11490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B8A3FCA8-98F0-24A9-F058-C4A1EAEA885D}"/>
                  </a:ext>
                </a:extLst>
              </p:cNvPr>
              <p:cNvSpPr txBox="1">
                <a:spLocks noRot="1" noChangeAspect="1" noMove="1" noResize="1" noEditPoints="1" noAdjustHandles="1" noChangeArrowheads="1" noChangeShapeType="1" noTextEdit="1"/>
              </p:cNvSpPr>
              <p:nvPr/>
            </p:nvSpPr>
            <p:spPr>
              <a:xfrm>
                <a:off x="6455378" y="11490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59ED8023-9D65-B06C-BEC6-5115B7B4F5B0}"/>
              </a:ext>
            </a:extLst>
          </p:cNvPr>
          <p:cNvCxnSpPr>
            <a:cxnSpLocks/>
          </p:cNvCxnSpPr>
          <p:nvPr/>
        </p:nvCxnSpPr>
        <p:spPr>
          <a:xfrm flipH="1">
            <a:off x="8014984" y="28396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CB01A3-60E4-82AE-D768-AFA2A5D43B5D}"/>
                  </a:ext>
                </a:extLst>
              </p:cNvPr>
              <p:cNvSpPr txBox="1"/>
              <p:nvPr/>
            </p:nvSpPr>
            <p:spPr>
              <a:xfrm>
                <a:off x="7907640" y="28396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65CB01A3-60E4-82AE-D768-AFA2A5D43B5D}"/>
                  </a:ext>
                </a:extLst>
              </p:cNvPr>
              <p:cNvSpPr txBox="1">
                <a:spLocks noRot="1" noChangeAspect="1" noMove="1" noResize="1" noEditPoints="1" noAdjustHandles="1" noChangeArrowheads="1" noChangeShapeType="1" noTextEdit="1"/>
              </p:cNvSpPr>
              <p:nvPr/>
            </p:nvSpPr>
            <p:spPr>
              <a:xfrm>
                <a:off x="7907640" y="2839608"/>
                <a:ext cx="553453" cy="30777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19724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3FF0-9F98-671D-773B-22CDEF78A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FD50D-CB02-053E-9E6C-9BA52A2AA570}"/>
              </a:ext>
            </a:extLst>
          </p:cNvPr>
          <p:cNvSpPr>
            <a:spLocks noGrp="1"/>
          </p:cNvSpPr>
          <p:nvPr>
            <p:ph type="title"/>
          </p:nvPr>
        </p:nvSpPr>
        <p:spPr/>
        <p:txBody>
          <a:bodyPr>
            <a:normAutofit fontScale="90000"/>
          </a:bodyPr>
          <a:lstStyle/>
          <a:p>
            <a:r>
              <a:rPr lang="en-US" dirty="0"/>
              <a:t>Gradients for output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E329729-75FB-AE89-8B74-F676FA91A50A}"/>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oMath>
                </a14:m>
                <a:r>
                  <a:rPr lang="en-US" dirty="0"/>
                  <a:t>. Then,</a:t>
                </a:r>
                <a:endParaRPr lang="en-US" b="0" dirty="0"/>
              </a:p>
            </p:txBody>
          </p:sp>
        </mc:Choice>
        <mc:Fallback xmlns="">
          <p:sp>
            <p:nvSpPr>
              <p:cNvPr id="3" name="Text Placeholder 2">
                <a:extLst>
                  <a:ext uri="{FF2B5EF4-FFF2-40B4-BE49-F238E27FC236}">
                    <a16:creationId xmlns:a16="http://schemas.microsoft.com/office/drawing/2014/main" id="{3E329729-75FB-AE89-8B74-F676FA91A50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067B3F2-FE9F-C80D-54B8-9900885AFC6F}"/>
              </a:ext>
            </a:extLst>
          </p:cNvPr>
          <p:cNvPicPr>
            <a:picLocks noChangeAspect="1"/>
          </p:cNvPicPr>
          <p:nvPr/>
        </p:nvPicPr>
        <p:blipFill>
          <a:blip r:embed="rId3"/>
          <a:stretch>
            <a:fillRect/>
          </a:stretch>
        </p:blipFill>
        <p:spPr>
          <a:xfrm>
            <a:off x="4773416" y="13339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97E428-CE41-AEDE-D64D-882E940BF7DD}"/>
                  </a:ext>
                </a:extLst>
              </p:cNvPr>
              <p:cNvSpPr txBox="1"/>
              <p:nvPr/>
            </p:nvSpPr>
            <p:spPr>
              <a:xfrm>
                <a:off x="5917801" y="15048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C697E428-CE41-AEDE-D64D-882E940BF7DD}"/>
                  </a:ext>
                </a:extLst>
              </p:cNvPr>
              <p:cNvSpPr txBox="1">
                <a:spLocks noRot="1" noChangeAspect="1" noMove="1" noResize="1" noEditPoints="1" noAdjustHandles="1" noChangeArrowheads="1" noChangeShapeType="1" noTextEdit="1"/>
              </p:cNvSpPr>
              <p:nvPr/>
            </p:nvSpPr>
            <p:spPr>
              <a:xfrm>
                <a:off x="5917801" y="15048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97074D-BC19-6860-3C88-007AE4F661F4}"/>
                  </a:ext>
                </a:extLst>
              </p:cNvPr>
              <p:cNvSpPr txBox="1"/>
              <p:nvPr/>
            </p:nvSpPr>
            <p:spPr>
              <a:xfrm>
                <a:off x="5665461" y="20144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0397074D-BC19-6860-3C88-007AE4F661F4}"/>
                  </a:ext>
                </a:extLst>
              </p:cNvPr>
              <p:cNvSpPr txBox="1">
                <a:spLocks noRot="1" noChangeAspect="1" noMove="1" noResize="1" noEditPoints="1" noAdjustHandles="1" noChangeArrowheads="1" noChangeShapeType="1" noTextEdit="1"/>
              </p:cNvSpPr>
              <p:nvPr/>
            </p:nvSpPr>
            <p:spPr>
              <a:xfrm>
                <a:off x="5665461" y="20144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A9D9C17-55C2-A4AD-DB1E-CFEA086EE311}"/>
                  </a:ext>
                </a:extLst>
              </p:cNvPr>
              <p:cNvSpPr txBox="1"/>
              <p:nvPr/>
            </p:nvSpPr>
            <p:spPr>
              <a:xfrm>
                <a:off x="5488907" y="24712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5A9D9C17-55C2-A4AD-DB1E-CFEA086EE311}"/>
                  </a:ext>
                </a:extLst>
              </p:cNvPr>
              <p:cNvSpPr txBox="1">
                <a:spLocks noRot="1" noChangeAspect="1" noMove="1" noResize="1" noEditPoints="1" noAdjustHandles="1" noChangeArrowheads="1" noChangeShapeType="1" noTextEdit="1"/>
              </p:cNvSpPr>
              <p:nvPr/>
            </p:nvSpPr>
            <p:spPr>
              <a:xfrm>
                <a:off x="5488907" y="24712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77EB22B-FF59-DFC4-89E4-8BF7E7E600EF}"/>
                  </a:ext>
                </a:extLst>
              </p:cNvPr>
              <p:cNvSpPr txBox="1"/>
              <p:nvPr/>
            </p:nvSpPr>
            <p:spPr>
              <a:xfrm>
                <a:off x="5716142" y="28983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477EB22B-FF59-DFC4-89E4-8BF7E7E600EF}"/>
                  </a:ext>
                </a:extLst>
              </p:cNvPr>
              <p:cNvSpPr txBox="1">
                <a:spLocks noRot="1" noChangeAspect="1" noMove="1" noResize="1" noEditPoints="1" noAdjustHandles="1" noChangeArrowheads="1" noChangeShapeType="1" noTextEdit="1"/>
              </p:cNvSpPr>
              <p:nvPr/>
            </p:nvSpPr>
            <p:spPr>
              <a:xfrm>
                <a:off x="5716142" y="28983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6458FC-D4EB-A6BA-8C58-2FF9CCF0D17D}"/>
                  </a:ext>
                </a:extLst>
              </p:cNvPr>
              <p:cNvSpPr txBox="1"/>
              <p:nvPr/>
            </p:nvSpPr>
            <p:spPr>
              <a:xfrm>
                <a:off x="7391537" y="17504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846458FC-D4EB-A6BA-8C58-2FF9CCF0D17D}"/>
                  </a:ext>
                </a:extLst>
              </p:cNvPr>
              <p:cNvSpPr txBox="1">
                <a:spLocks noRot="1" noChangeAspect="1" noMove="1" noResize="1" noEditPoints="1" noAdjustHandles="1" noChangeArrowheads="1" noChangeShapeType="1" noTextEdit="1"/>
              </p:cNvSpPr>
              <p:nvPr/>
            </p:nvSpPr>
            <p:spPr>
              <a:xfrm>
                <a:off x="7391537" y="17504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ECB71B6-7FD6-F14F-D4A8-B1DBDF451FE9}"/>
                  </a:ext>
                </a:extLst>
              </p:cNvPr>
              <p:cNvSpPr txBox="1"/>
              <p:nvPr/>
            </p:nvSpPr>
            <p:spPr>
              <a:xfrm>
                <a:off x="7212321" y="25951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3ECB71B6-7FD6-F14F-D4A8-B1DBDF451FE9}"/>
                  </a:ext>
                </a:extLst>
              </p:cNvPr>
              <p:cNvSpPr txBox="1">
                <a:spLocks noRot="1" noChangeAspect="1" noMove="1" noResize="1" noEditPoints="1" noAdjustHandles="1" noChangeArrowheads="1" noChangeShapeType="1" noTextEdit="1"/>
              </p:cNvSpPr>
              <p:nvPr/>
            </p:nvSpPr>
            <p:spPr>
              <a:xfrm>
                <a:off x="7212321" y="25951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67E6C9A8-0345-B67E-2CD8-287323F28A12}"/>
              </a:ext>
            </a:extLst>
          </p:cNvPr>
          <p:cNvCxnSpPr>
            <a:cxnSpLocks/>
          </p:cNvCxnSpPr>
          <p:nvPr/>
        </p:nvCxnSpPr>
        <p:spPr>
          <a:xfrm flipV="1">
            <a:off x="6471254" y="34430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970B0D-A51B-E290-F276-814FD7CD0762}"/>
              </a:ext>
            </a:extLst>
          </p:cNvPr>
          <p:cNvCxnSpPr>
            <a:cxnSpLocks/>
          </p:cNvCxnSpPr>
          <p:nvPr/>
        </p:nvCxnSpPr>
        <p:spPr>
          <a:xfrm>
            <a:off x="6471254" y="12460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F3AC21-7CC8-27CF-1DC7-FA66275BBD1C}"/>
                  </a:ext>
                </a:extLst>
              </p:cNvPr>
              <p:cNvSpPr txBox="1"/>
              <p:nvPr/>
            </p:nvSpPr>
            <p:spPr>
              <a:xfrm>
                <a:off x="6362970" y="3498956"/>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5BF3AC21-7CC8-27CF-1DC7-FA66275BBD1C}"/>
                  </a:ext>
                </a:extLst>
              </p:cNvPr>
              <p:cNvSpPr txBox="1">
                <a:spLocks noRot="1" noChangeAspect="1" noMove="1" noResize="1" noEditPoints="1" noAdjustHandles="1" noChangeArrowheads="1" noChangeShapeType="1" noTextEdit="1"/>
              </p:cNvSpPr>
              <p:nvPr/>
            </p:nvSpPr>
            <p:spPr>
              <a:xfrm>
                <a:off x="6362970" y="3498956"/>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5DC71A-A94D-4410-9A7F-1A5B7FD2166F}"/>
                  </a:ext>
                </a:extLst>
              </p:cNvPr>
              <p:cNvSpPr txBox="1"/>
              <p:nvPr/>
            </p:nvSpPr>
            <p:spPr>
              <a:xfrm>
                <a:off x="6455378" y="11490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685DC71A-A94D-4410-9A7F-1A5B7FD2166F}"/>
                  </a:ext>
                </a:extLst>
              </p:cNvPr>
              <p:cNvSpPr txBox="1">
                <a:spLocks noRot="1" noChangeAspect="1" noMove="1" noResize="1" noEditPoints="1" noAdjustHandles="1" noChangeArrowheads="1" noChangeShapeType="1" noTextEdit="1"/>
              </p:cNvSpPr>
              <p:nvPr/>
            </p:nvSpPr>
            <p:spPr>
              <a:xfrm>
                <a:off x="6455378" y="11490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13E5564C-906C-B63E-E1A5-322E4EB18850}"/>
              </a:ext>
            </a:extLst>
          </p:cNvPr>
          <p:cNvCxnSpPr>
            <a:cxnSpLocks/>
          </p:cNvCxnSpPr>
          <p:nvPr/>
        </p:nvCxnSpPr>
        <p:spPr>
          <a:xfrm flipH="1">
            <a:off x="8014984" y="28396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55F0B1B-64FF-992A-6963-1D073C244DC6}"/>
                  </a:ext>
                </a:extLst>
              </p:cNvPr>
              <p:cNvSpPr txBox="1"/>
              <p:nvPr/>
            </p:nvSpPr>
            <p:spPr>
              <a:xfrm>
                <a:off x="7907640" y="28396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E55F0B1B-64FF-992A-6963-1D073C244DC6}"/>
                  </a:ext>
                </a:extLst>
              </p:cNvPr>
              <p:cNvSpPr txBox="1">
                <a:spLocks noRot="1" noChangeAspect="1" noMove="1" noResize="1" noEditPoints="1" noAdjustHandles="1" noChangeArrowheads="1" noChangeShapeType="1" noTextEdit="1"/>
              </p:cNvSpPr>
              <p:nvPr/>
            </p:nvSpPr>
            <p:spPr>
              <a:xfrm>
                <a:off x="7907640" y="2839608"/>
                <a:ext cx="553453" cy="307777"/>
              </a:xfrm>
              <a:prstGeom prst="rect">
                <a:avLst/>
              </a:prstGeom>
              <a:blipFill>
                <a:blip r:embed="rId12"/>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67F24FF-C481-9397-BDEC-3D9B88699887}"/>
              </a:ext>
            </a:extLst>
          </p:cNvPr>
          <p:cNvSpPr txBox="1"/>
          <p:nvPr/>
        </p:nvSpPr>
        <p:spPr>
          <a:xfrm>
            <a:off x="7658673" y="2141883"/>
            <a:ext cx="880257" cy="730011"/>
          </a:xfrm>
          <a:prstGeom prst="rect">
            <a:avLst/>
          </a:prstGeom>
          <a:noFill/>
          <a:ln>
            <a:solidFill>
              <a:schemeClr val="accent1"/>
            </a:solidFill>
          </a:ln>
        </p:spPr>
        <p:txBody>
          <a:bodyPr wrap="square" rtlCol="0">
            <a:spAutoFit/>
          </a:bodyPr>
          <a:lstStyle/>
          <a:p>
            <a:endParaRPr lang="en-US" dirty="0"/>
          </a:p>
        </p:txBody>
      </p:sp>
      <p:sp>
        <p:nvSpPr>
          <p:cNvPr id="18" name="Right Arrow 17">
            <a:extLst>
              <a:ext uri="{FF2B5EF4-FFF2-40B4-BE49-F238E27FC236}">
                <a16:creationId xmlns:a16="http://schemas.microsoft.com/office/drawing/2014/main" id="{DA8B4FDD-877B-B23C-2261-DE1E06F3BB68}"/>
              </a:ext>
            </a:extLst>
          </p:cNvPr>
          <p:cNvSpPr/>
          <p:nvPr/>
        </p:nvSpPr>
        <p:spPr>
          <a:xfrm rot="10800000">
            <a:off x="6916423" y="2332627"/>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4501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9C91F-62C7-5267-F464-4B902C32C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14931-7E08-8542-9E56-22B0AAF0FB7F}"/>
              </a:ext>
            </a:extLst>
          </p:cNvPr>
          <p:cNvSpPr>
            <a:spLocks noGrp="1"/>
          </p:cNvSpPr>
          <p:nvPr>
            <p:ph type="title"/>
          </p:nvPr>
        </p:nvSpPr>
        <p:spPr/>
        <p:txBody>
          <a:bodyPr>
            <a:normAutofit fontScale="90000"/>
          </a:bodyPr>
          <a:lstStyle/>
          <a:p>
            <a:r>
              <a:rPr lang="en-US" dirty="0"/>
              <a:t>Gradients for output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77A35EC-0BB8-0C0B-1C9A-8197B944E39B}"/>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oMath>
                </a14:m>
                <a:r>
                  <a:rPr lang="en-US" dirty="0"/>
                  <a:t>. Then,</a:t>
                </a:r>
                <a:endParaRPr lang="en-US" b="0" dirty="0"/>
              </a:p>
              <a:p>
                <a:pPr marL="11430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b="0" dirty="0"/>
                  <a:t> </a:t>
                </a:r>
              </a:p>
            </p:txBody>
          </p:sp>
        </mc:Choice>
        <mc:Fallback xmlns="">
          <p:sp>
            <p:nvSpPr>
              <p:cNvPr id="3" name="Text Placeholder 2">
                <a:extLst>
                  <a:ext uri="{FF2B5EF4-FFF2-40B4-BE49-F238E27FC236}">
                    <a16:creationId xmlns:a16="http://schemas.microsoft.com/office/drawing/2014/main" id="{D77A35EC-0BB8-0C0B-1C9A-8197B944E39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B7BFE95-F5C0-754F-DE10-E3731CB7DC1F}"/>
              </a:ext>
            </a:extLst>
          </p:cNvPr>
          <p:cNvPicPr>
            <a:picLocks noChangeAspect="1"/>
          </p:cNvPicPr>
          <p:nvPr/>
        </p:nvPicPr>
        <p:blipFill>
          <a:blip r:embed="rId3"/>
          <a:stretch>
            <a:fillRect/>
          </a:stretch>
        </p:blipFill>
        <p:spPr>
          <a:xfrm>
            <a:off x="4773416" y="13339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0E017B-303F-A09C-BC63-B74C469D24FB}"/>
                  </a:ext>
                </a:extLst>
              </p:cNvPr>
              <p:cNvSpPr txBox="1"/>
              <p:nvPr/>
            </p:nvSpPr>
            <p:spPr>
              <a:xfrm>
                <a:off x="5917801" y="15048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B80E017B-303F-A09C-BC63-B74C469D24FB}"/>
                  </a:ext>
                </a:extLst>
              </p:cNvPr>
              <p:cNvSpPr txBox="1">
                <a:spLocks noRot="1" noChangeAspect="1" noMove="1" noResize="1" noEditPoints="1" noAdjustHandles="1" noChangeArrowheads="1" noChangeShapeType="1" noTextEdit="1"/>
              </p:cNvSpPr>
              <p:nvPr/>
            </p:nvSpPr>
            <p:spPr>
              <a:xfrm>
                <a:off x="5917801" y="15048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489D02-5574-D0DB-D178-AC474E378363}"/>
                  </a:ext>
                </a:extLst>
              </p:cNvPr>
              <p:cNvSpPr txBox="1"/>
              <p:nvPr/>
            </p:nvSpPr>
            <p:spPr>
              <a:xfrm>
                <a:off x="5665461" y="20144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AD489D02-5574-D0DB-D178-AC474E378363}"/>
                  </a:ext>
                </a:extLst>
              </p:cNvPr>
              <p:cNvSpPr txBox="1">
                <a:spLocks noRot="1" noChangeAspect="1" noMove="1" noResize="1" noEditPoints="1" noAdjustHandles="1" noChangeArrowheads="1" noChangeShapeType="1" noTextEdit="1"/>
              </p:cNvSpPr>
              <p:nvPr/>
            </p:nvSpPr>
            <p:spPr>
              <a:xfrm>
                <a:off x="5665461" y="20144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BB059B4-7CD3-486A-004D-F68AE74AD2D4}"/>
                  </a:ext>
                </a:extLst>
              </p:cNvPr>
              <p:cNvSpPr txBox="1"/>
              <p:nvPr/>
            </p:nvSpPr>
            <p:spPr>
              <a:xfrm>
                <a:off x="5488907" y="24712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EBB059B4-7CD3-486A-004D-F68AE74AD2D4}"/>
                  </a:ext>
                </a:extLst>
              </p:cNvPr>
              <p:cNvSpPr txBox="1">
                <a:spLocks noRot="1" noChangeAspect="1" noMove="1" noResize="1" noEditPoints="1" noAdjustHandles="1" noChangeArrowheads="1" noChangeShapeType="1" noTextEdit="1"/>
              </p:cNvSpPr>
              <p:nvPr/>
            </p:nvSpPr>
            <p:spPr>
              <a:xfrm>
                <a:off x="5488907" y="24712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093E04-D215-C333-F50A-6AE4F929A96B}"/>
                  </a:ext>
                </a:extLst>
              </p:cNvPr>
              <p:cNvSpPr txBox="1"/>
              <p:nvPr/>
            </p:nvSpPr>
            <p:spPr>
              <a:xfrm>
                <a:off x="5716142" y="28983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19093E04-D215-C333-F50A-6AE4F929A96B}"/>
                  </a:ext>
                </a:extLst>
              </p:cNvPr>
              <p:cNvSpPr txBox="1">
                <a:spLocks noRot="1" noChangeAspect="1" noMove="1" noResize="1" noEditPoints="1" noAdjustHandles="1" noChangeArrowheads="1" noChangeShapeType="1" noTextEdit="1"/>
              </p:cNvSpPr>
              <p:nvPr/>
            </p:nvSpPr>
            <p:spPr>
              <a:xfrm>
                <a:off x="5716142" y="28983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F660F1-34A5-5E8F-04D6-6C09065F1733}"/>
                  </a:ext>
                </a:extLst>
              </p:cNvPr>
              <p:cNvSpPr txBox="1"/>
              <p:nvPr/>
            </p:nvSpPr>
            <p:spPr>
              <a:xfrm>
                <a:off x="7391537" y="17504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DDF660F1-34A5-5E8F-04D6-6C09065F1733}"/>
                  </a:ext>
                </a:extLst>
              </p:cNvPr>
              <p:cNvSpPr txBox="1">
                <a:spLocks noRot="1" noChangeAspect="1" noMove="1" noResize="1" noEditPoints="1" noAdjustHandles="1" noChangeArrowheads="1" noChangeShapeType="1" noTextEdit="1"/>
              </p:cNvSpPr>
              <p:nvPr/>
            </p:nvSpPr>
            <p:spPr>
              <a:xfrm>
                <a:off x="7391537" y="17504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531B30A-664A-4720-007D-FB7AEBF8D18E}"/>
                  </a:ext>
                </a:extLst>
              </p:cNvPr>
              <p:cNvSpPr txBox="1"/>
              <p:nvPr/>
            </p:nvSpPr>
            <p:spPr>
              <a:xfrm>
                <a:off x="7212321" y="25951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6531B30A-664A-4720-007D-FB7AEBF8D18E}"/>
                  </a:ext>
                </a:extLst>
              </p:cNvPr>
              <p:cNvSpPr txBox="1">
                <a:spLocks noRot="1" noChangeAspect="1" noMove="1" noResize="1" noEditPoints="1" noAdjustHandles="1" noChangeArrowheads="1" noChangeShapeType="1" noTextEdit="1"/>
              </p:cNvSpPr>
              <p:nvPr/>
            </p:nvSpPr>
            <p:spPr>
              <a:xfrm>
                <a:off x="7212321" y="25951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1BF76B59-9446-850E-80C5-4B48F9B62761}"/>
              </a:ext>
            </a:extLst>
          </p:cNvPr>
          <p:cNvCxnSpPr>
            <a:cxnSpLocks/>
          </p:cNvCxnSpPr>
          <p:nvPr/>
        </p:nvCxnSpPr>
        <p:spPr>
          <a:xfrm flipV="1">
            <a:off x="6471254" y="34430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98FB6D-CA7C-3451-DB72-1C6660931E91}"/>
              </a:ext>
            </a:extLst>
          </p:cNvPr>
          <p:cNvCxnSpPr>
            <a:cxnSpLocks/>
          </p:cNvCxnSpPr>
          <p:nvPr/>
        </p:nvCxnSpPr>
        <p:spPr>
          <a:xfrm>
            <a:off x="6471254" y="12460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E6B1518-930C-57EC-0FCE-8E3023E801C4}"/>
                  </a:ext>
                </a:extLst>
              </p:cNvPr>
              <p:cNvSpPr txBox="1"/>
              <p:nvPr/>
            </p:nvSpPr>
            <p:spPr>
              <a:xfrm>
                <a:off x="6362970" y="3498956"/>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FE6B1518-930C-57EC-0FCE-8E3023E801C4}"/>
                  </a:ext>
                </a:extLst>
              </p:cNvPr>
              <p:cNvSpPr txBox="1">
                <a:spLocks noRot="1" noChangeAspect="1" noMove="1" noResize="1" noEditPoints="1" noAdjustHandles="1" noChangeArrowheads="1" noChangeShapeType="1" noTextEdit="1"/>
              </p:cNvSpPr>
              <p:nvPr/>
            </p:nvSpPr>
            <p:spPr>
              <a:xfrm>
                <a:off x="6362970" y="3498956"/>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A5AC953-3AD7-23CE-469C-57811C69F8FA}"/>
                  </a:ext>
                </a:extLst>
              </p:cNvPr>
              <p:cNvSpPr txBox="1"/>
              <p:nvPr/>
            </p:nvSpPr>
            <p:spPr>
              <a:xfrm>
                <a:off x="6455378" y="11490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6A5AC953-3AD7-23CE-469C-57811C69F8FA}"/>
                  </a:ext>
                </a:extLst>
              </p:cNvPr>
              <p:cNvSpPr txBox="1">
                <a:spLocks noRot="1" noChangeAspect="1" noMove="1" noResize="1" noEditPoints="1" noAdjustHandles="1" noChangeArrowheads="1" noChangeShapeType="1" noTextEdit="1"/>
              </p:cNvSpPr>
              <p:nvPr/>
            </p:nvSpPr>
            <p:spPr>
              <a:xfrm>
                <a:off x="6455378" y="11490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DE11421E-DE44-9F6B-43CB-02FAEE8A73A7}"/>
              </a:ext>
            </a:extLst>
          </p:cNvPr>
          <p:cNvCxnSpPr>
            <a:cxnSpLocks/>
          </p:cNvCxnSpPr>
          <p:nvPr/>
        </p:nvCxnSpPr>
        <p:spPr>
          <a:xfrm flipH="1">
            <a:off x="8014984" y="28396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D10B8F7-5D6A-5410-69C0-7ADF0C662422}"/>
                  </a:ext>
                </a:extLst>
              </p:cNvPr>
              <p:cNvSpPr txBox="1"/>
              <p:nvPr/>
            </p:nvSpPr>
            <p:spPr>
              <a:xfrm>
                <a:off x="7907640" y="28396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DD10B8F7-5D6A-5410-69C0-7ADF0C662422}"/>
                  </a:ext>
                </a:extLst>
              </p:cNvPr>
              <p:cNvSpPr txBox="1">
                <a:spLocks noRot="1" noChangeAspect="1" noMove="1" noResize="1" noEditPoints="1" noAdjustHandles="1" noChangeArrowheads="1" noChangeShapeType="1" noTextEdit="1"/>
              </p:cNvSpPr>
              <p:nvPr/>
            </p:nvSpPr>
            <p:spPr>
              <a:xfrm>
                <a:off x="7907640" y="2839608"/>
                <a:ext cx="553453" cy="307777"/>
              </a:xfrm>
              <a:prstGeom prst="rect">
                <a:avLst/>
              </a:prstGeom>
              <a:blipFill>
                <a:blip r:embed="rId12"/>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33DAAB5F-F3A3-1747-678E-D38C196546FB}"/>
              </a:ext>
            </a:extLst>
          </p:cNvPr>
          <p:cNvSpPr txBox="1"/>
          <p:nvPr/>
        </p:nvSpPr>
        <p:spPr>
          <a:xfrm>
            <a:off x="7658673" y="2141883"/>
            <a:ext cx="880257" cy="730011"/>
          </a:xfrm>
          <a:prstGeom prst="rect">
            <a:avLst/>
          </a:prstGeom>
          <a:noFill/>
          <a:ln>
            <a:solidFill>
              <a:schemeClr val="accent1"/>
            </a:solidFill>
          </a:ln>
        </p:spPr>
        <p:txBody>
          <a:bodyPr wrap="square" rtlCol="0">
            <a:spAutoFit/>
          </a:bodyPr>
          <a:lstStyle/>
          <a:p>
            <a:endParaRPr lang="en-US" dirty="0"/>
          </a:p>
        </p:txBody>
      </p:sp>
      <p:sp>
        <p:nvSpPr>
          <p:cNvPr id="23" name="Right Arrow 22">
            <a:extLst>
              <a:ext uri="{FF2B5EF4-FFF2-40B4-BE49-F238E27FC236}">
                <a16:creationId xmlns:a16="http://schemas.microsoft.com/office/drawing/2014/main" id="{0BE43509-F45D-5DC9-65F6-ECB2DE0EFF2E}"/>
              </a:ext>
            </a:extLst>
          </p:cNvPr>
          <p:cNvSpPr/>
          <p:nvPr/>
        </p:nvSpPr>
        <p:spPr>
          <a:xfrm rot="10800000">
            <a:off x="6916423" y="2332627"/>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693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45A5-29F9-A079-4B0E-B00C1335C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9E331-6D26-723F-0975-662BA21B969F}"/>
              </a:ext>
            </a:extLst>
          </p:cNvPr>
          <p:cNvSpPr>
            <a:spLocks noGrp="1"/>
          </p:cNvSpPr>
          <p:nvPr>
            <p:ph type="title"/>
          </p:nvPr>
        </p:nvSpPr>
        <p:spPr/>
        <p:txBody>
          <a:bodyPr>
            <a:normAutofit fontScale="90000"/>
          </a:bodyPr>
          <a:lstStyle/>
          <a:p>
            <a:r>
              <a:rPr lang="en-US" dirty="0"/>
              <a:t>Gradients for output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9737802-9D14-9C23-065F-5E344716201E}"/>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oMath>
                </a14:m>
                <a:r>
                  <a:rPr lang="en-US" dirty="0"/>
                  <a:t>. Then,</a:t>
                </a:r>
                <a:endParaRPr lang="en-US" b="0" dirty="0"/>
              </a:p>
              <a:p>
                <a:pPr marL="11430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b="0" dirty="0"/>
                  <a:t> </a:t>
                </a:r>
              </a:p>
            </p:txBody>
          </p:sp>
        </mc:Choice>
        <mc:Fallback xmlns="">
          <p:sp>
            <p:nvSpPr>
              <p:cNvPr id="3" name="Text Placeholder 2">
                <a:extLst>
                  <a:ext uri="{FF2B5EF4-FFF2-40B4-BE49-F238E27FC236}">
                    <a16:creationId xmlns:a16="http://schemas.microsoft.com/office/drawing/2014/main" id="{99737802-9D14-9C23-065F-5E344716201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9226B3A-9EB9-7377-065A-2D3E0CD62EAE}"/>
              </a:ext>
            </a:extLst>
          </p:cNvPr>
          <p:cNvPicPr>
            <a:picLocks noChangeAspect="1"/>
          </p:cNvPicPr>
          <p:nvPr/>
        </p:nvPicPr>
        <p:blipFill>
          <a:blip r:embed="rId3"/>
          <a:stretch>
            <a:fillRect/>
          </a:stretch>
        </p:blipFill>
        <p:spPr>
          <a:xfrm>
            <a:off x="4773416" y="13339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72C5B9-BD9E-9197-CE2B-46AF921F5593}"/>
                  </a:ext>
                </a:extLst>
              </p:cNvPr>
              <p:cNvSpPr txBox="1"/>
              <p:nvPr/>
            </p:nvSpPr>
            <p:spPr>
              <a:xfrm>
                <a:off x="5917801" y="15048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6D72C5B9-BD9E-9197-CE2B-46AF921F5593}"/>
                  </a:ext>
                </a:extLst>
              </p:cNvPr>
              <p:cNvSpPr txBox="1">
                <a:spLocks noRot="1" noChangeAspect="1" noMove="1" noResize="1" noEditPoints="1" noAdjustHandles="1" noChangeArrowheads="1" noChangeShapeType="1" noTextEdit="1"/>
              </p:cNvSpPr>
              <p:nvPr/>
            </p:nvSpPr>
            <p:spPr>
              <a:xfrm>
                <a:off x="5917801" y="15048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5E3F037-8992-F8A4-9882-04B91B0CD5B6}"/>
                  </a:ext>
                </a:extLst>
              </p:cNvPr>
              <p:cNvSpPr txBox="1"/>
              <p:nvPr/>
            </p:nvSpPr>
            <p:spPr>
              <a:xfrm>
                <a:off x="5665461" y="20144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D5E3F037-8992-F8A4-9882-04B91B0CD5B6}"/>
                  </a:ext>
                </a:extLst>
              </p:cNvPr>
              <p:cNvSpPr txBox="1">
                <a:spLocks noRot="1" noChangeAspect="1" noMove="1" noResize="1" noEditPoints="1" noAdjustHandles="1" noChangeArrowheads="1" noChangeShapeType="1" noTextEdit="1"/>
              </p:cNvSpPr>
              <p:nvPr/>
            </p:nvSpPr>
            <p:spPr>
              <a:xfrm>
                <a:off x="5665461" y="20144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09D199-00E6-6691-5B40-12BCA49850AB}"/>
                  </a:ext>
                </a:extLst>
              </p:cNvPr>
              <p:cNvSpPr txBox="1"/>
              <p:nvPr/>
            </p:nvSpPr>
            <p:spPr>
              <a:xfrm>
                <a:off x="5488907" y="24712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9209D199-00E6-6691-5B40-12BCA49850AB}"/>
                  </a:ext>
                </a:extLst>
              </p:cNvPr>
              <p:cNvSpPr txBox="1">
                <a:spLocks noRot="1" noChangeAspect="1" noMove="1" noResize="1" noEditPoints="1" noAdjustHandles="1" noChangeArrowheads="1" noChangeShapeType="1" noTextEdit="1"/>
              </p:cNvSpPr>
              <p:nvPr/>
            </p:nvSpPr>
            <p:spPr>
              <a:xfrm>
                <a:off x="5488907" y="24712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F8C511-7E1E-6628-EE27-F4267BE209AA}"/>
                  </a:ext>
                </a:extLst>
              </p:cNvPr>
              <p:cNvSpPr txBox="1"/>
              <p:nvPr/>
            </p:nvSpPr>
            <p:spPr>
              <a:xfrm>
                <a:off x="5716142" y="28983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8BF8C511-7E1E-6628-EE27-F4267BE209AA}"/>
                  </a:ext>
                </a:extLst>
              </p:cNvPr>
              <p:cNvSpPr txBox="1">
                <a:spLocks noRot="1" noChangeAspect="1" noMove="1" noResize="1" noEditPoints="1" noAdjustHandles="1" noChangeArrowheads="1" noChangeShapeType="1" noTextEdit="1"/>
              </p:cNvSpPr>
              <p:nvPr/>
            </p:nvSpPr>
            <p:spPr>
              <a:xfrm>
                <a:off x="5716142" y="28983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F8284E0-8872-6C27-88EA-2E432C65CCFF}"/>
                  </a:ext>
                </a:extLst>
              </p:cNvPr>
              <p:cNvSpPr txBox="1"/>
              <p:nvPr/>
            </p:nvSpPr>
            <p:spPr>
              <a:xfrm>
                <a:off x="7391537" y="17504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4F8284E0-8872-6C27-88EA-2E432C65CCFF}"/>
                  </a:ext>
                </a:extLst>
              </p:cNvPr>
              <p:cNvSpPr txBox="1">
                <a:spLocks noRot="1" noChangeAspect="1" noMove="1" noResize="1" noEditPoints="1" noAdjustHandles="1" noChangeArrowheads="1" noChangeShapeType="1" noTextEdit="1"/>
              </p:cNvSpPr>
              <p:nvPr/>
            </p:nvSpPr>
            <p:spPr>
              <a:xfrm>
                <a:off x="7391537" y="17504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431C83-CBF2-A576-B249-854FE2655ED6}"/>
                  </a:ext>
                </a:extLst>
              </p:cNvPr>
              <p:cNvSpPr txBox="1"/>
              <p:nvPr/>
            </p:nvSpPr>
            <p:spPr>
              <a:xfrm>
                <a:off x="7212321" y="25951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8D431C83-CBF2-A576-B249-854FE2655ED6}"/>
                  </a:ext>
                </a:extLst>
              </p:cNvPr>
              <p:cNvSpPr txBox="1">
                <a:spLocks noRot="1" noChangeAspect="1" noMove="1" noResize="1" noEditPoints="1" noAdjustHandles="1" noChangeArrowheads="1" noChangeShapeType="1" noTextEdit="1"/>
              </p:cNvSpPr>
              <p:nvPr/>
            </p:nvSpPr>
            <p:spPr>
              <a:xfrm>
                <a:off x="7212321" y="25951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5D023F3F-6156-9CA9-A4E8-0484648D303B}"/>
              </a:ext>
            </a:extLst>
          </p:cNvPr>
          <p:cNvCxnSpPr>
            <a:cxnSpLocks/>
          </p:cNvCxnSpPr>
          <p:nvPr/>
        </p:nvCxnSpPr>
        <p:spPr>
          <a:xfrm flipV="1">
            <a:off x="6471254" y="34430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3F789DA-725E-46B9-E7F6-266FF79B4858}"/>
              </a:ext>
            </a:extLst>
          </p:cNvPr>
          <p:cNvCxnSpPr>
            <a:cxnSpLocks/>
          </p:cNvCxnSpPr>
          <p:nvPr/>
        </p:nvCxnSpPr>
        <p:spPr>
          <a:xfrm>
            <a:off x="6471254" y="12460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BF292C1-0BE5-908A-C568-7F20308D6584}"/>
                  </a:ext>
                </a:extLst>
              </p:cNvPr>
              <p:cNvSpPr txBox="1"/>
              <p:nvPr/>
            </p:nvSpPr>
            <p:spPr>
              <a:xfrm>
                <a:off x="6362970" y="3498956"/>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6BF292C1-0BE5-908A-C568-7F20308D6584}"/>
                  </a:ext>
                </a:extLst>
              </p:cNvPr>
              <p:cNvSpPr txBox="1">
                <a:spLocks noRot="1" noChangeAspect="1" noMove="1" noResize="1" noEditPoints="1" noAdjustHandles="1" noChangeArrowheads="1" noChangeShapeType="1" noTextEdit="1"/>
              </p:cNvSpPr>
              <p:nvPr/>
            </p:nvSpPr>
            <p:spPr>
              <a:xfrm>
                <a:off x="6362970" y="3498956"/>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89F2EE1-A0F2-F5CB-737C-BEC691209477}"/>
                  </a:ext>
                </a:extLst>
              </p:cNvPr>
              <p:cNvSpPr txBox="1"/>
              <p:nvPr/>
            </p:nvSpPr>
            <p:spPr>
              <a:xfrm>
                <a:off x="6455378" y="11490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289F2EE1-A0F2-F5CB-737C-BEC691209477}"/>
                  </a:ext>
                </a:extLst>
              </p:cNvPr>
              <p:cNvSpPr txBox="1">
                <a:spLocks noRot="1" noChangeAspect="1" noMove="1" noResize="1" noEditPoints="1" noAdjustHandles="1" noChangeArrowheads="1" noChangeShapeType="1" noTextEdit="1"/>
              </p:cNvSpPr>
              <p:nvPr/>
            </p:nvSpPr>
            <p:spPr>
              <a:xfrm>
                <a:off x="6455378" y="11490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73BE0A5-7B90-4053-6354-B21808D9C536}"/>
              </a:ext>
            </a:extLst>
          </p:cNvPr>
          <p:cNvCxnSpPr>
            <a:cxnSpLocks/>
          </p:cNvCxnSpPr>
          <p:nvPr/>
        </p:nvCxnSpPr>
        <p:spPr>
          <a:xfrm flipH="1">
            <a:off x="8014984" y="28396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9EAE717-40CC-51F3-488B-DA853A28966B}"/>
                  </a:ext>
                </a:extLst>
              </p:cNvPr>
              <p:cNvSpPr txBox="1"/>
              <p:nvPr/>
            </p:nvSpPr>
            <p:spPr>
              <a:xfrm>
                <a:off x="7907640" y="28396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09EAE717-40CC-51F3-488B-DA853A28966B}"/>
                  </a:ext>
                </a:extLst>
              </p:cNvPr>
              <p:cNvSpPr txBox="1">
                <a:spLocks noRot="1" noChangeAspect="1" noMove="1" noResize="1" noEditPoints="1" noAdjustHandles="1" noChangeArrowheads="1" noChangeShapeType="1" noTextEdit="1"/>
              </p:cNvSpPr>
              <p:nvPr/>
            </p:nvSpPr>
            <p:spPr>
              <a:xfrm>
                <a:off x="7907640" y="2839608"/>
                <a:ext cx="553453" cy="307777"/>
              </a:xfrm>
              <a:prstGeom prst="rect">
                <a:avLst/>
              </a:prstGeom>
              <a:blipFill>
                <a:blip r:embed="rId12"/>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27E34CBD-62EA-F2A8-7193-2C11AE020EF9}"/>
              </a:ext>
            </a:extLst>
          </p:cNvPr>
          <p:cNvSpPr txBox="1"/>
          <p:nvPr/>
        </p:nvSpPr>
        <p:spPr>
          <a:xfrm>
            <a:off x="7658673" y="2141883"/>
            <a:ext cx="880257" cy="730011"/>
          </a:xfrm>
          <a:prstGeom prst="rect">
            <a:avLst/>
          </a:prstGeom>
          <a:noFill/>
          <a:ln>
            <a:solidFill>
              <a:schemeClr val="accent1"/>
            </a:solidFill>
          </a:ln>
        </p:spPr>
        <p:txBody>
          <a:bodyPr wrap="square" rtlCol="0">
            <a:spAutoFit/>
          </a:bodyPr>
          <a:lstStyle/>
          <a:p>
            <a:endParaRPr lang="en-US" dirty="0"/>
          </a:p>
        </p:txBody>
      </p:sp>
      <p:sp>
        <p:nvSpPr>
          <p:cNvPr id="18" name="Right Arrow 17">
            <a:extLst>
              <a:ext uri="{FF2B5EF4-FFF2-40B4-BE49-F238E27FC236}">
                <a16:creationId xmlns:a16="http://schemas.microsoft.com/office/drawing/2014/main" id="{2D42CB75-9822-A74E-8ED7-666F08D50F01}"/>
              </a:ext>
            </a:extLst>
          </p:cNvPr>
          <p:cNvSpPr/>
          <p:nvPr/>
        </p:nvSpPr>
        <p:spPr>
          <a:xfrm rot="10800000">
            <a:off x="6916423" y="2332627"/>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24EAF2F-18AD-0E14-9680-397D0983E26C}"/>
              </a:ext>
            </a:extLst>
          </p:cNvPr>
          <p:cNvSpPr txBox="1"/>
          <p:nvPr/>
        </p:nvSpPr>
        <p:spPr>
          <a:xfrm>
            <a:off x="403654" y="1655804"/>
            <a:ext cx="1260389" cy="560173"/>
          </a:xfrm>
          <a:prstGeom prst="rect">
            <a:avLst/>
          </a:prstGeom>
          <a:noFill/>
          <a:ln>
            <a:solidFill>
              <a:schemeClr val="accent1"/>
            </a:solidFill>
          </a:ln>
        </p:spPr>
        <p:txBody>
          <a:bodyPr wrap="square" rtlCol="0">
            <a:spAutoFit/>
          </a:bodyPr>
          <a:lstStyle/>
          <a:p>
            <a:endParaRPr lang="en-US" dirty="0"/>
          </a:p>
        </p:txBody>
      </p:sp>
      <p:cxnSp>
        <p:nvCxnSpPr>
          <p:cNvPr id="21" name="Straight Arrow Connector 20">
            <a:extLst>
              <a:ext uri="{FF2B5EF4-FFF2-40B4-BE49-F238E27FC236}">
                <a16:creationId xmlns:a16="http://schemas.microsoft.com/office/drawing/2014/main" id="{FC8BBE75-F923-F809-4336-4B23153A9FD1}"/>
              </a:ext>
            </a:extLst>
          </p:cNvPr>
          <p:cNvCxnSpPr/>
          <p:nvPr/>
        </p:nvCxnSpPr>
        <p:spPr>
          <a:xfrm flipH="1" flipV="1">
            <a:off x="1664043" y="2215977"/>
            <a:ext cx="914400" cy="1806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BACBA2E-07EA-BD03-B3FA-485C13B1E4DD}"/>
                  </a:ext>
                </a:extLst>
              </p:cNvPr>
              <p:cNvSpPr txBox="1"/>
              <p:nvPr/>
            </p:nvSpPr>
            <p:spPr>
              <a:xfrm>
                <a:off x="2586680" y="3877176"/>
                <a:ext cx="2965622" cy="738664"/>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“change in cost with respect to </a:t>
                </a:r>
                <a14:m>
                  <m:oMath xmlns:m="http://schemas.openxmlformats.org/officeDocument/2006/math">
                    <m:sSub>
                      <m:sSubPr>
                        <m:ctrlPr>
                          <a:rPr lang="en-US" b="0" i="1" smtClean="0">
                            <a:solidFill>
                              <a:schemeClr val="bg2"/>
                            </a:solidFill>
                            <a:latin typeface="Cambria Math" panose="02040503050406030204" pitchFamily="18" charset="0"/>
                          </a:rPr>
                        </m:ctrlPr>
                      </m:sSubPr>
                      <m:e>
                        <m:r>
                          <a:rPr lang="en-US" b="0" i="1" smtClean="0">
                            <a:solidFill>
                              <a:schemeClr val="bg2"/>
                            </a:solidFill>
                            <a:latin typeface="Cambria Math" panose="02040503050406030204" pitchFamily="18" charset="0"/>
                          </a:rPr>
                          <m:t>𝑤</m:t>
                        </m:r>
                      </m:e>
                      <m:sub>
                        <m:r>
                          <a:rPr lang="en-US" b="0" i="1" smtClean="0">
                            <a:solidFill>
                              <a:schemeClr val="bg2"/>
                            </a:solidFill>
                            <a:latin typeface="Cambria Math" panose="02040503050406030204" pitchFamily="18" charset="0"/>
                          </a:rPr>
                          <m:t>5</m:t>
                        </m:r>
                      </m:sub>
                    </m:sSub>
                  </m:oMath>
                </a14:m>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rPr>
                  <a:t>” </a:t>
                </a:r>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does cost increase as </a:t>
                </a:r>
                <a14:m>
                  <m:oMath xmlns:m="http://schemas.openxmlformats.org/officeDocument/2006/math">
                    <m:sSub>
                      <m:sSubPr>
                        <m:ctrlPr>
                          <a:rPr lang="en-US" b="0" i="1" smtClean="0">
                            <a:solidFill>
                              <a:schemeClr val="bg2"/>
                            </a:solidFill>
                            <a:latin typeface="Cambria Math" panose="02040503050406030204" pitchFamily="18" charset="0"/>
                            <a:sym typeface="Wingdings" pitchFamily="2" charset="2"/>
                          </a:rPr>
                        </m:ctrlPr>
                      </m:sSubPr>
                      <m:e>
                        <m:r>
                          <a:rPr lang="en-US" b="0" i="1" smtClean="0">
                            <a:solidFill>
                              <a:schemeClr val="bg2"/>
                            </a:solidFill>
                            <a:latin typeface="Cambria Math" panose="02040503050406030204" pitchFamily="18" charset="0"/>
                            <a:sym typeface="Wingdings" pitchFamily="2" charset="2"/>
                          </a:rPr>
                          <m:t>𝑤</m:t>
                        </m:r>
                      </m:e>
                      <m:sub>
                        <m:r>
                          <a:rPr lang="en-US" b="0" i="1" smtClean="0">
                            <a:solidFill>
                              <a:schemeClr val="bg2"/>
                            </a:solidFill>
                            <a:latin typeface="Cambria Math" panose="02040503050406030204" pitchFamily="18" charset="0"/>
                            <a:sym typeface="Wingdings" pitchFamily="2" charset="2"/>
                          </a:rPr>
                          <m:t>5</m:t>
                        </m:r>
                      </m:sub>
                    </m:sSub>
                  </m:oMath>
                </a14:m>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as increases or vice-versa?</a:t>
                </a:r>
              </a:p>
            </p:txBody>
          </p:sp>
        </mc:Choice>
        <mc:Fallback xmlns="">
          <p:sp>
            <p:nvSpPr>
              <p:cNvPr id="22" name="TextBox 21">
                <a:extLst>
                  <a:ext uri="{FF2B5EF4-FFF2-40B4-BE49-F238E27FC236}">
                    <a16:creationId xmlns:a16="http://schemas.microsoft.com/office/drawing/2014/main" id="{4BACBA2E-07EA-BD03-B3FA-485C13B1E4DD}"/>
                  </a:ext>
                </a:extLst>
              </p:cNvPr>
              <p:cNvSpPr txBox="1">
                <a:spLocks noRot="1" noChangeAspect="1" noMove="1" noResize="1" noEditPoints="1" noAdjustHandles="1" noChangeArrowheads="1" noChangeShapeType="1" noTextEdit="1"/>
              </p:cNvSpPr>
              <p:nvPr/>
            </p:nvSpPr>
            <p:spPr>
              <a:xfrm>
                <a:off x="2586680" y="3877176"/>
                <a:ext cx="2965622" cy="738664"/>
              </a:xfrm>
              <a:prstGeom prst="rect">
                <a:avLst/>
              </a:prstGeom>
              <a:blipFill>
                <a:blip r:embed="rId13"/>
                <a:stretch>
                  <a:fillRect l="-426" r="-1702" b="-8333"/>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04829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2C816-7ADA-27B7-1D5B-61A48CF8B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16B9C-4029-FD73-19BB-03EA3A2BFBE7}"/>
              </a:ext>
            </a:extLst>
          </p:cNvPr>
          <p:cNvSpPr>
            <a:spLocks noGrp="1"/>
          </p:cNvSpPr>
          <p:nvPr>
            <p:ph type="title"/>
          </p:nvPr>
        </p:nvSpPr>
        <p:spPr/>
        <p:txBody>
          <a:bodyPr>
            <a:normAutofit fontScale="90000"/>
          </a:bodyPr>
          <a:lstStyle/>
          <a:p>
            <a:r>
              <a:rPr lang="en-US" dirty="0"/>
              <a:t>Gradients for output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F63D764-35B5-3CBB-08C2-8557AB3A2763}"/>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oMath>
                </a14:m>
                <a:r>
                  <a:rPr lang="en-US" dirty="0"/>
                  <a:t>. Then,</a:t>
                </a:r>
                <a:endParaRPr lang="en-US" b="0" dirty="0"/>
              </a:p>
              <a:p>
                <a:pPr marL="11430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b="0" dirty="0"/>
                  <a:t> </a:t>
                </a:r>
              </a:p>
              <a:p>
                <a:pPr marL="11430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oMath>
                </a14:m>
                <a:r>
                  <a:rPr lang="en-US" b="0" dirty="0"/>
                  <a:t> </a:t>
                </a:r>
              </a:p>
              <a:p>
                <a:pPr marL="11430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oMath>
                </a14:m>
                <a:r>
                  <a:rPr lang="en-US" b="0" dirty="0"/>
                  <a:t> </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8F63D764-35B5-3CBB-08C2-8557AB3A276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F1ABCA2-3C7A-1562-33D0-74C9DCD7DF23}"/>
              </a:ext>
            </a:extLst>
          </p:cNvPr>
          <p:cNvPicPr>
            <a:picLocks noChangeAspect="1"/>
          </p:cNvPicPr>
          <p:nvPr/>
        </p:nvPicPr>
        <p:blipFill>
          <a:blip r:embed="rId3"/>
          <a:stretch>
            <a:fillRect/>
          </a:stretch>
        </p:blipFill>
        <p:spPr>
          <a:xfrm>
            <a:off x="4773416" y="1333990"/>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F7633A3-942E-AFB1-9AB9-47B2C91C68E8}"/>
                  </a:ext>
                </a:extLst>
              </p:cNvPr>
              <p:cNvSpPr txBox="1"/>
              <p:nvPr/>
            </p:nvSpPr>
            <p:spPr>
              <a:xfrm>
                <a:off x="5917801" y="150480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5F7633A3-942E-AFB1-9AB9-47B2C91C68E8}"/>
                  </a:ext>
                </a:extLst>
              </p:cNvPr>
              <p:cNvSpPr txBox="1">
                <a:spLocks noRot="1" noChangeAspect="1" noMove="1" noResize="1" noEditPoints="1" noAdjustHandles="1" noChangeArrowheads="1" noChangeShapeType="1" noTextEdit="1"/>
              </p:cNvSpPr>
              <p:nvPr/>
            </p:nvSpPr>
            <p:spPr>
              <a:xfrm>
                <a:off x="5917801" y="1504805"/>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A635E25-A690-8748-84AA-43ECEB658682}"/>
                  </a:ext>
                </a:extLst>
              </p:cNvPr>
              <p:cNvSpPr txBox="1"/>
              <p:nvPr/>
            </p:nvSpPr>
            <p:spPr>
              <a:xfrm>
                <a:off x="5665461" y="201446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7A635E25-A690-8748-84AA-43ECEB658682}"/>
                  </a:ext>
                </a:extLst>
              </p:cNvPr>
              <p:cNvSpPr txBox="1">
                <a:spLocks noRot="1" noChangeAspect="1" noMove="1" noResize="1" noEditPoints="1" noAdjustHandles="1" noChangeArrowheads="1" noChangeShapeType="1" noTextEdit="1"/>
              </p:cNvSpPr>
              <p:nvPr/>
            </p:nvSpPr>
            <p:spPr>
              <a:xfrm>
                <a:off x="5665461" y="2014466"/>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1384A9-76A8-2CD8-4BD5-B539ED166129}"/>
                  </a:ext>
                </a:extLst>
              </p:cNvPr>
              <p:cNvSpPr txBox="1"/>
              <p:nvPr/>
            </p:nvSpPr>
            <p:spPr>
              <a:xfrm>
                <a:off x="5488907" y="247126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121384A9-76A8-2CD8-4BD5-B539ED166129}"/>
                  </a:ext>
                </a:extLst>
              </p:cNvPr>
              <p:cNvSpPr txBox="1">
                <a:spLocks noRot="1" noChangeAspect="1" noMove="1" noResize="1" noEditPoints="1" noAdjustHandles="1" noChangeArrowheads="1" noChangeShapeType="1" noTextEdit="1"/>
              </p:cNvSpPr>
              <p:nvPr/>
            </p:nvSpPr>
            <p:spPr>
              <a:xfrm>
                <a:off x="5488907" y="2471261"/>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B2F96B0-1D0F-AAB3-39E4-D78495747897}"/>
                  </a:ext>
                </a:extLst>
              </p:cNvPr>
              <p:cNvSpPr txBox="1"/>
              <p:nvPr/>
            </p:nvSpPr>
            <p:spPr>
              <a:xfrm>
                <a:off x="5716142" y="28983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3B2F96B0-1D0F-AAB3-39E4-D78495747897}"/>
                  </a:ext>
                </a:extLst>
              </p:cNvPr>
              <p:cNvSpPr txBox="1">
                <a:spLocks noRot="1" noChangeAspect="1" noMove="1" noResize="1" noEditPoints="1" noAdjustHandles="1" noChangeArrowheads="1" noChangeShapeType="1" noTextEdit="1"/>
              </p:cNvSpPr>
              <p:nvPr/>
            </p:nvSpPr>
            <p:spPr>
              <a:xfrm>
                <a:off x="5716142" y="2898365"/>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44A73B1-224D-5ECC-8A21-EED5A6E03153}"/>
                  </a:ext>
                </a:extLst>
              </p:cNvPr>
              <p:cNvSpPr txBox="1"/>
              <p:nvPr/>
            </p:nvSpPr>
            <p:spPr>
              <a:xfrm>
                <a:off x="7391537" y="175045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F44A73B1-224D-5ECC-8A21-EED5A6E03153}"/>
                  </a:ext>
                </a:extLst>
              </p:cNvPr>
              <p:cNvSpPr txBox="1">
                <a:spLocks noRot="1" noChangeAspect="1" noMove="1" noResize="1" noEditPoints="1" noAdjustHandles="1" noChangeArrowheads="1" noChangeShapeType="1" noTextEdit="1"/>
              </p:cNvSpPr>
              <p:nvPr/>
            </p:nvSpPr>
            <p:spPr>
              <a:xfrm>
                <a:off x="7391537" y="1750450"/>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7429A75-B5A7-6964-42B7-9343937BAEC5}"/>
                  </a:ext>
                </a:extLst>
              </p:cNvPr>
              <p:cNvSpPr txBox="1"/>
              <p:nvPr/>
            </p:nvSpPr>
            <p:spPr>
              <a:xfrm>
                <a:off x="7212321" y="259519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B7429A75-B5A7-6964-42B7-9343937BAEC5}"/>
                  </a:ext>
                </a:extLst>
              </p:cNvPr>
              <p:cNvSpPr txBox="1">
                <a:spLocks noRot="1" noChangeAspect="1" noMove="1" noResize="1" noEditPoints="1" noAdjustHandles="1" noChangeArrowheads="1" noChangeShapeType="1" noTextEdit="1"/>
              </p:cNvSpPr>
              <p:nvPr/>
            </p:nvSpPr>
            <p:spPr>
              <a:xfrm>
                <a:off x="7212321" y="2595198"/>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FE1023C-B076-8766-29CB-E2C1124D1A68}"/>
              </a:ext>
            </a:extLst>
          </p:cNvPr>
          <p:cNvCxnSpPr>
            <a:cxnSpLocks/>
          </p:cNvCxnSpPr>
          <p:nvPr/>
        </p:nvCxnSpPr>
        <p:spPr>
          <a:xfrm flipV="1">
            <a:off x="6471254" y="344303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CBE331-DF9A-89C2-08DF-DE4A8002B7BD}"/>
              </a:ext>
            </a:extLst>
          </p:cNvPr>
          <p:cNvCxnSpPr>
            <a:cxnSpLocks/>
          </p:cNvCxnSpPr>
          <p:nvPr/>
        </p:nvCxnSpPr>
        <p:spPr>
          <a:xfrm>
            <a:off x="6471254" y="124608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627A8A-FD4B-9972-8311-0FCADF58EC08}"/>
                  </a:ext>
                </a:extLst>
              </p:cNvPr>
              <p:cNvSpPr txBox="1"/>
              <p:nvPr/>
            </p:nvSpPr>
            <p:spPr>
              <a:xfrm>
                <a:off x="6362970" y="3498956"/>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F2627A8A-FD4B-9972-8311-0FCADF58EC08}"/>
                  </a:ext>
                </a:extLst>
              </p:cNvPr>
              <p:cNvSpPr txBox="1">
                <a:spLocks noRot="1" noChangeAspect="1" noMove="1" noResize="1" noEditPoints="1" noAdjustHandles="1" noChangeArrowheads="1" noChangeShapeType="1" noTextEdit="1"/>
              </p:cNvSpPr>
              <p:nvPr/>
            </p:nvSpPr>
            <p:spPr>
              <a:xfrm>
                <a:off x="6362970" y="3498956"/>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0394C3-25B6-4197-559B-27F63A7A41F5}"/>
                  </a:ext>
                </a:extLst>
              </p:cNvPr>
              <p:cNvSpPr txBox="1"/>
              <p:nvPr/>
            </p:nvSpPr>
            <p:spPr>
              <a:xfrm>
                <a:off x="6455378" y="11490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9A0394C3-25B6-4197-559B-27F63A7A41F5}"/>
                  </a:ext>
                </a:extLst>
              </p:cNvPr>
              <p:cNvSpPr txBox="1">
                <a:spLocks noRot="1" noChangeAspect="1" noMove="1" noResize="1" noEditPoints="1" noAdjustHandles="1" noChangeArrowheads="1" noChangeShapeType="1" noTextEdit="1"/>
              </p:cNvSpPr>
              <p:nvPr/>
            </p:nvSpPr>
            <p:spPr>
              <a:xfrm>
                <a:off x="6455378" y="1149032"/>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64F93183-72E3-D04B-8928-11B9E682BF5E}"/>
              </a:ext>
            </a:extLst>
          </p:cNvPr>
          <p:cNvCxnSpPr>
            <a:cxnSpLocks/>
          </p:cNvCxnSpPr>
          <p:nvPr/>
        </p:nvCxnSpPr>
        <p:spPr>
          <a:xfrm flipH="1">
            <a:off x="8014984" y="283960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F0EF2FC-D8B4-139A-35E0-017FD5F1657C}"/>
                  </a:ext>
                </a:extLst>
              </p:cNvPr>
              <p:cNvSpPr txBox="1"/>
              <p:nvPr/>
            </p:nvSpPr>
            <p:spPr>
              <a:xfrm>
                <a:off x="7907640" y="283960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5F0EF2FC-D8B4-139A-35E0-017FD5F1657C}"/>
                  </a:ext>
                </a:extLst>
              </p:cNvPr>
              <p:cNvSpPr txBox="1">
                <a:spLocks noRot="1" noChangeAspect="1" noMove="1" noResize="1" noEditPoints="1" noAdjustHandles="1" noChangeArrowheads="1" noChangeShapeType="1" noTextEdit="1"/>
              </p:cNvSpPr>
              <p:nvPr/>
            </p:nvSpPr>
            <p:spPr>
              <a:xfrm>
                <a:off x="7907640" y="2839608"/>
                <a:ext cx="553453" cy="307777"/>
              </a:xfrm>
              <a:prstGeom prst="rect">
                <a:avLst/>
              </a:prstGeom>
              <a:blipFill>
                <a:blip r:embed="rId12"/>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5F4FA7F-1495-6EF1-E206-A9B224BFBE1A}"/>
              </a:ext>
            </a:extLst>
          </p:cNvPr>
          <p:cNvSpPr txBox="1"/>
          <p:nvPr/>
        </p:nvSpPr>
        <p:spPr>
          <a:xfrm>
            <a:off x="7658673" y="2141883"/>
            <a:ext cx="880257" cy="730011"/>
          </a:xfrm>
          <a:prstGeom prst="rect">
            <a:avLst/>
          </a:prstGeom>
          <a:noFill/>
          <a:ln>
            <a:solidFill>
              <a:schemeClr val="accent1"/>
            </a:solidFill>
          </a:ln>
        </p:spPr>
        <p:txBody>
          <a:bodyPr wrap="square" rtlCol="0">
            <a:spAutoFit/>
          </a:bodyPr>
          <a:lstStyle/>
          <a:p>
            <a:endParaRPr lang="en-US" dirty="0"/>
          </a:p>
        </p:txBody>
      </p:sp>
      <p:sp>
        <p:nvSpPr>
          <p:cNvPr id="18" name="Right Arrow 17">
            <a:extLst>
              <a:ext uri="{FF2B5EF4-FFF2-40B4-BE49-F238E27FC236}">
                <a16:creationId xmlns:a16="http://schemas.microsoft.com/office/drawing/2014/main" id="{FB45EFD1-A4D4-EB88-A21A-C2E4B8785509}"/>
              </a:ext>
            </a:extLst>
          </p:cNvPr>
          <p:cNvSpPr/>
          <p:nvPr/>
        </p:nvSpPr>
        <p:spPr>
          <a:xfrm rot="10800000">
            <a:off x="6916423" y="2332627"/>
            <a:ext cx="675503" cy="272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E5ACB39-AD6F-E1A5-5117-D6182B5963C9}"/>
              </a:ext>
            </a:extLst>
          </p:cNvPr>
          <p:cNvSpPr txBox="1"/>
          <p:nvPr/>
        </p:nvSpPr>
        <p:spPr>
          <a:xfrm>
            <a:off x="403654" y="1655804"/>
            <a:ext cx="1260389" cy="560173"/>
          </a:xfrm>
          <a:prstGeom prst="rect">
            <a:avLst/>
          </a:prstGeom>
          <a:noFill/>
          <a:ln>
            <a:solidFill>
              <a:schemeClr val="accent1"/>
            </a:solidFill>
          </a:ln>
        </p:spPr>
        <p:txBody>
          <a:bodyPr wrap="square" rtlCol="0">
            <a:spAutoFit/>
          </a:bodyPr>
          <a:lstStyle/>
          <a:p>
            <a:endParaRPr lang="en-US" dirty="0"/>
          </a:p>
        </p:txBody>
      </p:sp>
      <p:cxnSp>
        <p:nvCxnSpPr>
          <p:cNvPr id="21" name="Straight Arrow Connector 20">
            <a:extLst>
              <a:ext uri="{FF2B5EF4-FFF2-40B4-BE49-F238E27FC236}">
                <a16:creationId xmlns:a16="http://schemas.microsoft.com/office/drawing/2014/main" id="{3285122A-8788-6B32-EAF3-C6CB586CFBE1}"/>
              </a:ext>
            </a:extLst>
          </p:cNvPr>
          <p:cNvCxnSpPr/>
          <p:nvPr/>
        </p:nvCxnSpPr>
        <p:spPr>
          <a:xfrm flipH="1" flipV="1">
            <a:off x="1664043" y="2215977"/>
            <a:ext cx="914400" cy="1806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26F6005-3EEF-91A7-2FE1-4447157EA516}"/>
                  </a:ext>
                </a:extLst>
              </p:cNvPr>
              <p:cNvSpPr txBox="1"/>
              <p:nvPr/>
            </p:nvSpPr>
            <p:spPr>
              <a:xfrm>
                <a:off x="2586680" y="3877176"/>
                <a:ext cx="2965622" cy="738664"/>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“change in cost with respect to </a:t>
                </a:r>
                <a14:m>
                  <m:oMath xmlns:m="http://schemas.openxmlformats.org/officeDocument/2006/math">
                    <m:sSub>
                      <m:sSubPr>
                        <m:ctrlPr>
                          <a:rPr lang="en-US" b="0" i="1" smtClean="0">
                            <a:solidFill>
                              <a:schemeClr val="bg2"/>
                            </a:solidFill>
                            <a:latin typeface="Cambria Math" panose="02040503050406030204" pitchFamily="18" charset="0"/>
                          </a:rPr>
                        </m:ctrlPr>
                      </m:sSubPr>
                      <m:e>
                        <m:r>
                          <a:rPr lang="en-US" b="0" i="1" smtClean="0">
                            <a:solidFill>
                              <a:schemeClr val="bg2"/>
                            </a:solidFill>
                            <a:latin typeface="Cambria Math" panose="02040503050406030204" pitchFamily="18" charset="0"/>
                          </a:rPr>
                          <m:t>𝑤</m:t>
                        </m:r>
                      </m:e>
                      <m:sub>
                        <m:r>
                          <a:rPr lang="en-US" b="0" i="1" smtClean="0">
                            <a:solidFill>
                              <a:schemeClr val="bg2"/>
                            </a:solidFill>
                            <a:latin typeface="Cambria Math" panose="02040503050406030204" pitchFamily="18" charset="0"/>
                          </a:rPr>
                          <m:t>5</m:t>
                        </m:r>
                      </m:sub>
                    </m:sSub>
                  </m:oMath>
                </a14:m>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rPr>
                  <a:t>” </a:t>
                </a:r>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does cost increase as </a:t>
                </a:r>
                <a14:m>
                  <m:oMath xmlns:m="http://schemas.openxmlformats.org/officeDocument/2006/math">
                    <m:sSub>
                      <m:sSubPr>
                        <m:ctrlPr>
                          <a:rPr lang="en-US" b="0" i="1" smtClean="0">
                            <a:solidFill>
                              <a:schemeClr val="bg2"/>
                            </a:solidFill>
                            <a:latin typeface="Cambria Math" panose="02040503050406030204" pitchFamily="18" charset="0"/>
                            <a:sym typeface="Wingdings" pitchFamily="2" charset="2"/>
                          </a:rPr>
                        </m:ctrlPr>
                      </m:sSubPr>
                      <m:e>
                        <m:r>
                          <a:rPr lang="en-US" b="0" i="1" smtClean="0">
                            <a:solidFill>
                              <a:schemeClr val="bg2"/>
                            </a:solidFill>
                            <a:latin typeface="Cambria Math" panose="02040503050406030204" pitchFamily="18" charset="0"/>
                            <a:sym typeface="Wingdings" pitchFamily="2" charset="2"/>
                          </a:rPr>
                          <m:t>𝑤</m:t>
                        </m:r>
                      </m:e>
                      <m:sub>
                        <m:r>
                          <a:rPr lang="en-US" b="0" i="1" smtClean="0">
                            <a:solidFill>
                              <a:schemeClr val="bg2"/>
                            </a:solidFill>
                            <a:latin typeface="Cambria Math" panose="02040503050406030204" pitchFamily="18" charset="0"/>
                            <a:sym typeface="Wingdings" pitchFamily="2" charset="2"/>
                          </a:rPr>
                          <m:t>5</m:t>
                        </m:r>
                      </m:sub>
                    </m:sSub>
                  </m:oMath>
                </a14:m>
                <a:r>
                  <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as increases or vice-versa?</a:t>
                </a:r>
              </a:p>
            </p:txBody>
          </p:sp>
        </mc:Choice>
        <mc:Fallback xmlns="">
          <p:sp>
            <p:nvSpPr>
              <p:cNvPr id="22" name="TextBox 21">
                <a:extLst>
                  <a:ext uri="{FF2B5EF4-FFF2-40B4-BE49-F238E27FC236}">
                    <a16:creationId xmlns:a16="http://schemas.microsoft.com/office/drawing/2014/main" id="{A26F6005-3EEF-91A7-2FE1-4447157EA516}"/>
                  </a:ext>
                </a:extLst>
              </p:cNvPr>
              <p:cNvSpPr txBox="1">
                <a:spLocks noRot="1" noChangeAspect="1" noMove="1" noResize="1" noEditPoints="1" noAdjustHandles="1" noChangeArrowheads="1" noChangeShapeType="1" noTextEdit="1"/>
              </p:cNvSpPr>
              <p:nvPr/>
            </p:nvSpPr>
            <p:spPr>
              <a:xfrm>
                <a:off x="2586680" y="3877176"/>
                <a:ext cx="2965622" cy="738664"/>
              </a:xfrm>
              <a:prstGeom prst="rect">
                <a:avLst/>
              </a:prstGeom>
              <a:blipFill>
                <a:blip r:embed="rId13"/>
                <a:stretch>
                  <a:fillRect l="-426" r="-1702" b="-8333"/>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248113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99FC-62CB-53E1-DBF4-871C63AA2D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05A7A37-675F-BF6C-FD8D-CA037F87C76A}"/>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pic>
        <p:nvPicPr>
          <p:cNvPr id="4" name="Picture 3">
            <a:extLst>
              <a:ext uri="{FF2B5EF4-FFF2-40B4-BE49-F238E27FC236}">
                <a16:creationId xmlns:a16="http://schemas.microsoft.com/office/drawing/2014/main" id="{132ADD93-E060-EDB5-0207-F9B3AF5C7EE0}"/>
              </a:ext>
            </a:extLst>
          </p:cNvPr>
          <p:cNvPicPr>
            <a:picLocks noChangeAspect="1"/>
          </p:cNvPicPr>
          <p:nvPr/>
        </p:nvPicPr>
        <p:blipFill>
          <a:blip r:embed="rId3"/>
          <a:stretch>
            <a:fillRect/>
          </a:stretch>
        </p:blipFill>
        <p:spPr>
          <a:xfrm>
            <a:off x="3026995" y="2455314"/>
            <a:ext cx="3732562" cy="254318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A4B2A9-D77B-719C-9CCA-415E5BC5B924}"/>
                  </a:ext>
                </a:extLst>
              </p:cNvPr>
              <p:cNvSpPr txBox="1"/>
              <p:nvPr/>
            </p:nvSpPr>
            <p:spPr>
              <a:xfrm>
                <a:off x="4171380" y="2626129"/>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5" name="TextBox 4">
                <a:extLst>
                  <a:ext uri="{FF2B5EF4-FFF2-40B4-BE49-F238E27FC236}">
                    <a16:creationId xmlns:a16="http://schemas.microsoft.com/office/drawing/2014/main" id="{81A4B2A9-D77B-719C-9CCA-415E5BC5B924}"/>
                  </a:ext>
                </a:extLst>
              </p:cNvPr>
              <p:cNvSpPr txBox="1">
                <a:spLocks noRot="1" noChangeAspect="1" noMove="1" noResize="1" noEditPoints="1" noAdjustHandles="1" noChangeArrowheads="1" noChangeShapeType="1" noTextEdit="1"/>
              </p:cNvSpPr>
              <p:nvPr/>
            </p:nvSpPr>
            <p:spPr>
              <a:xfrm>
                <a:off x="4171380" y="2626129"/>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439E56-A087-D9FF-D691-1776BFB8850A}"/>
                  </a:ext>
                </a:extLst>
              </p:cNvPr>
              <p:cNvSpPr txBox="1"/>
              <p:nvPr/>
            </p:nvSpPr>
            <p:spPr>
              <a:xfrm>
                <a:off x="3919040" y="3135790"/>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05439E56-A087-D9FF-D691-1776BFB8850A}"/>
                  </a:ext>
                </a:extLst>
              </p:cNvPr>
              <p:cNvSpPr txBox="1">
                <a:spLocks noRot="1" noChangeAspect="1" noMove="1" noResize="1" noEditPoints="1" noAdjustHandles="1" noChangeArrowheads="1" noChangeShapeType="1" noTextEdit="1"/>
              </p:cNvSpPr>
              <p:nvPr/>
            </p:nvSpPr>
            <p:spPr>
              <a:xfrm>
                <a:off x="3919040" y="3135790"/>
                <a:ext cx="553453"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958AC4-8219-8149-67E9-5735C13F65C6}"/>
                  </a:ext>
                </a:extLst>
              </p:cNvPr>
              <p:cNvSpPr txBox="1"/>
              <p:nvPr/>
            </p:nvSpPr>
            <p:spPr>
              <a:xfrm>
                <a:off x="3742486" y="359258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7" name="TextBox 6">
                <a:extLst>
                  <a:ext uri="{FF2B5EF4-FFF2-40B4-BE49-F238E27FC236}">
                    <a16:creationId xmlns:a16="http://schemas.microsoft.com/office/drawing/2014/main" id="{72958AC4-8219-8149-67E9-5735C13F65C6}"/>
                  </a:ext>
                </a:extLst>
              </p:cNvPr>
              <p:cNvSpPr txBox="1">
                <a:spLocks noRot="1" noChangeAspect="1" noMove="1" noResize="1" noEditPoints="1" noAdjustHandles="1" noChangeArrowheads="1" noChangeShapeType="1" noTextEdit="1"/>
              </p:cNvSpPr>
              <p:nvPr/>
            </p:nvSpPr>
            <p:spPr>
              <a:xfrm>
                <a:off x="3742486" y="3592585"/>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3A2DBE-9613-F99D-831A-3C8F0D2EC4C7}"/>
                  </a:ext>
                </a:extLst>
              </p:cNvPr>
              <p:cNvSpPr txBox="1"/>
              <p:nvPr/>
            </p:nvSpPr>
            <p:spPr>
              <a:xfrm>
                <a:off x="3969721" y="4019689"/>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8" name="TextBox 7">
                <a:extLst>
                  <a:ext uri="{FF2B5EF4-FFF2-40B4-BE49-F238E27FC236}">
                    <a16:creationId xmlns:a16="http://schemas.microsoft.com/office/drawing/2014/main" id="{763A2DBE-9613-F99D-831A-3C8F0D2EC4C7}"/>
                  </a:ext>
                </a:extLst>
              </p:cNvPr>
              <p:cNvSpPr txBox="1">
                <a:spLocks noRot="1" noChangeAspect="1" noMove="1" noResize="1" noEditPoints="1" noAdjustHandles="1" noChangeArrowheads="1" noChangeShapeType="1" noTextEdit="1"/>
              </p:cNvSpPr>
              <p:nvPr/>
            </p:nvSpPr>
            <p:spPr>
              <a:xfrm>
                <a:off x="3969721" y="4019689"/>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2088CD0-59F2-6771-9B6F-7CA6F07A6840}"/>
                  </a:ext>
                </a:extLst>
              </p:cNvPr>
              <p:cNvSpPr txBox="1"/>
              <p:nvPr/>
            </p:nvSpPr>
            <p:spPr>
              <a:xfrm>
                <a:off x="5645116" y="2871774"/>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 name="TextBox 8">
                <a:extLst>
                  <a:ext uri="{FF2B5EF4-FFF2-40B4-BE49-F238E27FC236}">
                    <a16:creationId xmlns:a16="http://schemas.microsoft.com/office/drawing/2014/main" id="{82088CD0-59F2-6771-9B6F-7CA6F07A6840}"/>
                  </a:ext>
                </a:extLst>
              </p:cNvPr>
              <p:cNvSpPr txBox="1">
                <a:spLocks noRot="1" noChangeAspect="1" noMove="1" noResize="1" noEditPoints="1" noAdjustHandles="1" noChangeArrowheads="1" noChangeShapeType="1" noTextEdit="1"/>
              </p:cNvSpPr>
              <p:nvPr/>
            </p:nvSpPr>
            <p:spPr>
              <a:xfrm>
                <a:off x="5645116" y="2871774"/>
                <a:ext cx="55345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16271B-11BE-0973-39B3-A954AAA92B59}"/>
                  </a:ext>
                </a:extLst>
              </p:cNvPr>
              <p:cNvSpPr txBox="1"/>
              <p:nvPr/>
            </p:nvSpPr>
            <p:spPr>
              <a:xfrm>
                <a:off x="5465900" y="3716522"/>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 name="TextBox 9">
                <a:extLst>
                  <a:ext uri="{FF2B5EF4-FFF2-40B4-BE49-F238E27FC236}">
                    <a16:creationId xmlns:a16="http://schemas.microsoft.com/office/drawing/2014/main" id="{ED16271B-11BE-0973-39B3-A954AAA92B59}"/>
                  </a:ext>
                </a:extLst>
              </p:cNvPr>
              <p:cNvSpPr txBox="1">
                <a:spLocks noRot="1" noChangeAspect="1" noMove="1" noResize="1" noEditPoints="1" noAdjustHandles="1" noChangeArrowheads="1" noChangeShapeType="1" noTextEdit="1"/>
              </p:cNvSpPr>
              <p:nvPr/>
            </p:nvSpPr>
            <p:spPr>
              <a:xfrm>
                <a:off x="5465900" y="3716522"/>
                <a:ext cx="553453"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8FC5F7DE-77FB-BC9A-E195-4E50AF17BCD2}"/>
              </a:ext>
            </a:extLst>
          </p:cNvPr>
          <p:cNvCxnSpPr>
            <a:cxnSpLocks/>
          </p:cNvCxnSpPr>
          <p:nvPr/>
        </p:nvCxnSpPr>
        <p:spPr>
          <a:xfrm flipV="1">
            <a:off x="4724833" y="4564362"/>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03FB93-A410-47A3-4DC8-C05E8E398F2A}"/>
              </a:ext>
            </a:extLst>
          </p:cNvPr>
          <p:cNvCxnSpPr>
            <a:cxnSpLocks/>
          </p:cNvCxnSpPr>
          <p:nvPr/>
        </p:nvCxnSpPr>
        <p:spPr>
          <a:xfrm>
            <a:off x="4724833" y="2367409"/>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E904605-5224-75DA-77DD-9105EA994B03}"/>
                  </a:ext>
                </a:extLst>
              </p:cNvPr>
              <p:cNvSpPr txBox="1"/>
              <p:nvPr/>
            </p:nvSpPr>
            <p:spPr>
              <a:xfrm>
                <a:off x="4616549" y="462028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3" name="TextBox 12">
                <a:extLst>
                  <a:ext uri="{FF2B5EF4-FFF2-40B4-BE49-F238E27FC236}">
                    <a16:creationId xmlns:a16="http://schemas.microsoft.com/office/drawing/2014/main" id="{FE904605-5224-75DA-77DD-9105EA994B03}"/>
                  </a:ext>
                </a:extLst>
              </p:cNvPr>
              <p:cNvSpPr txBox="1">
                <a:spLocks noRot="1" noChangeAspect="1" noMove="1" noResize="1" noEditPoints="1" noAdjustHandles="1" noChangeArrowheads="1" noChangeShapeType="1" noTextEdit="1"/>
              </p:cNvSpPr>
              <p:nvPr/>
            </p:nvSpPr>
            <p:spPr>
              <a:xfrm>
                <a:off x="4616549" y="4620280"/>
                <a:ext cx="55345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E9EFF78-2CA0-D09E-5B8D-C5FCF87FCB6D}"/>
                  </a:ext>
                </a:extLst>
              </p:cNvPr>
              <p:cNvSpPr txBox="1"/>
              <p:nvPr/>
            </p:nvSpPr>
            <p:spPr>
              <a:xfrm>
                <a:off x="4708957" y="227035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4" name="TextBox 13">
                <a:extLst>
                  <a:ext uri="{FF2B5EF4-FFF2-40B4-BE49-F238E27FC236}">
                    <a16:creationId xmlns:a16="http://schemas.microsoft.com/office/drawing/2014/main" id="{AE9EFF78-2CA0-D09E-5B8D-C5FCF87FCB6D}"/>
                  </a:ext>
                </a:extLst>
              </p:cNvPr>
              <p:cNvSpPr txBox="1">
                <a:spLocks noRot="1" noChangeAspect="1" noMove="1" noResize="1" noEditPoints="1" noAdjustHandles="1" noChangeArrowheads="1" noChangeShapeType="1" noTextEdit="1"/>
              </p:cNvSpPr>
              <p:nvPr/>
            </p:nvSpPr>
            <p:spPr>
              <a:xfrm>
                <a:off x="4708957" y="2270356"/>
                <a:ext cx="553453" cy="307777"/>
              </a:xfrm>
              <a:prstGeom prst="rect">
                <a:avLst/>
              </a:prstGeom>
              <a:blipFill>
                <a:blip r:embed="rId11"/>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F67CED8E-C87C-9139-71CB-8341256520F6}"/>
              </a:ext>
            </a:extLst>
          </p:cNvPr>
          <p:cNvCxnSpPr>
            <a:cxnSpLocks/>
          </p:cNvCxnSpPr>
          <p:nvPr/>
        </p:nvCxnSpPr>
        <p:spPr>
          <a:xfrm flipH="1">
            <a:off x="6268563" y="3960932"/>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C7D10F-C801-74A8-6A51-565245100DEA}"/>
                  </a:ext>
                </a:extLst>
              </p:cNvPr>
              <p:cNvSpPr txBox="1"/>
              <p:nvPr/>
            </p:nvSpPr>
            <p:spPr>
              <a:xfrm>
                <a:off x="6161219" y="396093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6" name="TextBox 15">
                <a:extLst>
                  <a:ext uri="{FF2B5EF4-FFF2-40B4-BE49-F238E27FC236}">
                    <a16:creationId xmlns:a16="http://schemas.microsoft.com/office/drawing/2014/main" id="{65C7D10F-C801-74A8-6A51-565245100DEA}"/>
                  </a:ext>
                </a:extLst>
              </p:cNvPr>
              <p:cNvSpPr txBox="1">
                <a:spLocks noRot="1" noChangeAspect="1" noMove="1" noResize="1" noEditPoints="1" noAdjustHandles="1" noChangeArrowheads="1" noChangeShapeType="1" noTextEdit="1"/>
              </p:cNvSpPr>
              <p:nvPr/>
            </p:nvSpPr>
            <p:spPr>
              <a:xfrm>
                <a:off x="6161219" y="3960932"/>
                <a:ext cx="553453" cy="307777"/>
              </a:xfrm>
              <a:prstGeom prst="rect">
                <a:avLst/>
              </a:prstGeom>
              <a:blipFill>
                <a:blip r:embed="rId12"/>
                <a:stretch>
                  <a:fillRect/>
                </a:stretch>
              </a:blipFill>
            </p:spPr>
            <p:txBody>
              <a:bodyPr/>
              <a:lstStyle/>
              <a:p>
                <a:r>
                  <a:rPr lang="en-US">
                    <a:noFill/>
                  </a:rPr>
                  <a:t> </a:t>
                </a:r>
              </a:p>
            </p:txBody>
          </p:sp>
        </mc:Fallback>
      </mc:AlternateContent>
      <p:sp>
        <p:nvSpPr>
          <p:cNvPr id="17" name="Text Placeholder 2">
            <a:extLst>
              <a:ext uri="{FF2B5EF4-FFF2-40B4-BE49-F238E27FC236}">
                <a16:creationId xmlns:a16="http://schemas.microsoft.com/office/drawing/2014/main" id="{CFABBA8D-9C87-8F6B-0876-72237004FA65}"/>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sz="1600" dirty="0"/>
              <a:t>Backpropagation starts at the output and moves backward</a:t>
            </a:r>
          </a:p>
          <a:p>
            <a:pPr marL="114300" indent="0">
              <a:buFont typeface="Open Sans"/>
              <a:buNone/>
            </a:pPr>
            <a:endParaRPr lang="en-US" sz="1600" dirty="0"/>
          </a:p>
          <a:p>
            <a:pPr marL="114300" indent="0">
              <a:buFont typeface="Open Sans"/>
              <a:buNone/>
            </a:pPr>
            <a:r>
              <a:rPr lang="en-US" sz="1600" dirty="0"/>
              <a:t>We start by computing the error term for the output. Now, using the error term for the output, we can calculate gradients for the output weights and biases.</a:t>
            </a:r>
          </a:p>
          <a:p>
            <a:pPr marL="114300" indent="0">
              <a:buFont typeface="Open Sans"/>
              <a:buNone/>
            </a:pPr>
            <a:endParaRPr lang="en-US" sz="1600" dirty="0"/>
          </a:p>
          <a:p>
            <a:pPr marL="114300" indent="0">
              <a:buFont typeface="Open Sans"/>
              <a:buNone/>
            </a:pPr>
            <a:r>
              <a:rPr lang="en-US" sz="1600" dirty="0"/>
              <a:t>Now that we have the gradients for the output weights and biases, we can propagate this information backwards to calculate the gradients for the hidden layer weights and biases!</a:t>
            </a:r>
          </a:p>
          <a:p>
            <a:pPr marL="114300" indent="0">
              <a:buFont typeface="Open Sans"/>
              <a:buNone/>
            </a:pPr>
            <a:endParaRPr lang="en-US" sz="1600" dirty="0"/>
          </a:p>
        </p:txBody>
      </p:sp>
      <p:sp>
        <p:nvSpPr>
          <p:cNvPr id="18" name="TextBox 17">
            <a:extLst>
              <a:ext uri="{FF2B5EF4-FFF2-40B4-BE49-F238E27FC236}">
                <a16:creationId xmlns:a16="http://schemas.microsoft.com/office/drawing/2014/main" id="{310A1CDD-7C5B-D7F7-E008-1FB287207559}"/>
              </a:ext>
            </a:extLst>
          </p:cNvPr>
          <p:cNvSpPr txBox="1"/>
          <p:nvPr/>
        </p:nvSpPr>
        <p:spPr>
          <a:xfrm>
            <a:off x="4724833" y="2602648"/>
            <a:ext cx="880257" cy="730011"/>
          </a:xfrm>
          <a:prstGeom prst="rect">
            <a:avLst/>
          </a:prstGeom>
          <a:noFill/>
          <a:ln>
            <a:solidFill>
              <a:schemeClr val="accent1"/>
            </a:solidFill>
          </a:ln>
        </p:spPr>
        <p:txBody>
          <a:bodyPr wrap="square" rtlCol="0">
            <a:spAutoFit/>
          </a:bodyPr>
          <a:lstStyle/>
          <a:p>
            <a:endParaRPr lang="en-US" dirty="0"/>
          </a:p>
        </p:txBody>
      </p:sp>
      <p:sp>
        <p:nvSpPr>
          <p:cNvPr id="19" name="TextBox 18">
            <a:extLst>
              <a:ext uri="{FF2B5EF4-FFF2-40B4-BE49-F238E27FC236}">
                <a16:creationId xmlns:a16="http://schemas.microsoft.com/office/drawing/2014/main" id="{A8AF54AA-75E2-C84F-E3F0-BAC111A404F8}"/>
              </a:ext>
            </a:extLst>
          </p:cNvPr>
          <p:cNvSpPr txBox="1"/>
          <p:nvPr/>
        </p:nvSpPr>
        <p:spPr>
          <a:xfrm>
            <a:off x="4708957" y="3963387"/>
            <a:ext cx="880257" cy="730011"/>
          </a:xfrm>
          <a:prstGeom prst="rect">
            <a:avLst/>
          </a:prstGeom>
          <a:noFill/>
          <a:ln>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1856936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860E-1A34-C9F3-5F63-132D8886505C}"/>
              </a:ext>
            </a:extLst>
          </p:cNvPr>
          <p:cNvSpPr>
            <a:spLocks noGrp="1"/>
          </p:cNvSpPr>
          <p:nvPr>
            <p:ph type="title"/>
          </p:nvPr>
        </p:nvSpPr>
        <p:spPr/>
        <p:txBody>
          <a:bodyPr>
            <a:normAutofit fontScale="90000"/>
          </a:bodyPr>
          <a:lstStyle/>
          <a:p>
            <a:r>
              <a:rPr lang="en-US" dirty="0"/>
              <a:t>Error terms for hidden layer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A363BD0-C6F4-8C30-CB8A-7EFF2F4ADCD9}"/>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a14:m>
                <a:r>
                  <a:rPr lang="en-US" b="0" i="1" dirty="0">
                    <a:latin typeface="Cambria Math" panose="02040503050406030204" pitchFamily="18" charset="0"/>
                  </a:rPr>
                  <a:t> </a:t>
                </a:r>
                <a:r>
                  <a:rPr lang="en-US" b="0" dirty="0">
                    <a:latin typeface="Cambria Math" panose="02040503050406030204" pitchFamily="18" charset="0"/>
                  </a:rPr>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a14:m>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4A363BD0-C6F4-8C30-CB8A-7EFF2F4ADCD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38901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5BE8-C101-302E-20F3-F503B688C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0E83F-F2C6-CB70-5FF2-F6335CBF296A}"/>
              </a:ext>
            </a:extLst>
          </p:cNvPr>
          <p:cNvSpPr>
            <a:spLocks noGrp="1"/>
          </p:cNvSpPr>
          <p:nvPr>
            <p:ph type="title"/>
          </p:nvPr>
        </p:nvSpPr>
        <p:spPr/>
        <p:txBody>
          <a:bodyPr>
            <a:normAutofit fontScale="90000"/>
          </a:bodyPr>
          <a:lstStyle/>
          <a:p>
            <a:r>
              <a:rPr lang="en-US" dirty="0"/>
              <a:t>Error terms for hidden layer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4E17A05-912A-D0A5-640C-31F742E98FF1}"/>
                  </a:ext>
                </a:extLst>
              </p:cNvPr>
              <p:cNvSpPr>
                <a:spLocks noGrp="1"/>
              </p:cNvSpPr>
              <p:nvPr>
                <p:ph type="body" idx="1"/>
              </p:nvPr>
            </p:nvSpPr>
            <p:spPr/>
            <p:txBody>
              <a:bodyPr>
                <a:normAutofit/>
              </a:bodyPr>
              <a:lstStyle/>
              <a:p>
                <a:pPr marL="114300" indent="0">
                  <a:buNone/>
                </a:pPr>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a14:m>
                <a:r>
                  <a:rPr lang="en-US" b="0" i="1" dirty="0">
                    <a:latin typeface="Cambria Math" panose="02040503050406030204" pitchFamily="18" charset="0"/>
                  </a:rPr>
                  <a:t> </a:t>
                </a:r>
                <a:r>
                  <a:rPr lang="en-US" b="0" dirty="0">
                    <a:latin typeface="Cambria Math" panose="02040503050406030204" pitchFamily="18" charset="0"/>
                  </a:rPr>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a14:m>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r>
                  <a:rPr lang="en-US" b="0" dirty="0">
                    <a:latin typeface="Cambria Math" panose="02040503050406030204" pitchFamily="18" charset="0"/>
                  </a:rPr>
                  <a:t>Then,</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den>
                      </m:f>
                    </m:oMath>
                  </m:oMathPara>
                </a14:m>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xmlns="">
          <p:sp>
            <p:nvSpPr>
              <p:cNvPr id="3" name="Text Placeholder 2">
                <a:extLst>
                  <a:ext uri="{FF2B5EF4-FFF2-40B4-BE49-F238E27FC236}">
                    <a16:creationId xmlns:a16="http://schemas.microsoft.com/office/drawing/2014/main" id="{74E17A05-912A-D0A5-640C-31F742E98FF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8251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FD4D-9DB3-6EEF-9049-96C509632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9D6BE-743D-253B-63B3-D4F1C5FE9825}"/>
              </a:ext>
            </a:extLst>
          </p:cNvPr>
          <p:cNvSpPr>
            <a:spLocks noGrp="1"/>
          </p:cNvSpPr>
          <p:nvPr>
            <p:ph type="title"/>
          </p:nvPr>
        </p:nvSpPr>
        <p:spPr/>
        <p:txBody>
          <a:bodyPr>
            <a:normAutofit fontScale="90000"/>
          </a:bodyPr>
          <a:lstStyle/>
          <a:p>
            <a:r>
              <a:rPr lang="en-US" dirty="0"/>
              <a:t>Error terms for hidden layer</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B1E97D5-8B3D-147C-FCE7-11CB17763110}"/>
                  </a:ext>
                </a:extLst>
              </p:cNvPr>
              <p:cNvSpPr>
                <a:spLocks noGrp="1"/>
              </p:cNvSpPr>
              <p:nvPr>
                <p:ph type="body" idx="1"/>
              </p:nvPr>
            </p:nvSpPr>
            <p:spPr>
              <a:xfrm>
                <a:off x="311700" y="1266324"/>
                <a:ext cx="8520600" cy="3742555"/>
              </a:xfrm>
            </p:spPr>
            <p:txBody>
              <a:bodyPr>
                <a:normAutofit/>
              </a:bodyPr>
              <a:lstStyle/>
              <a:p>
                <a:pPr marL="114300" indent="0">
                  <a:buNone/>
                </a:pPr>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a14:m>
                <a:r>
                  <a:rPr lang="en-US" b="0" i="1" dirty="0">
                    <a:latin typeface="Cambria Math" panose="02040503050406030204" pitchFamily="18" charset="0"/>
                  </a:rPr>
                  <a:t> </a:t>
                </a:r>
                <a:r>
                  <a:rPr lang="en-US" b="0" dirty="0">
                    <a:latin typeface="Cambria Math" panose="02040503050406030204" pitchFamily="18" charset="0"/>
                  </a:rPr>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a14:m>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r>
                  <a:rPr lang="en-US" b="0" dirty="0">
                    <a:latin typeface="Cambria Math" panose="02040503050406030204" pitchFamily="18" charset="0"/>
                  </a:rPr>
                  <a:t>Then,</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den>
                      </m:f>
                    </m:oMath>
                  </m:oMathPara>
                </a14:m>
                <a:endParaRPr lang="en-US" b="0"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ub>
                          </m:sSub>
                        </m:den>
                      </m:f>
                    </m:oMath>
                  </m:oMathPara>
                </a14:m>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endParaRPr lang="en-US" b="0"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p:sp>
            <p:nvSpPr>
              <p:cNvPr id="3" name="Text Placeholder 2">
                <a:extLst>
                  <a:ext uri="{FF2B5EF4-FFF2-40B4-BE49-F238E27FC236}">
                    <a16:creationId xmlns:a16="http://schemas.microsoft.com/office/drawing/2014/main" id="{9B1E97D5-8B3D-147C-FCE7-11CB17763110}"/>
                  </a:ext>
                </a:extLst>
              </p:cNvPr>
              <p:cNvSpPr>
                <a:spLocks noGrp="1" noRot="1" noChangeAspect="1" noMove="1" noResize="1" noEditPoints="1" noAdjustHandles="1" noChangeArrowheads="1" noChangeShapeType="1" noTextEdit="1"/>
              </p:cNvSpPr>
              <p:nvPr>
                <p:ph type="body" idx="1"/>
              </p:nvPr>
            </p:nvSpPr>
            <p:spPr>
              <a:xfrm>
                <a:off x="311700" y="1266324"/>
                <a:ext cx="8520600" cy="3742555"/>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7227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80963-5C49-B249-4B64-DC90DC38E141}"/>
              </a:ext>
            </a:extLst>
          </p:cNvPr>
          <p:cNvSpPr>
            <a:spLocks noGrp="1"/>
          </p:cNvSpPr>
          <p:nvPr>
            <p:ph type="title"/>
          </p:nvPr>
        </p:nvSpPr>
        <p:spPr/>
        <p:txBody>
          <a:bodyPr>
            <a:normAutofit fontScale="90000"/>
          </a:bodyPr>
          <a:lstStyle/>
          <a:p>
            <a:r>
              <a:rPr lang="en-US" dirty="0"/>
              <a:t>Gradients for hidden layer weights and biases</a:t>
            </a:r>
          </a:p>
        </p:txBody>
      </p:sp>
      <p:sp>
        <p:nvSpPr>
          <p:cNvPr id="3" name="Text Placeholder 2">
            <a:extLst>
              <a:ext uri="{FF2B5EF4-FFF2-40B4-BE49-F238E27FC236}">
                <a16:creationId xmlns:a16="http://schemas.microsoft.com/office/drawing/2014/main" id="{CCEA310C-D246-4015-E356-92DA6CD3A628}"/>
              </a:ext>
            </a:extLst>
          </p:cNvPr>
          <p:cNvSpPr>
            <a:spLocks noGrp="1"/>
          </p:cNvSpPr>
          <p:nvPr>
            <p:ph type="body" idx="1"/>
          </p:nvPr>
        </p:nvSpPr>
        <p:spPr>
          <a:xfrm>
            <a:off x="311700" y="1266324"/>
            <a:ext cx="8520600" cy="3734043"/>
          </a:xfrm>
        </p:spPr>
        <p:txBody>
          <a:bodyPr>
            <a:normAutofit/>
          </a:bodyPr>
          <a:lstStyle/>
          <a:p>
            <a:pPr marL="114300" indent="0">
              <a:buNone/>
            </a:pPr>
            <a:r>
              <a:rPr lang="en-US" dirty="0"/>
              <a:t>Now, use the error terms to calculate the hidden layer weights and biases…</a:t>
            </a:r>
          </a:p>
          <a:p>
            <a:pPr marL="114300" indent="0">
              <a:buNone/>
            </a:pPr>
            <a:endParaRPr lang="en-US" dirty="0"/>
          </a:p>
        </p:txBody>
      </p:sp>
    </p:spTree>
    <p:extLst>
      <p:ext uri="{BB962C8B-B14F-4D97-AF65-F5344CB8AC3E}">
        <p14:creationId xmlns:p14="http://schemas.microsoft.com/office/powerpoint/2010/main" val="2916521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3502B-14CD-2CEB-3D29-E5E4BF8A7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373B0-FF05-D3FA-7BB9-DAB9C68DB2EB}"/>
              </a:ext>
            </a:extLst>
          </p:cNvPr>
          <p:cNvSpPr>
            <a:spLocks noGrp="1"/>
          </p:cNvSpPr>
          <p:nvPr>
            <p:ph type="title"/>
          </p:nvPr>
        </p:nvSpPr>
        <p:spPr/>
        <p:txBody>
          <a:bodyPr>
            <a:normAutofit fontScale="90000"/>
          </a:bodyPr>
          <a:lstStyle/>
          <a:p>
            <a:r>
              <a:rPr lang="en-US" dirty="0"/>
              <a:t>Gradients for hidden layer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1CA028A-3925-3C42-0803-4F4F9F88E3CE}"/>
                  </a:ext>
                </a:extLst>
              </p:cNvPr>
              <p:cNvSpPr>
                <a:spLocks noGrp="1"/>
              </p:cNvSpPr>
              <p:nvPr>
                <p:ph type="body" idx="1"/>
              </p:nvPr>
            </p:nvSpPr>
            <p:spPr>
              <a:xfrm>
                <a:off x="311700" y="1266324"/>
                <a:ext cx="8520600" cy="3734043"/>
              </a:xfrm>
            </p:spPr>
            <p:txBody>
              <a:bodyPr>
                <a:normAutofit/>
              </a:bodyPr>
              <a:lstStyle/>
              <a:p>
                <a:pPr marL="114300" indent="0">
                  <a:buNone/>
                </a:pPr>
                <a:r>
                  <a:rPr lang="en-US" dirty="0"/>
                  <a:t>Now, use the error terms to calculate the hidden layer weights and biases…</a:t>
                </a:r>
              </a:p>
              <a:p>
                <a:pPr marL="114300" indent="0">
                  <a:buNone/>
                </a:pPr>
                <a:endParaRPr lang="en-US" dirty="0"/>
              </a:p>
              <a:p>
                <a:pPr marL="114300" indent="0">
                  <a:buNone/>
                </a:pP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dirty="0"/>
                  <a:t>:</a:t>
                </a:r>
              </a:p>
            </p:txBody>
          </p:sp>
        </mc:Choice>
        <mc:Fallback xmlns="">
          <p:sp>
            <p:nvSpPr>
              <p:cNvPr id="3" name="Text Placeholder 2">
                <a:extLst>
                  <a:ext uri="{FF2B5EF4-FFF2-40B4-BE49-F238E27FC236}">
                    <a16:creationId xmlns:a16="http://schemas.microsoft.com/office/drawing/2014/main" id="{11CA028A-3925-3C42-0803-4F4F9F88E3CE}"/>
                  </a:ext>
                </a:extLst>
              </p:cNvPr>
              <p:cNvSpPr>
                <a:spLocks noGrp="1" noRot="1" noChangeAspect="1" noMove="1" noResize="1" noEditPoints="1" noAdjustHandles="1" noChangeArrowheads="1" noChangeShapeType="1" noTextEdit="1"/>
              </p:cNvSpPr>
              <p:nvPr>
                <p:ph type="body" idx="1"/>
              </p:nvPr>
            </p:nvSpPr>
            <p:spPr>
              <a:xfrm>
                <a:off x="311700" y="1266324"/>
                <a:ext cx="8520600" cy="3734043"/>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2680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7445-028C-6DCF-8381-24A531849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59099-5688-357E-864D-B59E49FEB45C}"/>
              </a:ext>
            </a:extLst>
          </p:cNvPr>
          <p:cNvSpPr>
            <a:spLocks noGrp="1"/>
          </p:cNvSpPr>
          <p:nvPr>
            <p:ph type="title"/>
          </p:nvPr>
        </p:nvSpPr>
        <p:spPr/>
        <p:txBody>
          <a:bodyPr>
            <a:normAutofit fontScale="90000"/>
          </a:bodyPr>
          <a:lstStyle/>
          <a:p>
            <a:r>
              <a:rPr lang="en-US" dirty="0"/>
              <a:t>Gradients for hidden layer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DC8A875-5D12-9E8D-35C8-8E618F6EFFC4}"/>
                  </a:ext>
                </a:extLst>
              </p:cNvPr>
              <p:cNvSpPr>
                <a:spLocks noGrp="1"/>
              </p:cNvSpPr>
              <p:nvPr>
                <p:ph type="body" idx="1"/>
              </p:nvPr>
            </p:nvSpPr>
            <p:spPr>
              <a:xfrm>
                <a:off x="311700" y="1266324"/>
                <a:ext cx="8520600" cy="3734043"/>
              </a:xfrm>
            </p:spPr>
            <p:txBody>
              <a:bodyPr>
                <a:normAutofit/>
              </a:bodyPr>
              <a:lstStyle/>
              <a:p>
                <a:pPr marL="114300" indent="0">
                  <a:buNone/>
                </a:pPr>
                <a:r>
                  <a:rPr lang="en-US" dirty="0"/>
                  <a:t>Now, use the error terms to calculate the hidden layer weights and biases…</a:t>
                </a:r>
              </a:p>
              <a:p>
                <a:pPr marL="114300" indent="0">
                  <a:buNone/>
                </a:pPr>
                <a:endParaRPr lang="en-US" dirty="0"/>
              </a:p>
              <a:p>
                <a:pPr marL="114300" indent="0">
                  <a:buNone/>
                </a:pP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dirty="0"/>
                  <a:t>:</a:t>
                </a:r>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US" b="0" dirty="0"/>
              </a:p>
            </p:txBody>
          </p:sp>
        </mc:Choice>
        <mc:Fallback xmlns="">
          <p:sp>
            <p:nvSpPr>
              <p:cNvPr id="3" name="Text Placeholder 2">
                <a:extLst>
                  <a:ext uri="{FF2B5EF4-FFF2-40B4-BE49-F238E27FC236}">
                    <a16:creationId xmlns:a16="http://schemas.microsoft.com/office/drawing/2014/main" id="{1DC8A875-5D12-9E8D-35C8-8E618F6EFFC4}"/>
                  </a:ext>
                </a:extLst>
              </p:cNvPr>
              <p:cNvSpPr>
                <a:spLocks noGrp="1" noRot="1" noChangeAspect="1" noMove="1" noResize="1" noEditPoints="1" noAdjustHandles="1" noChangeArrowheads="1" noChangeShapeType="1" noTextEdit="1"/>
              </p:cNvSpPr>
              <p:nvPr>
                <p:ph type="body" idx="1"/>
              </p:nvPr>
            </p:nvSpPr>
            <p:spPr>
              <a:xfrm>
                <a:off x="311700" y="1266324"/>
                <a:ext cx="8520600" cy="3734043"/>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5783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B3BA4-BAD8-E78D-BAE4-104AFA34C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1D2C8-A1B1-884B-1341-7739847ABA93}"/>
              </a:ext>
            </a:extLst>
          </p:cNvPr>
          <p:cNvSpPr>
            <a:spLocks noGrp="1"/>
          </p:cNvSpPr>
          <p:nvPr>
            <p:ph type="title"/>
          </p:nvPr>
        </p:nvSpPr>
        <p:spPr/>
        <p:txBody>
          <a:bodyPr>
            <a:normAutofit fontScale="90000"/>
          </a:bodyPr>
          <a:lstStyle/>
          <a:p>
            <a:r>
              <a:rPr lang="en-US" dirty="0"/>
              <a:t>Gradients for hidden layer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4329F1E-B304-A3BD-AC0C-AB4DFBEBAB27}"/>
                  </a:ext>
                </a:extLst>
              </p:cNvPr>
              <p:cNvSpPr>
                <a:spLocks noGrp="1"/>
              </p:cNvSpPr>
              <p:nvPr>
                <p:ph type="body" idx="1"/>
              </p:nvPr>
            </p:nvSpPr>
            <p:spPr>
              <a:xfrm>
                <a:off x="311700" y="1266324"/>
                <a:ext cx="8520600" cy="3734043"/>
              </a:xfrm>
            </p:spPr>
            <p:txBody>
              <a:bodyPr>
                <a:normAutofit/>
              </a:bodyPr>
              <a:lstStyle/>
              <a:p>
                <a:pPr marL="114300" indent="0">
                  <a:buNone/>
                </a:pPr>
                <a:r>
                  <a:rPr lang="en-US" dirty="0"/>
                  <a:t>Now, use the error terms to calculate the hidden layer weights and biases…</a:t>
                </a:r>
              </a:p>
              <a:p>
                <a:pPr marL="114300" indent="0">
                  <a:buNone/>
                </a:pPr>
                <a:endParaRPr lang="en-US" dirty="0"/>
              </a:p>
              <a:p>
                <a:pPr marL="114300" indent="0">
                  <a:buNone/>
                </a:pP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dirty="0"/>
                  <a:t>:</a:t>
                </a:r>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b="0" dirty="0"/>
              </a:p>
            </p:txBody>
          </p:sp>
        </mc:Choice>
        <mc:Fallback xmlns="">
          <p:sp>
            <p:nvSpPr>
              <p:cNvPr id="3" name="Text Placeholder 2">
                <a:extLst>
                  <a:ext uri="{FF2B5EF4-FFF2-40B4-BE49-F238E27FC236}">
                    <a16:creationId xmlns:a16="http://schemas.microsoft.com/office/drawing/2014/main" id="{74329F1E-B304-A3BD-AC0C-AB4DFBEBAB27}"/>
                  </a:ext>
                </a:extLst>
              </p:cNvPr>
              <p:cNvSpPr>
                <a:spLocks noGrp="1" noRot="1" noChangeAspect="1" noMove="1" noResize="1" noEditPoints="1" noAdjustHandles="1" noChangeArrowheads="1" noChangeShapeType="1" noTextEdit="1"/>
              </p:cNvSpPr>
              <p:nvPr>
                <p:ph type="body" idx="1"/>
              </p:nvPr>
            </p:nvSpPr>
            <p:spPr>
              <a:xfrm>
                <a:off x="311700" y="1266324"/>
                <a:ext cx="8520600" cy="3734043"/>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99137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CA07-6336-78CA-0959-90467C7C7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0422E-4A6D-16D7-AFD5-05A7AB4B6642}"/>
              </a:ext>
            </a:extLst>
          </p:cNvPr>
          <p:cNvSpPr>
            <a:spLocks noGrp="1"/>
          </p:cNvSpPr>
          <p:nvPr>
            <p:ph type="title"/>
          </p:nvPr>
        </p:nvSpPr>
        <p:spPr/>
        <p:txBody>
          <a:bodyPr>
            <a:normAutofit fontScale="90000"/>
          </a:bodyPr>
          <a:lstStyle/>
          <a:p>
            <a:r>
              <a:rPr lang="en-US" dirty="0"/>
              <a:t>Gradients for hidden layer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69DA08D-97C5-8E3D-A68C-79BD4BAA9196}"/>
                  </a:ext>
                </a:extLst>
              </p:cNvPr>
              <p:cNvSpPr>
                <a:spLocks noGrp="1"/>
              </p:cNvSpPr>
              <p:nvPr>
                <p:ph type="body" idx="1"/>
              </p:nvPr>
            </p:nvSpPr>
            <p:spPr>
              <a:xfrm>
                <a:off x="311700" y="1266324"/>
                <a:ext cx="8520600" cy="3734043"/>
              </a:xfrm>
            </p:spPr>
            <p:txBody>
              <a:bodyPr>
                <a:normAutofit/>
              </a:bodyPr>
              <a:lstStyle/>
              <a:p>
                <a:pPr marL="114300" indent="0">
                  <a:buNone/>
                </a:pPr>
                <a:r>
                  <a:rPr lang="en-US" dirty="0"/>
                  <a:t>Now, use the error terms to calculate the hidden layer weights and biases…</a:t>
                </a:r>
              </a:p>
              <a:p>
                <a:pPr marL="114300" indent="0">
                  <a:buNone/>
                </a:pPr>
                <a:endParaRPr lang="en-US" dirty="0"/>
              </a:p>
              <a:p>
                <a:pPr marL="114300" indent="0">
                  <a:buNone/>
                </a:pP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dirty="0"/>
                  <a:t>:</a:t>
                </a:r>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oMath>
                  </m:oMathPara>
                </a14:m>
                <a:endParaRPr lang="en-US"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A69DA08D-97C5-8E3D-A68C-79BD4BAA9196}"/>
                  </a:ext>
                </a:extLst>
              </p:cNvPr>
              <p:cNvSpPr>
                <a:spLocks noGrp="1" noRot="1" noChangeAspect="1" noMove="1" noResize="1" noEditPoints="1" noAdjustHandles="1" noChangeArrowheads="1" noChangeShapeType="1" noTextEdit="1"/>
              </p:cNvSpPr>
              <p:nvPr>
                <p:ph type="body" idx="1"/>
              </p:nvPr>
            </p:nvSpPr>
            <p:spPr>
              <a:xfrm>
                <a:off x="311700" y="1266324"/>
                <a:ext cx="8520600" cy="3734043"/>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46358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E1607-A3FF-796B-E240-C67C2C5B2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DDBDC-B301-A335-B52B-675881619E4C}"/>
              </a:ext>
            </a:extLst>
          </p:cNvPr>
          <p:cNvSpPr>
            <a:spLocks noGrp="1"/>
          </p:cNvSpPr>
          <p:nvPr>
            <p:ph type="title"/>
          </p:nvPr>
        </p:nvSpPr>
        <p:spPr/>
        <p:txBody>
          <a:bodyPr>
            <a:normAutofit fontScale="90000"/>
          </a:bodyPr>
          <a:lstStyle/>
          <a:p>
            <a:r>
              <a:rPr lang="en-US" dirty="0"/>
              <a:t>Gradients for hidden layer weights and biases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9FDEBF9-C3D1-46B0-1F14-C2D68F017E0A}"/>
                  </a:ext>
                </a:extLst>
              </p:cNvPr>
              <p:cNvSpPr>
                <a:spLocks noGrp="1"/>
              </p:cNvSpPr>
              <p:nvPr>
                <p:ph type="body" idx="1"/>
              </p:nvPr>
            </p:nvSpPr>
            <p:spPr>
              <a:xfrm>
                <a:off x="311700" y="1266324"/>
                <a:ext cx="8520600" cy="3734043"/>
              </a:xfrm>
            </p:spPr>
            <p:txBody>
              <a:bodyPr>
                <a:normAutofit fontScale="92500"/>
              </a:bodyPr>
              <a:lstStyle/>
              <a:p>
                <a:pPr marL="114300" indent="0">
                  <a:buNone/>
                </a:pPr>
                <a:r>
                  <a:rPr lang="en-US" dirty="0"/>
                  <a:t>Now, use the error terms to calculate the hidden layer weights and biases…</a:t>
                </a:r>
              </a:p>
              <a:p>
                <a:pPr marL="114300" indent="0">
                  <a:buNone/>
                </a:pPr>
                <a:endParaRPr lang="en-US" dirty="0"/>
              </a:p>
              <a:p>
                <a:pPr marL="114300" indent="0">
                  <a:buNone/>
                </a:pP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oMath>
                </a14:m>
                <a:r>
                  <a:rPr lang="en-US" dirty="0"/>
                  <a:t>:</a:t>
                </a:r>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𝐽</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sub>
                      </m:sSub>
                    </m:oMath>
                  </m:oMathPara>
                </a14:m>
                <a:endParaRPr lang="en-US"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b="0" dirty="0"/>
              </a:p>
              <a:p>
                <a:pPr marL="114300" indent="0">
                  <a:buNone/>
                </a:pPr>
                <a:r>
                  <a:rPr lang="en-US" dirty="0"/>
                  <a:t>And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oMath>
                </a14:m>
                <a:r>
                  <a:rPr lang="en-US" b="0" dirty="0"/>
                  <a:t>, we repeat the same process using the relevant weights and biases.</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49FDEBF9-C3D1-46B0-1F14-C2D68F017E0A}"/>
                  </a:ext>
                </a:extLst>
              </p:cNvPr>
              <p:cNvSpPr>
                <a:spLocks noGrp="1" noRot="1" noChangeAspect="1" noMove="1" noResize="1" noEditPoints="1" noAdjustHandles="1" noChangeArrowheads="1" noChangeShapeType="1" noTextEdit="1"/>
              </p:cNvSpPr>
              <p:nvPr>
                <p:ph type="body" idx="1"/>
              </p:nvPr>
            </p:nvSpPr>
            <p:spPr>
              <a:xfrm>
                <a:off x="311700" y="1266324"/>
                <a:ext cx="8520600" cy="3734043"/>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658807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F9D3-6674-376D-DFF7-EF56E777881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22ADBA3-9BF2-7568-17A8-F3DFF35DDE83}"/>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sp>
        <p:nvSpPr>
          <p:cNvPr id="17" name="Text Placeholder 2">
            <a:extLst>
              <a:ext uri="{FF2B5EF4-FFF2-40B4-BE49-F238E27FC236}">
                <a16:creationId xmlns:a16="http://schemas.microsoft.com/office/drawing/2014/main" id="{2B9442B3-4F7B-076C-DA17-4AEF7737C9B3}"/>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sz="1600" dirty="0"/>
              <a:t>Backpropagation starts at the output and moves backward</a:t>
            </a:r>
          </a:p>
          <a:p>
            <a:pPr marL="114300" indent="0">
              <a:buFont typeface="Open Sans"/>
              <a:buNone/>
            </a:pPr>
            <a:endParaRPr lang="en-US" sz="1600" dirty="0"/>
          </a:p>
          <a:p>
            <a:pPr marL="114300" indent="0">
              <a:buFont typeface="Open Sans"/>
              <a:buNone/>
            </a:pPr>
            <a:r>
              <a:rPr lang="en-US" sz="1600" dirty="0"/>
              <a:t>We start by computing the error term for the output. Now, using the error term for the output, we can calculate gradients for the output weights and biases.</a:t>
            </a:r>
          </a:p>
          <a:p>
            <a:pPr marL="114300" indent="0">
              <a:buFont typeface="Open Sans"/>
              <a:buNone/>
            </a:pPr>
            <a:endParaRPr lang="en-US" sz="1600" dirty="0"/>
          </a:p>
          <a:p>
            <a:pPr marL="114300" indent="0">
              <a:buFont typeface="Open Sans"/>
              <a:buNone/>
            </a:pPr>
            <a:r>
              <a:rPr lang="en-US" sz="1600" dirty="0"/>
              <a:t>Now that we have the gradients for the output weights and biases, we can propagate this information backwards to calculate the gradients for the hidden layer weights and biases!</a:t>
            </a:r>
          </a:p>
          <a:p>
            <a:pPr marL="114300" indent="0">
              <a:buFont typeface="Open Sans"/>
              <a:buNone/>
            </a:pPr>
            <a:endParaRPr lang="en-US" sz="1600" dirty="0"/>
          </a:p>
          <a:p>
            <a:pPr marL="114300" indent="0">
              <a:buFont typeface="Open Sans"/>
              <a:buNone/>
            </a:pPr>
            <a:r>
              <a:rPr lang="en-US" sz="1600" dirty="0"/>
              <a:t>Ok, now we have the gradients for all weights and biases!</a:t>
            </a:r>
          </a:p>
          <a:p>
            <a:pPr marL="114300" indent="0">
              <a:buFont typeface="Open Sans"/>
              <a:buNone/>
            </a:pPr>
            <a:endParaRPr lang="en-US" sz="1600" dirty="0"/>
          </a:p>
          <a:p>
            <a:pPr marL="114300" indent="0">
              <a:buFont typeface="Open Sans"/>
              <a:buNone/>
            </a:pPr>
            <a:endParaRPr lang="en-US" sz="1600" dirty="0"/>
          </a:p>
        </p:txBody>
      </p:sp>
    </p:spTree>
    <p:extLst>
      <p:ext uri="{BB962C8B-B14F-4D97-AF65-F5344CB8AC3E}">
        <p14:creationId xmlns:p14="http://schemas.microsoft.com/office/powerpoint/2010/main" val="3765749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0AFEB-5119-7E8D-649E-982DCB90C5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974273A-1E82-2122-6C33-44D2BDE4ABC0}"/>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sp>
        <p:nvSpPr>
          <p:cNvPr id="17" name="Text Placeholder 2">
            <a:extLst>
              <a:ext uri="{FF2B5EF4-FFF2-40B4-BE49-F238E27FC236}">
                <a16:creationId xmlns:a16="http://schemas.microsoft.com/office/drawing/2014/main" id="{94DF2AB6-1B05-5BBB-97C5-5E8ED103FEEE}"/>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sz="1600" dirty="0"/>
              <a:t>Backpropagation starts at the output and moves backward</a:t>
            </a:r>
          </a:p>
          <a:p>
            <a:pPr marL="114300" indent="0">
              <a:buFont typeface="Open Sans"/>
              <a:buNone/>
            </a:pPr>
            <a:endParaRPr lang="en-US" sz="1600" dirty="0"/>
          </a:p>
          <a:p>
            <a:pPr marL="114300" indent="0">
              <a:buFont typeface="Open Sans"/>
              <a:buNone/>
            </a:pPr>
            <a:r>
              <a:rPr lang="en-US" sz="1600" dirty="0"/>
              <a:t>We start by computing the error term for the output. Now, using the error term for the output, we can calculate gradients for the output weights and biases.</a:t>
            </a:r>
          </a:p>
          <a:p>
            <a:pPr marL="114300" indent="0">
              <a:buFont typeface="Open Sans"/>
              <a:buNone/>
            </a:pPr>
            <a:endParaRPr lang="en-US" sz="1600" dirty="0"/>
          </a:p>
          <a:p>
            <a:pPr marL="114300" indent="0">
              <a:buFont typeface="Open Sans"/>
              <a:buNone/>
            </a:pPr>
            <a:r>
              <a:rPr lang="en-US" sz="1600" dirty="0"/>
              <a:t>Now that we have the gradients for the output weights and biases, we can propagate this information backwards to calculate the gradients for the hidden layer weights and biases!</a:t>
            </a:r>
          </a:p>
          <a:p>
            <a:pPr marL="114300" indent="0">
              <a:buFont typeface="Open Sans"/>
              <a:buNone/>
            </a:pPr>
            <a:endParaRPr lang="en-US" sz="1600" dirty="0"/>
          </a:p>
          <a:p>
            <a:pPr marL="114300" indent="0">
              <a:buFont typeface="Open Sans"/>
              <a:buNone/>
            </a:pPr>
            <a:r>
              <a:rPr lang="en-US" sz="1600" dirty="0"/>
              <a:t>Ok, now we have the gradients for all weights and biases!</a:t>
            </a:r>
          </a:p>
          <a:p>
            <a:pPr marL="114300" indent="0">
              <a:buFont typeface="Open Sans"/>
              <a:buNone/>
            </a:pPr>
            <a:endParaRPr lang="en-US" sz="1600" dirty="0"/>
          </a:p>
          <a:p>
            <a:pPr marL="114300" indent="0">
              <a:buFont typeface="Open Sans"/>
              <a:buNone/>
            </a:pPr>
            <a:r>
              <a:rPr lang="en-US" sz="1600" dirty="0"/>
              <a:t>Now, we use gradient descent to update each parameter</a:t>
            </a:r>
          </a:p>
          <a:p>
            <a:pPr marL="114300" indent="0">
              <a:buFont typeface="Open Sans"/>
              <a:buNone/>
            </a:pPr>
            <a:endParaRPr lang="en-US" sz="1600" dirty="0"/>
          </a:p>
        </p:txBody>
      </p:sp>
    </p:spTree>
    <p:extLst>
      <p:ext uri="{BB962C8B-B14F-4D97-AF65-F5344CB8AC3E}">
        <p14:creationId xmlns:p14="http://schemas.microsoft.com/office/powerpoint/2010/main" val="26396373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E7544-0B02-A3B6-CDCB-32AA98ED7140}"/>
              </a:ext>
            </a:extLst>
          </p:cNvPr>
          <p:cNvSpPr>
            <a:spLocks noGrp="1"/>
          </p:cNvSpPr>
          <p:nvPr>
            <p:ph type="title"/>
          </p:nvPr>
        </p:nvSpPr>
        <p:spPr/>
        <p:txBody>
          <a:bodyPr>
            <a:normAutofit fontScale="90000"/>
          </a:bodyPr>
          <a:lstStyle/>
          <a:p>
            <a:r>
              <a:rPr lang="en-US" dirty="0"/>
              <a:t>Gradient descent for parameter optimization</a:t>
            </a:r>
          </a:p>
        </p:txBody>
      </p:sp>
      <p:sp>
        <p:nvSpPr>
          <p:cNvPr id="3" name="Text Placeholder 2">
            <a:extLst>
              <a:ext uri="{FF2B5EF4-FFF2-40B4-BE49-F238E27FC236}">
                <a16:creationId xmlns:a16="http://schemas.microsoft.com/office/drawing/2014/main" id="{0D579CD7-3C0E-3285-2B28-6D21437E91CD}"/>
              </a:ext>
            </a:extLst>
          </p:cNvPr>
          <p:cNvSpPr>
            <a:spLocks noGrp="1"/>
          </p:cNvSpPr>
          <p:nvPr>
            <p:ph type="body" idx="1"/>
          </p:nvPr>
        </p:nvSpPr>
        <p:spPr>
          <a:xfrm>
            <a:off x="311700" y="1266325"/>
            <a:ext cx="8520600" cy="3750518"/>
          </a:xfrm>
        </p:spPr>
        <p:txBody>
          <a:bodyPr>
            <a:normAutofit/>
          </a:bodyPr>
          <a:lstStyle/>
          <a:p>
            <a:pPr marL="114300" indent="0">
              <a:buNone/>
            </a:pPr>
            <a:r>
              <a:rPr lang="en-US" sz="1600" dirty="0"/>
              <a:t>In many cases, our gradients will be given as functions.</a:t>
            </a:r>
          </a:p>
          <a:p>
            <a:pPr marL="114300" indent="0">
              <a:buNone/>
            </a:pPr>
            <a:endParaRPr lang="en-US" sz="1600" dirty="0"/>
          </a:p>
        </p:txBody>
      </p:sp>
    </p:spTree>
    <p:extLst>
      <p:ext uri="{BB962C8B-B14F-4D97-AF65-F5344CB8AC3E}">
        <p14:creationId xmlns:p14="http://schemas.microsoft.com/office/powerpoint/2010/main" val="1036214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6B084-6EA5-52C1-FD22-07010DD28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5A292-5EB0-D0B7-8337-FFEE381756A7}"/>
              </a:ext>
            </a:extLst>
          </p:cNvPr>
          <p:cNvSpPr>
            <a:spLocks noGrp="1"/>
          </p:cNvSpPr>
          <p:nvPr>
            <p:ph type="title"/>
          </p:nvPr>
        </p:nvSpPr>
        <p:spPr/>
        <p:txBody>
          <a:bodyPr>
            <a:normAutofit fontScale="90000"/>
          </a:bodyPr>
          <a:lstStyle/>
          <a:p>
            <a:r>
              <a:rPr lang="en-US" dirty="0"/>
              <a:t>Gradient descent for parameter optimization</a:t>
            </a:r>
          </a:p>
        </p:txBody>
      </p:sp>
      <p:sp>
        <p:nvSpPr>
          <p:cNvPr id="3" name="Text Placeholder 2">
            <a:extLst>
              <a:ext uri="{FF2B5EF4-FFF2-40B4-BE49-F238E27FC236}">
                <a16:creationId xmlns:a16="http://schemas.microsoft.com/office/drawing/2014/main" id="{416C1A3D-CC88-3C0B-E5FE-ACC68E58C270}"/>
              </a:ext>
            </a:extLst>
          </p:cNvPr>
          <p:cNvSpPr>
            <a:spLocks noGrp="1"/>
          </p:cNvSpPr>
          <p:nvPr>
            <p:ph type="body" idx="1"/>
          </p:nvPr>
        </p:nvSpPr>
        <p:spPr>
          <a:xfrm>
            <a:off x="311700" y="1266325"/>
            <a:ext cx="8520600" cy="3750518"/>
          </a:xfrm>
        </p:spPr>
        <p:txBody>
          <a:bodyPr>
            <a:normAutofit/>
          </a:bodyPr>
          <a:lstStyle/>
          <a:p>
            <a:pPr marL="114300" indent="0">
              <a:buNone/>
            </a:pPr>
            <a:r>
              <a:rPr lang="en-US" sz="1600" dirty="0"/>
              <a:t>In many cases, our gradients will be given as functions.</a:t>
            </a:r>
          </a:p>
          <a:p>
            <a:pPr marL="114300" indent="0">
              <a:buNone/>
            </a:pPr>
            <a:endParaRPr lang="en-US" sz="1600" dirty="0"/>
          </a:p>
          <a:p>
            <a:pPr marL="114300" indent="0">
              <a:buNone/>
            </a:pPr>
            <a:r>
              <a:rPr lang="en-US" sz="1600" dirty="0"/>
              <a:t>Remember, our goal is to update the parameter set such that it minimizes the cost. </a:t>
            </a:r>
          </a:p>
          <a:p>
            <a:pPr marL="114300" indent="0">
              <a:buNone/>
            </a:pPr>
            <a:endParaRPr lang="en-US" sz="1600" dirty="0"/>
          </a:p>
        </p:txBody>
      </p:sp>
    </p:spTree>
    <p:extLst>
      <p:ext uri="{BB962C8B-B14F-4D97-AF65-F5344CB8AC3E}">
        <p14:creationId xmlns:p14="http://schemas.microsoft.com/office/powerpoint/2010/main" val="4074842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1F592-09B0-96A7-029C-539ABCFC0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DE241-2940-B78F-B5BC-827351253B9D}"/>
              </a:ext>
            </a:extLst>
          </p:cNvPr>
          <p:cNvSpPr>
            <a:spLocks noGrp="1"/>
          </p:cNvSpPr>
          <p:nvPr>
            <p:ph type="title"/>
          </p:nvPr>
        </p:nvSpPr>
        <p:spPr/>
        <p:txBody>
          <a:bodyPr>
            <a:normAutofit fontScale="90000"/>
          </a:bodyPr>
          <a:lstStyle/>
          <a:p>
            <a:r>
              <a:rPr lang="en-US" dirty="0"/>
              <a:t>Gradient descent for parameter optimization</a:t>
            </a:r>
          </a:p>
        </p:txBody>
      </p:sp>
      <p:sp>
        <p:nvSpPr>
          <p:cNvPr id="3" name="Text Placeholder 2">
            <a:extLst>
              <a:ext uri="{FF2B5EF4-FFF2-40B4-BE49-F238E27FC236}">
                <a16:creationId xmlns:a16="http://schemas.microsoft.com/office/drawing/2014/main" id="{5797E313-5FD7-5E03-446F-90D7CA9C1034}"/>
              </a:ext>
            </a:extLst>
          </p:cNvPr>
          <p:cNvSpPr>
            <a:spLocks noGrp="1"/>
          </p:cNvSpPr>
          <p:nvPr>
            <p:ph type="body" idx="1"/>
          </p:nvPr>
        </p:nvSpPr>
        <p:spPr>
          <a:xfrm>
            <a:off x="311700" y="1266325"/>
            <a:ext cx="8520600" cy="3750518"/>
          </a:xfrm>
        </p:spPr>
        <p:txBody>
          <a:bodyPr>
            <a:normAutofit/>
          </a:bodyPr>
          <a:lstStyle/>
          <a:p>
            <a:pPr marL="114300" indent="0">
              <a:buNone/>
            </a:pPr>
            <a:r>
              <a:rPr lang="en-US" sz="1600" dirty="0"/>
              <a:t>In many cases, our gradients will be given as functions.</a:t>
            </a:r>
          </a:p>
          <a:p>
            <a:pPr marL="114300" indent="0">
              <a:buNone/>
            </a:pPr>
            <a:endParaRPr lang="en-US" sz="1600" dirty="0"/>
          </a:p>
          <a:p>
            <a:pPr marL="114300" indent="0">
              <a:buNone/>
            </a:pPr>
            <a:r>
              <a:rPr lang="en-US" sz="1600" dirty="0"/>
              <a:t>Remember, our goal is to update the parameter set such that it minimizes the cost. </a:t>
            </a:r>
          </a:p>
          <a:p>
            <a:pPr marL="114300" indent="0">
              <a:buNone/>
            </a:pPr>
            <a:endParaRPr lang="en-US" sz="1600" dirty="0"/>
          </a:p>
          <a:p>
            <a:pPr marL="114300" indent="0">
              <a:buNone/>
            </a:pPr>
            <a:r>
              <a:rPr lang="en-US" sz="1600" dirty="0"/>
              <a:t>Thus, gradient descent will simultaneously update all parameters to nudge the full parameter set toward a local minimum of the overall cost function!</a:t>
            </a:r>
          </a:p>
        </p:txBody>
      </p:sp>
    </p:spTree>
    <p:extLst>
      <p:ext uri="{BB962C8B-B14F-4D97-AF65-F5344CB8AC3E}">
        <p14:creationId xmlns:p14="http://schemas.microsoft.com/office/powerpoint/2010/main" val="2686901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B6BF-276B-4CDD-2928-AAA152871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CD6D5-4DDA-AA0B-9CF6-3E800C588C1B}"/>
              </a:ext>
            </a:extLst>
          </p:cNvPr>
          <p:cNvSpPr>
            <a:spLocks noGrp="1"/>
          </p:cNvSpPr>
          <p:nvPr>
            <p:ph type="title"/>
          </p:nvPr>
        </p:nvSpPr>
        <p:spPr/>
        <p:txBody>
          <a:bodyPr>
            <a:normAutofit fontScale="90000"/>
          </a:bodyPr>
          <a:lstStyle/>
          <a:p>
            <a:r>
              <a:rPr lang="en-US" dirty="0"/>
              <a:t>Gradient descent for parameter optimization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C1A406-C47A-849F-2B93-402E15D2A6F5}"/>
                  </a:ext>
                </a:extLst>
              </p:cNvPr>
              <p:cNvSpPr>
                <a:spLocks noGrp="1"/>
              </p:cNvSpPr>
              <p:nvPr>
                <p:ph type="body" idx="1"/>
              </p:nvPr>
            </p:nvSpPr>
            <p:spPr>
              <a:xfrm>
                <a:off x="311700" y="1266325"/>
                <a:ext cx="8520600" cy="3750518"/>
              </a:xfrm>
            </p:spPr>
            <p:txBody>
              <a:bodyPr>
                <a:normAutofit/>
              </a:bodyPr>
              <a:lstStyle/>
              <a:p>
                <a:pPr marL="114300" indent="0">
                  <a:buNone/>
                </a:pPr>
                <a:r>
                  <a:rPr lang="en-US" sz="1600" dirty="0"/>
                  <a:t>In many cases, our gradients will be given as functions.</a:t>
                </a:r>
              </a:p>
              <a:p>
                <a:pPr marL="114300" indent="0">
                  <a:buNone/>
                </a:pPr>
                <a:endParaRPr lang="en-US" sz="1600" dirty="0"/>
              </a:p>
              <a:p>
                <a:pPr marL="114300" indent="0">
                  <a:buNone/>
                </a:pPr>
                <a:r>
                  <a:rPr lang="en-US" sz="1600" dirty="0"/>
                  <a:t>Remember, our goal is to update the parameter set such that it minimizes the cost. </a:t>
                </a:r>
              </a:p>
              <a:p>
                <a:pPr marL="114300" indent="0">
                  <a:buNone/>
                </a:pPr>
                <a:endParaRPr lang="en-US" sz="1600" dirty="0"/>
              </a:p>
              <a:p>
                <a:pPr marL="114300" indent="0">
                  <a:buNone/>
                </a:pPr>
                <a:r>
                  <a:rPr lang="en-US" sz="1600" dirty="0"/>
                  <a:t>Thus, gradient descent will simultaneously update all parameters to nudge the full parameter set toward a local minimum of the overall cost function!</a:t>
                </a:r>
              </a:p>
              <a:p>
                <a:pPr marL="114300" indent="0">
                  <a:buNone/>
                </a:pPr>
                <a:endParaRPr lang="en-US" sz="1600" dirty="0"/>
              </a:p>
              <a:p>
                <a:pPr marL="114300" indent="0">
                  <a:buNone/>
                </a:pP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m:t>
                      </m:r>
                      <m:r>
                        <a:rPr lang="en-US" sz="1600" b="0" i="1" smtClean="0">
                          <a:latin typeface="Cambria Math" panose="02040503050406030204" pitchFamily="18" charset="0"/>
                        </a:rPr>
                        <m:t>𝐽</m:t>
                      </m:r>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1</m:t>
                                  </m:r>
                                </m:sub>
                              </m:sSub>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2</m:t>
                                  </m:r>
                                </m:sub>
                              </m:sSub>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𝑏</m:t>
                                  </m:r>
                                </m:e>
                                <m:sub>
                                  <m:r>
                                    <a:rPr lang="en-US" sz="1600" b="0" i="1" smtClean="0">
                                      <a:latin typeface="Cambria Math" panose="02040503050406030204" pitchFamily="18" charset="0"/>
                                    </a:rPr>
                                    <m:t>1</m:t>
                                  </m:r>
                                </m:sub>
                              </m:sSub>
                            </m:den>
                          </m:f>
                          <m:r>
                            <a:rPr lang="en-US" sz="1600" b="0" i="1" smtClean="0">
                              <a:latin typeface="Cambria Math" panose="02040503050406030204" pitchFamily="18" charset="0"/>
                            </a:rPr>
                            <m:t>,…</m:t>
                          </m:r>
                        </m:e>
                      </m:d>
                    </m:oMath>
                  </m:oMathPara>
                </a14:m>
                <a:endParaRPr lang="en-US" sz="1600" b="0" dirty="0"/>
              </a:p>
              <a:p>
                <a:pPr marL="114300" indent="0">
                  <a:buNone/>
                </a:pPr>
                <a:endParaRPr lang="en-US" sz="1600" b="0" dirty="0"/>
              </a:p>
              <a:p>
                <a:pPr marL="11430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𝜃</m:t>
                      </m:r>
                      <m:r>
                        <a:rPr lang="en-US" sz="1600" b="0" i="1" smtClean="0">
                          <a:latin typeface="Cambria Math" panose="02040503050406030204" pitchFamily="18" charset="0"/>
                        </a:rPr>
                        <m:t>←</m:t>
                      </m:r>
                      <m:r>
                        <a:rPr lang="en-US" sz="1600" b="0" i="1" smtClean="0">
                          <a:latin typeface="Cambria Math" panose="02040503050406030204" pitchFamily="18" charset="0"/>
                        </a:rPr>
                        <m:t>𝜃</m:t>
                      </m:r>
                      <m:r>
                        <a:rPr lang="en-US" sz="1600" b="0" i="1" smtClean="0">
                          <a:latin typeface="Cambria Math" panose="02040503050406030204" pitchFamily="18" charset="0"/>
                        </a:rPr>
                        <m:t>−</m:t>
                      </m:r>
                      <m:r>
                        <a:rPr lang="en-US" sz="1600" b="0" i="1" smtClean="0">
                          <a:latin typeface="Cambria Math" panose="02040503050406030204" pitchFamily="18" charset="0"/>
                        </a:rPr>
                        <m:t>𝜂</m:t>
                      </m:r>
                      <m:r>
                        <m:rPr>
                          <m:sty m:val="p"/>
                        </m:rPr>
                        <a:rPr lang="en-US" sz="1600" b="0" i="0" smtClean="0">
                          <a:latin typeface="Cambria Math" panose="02040503050406030204" pitchFamily="18" charset="0"/>
                        </a:rPr>
                        <m:t>∇</m:t>
                      </m:r>
                      <m:r>
                        <a:rPr lang="en-US" sz="1600" b="0" i="1" smtClean="0">
                          <a:latin typeface="Cambria Math" panose="02040503050406030204" pitchFamily="18" charset="0"/>
                        </a:rPr>
                        <m:t>𝐽</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oMath>
                  </m:oMathPara>
                </a14:m>
                <a:endParaRPr lang="en-US" sz="1600" b="0" dirty="0"/>
              </a:p>
              <a:p>
                <a:pPr marL="114300" indent="0">
                  <a:buNone/>
                </a:pPr>
                <a:endParaRPr lang="en-US" sz="1600" b="0" dirty="0"/>
              </a:p>
              <a:p>
                <a:pPr marL="114300" indent="0">
                  <a:buNone/>
                </a:pPr>
                <a:endParaRPr lang="en-US" sz="1600" b="0" dirty="0"/>
              </a:p>
              <a:p>
                <a:pPr marL="114300" indent="0">
                  <a:buNone/>
                </a:pPr>
                <a:endParaRPr lang="en-US" sz="1600" b="0" dirty="0"/>
              </a:p>
              <a:p>
                <a:pPr marL="114300" indent="0">
                  <a:buNone/>
                </a:pPr>
                <a:endParaRPr lang="en-US" sz="1600" b="0" dirty="0"/>
              </a:p>
            </p:txBody>
          </p:sp>
        </mc:Choice>
        <mc:Fallback xmlns="">
          <p:sp>
            <p:nvSpPr>
              <p:cNvPr id="3" name="Text Placeholder 2">
                <a:extLst>
                  <a:ext uri="{FF2B5EF4-FFF2-40B4-BE49-F238E27FC236}">
                    <a16:creationId xmlns:a16="http://schemas.microsoft.com/office/drawing/2014/main" id="{62C1A406-C47A-849F-2B93-402E15D2A6F5}"/>
                  </a:ext>
                </a:extLst>
              </p:cNvPr>
              <p:cNvSpPr>
                <a:spLocks noGrp="1" noRot="1" noChangeAspect="1" noMove="1" noResize="1" noEditPoints="1" noAdjustHandles="1" noChangeArrowheads="1" noChangeShapeType="1" noTextEdit="1"/>
              </p:cNvSpPr>
              <p:nvPr>
                <p:ph type="body" idx="1"/>
              </p:nvPr>
            </p:nvSpPr>
            <p:spPr>
              <a:xfrm>
                <a:off x="311700" y="1266325"/>
                <a:ext cx="8520600" cy="3750518"/>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1787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34446-6C08-D768-3D31-856271EBE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E3056-3DCF-BAF5-861D-C0C5F58276CB}"/>
              </a:ext>
            </a:extLst>
          </p:cNvPr>
          <p:cNvSpPr>
            <a:spLocks noGrp="1"/>
          </p:cNvSpPr>
          <p:nvPr>
            <p:ph type="title"/>
          </p:nvPr>
        </p:nvSpPr>
        <p:spPr/>
        <p:txBody>
          <a:bodyPr>
            <a:normAutofit fontScale="90000"/>
          </a:bodyPr>
          <a:lstStyle/>
          <a:p>
            <a:r>
              <a:rPr lang="en-US" dirty="0"/>
              <a:t>Gradient descent for parameter optimization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CA33E1-1FEF-E8C3-6FE8-7B28EF08F75F}"/>
                  </a:ext>
                </a:extLst>
              </p:cNvPr>
              <p:cNvSpPr>
                <a:spLocks noGrp="1"/>
              </p:cNvSpPr>
              <p:nvPr>
                <p:ph type="body" idx="1"/>
              </p:nvPr>
            </p:nvSpPr>
            <p:spPr>
              <a:xfrm>
                <a:off x="311700" y="1266325"/>
                <a:ext cx="8520600" cy="3750518"/>
              </a:xfrm>
            </p:spPr>
            <p:txBody>
              <a:bodyPr>
                <a:normAutofit/>
              </a:bodyPr>
              <a:lstStyle/>
              <a:p>
                <a:pPr marL="114300" indent="0">
                  <a:buNone/>
                </a:pPr>
                <a:r>
                  <a:rPr lang="en-US" sz="1600" dirty="0"/>
                  <a:t>In many cases, our gradients will be given as functions.</a:t>
                </a:r>
              </a:p>
              <a:p>
                <a:pPr marL="114300" indent="0">
                  <a:buNone/>
                </a:pPr>
                <a:endParaRPr lang="en-US" sz="1600" dirty="0"/>
              </a:p>
              <a:p>
                <a:pPr marL="114300" indent="0">
                  <a:buNone/>
                </a:pPr>
                <a:r>
                  <a:rPr lang="en-US" sz="1600" dirty="0"/>
                  <a:t>Remember, our goal is to update the parameter set such that it minimizes the cost. </a:t>
                </a:r>
              </a:p>
              <a:p>
                <a:pPr marL="114300" indent="0">
                  <a:buNone/>
                </a:pPr>
                <a:endParaRPr lang="en-US" sz="1600" dirty="0"/>
              </a:p>
              <a:p>
                <a:pPr marL="114300" indent="0">
                  <a:buNone/>
                </a:pPr>
                <a:r>
                  <a:rPr lang="en-US" sz="1600" dirty="0"/>
                  <a:t>Thus, gradient descent will simultaneously update all parameters to nudge the full parameter set toward a local minimum of the overall cost function!</a:t>
                </a:r>
              </a:p>
              <a:p>
                <a:pPr marL="114300" indent="0">
                  <a:buNone/>
                </a:pPr>
                <a:endParaRPr lang="en-US" sz="1600" dirty="0"/>
              </a:p>
              <a:p>
                <a:pPr marL="114300" indent="0">
                  <a:buNone/>
                </a:pP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m:t>
                      </m:r>
                      <m:r>
                        <a:rPr lang="en-US" sz="1600" b="0" i="1" smtClean="0">
                          <a:latin typeface="Cambria Math" panose="02040503050406030204" pitchFamily="18" charset="0"/>
                        </a:rPr>
                        <m:t>𝐽</m:t>
                      </m:r>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1</m:t>
                                  </m:r>
                                </m:sub>
                              </m:sSub>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2</m:t>
                                  </m:r>
                                </m:sub>
                              </m:sSub>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𝐽</m:t>
                              </m:r>
                            </m:num>
                            <m:den>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𝑏</m:t>
                                  </m:r>
                                </m:e>
                                <m:sub>
                                  <m:r>
                                    <a:rPr lang="en-US" sz="1600" b="0" i="1" smtClean="0">
                                      <a:latin typeface="Cambria Math" panose="02040503050406030204" pitchFamily="18" charset="0"/>
                                    </a:rPr>
                                    <m:t>1</m:t>
                                  </m:r>
                                </m:sub>
                              </m:sSub>
                            </m:den>
                          </m:f>
                          <m:r>
                            <a:rPr lang="en-US" sz="1600" b="0" i="1" smtClean="0">
                              <a:latin typeface="Cambria Math" panose="02040503050406030204" pitchFamily="18" charset="0"/>
                            </a:rPr>
                            <m:t>,…</m:t>
                          </m:r>
                        </m:e>
                      </m:d>
                    </m:oMath>
                  </m:oMathPara>
                </a14:m>
                <a:endParaRPr lang="en-US" sz="1600" b="0" dirty="0"/>
              </a:p>
              <a:p>
                <a:pPr marL="114300" indent="0">
                  <a:buNone/>
                </a:pPr>
                <a:endParaRPr lang="en-US" sz="1600" b="0" dirty="0"/>
              </a:p>
              <a:p>
                <a:pPr marL="11430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𝜃</m:t>
                      </m:r>
                      <m:r>
                        <a:rPr lang="en-US" sz="1600" b="0" i="1" smtClean="0">
                          <a:latin typeface="Cambria Math" panose="02040503050406030204" pitchFamily="18" charset="0"/>
                        </a:rPr>
                        <m:t>←</m:t>
                      </m:r>
                      <m:r>
                        <a:rPr lang="en-US" sz="1600" b="0" i="1" smtClean="0">
                          <a:latin typeface="Cambria Math" panose="02040503050406030204" pitchFamily="18" charset="0"/>
                        </a:rPr>
                        <m:t>𝜃</m:t>
                      </m:r>
                      <m:r>
                        <a:rPr lang="en-US" sz="1600" b="0" i="1" smtClean="0">
                          <a:latin typeface="Cambria Math" panose="02040503050406030204" pitchFamily="18" charset="0"/>
                        </a:rPr>
                        <m:t>−</m:t>
                      </m:r>
                      <m:r>
                        <a:rPr lang="en-US" sz="1600" b="0" i="1" smtClean="0">
                          <a:latin typeface="Cambria Math" panose="02040503050406030204" pitchFamily="18" charset="0"/>
                        </a:rPr>
                        <m:t>𝜂</m:t>
                      </m:r>
                      <m:r>
                        <m:rPr>
                          <m:sty m:val="p"/>
                        </m:rPr>
                        <a:rPr lang="en-US" sz="1600" b="0" i="0" smtClean="0">
                          <a:latin typeface="Cambria Math" panose="02040503050406030204" pitchFamily="18" charset="0"/>
                        </a:rPr>
                        <m:t>∇</m:t>
                      </m:r>
                      <m:r>
                        <a:rPr lang="en-US" sz="1600" b="0" i="1" smtClean="0">
                          <a:latin typeface="Cambria Math" panose="02040503050406030204" pitchFamily="18" charset="0"/>
                        </a:rPr>
                        <m:t>𝐽</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oMath>
                  </m:oMathPara>
                </a14:m>
                <a:endParaRPr lang="en-US" sz="1600" b="0" dirty="0"/>
              </a:p>
              <a:p>
                <a:pPr marL="114300" indent="0">
                  <a:buNone/>
                </a:pPr>
                <a:r>
                  <a:rPr lang="en-US" sz="1600" dirty="0"/>
                  <a:t>Where </a:t>
                </a:r>
                <a14:m>
                  <m:oMath xmlns:m="http://schemas.openxmlformats.org/officeDocument/2006/math">
                    <m:r>
                      <a:rPr lang="en-US" sz="1600" b="0" i="1" smtClean="0">
                        <a:latin typeface="Cambria Math" panose="02040503050406030204" pitchFamily="18" charset="0"/>
                      </a:rPr>
                      <m:t>𝜃</m:t>
                    </m:r>
                  </m:oMath>
                </a14:m>
                <a:r>
                  <a:rPr lang="en-US" sz="1600" b="0" dirty="0"/>
                  <a:t> is the whole set of parameters and </a:t>
                </a:r>
                <a14:m>
                  <m:oMath xmlns:m="http://schemas.openxmlformats.org/officeDocument/2006/math">
                    <m:r>
                      <a:rPr lang="en-US" sz="1600" b="0" i="1" smtClean="0">
                        <a:latin typeface="Cambria Math" panose="02040503050406030204" pitchFamily="18" charset="0"/>
                      </a:rPr>
                      <m:t>𝜂</m:t>
                    </m:r>
                  </m:oMath>
                </a14:m>
                <a:r>
                  <a:rPr lang="en-US" sz="1600" b="0" dirty="0"/>
                  <a:t> is a learning rate</a:t>
                </a:r>
              </a:p>
              <a:p>
                <a:pPr marL="114300" indent="0">
                  <a:buNone/>
                </a:pPr>
                <a:endParaRPr lang="en-US" sz="1600" b="0" dirty="0"/>
              </a:p>
              <a:p>
                <a:pPr marL="114300" indent="0">
                  <a:buNone/>
                </a:pPr>
                <a:endParaRPr lang="en-US" sz="1600" b="0" dirty="0"/>
              </a:p>
              <a:p>
                <a:pPr marL="114300" indent="0">
                  <a:buNone/>
                </a:pPr>
                <a:endParaRPr lang="en-US" sz="1600" b="0" dirty="0"/>
              </a:p>
              <a:p>
                <a:pPr marL="114300" indent="0">
                  <a:buNone/>
                </a:pPr>
                <a:endParaRPr lang="en-US" sz="1600" b="0" dirty="0"/>
              </a:p>
            </p:txBody>
          </p:sp>
        </mc:Choice>
        <mc:Fallback xmlns="">
          <p:sp>
            <p:nvSpPr>
              <p:cNvPr id="3" name="Text Placeholder 2">
                <a:extLst>
                  <a:ext uri="{FF2B5EF4-FFF2-40B4-BE49-F238E27FC236}">
                    <a16:creationId xmlns:a16="http://schemas.microsoft.com/office/drawing/2014/main" id="{9DCA33E1-1FEF-E8C3-6FE8-7B28EF08F75F}"/>
                  </a:ext>
                </a:extLst>
              </p:cNvPr>
              <p:cNvSpPr>
                <a:spLocks noGrp="1" noRot="1" noChangeAspect="1" noMove="1" noResize="1" noEditPoints="1" noAdjustHandles="1" noChangeArrowheads="1" noChangeShapeType="1" noTextEdit="1"/>
              </p:cNvSpPr>
              <p:nvPr>
                <p:ph type="body" idx="1"/>
              </p:nvPr>
            </p:nvSpPr>
            <p:spPr>
              <a:xfrm>
                <a:off x="311700" y="1266325"/>
                <a:ext cx="8520600" cy="3750518"/>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04636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97535-D777-21B6-09BB-DE222137022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7576AF1-432D-08FF-4150-5E65B033FDBA}"/>
              </a:ext>
            </a:extLst>
          </p:cNvPr>
          <p:cNvSpPr>
            <a:spLocks noGrp="1"/>
          </p:cNvSpPr>
          <p:nvPr>
            <p:ph type="body" idx="1"/>
          </p:nvPr>
        </p:nvSpPr>
        <p:spPr/>
        <p:txBody>
          <a:bodyPr/>
          <a:lstStyle/>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dirty="0"/>
          </a:p>
        </p:txBody>
      </p:sp>
      <p:sp>
        <p:nvSpPr>
          <p:cNvPr id="17" name="Text Placeholder 2">
            <a:extLst>
              <a:ext uri="{FF2B5EF4-FFF2-40B4-BE49-F238E27FC236}">
                <a16:creationId xmlns:a16="http://schemas.microsoft.com/office/drawing/2014/main" id="{854E474A-66FC-BED6-6181-374C7783973D}"/>
              </a:ext>
            </a:extLst>
          </p:cNvPr>
          <p:cNvSpPr txBox="1">
            <a:spLocks/>
          </p:cNvSpPr>
          <p:nvPr/>
        </p:nvSpPr>
        <p:spPr>
          <a:xfrm>
            <a:off x="83579" y="180603"/>
            <a:ext cx="8777827" cy="481789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Font typeface="Open Sans"/>
              <a:buNone/>
            </a:pPr>
            <a:r>
              <a:rPr lang="en-US" sz="1600" dirty="0"/>
              <a:t>Backpropagation starts at the output and moves backward</a:t>
            </a:r>
          </a:p>
          <a:p>
            <a:pPr marL="114300" indent="0">
              <a:buFont typeface="Open Sans"/>
              <a:buNone/>
            </a:pPr>
            <a:endParaRPr lang="en-US" sz="1600" dirty="0"/>
          </a:p>
          <a:p>
            <a:pPr marL="114300" indent="0">
              <a:buFont typeface="Open Sans"/>
              <a:buNone/>
            </a:pPr>
            <a:r>
              <a:rPr lang="en-US" sz="1600" dirty="0"/>
              <a:t>We start by computing the error term for the output. Now, using the error term for the output, we can calculate gradients for the output weights and biases.</a:t>
            </a:r>
          </a:p>
          <a:p>
            <a:pPr marL="114300" indent="0">
              <a:buFont typeface="Open Sans"/>
              <a:buNone/>
            </a:pPr>
            <a:endParaRPr lang="en-US" sz="1600" dirty="0"/>
          </a:p>
          <a:p>
            <a:pPr marL="114300" indent="0">
              <a:buFont typeface="Open Sans"/>
              <a:buNone/>
            </a:pPr>
            <a:r>
              <a:rPr lang="en-US" sz="1600" dirty="0"/>
              <a:t>Now that we have the gradients for the output weights and biases, we can propagate this information backwards to calculate the gradients for the hidden layer weights and biases!</a:t>
            </a:r>
          </a:p>
          <a:p>
            <a:pPr marL="114300" indent="0">
              <a:buFont typeface="Open Sans"/>
              <a:buNone/>
            </a:pPr>
            <a:endParaRPr lang="en-US" sz="1600" dirty="0"/>
          </a:p>
          <a:p>
            <a:pPr marL="114300" indent="0">
              <a:buFont typeface="Open Sans"/>
              <a:buNone/>
            </a:pPr>
            <a:r>
              <a:rPr lang="en-US" sz="1600" dirty="0"/>
              <a:t>Ok, now we have the gradients for all weights and biases!</a:t>
            </a:r>
          </a:p>
          <a:p>
            <a:pPr marL="114300" indent="0">
              <a:buFont typeface="Open Sans"/>
              <a:buNone/>
            </a:pPr>
            <a:endParaRPr lang="en-US" sz="1600" dirty="0"/>
          </a:p>
          <a:p>
            <a:pPr marL="114300" indent="0">
              <a:buFont typeface="Open Sans"/>
              <a:buNone/>
            </a:pPr>
            <a:r>
              <a:rPr lang="en-US" sz="1600" dirty="0"/>
              <a:t>Now, we use gradient descent to update each parameter</a:t>
            </a:r>
          </a:p>
          <a:p>
            <a:pPr marL="114300" indent="0">
              <a:buFont typeface="Open Sans"/>
              <a:buNone/>
            </a:pPr>
            <a:endParaRPr lang="en-US" sz="1600" dirty="0"/>
          </a:p>
          <a:p>
            <a:pPr marL="114300" indent="0">
              <a:buFont typeface="Open Sans"/>
              <a:buNone/>
            </a:pPr>
            <a:r>
              <a:rPr lang="en-US" sz="1600" dirty="0"/>
              <a:t>After using gradient descent to update each parameter toward a local minimum of the cost function, we can restart our training loop.</a:t>
            </a:r>
          </a:p>
          <a:p>
            <a:pPr marL="114300" indent="0">
              <a:buFont typeface="Open Sans"/>
              <a:buNone/>
            </a:pPr>
            <a:endParaRPr lang="en-US" sz="1600" dirty="0"/>
          </a:p>
        </p:txBody>
      </p:sp>
    </p:spTree>
    <p:extLst>
      <p:ext uri="{BB962C8B-B14F-4D97-AF65-F5344CB8AC3E}">
        <p14:creationId xmlns:p14="http://schemas.microsoft.com/office/powerpoint/2010/main" val="3646930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DA7B-F888-6002-3FB1-09EEFC9C8E74}"/>
              </a:ext>
            </a:extLst>
          </p:cNvPr>
          <p:cNvSpPr>
            <a:spLocks noGrp="1"/>
          </p:cNvSpPr>
          <p:nvPr>
            <p:ph type="title"/>
          </p:nvPr>
        </p:nvSpPr>
        <p:spPr>
          <a:xfrm>
            <a:off x="311700" y="2218050"/>
            <a:ext cx="8520600" cy="707400"/>
          </a:xfrm>
        </p:spPr>
        <p:txBody>
          <a:bodyPr>
            <a:normAutofit fontScale="90000"/>
          </a:bodyPr>
          <a:lstStyle/>
          <a:p>
            <a:pPr algn="ctr"/>
            <a:r>
              <a:rPr lang="en-US" dirty="0"/>
              <a:t>Activation Functions</a:t>
            </a:r>
          </a:p>
        </p:txBody>
      </p:sp>
    </p:spTree>
    <p:extLst>
      <p:ext uri="{BB962C8B-B14F-4D97-AF65-F5344CB8AC3E}">
        <p14:creationId xmlns:p14="http://schemas.microsoft.com/office/powerpoint/2010/main" val="3744519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4BFF-1AA1-5D59-A84F-243D088A2787}"/>
              </a:ext>
            </a:extLst>
          </p:cNvPr>
          <p:cNvSpPr>
            <a:spLocks noGrp="1"/>
          </p:cNvSpPr>
          <p:nvPr>
            <p:ph type="title"/>
          </p:nvPr>
        </p:nvSpPr>
        <p:spPr/>
        <p:txBody>
          <a:bodyPr>
            <a:normAutofit fontScale="90000"/>
          </a:bodyPr>
          <a:lstStyle/>
          <a:p>
            <a:r>
              <a:rPr lang="en-US" dirty="0"/>
              <a:t>Recall: activation functions</a:t>
            </a:r>
          </a:p>
        </p:txBody>
      </p:sp>
      <p:sp>
        <p:nvSpPr>
          <p:cNvPr id="3" name="Text Placeholder 2">
            <a:extLst>
              <a:ext uri="{FF2B5EF4-FFF2-40B4-BE49-F238E27FC236}">
                <a16:creationId xmlns:a16="http://schemas.microsoft.com/office/drawing/2014/main" id="{C49C06D2-8E68-599E-D6C1-21EE0F31A036}"/>
              </a:ext>
            </a:extLst>
          </p:cNvPr>
          <p:cNvSpPr>
            <a:spLocks noGrp="1"/>
          </p:cNvSpPr>
          <p:nvPr>
            <p:ph type="body" idx="1"/>
          </p:nvPr>
        </p:nvSpPr>
        <p:spPr>
          <a:xfrm>
            <a:off x="311700" y="1266324"/>
            <a:ext cx="8520600" cy="3709329"/>
          </a:xfrm>
        </p:spPr>
        <p:txBody>
          <a:bodyPr>
            <a:normAutofit/>
          </a:bodyPr>
          <a:lstStyle/>
          <a:p>
            <a:pPr marL="114300" indent="0">
              <a:buNone/>
            </a:pPr>
            <a:r>
              <a:rPr lang="en-US" dirty="0"/>
              <a:t>Activation functions allow us to introduce non-linearity which enables the model to learn and represent complex data patterns </a:t>
            </a:r>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r>
              <a:rPr lang="en-US" dirty="0"/>
              <a:t>Activation functions enable curved decision boundaries!</a:t>
            </a:r>
          </a:p>
        </p:txBody>
      </p:sp>
      <p:pic>
        <p:nvPicPr>
          <p:cNvPr id="5" name="Picture 4">
            <a:extLst>
              <a:ext uri="{FF2B5EF4-FFF2-40B4-BE49-F238E27FC236}">
                <a16:creationId xmlns:a16="http://schemas.microsoft.com/office/drawing/2014/main" id="{D2ACC841-A780-9757-F216-3FC8A01CD4A1}"/>
              </a:ext>
            </a:extLst>
          </p:cNvPr>
          <p:cNvPicPr>
            <a:picLocks noChangeAspect="1"/>
          </p:cNvPicPr>
          <p:nvPr/>
        </p:nvPicPr>
        <p:blipFill>
          <a:blip r:embed="rId2"/>
          <a:srcRect r="47218"/>
          <a:stretch>
            <a:fillRect/>
          </a:stretch>
        </p:blipFill>
        <p:spPr>
          <a:xfrm>
            <a:off x="3089190" y="2158313"/>
            <a:ext cx="2189378" cy="2029416"/>
          </a:xfrm>
          <a:prstGeom prst="rect">
            <a:avLst/>
          </a:prstGeom>
        </p:spPr>
      </p:pic>
    </p:spTree>
    <p:extLst>
      <p:ext uri="{BB962C8B-B14F-4D97-AF65-F5344CB8AC3E}">
        <p14:creationId xmlns:p14="http://schemas.microsoft.com/office/powerpoint/2010/main" val="2703604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439575-3FE2-BE96-2A37-B7376A0284AD}"/>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DD172C2-F1A1-A1E5-53D6-7D9C45965B84}"/>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a:solidFill>
                  <a:srgbClr val="000000"/>
                </a:solidFill>
              </a:rPr>
              <a:t>The activation function A(x) = x applies a non-linear transformation to the hidden layers</a:t>
            </a:r>
          </a:p>
        </p:txBody>
      </p:sp>
      <p:sp>
        <p:nvSpPr>
          <p:cNvPr id="4" name="Rectangle 3">
            <a:extLst>
              <a:ext uri="{FF2B5EF4-FFF2-40B4-BE49-F238E27FC236}">
                <a16:creationId xmlns:a16="http://schemas.microsoft.com/office/drawing/2014/main" id="{5384167D-A651-FA07-6BDD-A512FED3513D}"/>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F20E6D9F-A176-7819-016F-D870852D4880}"/>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4BFEC7EC-B1BB-247A-C80D-E0A0FA2FED05}"/>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2FDF9B05-B93E-39F5-C3FB-6100538CE36E}"/>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3530454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77B844-6BA3-47FE-1B57-1AD25EA5AE74}"/>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742C8FB-2AA4-74F0-F5DC-A591EF2F8F82}"/>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Even with a complex architecture, a neural network with no activation function in hidden layers is the same as a neural network with no hidden layers.</a:t>
            </a:r>
          </a:p>
        </p:txBody>
      </p:sp>
      <p:sp>
        <p:nvSpPr>
          <p:cNvPr id="4" name="Rectangle 3">
            <a:extLst>
              <a:ext uri="{FF2B5EF4-FFF2-40B4-BE49-F238E27FC236}">
                <a16:creationId xmlns:a16="http://schemas.microsoft.com/office/drawing/2014/main" id="{A7E6FF04-6664-910B-07A5-005B1FA83932}"/>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8F24BC7B-86CB-1F62-14D1-396041523D6F}"/>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41E3B288-FBA7-1101-DA0B-6A8D4D85A589}"/>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C8218D59-132F-81A1-F7C3-C4A83CFD4E7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683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CD36-C363-1D79-D7DE-347D1EA20A7F}"/>
              </a:ext>
            </a:extLst>
          </p:cNvPr>
          <p:cNvSpPr>
            <a:spLocks noGrp="1"/>
          </p:cNvSpPr>
          <p:nvPr>
            <p:ph type="title"/>
          </p:nvPr>
        </p:nvSpPr>
        <p:spPr/>
        <p:txBody>
          <a:bodyPr>
            <a:normAutofit fontScale="90000"/>
          </a:bodyPr>
          <a:lstStyle/>
          <a:p>
            <a:r>
              <a:rPr lang="en-US" dirty="0"/>
              <a:t>Solution</a:t>
            </a:r>
          </a:p>
        </p:txBody>
      </p:sp>
      <p:sp>
        <p:nvSpPr>
          <p:cNvPr id="3" name="Text Placeholder 2">
            <a:extLst>
              <a:ext uri="{FF2B5EF4-FFF2-40B4-BE49-F238E27FC236}">
                <a16:creationId xmlns:a16="http://schemas.microsoft.com/office/drawing/2014/main" id="{D459637E-B79E-CB00-A53B-323BECAAE12F}"/>
              </a:ext>
            </a:extLst>
          </p:cNvPr>
          <p:cNvSpPr>
            <a:spLocks noGrp="1"/>
          </p:cNvSpPr>
          <p:nvPr>
            <p:ph type="body" idx="1"/>
          </p:nvPr>
        </p:nvSpPr>
        <p:spPr>
          <a:xfrm>
            <a:off x="311700" y="1266325"/>
            <a:ext cx="8520600" cy="3432150"/>
          </a:xfrm>
        </p:spPr>
        <p:txBody>
          <a:bodyPr/>
          <a:lstStyle/>
          <a:p>
            <a:pPr marL="114300" indent="0">
              <a:buNone/>
            </a:pPr>
            <a:r>
              <a:rPr lang="en-US" dirty="0"/>
              <a:t>Without an activation function, each hidden layer is just doing a linear transformation. A composition of linear transformations is just a linear transformation!</a:t>
            </a:r>
          </a:p>
        </p:txBody>
      </p:sp>
      <p:pic>
        <p:nvPicPr>
          <p:cNvPr id="4" name="Picture 3">
            <a:extLst>
              <a:ext uri="{FF2B5EF4-FFF2-40B4-BE49-F238E27FC236}">
                <a16:creationId xmlns:a16="http://schemas.microsoft.com/office/drawing/2014/main" id="{0E3465C0-37BA-1F1D-471F-59422639F322}"/>
              </a:ext>
            </a:extLst>
          </p:cNvPr>
          <p:cNvPicPr>
            <a:picLocks noChangeAspect="1"/>
          </p:cNvPicPr>
          <p:nvPr/>
        </p:nvPicPr>
        <p:blipFill>
          <a:blip r:embed="rId2"/>
          <a:stretch>
            <a:fillRect/>
          </a:stretch>
        </p:blipFill>
        <p:spPr>
          <a:xfrm>
            <a:off x="5172694" y="2288640"/>
            <a:ext cx="3732562" cy="2543185"/>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8F3A4B3-743A-8808-6002-6CCD52F1E7CE}"/>
                  </a:ext>
                </a:extLst>
              </p:cNvPr>
              <p:cNvSpPr txBox="1"/>
              <p:nvPr/>
            </p:nvSpPr>
            <p:spPr>
              <a:xfrm>
                <a:off x="6317079" y="2459455"/>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5" name="TextBox 4">
                <a:extLst>
                  <a:ext uri="{FF2B5EF4-FFF2-40B4-BE49-F238E27FC236}">
                    <a16:creationId xmlns:a16="http://schemas.microsoft.com/office/drawing/2014/main" id="{A8F3A4B3-743A-8808-6002-6CCD52F1E7CE}"/>
                  </a:ext>
                </a:extLst>
              </p:cNvPr>
              <p:cNvSpPr txBox="1">
                <a:spLocks noRot="1" noChangeAspect="1" noMove="1" noResize="1" noEditPoints="1" noAdjustHandles="1" noChangeArrowheads="1" noChangeShapeType="1" noTextEdit="1"/>
              </p:cNvSpPr>
              <p:nvPr/>
            </p:nvSpPr>
            <p:spPr>
              <a:xfrm>
                <a:off x="6317079" y="2459455"/>
                <a:ext cx="553453"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41B357B-6B40-3617-7022-32AF475594A8}"/>
                  </a:ext>
                </a:extLst>
              </p:cNvPr>
              <p:cNvSpPr txBox="1"/>
              <p:nvPr/>
            </p:nvSpPr>
            <p:spPr>
              <a:xfrm>
                <a:off x="6064739" y="2969116"/>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6" name="TextBox 5">
                <a:extLst>
                  <a:ext uri="{FF2B5EF4-FFF2-40B4-BE49-F238E27FC236}">
                    <a16:creationId xmlns:a16="http://schemas.microsoft.com/office/drawing/2014/main" id="{741B357B-6B40-3617-7022-32AF475594A8}"/>
                  </a:ext>
                </a:extLst>
              </p:cNvPr>
              <p:cNvSpPr txBox="1">
                <a:spLocks noRot="1" noChangeAspect="1" noMove="1" noResize="1" noEditPoints="1" noAdjustHandles="1" noChangeArrowheads="1" noChangeShapeType="1" noTextEdit="1"/>
              </p:cNvSpPr>
              <p:nvPr/>
            </p:nvSpPr>
            <p:spPr>
              <a:xfrm>
                <a:off x="6064739" y="2969116"/>
                <a:ext cx="553453"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680BE77-A8F1-6B70-485F-0605754526A3}"/>
                  </a:ext>
                </a:extLst>
              </p:cNvPr>
              <p:cNvSpPr txBox="1"/>
              <p:nvPr/>
            </p:nvSpPr>
            <p:spPr>
              <a:xfrm>
                <a:off x="5888185" y="3425911"/>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3</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7" name="TextBox 6">
                <a:extLst>
                  <a:ext uri="{FF2B5EF4-FFF2-40B4-BE49-F238E27FC236}">
                    <a16:creationId xmlns:a16="http://schemas.microsoft.com/office/drawing/2014/main" id="{5680BE77-A8F1-6B70-485F-0605754526A3}"/>
                  </a:ext>
                </a:extLst>
              </p:cNvPr>
              <p:cNvSpPr txBox="1">
                <a:spLocks noRot="1" noChangeAspect="1" noMove="1" noResize="1" noEditPoints="1" noAdjustHandles="1" noChangeArrowheads="1" noChangeShapeType="1" noTextEdit="1"/>
              </p:cNvSpPr>
              <p:nvPr/>
            </p:nvSpPr>
            <p:spPr>
              <a:xfrm>
                <a:off x="5888185" y="3425911"/>
                <a:ext cx="55345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A5561AF-D116-CC2E-1610-0FB468776F0F}"/>
                  </a:ext>
                </a:extLst>
              </p:cNvPr>
              <p:cNvSpPr txBox="1"/>
              <p:nvPr/>
            </p:nvSpPr>
            <p:spPr>
              <a:xfrm>
                <a:off x="6115420" y="385301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4</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8" name="TextBox 7">
                <a:extLst>
                  <a:ext uri="{FF2B5EF4-FFF2-40B4-BE49-F238E27FC236}">
                    <a16:creationId xmlns:a16="http://schemas.microsoft.com/office/drawing/2014/main" id="{1A5561AF-D116-CC2E-1610-0FB468776F0F}"/>
                  </a:ext>
                </a:extLst>
              </p:cNvPr>
              <p:cNvSpPr txBox="1">
                <a:spLocks noRot="1" noChangeAspect="1" noMove="1" noResize="1" noEditPoints="1" noAdjustHandles="1" noChangeArrowheads="1" noChangeShapeType="1" noTextEdit="1"/>
              </p:cNvSpPr>
              <p:nvPr/>
            </p:nvSpPr>
            <p:spPr>
              <a:xfrm>
                <a:off x="6115420" y="3853015"/>
                <a:ext cx="55345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6AF1881-E02F-FE62-DAC2-269DA3696A6A}"/>
                  </a:ext>
                </a:extLst>
              </p:cNvPr>
              <p:cNvSpPr txBox="1"/>
              <p:nvPr/>
            </p:nvSpPr>
            <p:spPr>
              <a:xfrm>
                <a:off x="7790815" y="2705100"/>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5</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9" name="TextBox 8">
                <a:extLst>
                  <a:ext uri="{FF2B5EF4-FFF2-40B4-BE49-F238E27FC236}">
                    <a16:creationId xmlns:a16="http://schemas.microsoft.com/office/drawing/2014/main" id="{F6AF1881-E02F-FE62-DAC2-269DA3696A6A}"/>
                  </a:ext>
                </a:extLst>
              </p:cNvPr>
              <p:cNvSpPr txBox="1">
                <a:spLocks noRot="1" noChangeAspect="1" noMove="1" noResize="1" noEditPoints="1" noAdjustHandles="1" noChangeArrowheads="1" noChangeShapeType="1" noTextEdit="1"/>
              </p:cNvSpPr>
              <p:nvPr/>
            </p:nvSpPr>
            <p:spPr>
              <a:xfrm>
                <a:off x="7790815" y="2705100"/>
                <a:ext cx="55345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6C6873D-CAE4-398D-C3E8-CD835F3CE4FB}"/>
                  </a:ext>
                </a:extLst>
              </p:cNvPr>
              <p:cNvSpPr txBox="1"/>
              <p:nvPr/>
            </p:nvSpPr>
            <p:spPr>
              <a:xfrm>
                <a:off x="7611599" y="3549848"/>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𝑤</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6</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0" name="TextBox 9">
                <a:extLst>
                  <a:ext uri="{FF2B5EF4-FFF2-40B4-BE49-F238E27FC236}">
                    <a16:creationId xmlns:a16="http://schemas.microsoft.com/office/drawing/2014/main" id="{96C6873D-CAE4-398D-C3E8-CD835F3CE4FB}"/>
                  </a:ext>
                </a:extLst>
              </p:cNvPr>
              <p:cNvSpPr txBox="1">
                <a:spLocks noRot="1" noChangeAspect="1" noMove="1" noResize="1" noEditPoints="1" noAdjustHandles="1" noChangeArrowheads="1" noChangeShapeType="1" noTextEdit="1"/>
              </p:cNvSpPr>
              <p:nvPr/>
            </p:nvSpPr>
            <p:spPr>
              <a:xfrm>
                <a:off x="7611599" y="3549848"/>
                <a:ext cx="553453" cy="52322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F17232E-4102-DEB2-64CB-01C4A9693FC0}"/>
              </a:ext>
            </a:extLst>
          </p:cNvPr>
          <p:cNvCxnSpPr>
            <a:cxnSpLocks/>
          </p:cNvCxnSpPr>
          <p:nvPr/>
        </p:nvCxnSpPr>
        <p:spPr>
          <a:xfrm flipV="1">
            <a:off x="6870532" y="4397688"/>
            <a:ext cx="201395" cy="200918"/>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4ECBBA9-4588-6C5F-9783-93168DDCCE0F}"/>
              </a:ext>
            </a:extLst>
          </p:cNvPr>
          <p:cNvCxnSpPr>
            <a:cxnSpLocks/>
          </p:cNvCxnSpPr>
          <p:nvPr/>
        </p:nvCxnSpPr>
        <p:spPr>
          <a:xfrm>
            <a:off x="6870532" y="2200735"/>
            <a:ext cx="308486" cy="275609"/>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DB53040-FB65-BAA9-8333-753BBEB05166}"/>
                  </a:ext>
                </a:extLst>
              </p:cNvPr>
              <p:cNvSpPr txBox="1"/>
              <p:nvPr/>
            </p:nvSpPr>
            <p:spPr>
              <a:xfrm>
                <a:off x="6854655" y="4440765"/>
                <a:ext cx="55345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1</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3" name="TextBox 12">
                <a:extLst>
                  <a:ext uri="{FF2B5EF4-FFF2-40B4-BE49-F238E27FC236}">
                    <a16:creationId xmlns:a16="http://schemas.microsoft.com/office/drawing/2014/main" id="{CDB53040-FB65-BAA9-8333-753BBEB05166}"/>
                  </a:ext>
                </a:extLst>
              </p:cNvPr>
              <p:cNvSpPr txBox="1">
                <a:spLocks noRot="1" noChangeAspect="1" noMove="1" noResize="1" noEditPoints="1" noAdjustHandles="1" noChangeArrowheads="1" noChangeShapeType="1" noTextEdit="1"/>
              </p:cNvSpPr>
              <p:nvPr/>
            </p:nvSpPr>
            <p:spPr>
              <a:xfrm>
                <a:off x="6854655" y="4440765"/>
                <a:ext cx="553453"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81CA2A0-B3B0-E8BB-232B-EA5613EC1451}"/>
                  </a:ext>
                </a:extLst>
              </p:cNvPr>
              <p:cNvSpPr txBox="1"/>
              <p:nvPr/>
            </p:nvSpPr>
            <p:spPr>
              <a:xfrm>
                <a:off x="6854656" y="2103682"/>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0</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4" name="TextBox 13">
                <a:extLst>
                  <a:ext uri="{FF2B5EF4-FFF2-40B4-BE49-F238E27FC236}">
                    <a16:creationId xmlns:a16="http://schemas.microsoft.com/office/drawing/2014/main" id="{281CA2A0-B3B0-E8BB-232B-EA5613EC1451}"/>
                  </a:ext>
                </a:extLst>
              </p:cNvPr>
              <p:cNvSpPr txBox="1">
                <a:spLocks noRot="1" noChangeAspect="1" noMove="1" noResize="1" noEditPoints="1" noAdjustHandles="1" noChangeArrowheads="1" noChangeShapeType="1" noTextEdit="1"/>
              </p:cNvSpPr>
              <p:nvPr/>
            </p:nvSpPr>
            <p:spPr>
              <a:xfrm>
                <a:off x="6854656" y="2103682"/>
                <a:ext cx="553453" cy="307777"/>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CDDBD64-C7FE-9BD2-4AE5-F83F4068EE40}"/>
              </a:ext>
            </a:extLst>
          </p:cNvPr>
          <p:cNvCxnSpPr>
            <a:cxnSpLocks/>
          </p:cNvCxnSpPr>
          <p:nvPr/>
        </p:nvCxnSpPr>
        <p:spPr>
          <a:xfrm flipH="1">
            <a:off x="8414262" y="3794258"/>
            <a:ext cx="68732" cy="320367"/>
          </a:xfrm>
          <a:prstGeom prst="line">
            <a:avLst/>
          </a:prstGeom>
          <a:ln w="28575">
            <a:solidFill>
              <a:srgbClr val="10101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4A2F622-A57A-4F39-F251-5CC0F2D58E76}"/>
                  </a:ext>
                </a:extLst>
              </p:cNvPr>
              <p:cNvSpPr txBox="1"/>
              <p:nvPr/>
            </p:nvSpPr>
            <p:spPr>
              <a:xfrm>
                <a:off x="8306918" y="3794258"/>
                <a:ext cx="55345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bPr>
                        <m:e>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𝑏</m:t>
                          </m:r>
                        </m:e>
                        <m:sub>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2</m:t>
                          </m:r>
                        </m:sub>
                      </m:sSub>
                    </m:oMath>
                  </m:oMathPara>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6" name="TextBox 15">
                <a:extLst>
                  <a:ext uri="{FF2B5EF4-FFF2-40B4-BE49-F238E27FC236}">
                    <a16:creationId xmlns:a16="http://schemas.microsoft.com/office/drawing/2014/main" id="{F4A2F622-A57A-4F39-F251-5CC0F2D58E76}"/>
                  </a:ext>
                </a:extLst>
              </p:cNvPr>
              <p:cNvSpPr txBox="1">
                <a:spLocks noRot="1" noChangeAspect="1" noMove="1" noResize="1" noEditPoints="1" noAdjustHandles="1" noChangeArrowheads="1" noChangeShapeType="1" noTextEdit="1"/>
              </p:cNvSpPr>
              <p:nvPr/>
            </p:nvSpPr>
            <p:spPr>
              <a:xfrm>
                <a:off x="8306918" y="3794258"/>
                <a:ext cx="553453" cy="30777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84972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6C900-93AC-7D03-1EAB-40F4CC32A134}"/>
              </a:ext>
            </a:extLst>
          </p:cNvPr>
          <p:cNvSpPr>
            <a:spLocks noGrp="1"/>
          </p:cNvSpPr>
          <p:nvPr>
            <p:ph type="title"/>
          </p:nvPr>
        </p:nvSpPr>
        <p:spPr/>
        <p:txBody>
          <a:bodyPr>
            <a:normAutofit fontScale="90000"/>
          </a:bodyPr>
          <a:lstStyle/>
          <a:p>
            <a:r>
              <a:rPr lang="en-US" dirty="0"/>
              <a:t>Solution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2A78E18-3B7C-5123-46AB-158CE5995052}"/>
                  </a:ext>
                </a:extLst>
              </p:cNvPr>
              <p:cNvSpPr>
                <a:spLocks noGrp="1"/>
              </p:cNvSpPr>
              <p:nvPr>
                <p:ph type="body" idx="1"/>
              </p:nvPr>
            </p:nvSpPr>
            <p:spPr>
              <a:xfrm>
                <a:off x="311700" y="1266324"/>
                <a:ext cx="8520600" cy="5305925"/>
              </a:xfrm>
            </p:spPr>
            <p:txBody>
              <a:bodyPr>
                <a:normAutofit/>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oMath>
                </a14:m>
                <a:r>
                  <a:rPr lang="en-US" dirty="0"/>
                  <a:t>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4</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oMath>
                </a14:m>
                <a:r>
                  <a:rPr lang="en-US" dirty="0"/>
                  <a:t> </a:t>
                </a:r>
              </a:p>
              <a:p>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5</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6</m:t>
                        </m:r>
                      </m:sub>
                    </m:sSub>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oMath>
                </a14:m>
                <a:endParaRPr lang="en-US" dirty="0"/>
              </a:p>
              <a:p>
                <a:pPr marL="596900" lvl="1" indent="0">
                  <a:buNone/>
                </a:pP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6</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4</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oMath>
                </a14:m>
                <a:r>
                  <a:rPr lang="en-US" dirty="0"/>
                  <a:t> </a:t>
                </a:r>
              </a:p>
              <a:p>
                <a:pPr marL="596900" lvl="1" indent="0">
                  <a:buNone/>
                </a:pP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r>
                  <a:rPr lang="en-US" dirty="0"/>
                  <a:t> </a:t>
                </a:r>
                <a:endParaRPr lang="en-US" b="0" dirty="0"/>
              </a:p>
              <a:p>
                <a:pPr marL="596900" lvl="1" indent="0">
                  <a:buNone/>
                </a:pPr>
                <a14:m>
                  <m:oMath xmlns:m="http://schemas.openxmlformats.org/officeDocument/2006/math">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3</m:t>
                        </m:r>
                      </m:sub>
                      <m:sup>
                        <m:r>
                          <a:rPr lang="en-US" b="0" i="1" smtClean="0">
                            <a:latin typeface="Cambria Math" panose="02040503050406030204" pitchFamily="18" charset="0"/>
                          </a:rPr>
                          <m:t>∗</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4</m:t>
                        </m:r>
                      </m:sub>
                      <m:sup>
                        <m:r>
                          <a:rPr lang="en-US" b="0" i="1" smtClean="0">
                            <a:latin typeface="Cambria Math" panose="02040503050406030204" pitchFamily="18" charset="0"/>
                          </a:rPr>
                          <m:t>∗</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r>
                  <a:rPr lang="en-US" b="0" dirty="0"/>
                  <a:t> </a:t>
                </a:r>
              </a:p>
              <a:p>
                <a:pPr marL="596900" lvl="1" indent="0">
                  <a:buNone/>
                </a:pP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3</m:t>
                            </m:r>
                          </m:sub>
                          <m:sup>
                            <m:r>
                              <a:rPr lang="en-US" b="0" i="1" smtClean="0">
                                <a:latin typeface="Cambria Math" panose="02040503050406030204" pitchFamily="18" charset="0"/>
                              </a:rPr>
                              <m:t>∗</m:t>
                            </m:r>
                          </m:sup>
                        </m:sSubSup>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4</m:t>
                            </m:r>
                          </m:sub>
                          <m:sup>
                            <m:r>
                              <a:rPr lang="en-US" b="0" i="1" smtClean="0">
                                <a:latin typeface="Cambria Math" panose="02040503050406030204" pitchFamily="18" charset="0"/>
                              </a:rPr>
                              <m:t>∗</m:t>
                            </m:r>
                          </m:sup>
                        </m:sSubSup>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r>
                  <a:rPr lang="en-US" b="0" dirty="0"/>
                  <a:t> </a:t>
                </a:r>
              </a:p>
              <a:p>
                <a:pPr marL="596900" lvl="1" indent="0">
                  <a:buNone/>
                </a:pP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e>
                      <m:sup>
                        <m:r>
                          <a:rPr lang="en-US" b="0" i="1" smtClean="0">
                            <a:latin typeface="Cambria Math" panose="02040503050406030204" pitchFamily="18" charset="0"/>
                          </a:rPr>
                          <m:t>𝑇</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r>
                  <a:rPr lang="en-US" b="0" dirty="0"/>
                  <a:t> </a:t>
                </a:r>
              </a:p>
              <a:p>
                <a:pPr marL="596900" lvl="1" indent="0">
                  <a:buNone/>
                </a:pP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oMath>
                </a14:m>
                <a:r>
                  <a:rPr lang="en-US" b="0" dirty="0"/>
                  <a:t> </a:t>
                </a:r>
              </a:p>
              <a:p>
                <a:pPr marL="596900" lvl="1" indent="0">
                  <a:buNone/>
                </a:pPr>
                <a:r>
                  <a:rPr lang="en-US" b="0" dirty="0"/>
                  <a:t>where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3</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4</m:t>
                            </m:r>
                          </m:sub>
                          <m:sup>
                            <m:r>
                              <a:rPr lang="en-US" b="0" i="1" smtClean="0">
                                <a:latin typeface="Cambria Math" panose="02040503050406030204" pitchFamily="18" charset="0"/>
                              </a:rPr>
                              <m:t>∗</m:t>
                            </m:r>
                          </m:sup>
                        </m:sSubSup>
                      </m:e>
                    </m:d>
                  </m:oMath>
                </a14:m>
                <a:r>
                  <a:rPr lang="en-US" b="0"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5</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6</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a14:m>
                <a:endParaRPr lang="en-US" b="0" dirty="0"/>
              </a:p>
              <a:p>
                <a:pPr marL="596900" lvl="1" indent="0">
                  <a:buNone/>
                </a:pPr>
                <a:endParaRPr lang="en-US" b="0" dirty="0"/>
              </a:p>
              <a:p>
                <a:pPr marL="596900" lvl="1" indent="0">
                  <a:buNone/>
                </a:pPr>
                <a:endParaRPr lang="en-US" b="0" dirty="0"/>
              </a:p>
              <a:p>
                <a:pPr marL="596900" lvl="1" indent="0">
                  <a:buNone/>
                </a:pPr>
                <a:endParaRPr lang="en-US" b="0" dirty="0"/>
              </a:p>
              <a:p>
                <a:pPr marL="596900" lvl="1" indent="0">
                  <a:buNone/>
                </a:pPr>
                <a:endParaRPr lang="en-US" b="0" dirty="0"/>
              </a:p>
              <a:p>
                <a:pPr marL="596900" lvl="1" indent="0">
                  <a:buNone/>
                </a:pPr>
                <a:endParaRPr lang="en-US" b="0" dirty="0"/>
              </a:p>
              <a:p>
                <a:pPr marL="596900" lvl="1" indent="0">
                  <a:buNone/>
                </a:pPr>
                <a:endParaRPr lang="en-US" b="0" dirty="0"/>
              </a:p>
              <a:p>
                <a:pPr marL="596900" lvl="1" indent="0">
                  <a:buNone/>
                </a:pPr>
                <a:r>
                  <a:rPr lang="en-US" dirty="0"/>
                  <a:t> </a:t>
                </a:r>
              </a:p>
              <a:p>
                <a:pPr marL="596900" lvl="1" indent="0">
                  <a:buNone/>
                </a:pPr>
                <a:endParaRPr lang="en-US" dirty="0"/>
              </a:p>
              <a:p>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p:txBody>
          </p:sp>
        </mc:Choice>
        <mc:Fallback>
          <p:sp>
            <p:nvSpPr>
              <p:cNvPr id="3" name="Text Placeholder 2">
                <a:extLst>
                  <a:ext uri="{FF2B5EF4-FFF2-40B4-BE49-F238E27FC236}">
                    <a16:creationId xmlns:a16="http://schemas.microsoft.com/office/drawing/2014/main" id="{92A78E18-3B7C-5123-46AB-158CE5995052}"/>
                  </a:ext>
                </a:extLst>
              </p:cNvPr>
              <p:cNvSpPr>
                <a:spLocks noGrp="1" noRot="1" noChangeAspect="1" noMove="1" noResize="1" noEditPoints="1" noAdjustHandles="1" noChangeArrowheads="1" noChangeShapeType="1" noTextEdit="1"/>
              </p:cNvSpPr>
              <p:nvPr>
                <p:ph type="body" idx="1"/>
              </p:nvPr>
            </p:nvSpPr>
            <p:spPr>
              <a:xfrm>
                <a:off x="311700" y="1266324"/>
                <a:ext cx="8520600" cy="5305925"/>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654069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88DA4-7664-525A-FE22-B8A13A0FEC54}"/>
              </a:ext>
            </a:extLst>
          </p:cNvPr>
          <p:cNvSpPr>
            <a:spLocks noGrp="1"/>
          </p:cNvSpPr>
          <p:nvPr>
            <p:ph type="title"/>
          </p:nvPr>
        </p:nvSpPr>
        <p:spPr/>
        <p:txBody>
          <a:bodyPr>
            <a:normAutofit fontScale="90000"/>
          </a:bodyPr>
          <a:lstStyle/>
          <a:p>
            <a:r>
              <a:rPr lang="en-US" dirty="0"/>
              <a:t>Choosing activation functions</a:t>
            </a:r>
          </a:p>
        </p:txBody>
      </p:sp>
      <p:sp>
        <p:nvSpPr>
          <p:cNvPr id="3" name="Text Placeholder 2">
            <a:extLst>
              <a:ext uri="{FF2B5EF4-FFF2-40B4-BE49-F238E27FC236}">
                <a16:creationId xmlns:a16="http://schemas.microsoft.com/office/drawing/2014/main" id="{AFEE8027-1AD9-47FB-1D77-1CEB7A1FCF19}"/>
              </a:ext>
            </a:extLst>
          </p:cNvPr>
          <p:cNvSpPr>
            <a:spLocks noGrp="1"/>
          </p:cNvSpPr>
          <p:nvPr>
            <p:ph type="body" idx="1"/>
          </p:nvPr>
        </p:nvSpPr>
        <p:spPr/>
        <p:txBody>
          <a:bodyPr/>
          <a:lstStyle/>
          <a:p>
            <a:pPr marL="114300" indent="0">
              <a:buNone/>
            </a:pPr>
            <a:r>
              <a:rPr lang="en-US" dirty="0"/>
              <a:t>How can our model learn increasingly complex non-linear relationships between inputs and predicted outputs?</a:t>
            </a:r>
          </a:p>
        </p:txBody>
      </p:sp>
    </p:spTree>
    <p:extLst>
      <p:ext uri="{BB962C8B-B14F-4D97-AF65-F5344CB8AC3E}">
        <p14:creationId xmlns:p14="http://schemas.microsoft.com/office/powerpoint/2010/main" val="3991152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1FE4-C0EA-37B9-5B73-139A20AEB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85854-7B10-224E-6B90-9B7E3BB51362}"/>
              </a:ext>
            </a:extLst>
          </p:cNvPr>
          <p:cNvSpPr>
            <a:spLocks noGrp="1"/>
          </p:cNvSpPr>
          <p:nvPr>
            <p:ph type="title"/>
          </p:nvPr>
        </p:nvSpPr>
        <p:spPr/>
        <p:txBody>
          <a:bodyPr>
            <a:normAutofit fontScale="90000"/>
          </a:bodyPr>
          <a:lstStyle/>
          <a:p>
            <a:r>
              <a:rPr lang="en-US" dirty="0"/>
              <a:t>Choosing activation functions</a:t>
            </a:r>
          </a:p>
        </p:txBody>
      </p:sp>
      <p:sp>
        <p:nvSpPr>
          <p:cNvPr id="3" name="Text Placeholder 2">
            <a:extLst>
              <a:ext uri="{FF2B5EF4-FFF2-40B4-BE49-F238E27FC236}">
                <a16:creationId xmlns:a16="http://schemas.microsoft.com/office/drawing/2014/main" id="{B65463D1-2048-5FB0-7A0B-F4B4A638B99A}"/>
              </a:ext>
            </a:extLst>
          </p:cNvPr>
          <p:cNvSpPr>
            <a:spLocks noGrp="1"/>
          </p:cNvSpPr>
          <p:nvPr>
            <p:ph type="body" idx="1"/>
          </p:nvPr>
        </p:nvSpPr>
        <p:spPr/>
        <p:txBody>
          <a:bodyPr/>
          <a:lstStyle/>
          <a:p>
            <a:pPr marL="114300" indent="0">
              <a:buNone/>
            </a:pPr>
            <a:r>
              <a:rPr lang="en-US" dirty="0"/>
              <a:t>How can our model learn increasingly complex non-linear relationships between inputs and predicted outputs?</a:t>
            </a:r>
          </a:p>
          <a:p>
            <a:pPr marL="114300" indent="0">
              <a:buNone/>
            </a:pPr>
            <a:endParaRPr lang="en-US" dirty="0"/>
          </a:p>
          <a:p>
            <a:pPr marL="114300" indent="0">
              <a:buNone/>
            </a:pPr>
            <a:r>
              <a:rPr lang="en-US" dirty="0"/>
              <a:t>The choice of activation function can affect</a:t>
            </a:r>
          </a:p>
        </p:txBody>
      </p:sp>
    </p:spTree>
    <p:extLst>
      <p:ext uri="{BB962C8B-B14F-4D97-AF65-F5344CB8AC3E}">
        <p14:creationId xmlns:p14="http://schemas.microsoft.com/office/powerpoint/2010/main" val="3393940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A90D-24F9-AAEB-A5F7-F6195F202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9A0FB-A10A-F5E5-A1AA-1C32B723FFA5}"/>
              </a:ext>
            </a:extLst>
          </p:cNvPr>
          <p:cNvSpPr>
            <a:spLocks noGrp="1"/>
          </p:cNvSpPr>
          <p:nvPr>
            <p:ph type="title"/>
          </p:nvPr>
        </p:nvSpPr>
        <p:spPr/>
        <p:txBody>
          <a:bodyPr>
            <a:normAutofit fontScale="90000"/>
          </a:bodyPr>
          <a:lstStyle/>
          <a:p>
            <a:r>
              <a:rPr lang="en-US" dirty="0"/>
              <a:t>Choosing activation functions</a:t>
            </a:r>
          </a:p>
        </p:txBody>
      </p:sp>
      <p:sp>
        <p:nvSpPr>
          <p:cNvPr id="3" name="Text Placeholder 2">
            <a:extLst>
              <a:ext uri="{FF2B5EF4-FFF2-40B4-BE49-F238E27FC236}">
                <a16:creationId xmlns:a16="http://schemas.microsoft.com/office/drawing/2014/main" id="{72541DE1-9258-097C-A971-271B7487AD6C}"/>
              </a:ext>
            </a:extLst>
          </p:cNvPr>
          <p:cNvSpPr>
            <a:spLocks noGrp="1"/>
          </p:cNvSpPr>
          <p:nvPr>
            <p:ph type="body" idx="1"/>
          </p:nvPr>
        </p:nvSpPr>
        <p:spPr/>
        <p:txBody>
          <a:bodyPr/>
          <a:lstStyle/>
          <a:p>
            <a:pPr marL="114300" indent="0">
              <a:buNone/>
            </a:pPr>
            <a:r>
              <a:rPr lang="en-US" dirty="0"/>
              <a:t>How can our model learn increasingly complex non-linear relationships between inputs and predicted outputs?</a:t>
            </a:r>
          </a:p>
          <a:p>
            <a:pPr marL="114300" indent="0">
              <a:buNone/>
            </a:pPr>
            <a:endParaRPr lang="en-US" dirty="0"/>
          </a:p>
          <a:p>
            <a:pPr marL="114300" indent="0">
              <a:buNone/>
            </a:pPr>
            <a:r>
              <a:rPr lang="en-US" dirty="0"/>
              <a:t>The choice of activation function can affect</a:t>
            </a:r>
          </a:p>
          <a:p>
            <a:pPr>
              <a:buFont typeface="+mj-lt"/>
              <a:buAutoNum type="arabicPeriod"/>
            </a:pPr>
            <a:r>
              <a:rPr lang="en-US" dirty="0"/>
              <a:t>Convergence speed</a:t>
            </a:r>
          </a:p>
        </p:txBody>
      </p:sp>
    </p:spTree>
    <p:extLst>
      <p:ext uri="{BB962C8B-B14F-4D97-AF65-F5344CB8AC3E}">
        <p14:creationId xmlns:p14="http://schemas.microsoft.com/office/powerpoint/2010/main" val="26425647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6592-49E8-BC48-E626-773CB0969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43A90-5CC7-8051-9664-6EC31E8DBD73}"/>
              </a:ext>
            </a:extLst>
          </p:cNvPr>
          <p:cNvSpPr>
            <a:spLocks noGrp="1"/>
          </p:cNvSpPr>
          <p:nvPr>
            <p:ph type="title"/>
          </p:nvPr>
        </p:nvSpPr>
        <p:spPr/>
        <p:txBody>
          <a:bodyPr>
            <a:normAutofit fontScale="90000"/>
          </a:bodyPr>
          <a:lstStyle/>
          <a:p>
            <a:r>
              <a:rPr lang="en-US" dirty="0"/>
              <a:t>Choosing activation functions</a:t>
            </a:r>
          </a:p>
        </p:txBody>
      </p:sp>
      <p:sp>
        <p:nvSpPr>
          <p:cNvPr id="3" name="Text Placeholder 2">
            <a:extLst>
              <a:ext uri="{FF2B5EF4-FFF2-40B4-BE49-F238E27FC236}">
                <a16:creationId xmlns:a16="http://schemas.microsoft.com/office/drawing/2014/main" id="{4FB352A4-61D6-A72B-BEF0-FC24CED97F65}"/>
              </a:ext>
            </a:extLst>
          </p:cNvPr>
          <p:cNvSpPr>
            <a:spLocks noGrp="1"/>
          </p:cNvSpPr>
          <p:nvPr>
            <p:ph type="body" idx="1"/>
          </p:nvPr>
        </p:nvSpPr>
        <p:spPr/>
        <p:txBody>
          <a:bodyPr/>
          <a:lstStyle/>
          <a:p>
            <a:pPr marL="114300" indent="0">
              <a:buNone/>
            </a:pPr>
            <a:r>
              <a:rPr lang="en-US" dirty="0"/>
              <a:t>How can our model learn increasingly complex non-linear relationships between inputs and predicted outputs?</a:t>
            </a:r>
          </a:p>
          <a:p>
            <a:pPr marL="114300" indent="0">
              <a:buNone/>
            </a:pPr>
            <a:endParaRPr lang="en-US" dirty="0"/>
          </a:p>
          <a:p>
            <a:pPr marL="114300" indent="0">
              <a:buNone/>
            </a:pPr>
            <a:r>
              <a:rPr lang="en-US" dirty="0"/>
              <a:t>The choice of activation function can affect</a:t>
            </a:r>
          </a:p>
          <a:p>
            <a:pPr>
              <a:buFont typeface="+mj-lt"/>
              <a:buAutoNum type="arabicPeriod"/>
            </a:pPr>
            <a:r>
              <a:rPr lang="en-US" dirty="0"/>
              <a:t>Convergence speed</a:t>
            </a:r>
          </a:p>
          <a:p>
            <a:pPr>
              <a:buFont typeface="+mj-lt"/>
              <a:buAutoNum type="arabicPeriod"/>
            </a:pPr>
            <a:r>
              <a:rPr lang="en-US" dirty="0"/>
              <a:t>Gradient flow</a:t>
            </a:r>
          </a:p>
        </p:txBody>
      </p:sp>
    </p:spTree>
    <p:extLst>
      <p:ext uri="{BB962C8B-B14F-4D97-AF65-F5344CB8AC3E}">
        <p14:creationId xmlns:p14="http://schemas.microsoft.com/office/powerpoint/2010/main" val="11170122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01AE8-A87A-669E-3CAB-47B6621A5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181FE-0153-C75E-C46E-364E63D3C2DD}"/>
              </a:ext>
            </a:extLst>
          </p:cNvPr>
          <p:cNvSpPr>
            <a:spLocks noGrp="1"/>
          </p:cNvSpPr>
          <p:nvPr>
            <p:ph type="title"/>
          </p:nvPr>
        </p:nvSpPr>
        <p:spPr/>
        <p:txBody>
          <a:bodyPr>
            <a:normAutofit fontScale="90000"/>
          </a:bodyPr>
          <a:lstStyle/>
          <a:p>
            <a:r>
              <a:rPr lang="en-US" dirty="0"/>
              <a:t>Choosing activation functions</a:t>
            </a:r>
          </a:p>
        </p:txBody>
      </p:sp>
      <p:sp>
        <p:nvSpPr>
          <p:cNvPr id="3" name="Text Placeholder 2">
            <a:extLst>
              <a:ext uri="{FF2B5EF4-FFF2-40B4-BE49-F238E27FC236}">
                <a16:creationId xmlns:a16="http://schemas.microsoft.com/office/drawing/2014/main" id="{BD001958-A307-EEA2-BB91-57FBC52CA819}"/>
              </a:ext>
            </a:extLst>
          </p:cNvPr>
          <p:cNvSpPr>
            <a:spLocks noGrp="1"/>
          </p:cNvSpPr>
          <p:nvPr>
            <p:ph type="body" idx="1"/>
          </p:nvPr>
        </p:nvSpPr>
        <p:spPr/>
        <p:txBody>
          <a:bodyPr/>
          <a:lstStyle/>
          <a:p>
            <a:pPr marL="114300" indent="0">
              <a:buNone/>
            </a:pPr>
            <a:r>
              <a:rPr lang="en-US" dirty="0"/>
              <a:t>How can our model learn increasingly complex non-linear relationships between inputs and predicted outputs?</a:t>
            </a:r>
          </a:p>
          <a:p>
            <a:pPr marL="114300" indent="0">
              <a:buNone/>
            </a:pPr>
            <a:endParaRPr lang="en-US" dirty="0"/>
          </a:p>
          <a:p>
            <a:pPr marL="114300" indent="0">
              <a:buNone/>
            </a:pPr>
            <a:r>
              <a:rPr lang="en-US" dirty="0"/>
              <a:t>The choice of activation function can affect</a:t>
            </a:r>
          </a:p>
          <a:p>
            <a:pPr>
              <a:buFont typeface="+mj-lt"/>
              <a:buAutoNum type="arabicPeriod"/>
            </a:pPr>
            <a:r>
              <a:rPr lang="en-US" dirty="0"/>
              <a:t>Convergence speed</a:t>
            </a:r>
          </a:p>
          <a:p>
            <a:pPr>
              <a:buFont typeface="+mj-lt"/>
              <a:buAutoNum type="arabicPeriod"/>
            </a:pPr>
            <a:r>
              <a:rPr lang="en-US" dirty="0"/>
              <a:t>Gradient flow</a:t>
            </a:r>
          </a:p>
          <a:p>
            <a:pPr>
              <a:buFont typeface="+mj-lt"/>
              <a:buAutoNum type="arabicPeriod"/>
            </a:pPr>
            <a:r>
              <a:rPr lang="en-US" dirty="0"/>
              <a:t>Model complexity</a:t>
            </a:r>
          </a:p>
        </p:txBody>
      </p:sp>
    </p:spTree>
    <p:extLst>
      <p:ext uri="{BB962C8B-B14F-4D97-AF65-F5344CB8AC3E}">
        <p14:creationId xmlns:p14="http://schemas.microsoft.com/office/powerpoint/2010/main" val="27470437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393C-AC3F-B036-39C3-AD2D766D0ED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5E25098-8668-E3C7-E511-5AB3C9E02EF9}"/>
                  </a:ext>
                </a:extLst>
              </p:cNvPr>
              <p:cNvSpPr>
                <a:spLocks noGrp="1"/>
              </p:cNvSpPr>
              <p:nvPr>
                <p:ph type="title"/>
              </p:nvPr>
            </p:nvSpPr>
            <p:spPr/>
            <p:txBody>
              <a:bodyPr>
                <a:normAutofit fontScale="90000"/>
              </a:bodyPr>
              <a:lstStyle/>
              <a:p>
                <a:r>
                  <a:rPr lang="en-US" dirty="0"/>
                  <a:t>Nonlinear function – Sigmoid </a:t>
                </a:r>
                <a14:m>
                  <m:oMath xmlns:m="http://schemas.openxmlformats.org/officeDocument/2006/math">
                    <m:r>
                      <a:rPr lang="en-US" b="1" i="1" smtClean="0">
                        <a:latin typeface="Cambria Math" panose="02040503050406030204" pitchFamily="18" charset="0"/>
                      </a:rPr>
                      <m:t>𝝈</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br>
                  <a:rPr lang="en-US" b="1" dirty="0"/>
                </a:br>
                <a:endParaRPr lang="en-US" dirty="0"/>
              </a:p>
            </p:txBody>
          </p:sp>
        </mc:Choice>
        <mc:Fallback xmlns="">
          <p:sp>
            <p:nvSpPr>
              <p:cNvPr id="2" name="Title 1">
                <a:extLst>
                  <a:ext uri="{FF2B5EF4-FFF2-40B4-BE49-F238E27FC236}">
                    <a16:creationId xmlns:a16="http://schemas.microsoft.com/office/drawing/2014/main" id="{25E25098-8668-E3C7-E511-5AB3C9E02EF9}"/>
                  </a:ext>
                </a:extLst>
              </p:cNvPr>
              <p:cNvSpPr>
                <a:spLocks noGrp="1" noRot="1" noChangeAspect="1" noMove="1" noResize="1" noEditPoints="1" noAdjustHandles="1" noChangeArrowheads="1" noChangeShapeType="1" noTextEdit="1"/>
              </p:cNvSpPr>
              <p:nvPr>
                <p:ph type="title"/>
              </p:nvPr>
            </p:nvSpPr>
            <p:spPr>
              <a:blipFill>
                <a:blip r:embed="rId2"/>
                <a:stretch>
                  <a:fillRect l="-1786" t="-5357" b="-16071"/>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94F10570-01EF-8BAE-0558-F89DE54E2FD1}"/>
              </a:ext>
            </a:extLst>
          </p:cNvPr>
          <p:cNvSpPr>
            <a:spLocks noGrp="1"/>
          </p:cNvSpPr>
          <p:nvPr>
            <p:ph type="body" idx="1"/>
          </p:nvPr>
        </p:nvSpPr>
        <p:spPr>
          <a:xfrm>
            <a:off x="311700" y="1266324"/>
            <a:ext cx="8520600" cy="3717567"/>
          </a:xfrm>
        </p:spPr>
        <p:txBody>
          <a:bodyPr>
            <a:normAutofit/>
          </a:bodyPr>
          <a:lstStyle/>
          <a:p>
            <a:r>
              <a:rPr lang="en-US" dirty="0"/>
              <a:t>Outputs range between 0 and 1 </a:t>
            </a:r>
            <a:r>
              <a:rPr lang="en-US" dirty="0">
                <a:sym typeface="Wingdings" pitchFamily="2" charset="2"/>
              </a:rPr>
              <a:t> typically used for binary classification tasks (e.g., pass/fail, happy/sad, etc.)</a:t>
            </a: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p:txBody>
      </p:sp>
    </p:spTree>
    <p:extLst>
      <p:ext uri="{BB962C8B-B14F-4D97-AF65-F5344CB8AC3E}">
        <p14:creationId xmlns:p14="http://schemas.microsoft.com/office/powerpoint/2010/main" val="271113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A371-E0CC-39A1-3866-A462C2949B6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36EF1E1-3429-E8D8-3D28-2FA74A4FEE2B}"/>
                  </a:ext>
                </a:extLst>
              </p:cNvPr>
              <p:cNvSpPr>
                <a:spLocks noGrp="1"/>
              </p:cNvSpPr>
              <p:nvPr>
                <p:ph type="title"/>
              </p:nvPr>
            </p:nvSpPr>
            <p:spPr/>
            <p:txBody>
              <a:bodyPr>
                <a:normAutofit fontScale="90000"/>
              </a:bodyPr>
              <a:lstStyle/>
              <a:p>
                <a:r>
                  <a:rPr lang="en-US" dirty="0"/>
                  <a:t>Nonlinear function – Sigmoid </a:t>
                </a:r>
                <a14:m>
                  <m:oMath xmlns:m="http://schemas.openxmlformats.org/officeDocument/2006/math">
                    <m:r>
                      <a:rPr lang="en-US" b="1" i="1" smtClean="0">
                        <a:latin typeface="Cambria Math" panose="02040503050406030204" pitchFamily="18" charset="0"/>
                      </a:rPr>
                      <m:t>𝝈</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br>
                  <a:rPr lang="en-US" b="1" dirty="0"/>
                </a:br>
                <a:endParaRPr lang="en-US" dirty="0"/>
              </a:p>
            </p:txBody>
          </p:sp>
        </mc:Choice>
        <mc:Fallback xmlns="">
          <p:sp>
            <p:nvSpPr>
              <p:cNvPr id="2" name="Title 1">
                <a:extLst>
                  <a:ext uri="{FF2B5EF4-FFF2-40B4-BE49-F238E27FC236}">
                    <a16:creationId xmlns:a16="http://schemas.microsoft.com/office/drawing/2014/main" id="{536EF1E1-3429-E8D8-3D28-2FA74A4FEE2B}"/>
                  </a:ext>
                </a:extLst>
              </p:cNvPr>
              <p:cNvSpPr>
                <a:spLocks noGrp="1" noRot="1" noChangeAspect="1" noMove="1" noResize="1" noEditPoints="1" noAdjustHandles="1" noChangeArrowheads="1" noChangeShapeType="1" noTextEdit="1"/>
              </p:cNvSpPr>
              <p:nvPr>
                <p:ph type="title"/>
              </p:nvPr>
            </p:nvSpPr>
            <p:spPr>
              <a:blipFill>
                <a:blip r:embed="rId2"/>
                <a:stretch>
                  <a:fillRect l="-1786" t="-5357" b="-16071"/>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A01B2F79-3639-8ED8-9B00-85C0A16C4073}"/>
              </a:ext>
            </a:extLst>
          </p:cNvPr>
          <p:cNvSpPr>
            <a:spLocks noGrp="1"/>
          </p:cNvSpPr>
          <p:nvPr>
            <p:ph type="body" idx="1"/>
          </p:nvPr>
        </p:nvSpPr>
        <p:spPr>
          <a:xfrm>
            <a:off x="311700" y="1266324"/>
            <a:ext cx="8520600" cy="3717567"/>
          </a:xfrm>
        </p:spPr>
        <p:txBody>
          <a:bodyPr>
            <a:normAutofit/>
          </a:bodyPr>
          <a:lstStyle/>
          <a:p>
            <a:r>
              <a:rPr lang="en-US" dirty="0"/>
              <a:t>Outputs range between 0 and 1 </a:t>
            </a:r>
            <a:r>
              <a:rPr lang="en-US" dirty="0">
                <a:sym typeface="Wingdings" pitchFamily="2" charset="2"/>
              </a:rPr>
              <a:t> typically used for binary classification tasks (e.g., pass/fail, happy/sad, etc.)</a:t>
            </a: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p:txBody>
      </p:sp>
      <p:pic>
        <p:nvPicPr>
          <p:cNvPr id="5" name="Picture 4">
            <a:extLst>
              <a:ext uri="{FF2B5EF4-FFF2-40B4-BE49-F238E27FC236}">
                <a16:creationId xmlns:a16="http://schemas.microsoft.com/office/drawing/2014/main" id="{568C9F26-DB46-D74C-62EA-B5DB3EFD755B}"/>
              </a:ext>
            </a:extLst>
          </p:cNvPr>
          <p:cNvPicPr>
            <a:picLocks noChangeAspect="1"/>
          </p:cNvPicPr>
          <p:nvPr/>
        </p:nvPicPr>
        <p:blipFill>
          <a:blip r:embed="rId3"/>
          <a:stretch>
            <a:fillRect/>
          </a:stretch>
        </p:blipFill>
        <p:spPr>
          <a:xfrm>
            <a:off x="2628557" y="1997742"/>
            <a:ext cx="3236783" cy="2094834"/>
          </a:xfrm>
          <a:prstGeom prst="rect">
            <a:avLst/>
          </a:prstGeom>
        </p:spPr>
      </p:pic>
    </p:spTree>
    <p:extLst>
      <p:ext uri="{BB962C8B-B14F-4D97-AF65-F5344CB8AC3E}">
        <p14:creationId xmlns:p14="http://schemas.microsoft.com/office/powerpoint/2010/main" val="26553253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C3EB5-9A33-8024-6219-E75A4A172E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E20BE5F-0A80-79A8-5E49-573906F6F7F6}"/>
                  </a:ext>
                </a:extLst>
              </p:cNvPr>
              <p:cNvSpPr>
                <a:spLocks noGrp="1"/>
              </p:cNvSpPr>
              <p:nvPr>
                <p:ph type="title"/>
              </p:nvPr>
            </p:nvSpPr>
            <p:spPr/>
            <p:txBody>
              <a:bodyPr>
                <a:normAutofit fontScale="90000"/>
              </a:bodyPr>
              <a:lstStyle/>
              <a:p>
                <a:r>
                  <a:rPr lang="en-US" dirty="0"/>
                  <a:t>Nonlinear function – Sigmoid </a:t>
                </a:r>
                <a14:m>
                  <m:oMath xmlns:m="http://schemas.openxmlformats.org/officeDocument/2006/math">
                    <m:r>
                      <a:rPr lang="en-US" b="1" i="1" smtClean="0">
                        <a:latin typeface="Cambria Math" panose="02040503050406030204" pitchFamily="18" charset="0"/>
                      </a:rPr>
                      <m:t>𝝈</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br>
                  <a:rPr lang="en-US" b="1" dirty="0"/>
                </a:br>
                <a:endParaRPr lang="en-US" dirty="0"/>
              </a:p>
            </p:txBody>
          </p:sp>
        </mc:Choice>
        <mc:Fallback xmlns="">
          <p:sp>
            <p:nvSpPr>
              <p:cNvPr id="2" name="Title 1">
                <a:extLst>
                  <a:ext uri="{FF2B5EF4-FFF2-40B4-BE49-F238E27FC236}">
                    <a16:creationId xmlns:a16="http://schemas.microsoft.com/office/drawing/2014/main" id="{4E20BE5F-0A80-79A8-5E49-573906F6F7F6}"/>
                  </a:ext>
                </a:extLst>
              </p:cNvPr>
              <p:cNvSpPr>
                <a:spLocks noGrp="1" noRot="1" noChangeAspect="1" noMove="1" noResize="1" noEditPoints="1" noAdjustHandles="1" noChangeArrowheads="1" noChangeShapeType="1" noTextEdit="1"/>
              </p:cNvSpPr>
              <p:nvPr>
                <p:ph type="title"/>
              </p:nvPr>
            </p:nvSpPr>
            <p:spPr>
              <a:blipFill>
                <a:blip r:embed="rId2"/>
                <a:stretch>
                  <a:fillRect l="-1786" t="-5357" b="-160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83859A8E-3F07-02BC-FDB6-36F197DF62FC}"/>
                  </a:ext>
                </a:extLst>
              </p:cNvPr>
              <p:cNvSpPr>
                <a:spLocks noGrp="1"/>
              </p:cNvSpPr>
              <p:nvPr>
                <p:ph type="body" idx="1"/>
              </p:nvPr>
            </p:nvSpPr>
            <p:spPr>
              <a:xfrm>
                <a:off x="311700" y="1266324"/>
                <a:ext cx="8520600" cy="3877176"/>
              </a:xfrm>
            </p:spPr>
            <p:txBody>
              <a:bodyPr>
                <a:normAutofit lnSpcReduction="10000"/>
              </a:bodyPr>
              <a:lstStyle/>
              <a:p>
                <a:r>
                  <a:rPr lang="en-US" dirty="0"/>
                  <a:t>Outputs range between 0 and 1 </a:t>
                </a:r>
                <a:r>
                  <a:rPr lang="en-US" dirty="0">
                    <a:sym typeface="Wingdings" pitchFamily="2" charset="2"/>
                  </a:rPr>
                  <a:t> typically used for binary classification tasks (e.g., pass/fail, happy/sad, etc.)</a:t>
                </a: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r>
                  <a:rPr lang="en-US" dirty="0">
                    <a:sym typeface="Wingdings" pitchFamily="2" charset="2"/>
                  </a:rPr>
                  <a:t>When inputs are in the range </a:t>
                </a:r>
                <a14:m>
                  <m:oMath xmlns:m="http://schemas.openxmlformats.org/officeDocument/2006/math">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−2,2</m:t>
                        </m:r>
                      </m:e>
                    </m:d>
                  </m:oMath>
                </a14:m>
                <a:r>
                  <a:rPr lang="en-US" b="0" dirty="0">
                    <a:sym typeface="Wingdings" pitchFamily="2" charset="2"/>
                  </a:rPr>
                  <a:t>, we have a particularly steep gradient  small changes in input can cause significant output changes</a:t>
                </a:r>
              </a:p>
              <a:p>
                <a:endParaRPr lang="en-US" dirty="0">
                  <a:sym typeface="Wingdings" pitchFamily="2" charset="2"/>
                </a:endParaRPr>
              </a:p>
            </p:txBody>
          </p:sp>
        </mc:Choice>
        <mc:Fallback>
          <p:sp>
            <p:nvSpPr>
              <p:cNvPr id="3" name="Text Placeholder 2">
                <a:extLst>
                  <a:ext uri="{FF2B5EF4-FFF2-40B4-BE49-F238E27FC236}">
                    <a16:creationId xmlns:a16="http://schemas.microsoft.com/office/drawing/2014/main" id="{83859A8E-3F07-02BC-FDB6-36F197DF62FC}"/>
                  </a:ext>
                </a:extLst>
              </p:cNvPr>
              <p:cNvSpPr>
                <a:spLocks noGrp="1" noRot="1" noChangeAspect="1" noMove="1" noResize="1" noEditPoints="1" noAdjustHandles="1" noChangeArrowheads="1" noChangeShapeType="1" noTextEdit="1"/>
              </p:cNvSpPr>
              <p:nvPr>
                <p:ph type="body" idx="1"/>
              </p:nvPr>
            </p:nvSpPr>
            <p:spPr>
              <a:xfrm>
                <a:off x="311700" y="1266324"/>
                <a:ext cx="8520600" cy="3877176"/>
              </a:xfrm>
              <a:blipFill>
                <a:blip r:embed="rId3"/>
                <a:stretch>
                  <a:fillRect r="-74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4D915D3-90DF-2804-B872-9BF68AB8B202}"/>
              </a:ext>
            </a:extLst>
          </p:cNvPr>
          <p:cNvPicPr>
            <a:picLocks noChangeAspect="1"/>
          </p:cNvPicPr>
          <p:nvPr/>
        </p:nvPicPr>
        <p:blipFill>
          <a:blip r:embed="rId4"/>
          <a:stretch>
            <a:fillRect/>
          </a:stretch>
        </p:blipFill>
        <p:spPr>
          <a:xfrm>
            <a:off x="2628557" y="1997742"/>
            <a:ext cx="3236783" cy="2094834"/>
          </a:xfrm>
          <a:prstGeom prst="rect">
            <a:avLst/>
          </a:prstGeom>
        </p:spPr>
      </p:pic>
    </p:spTree>
    <p:extLst>
      <p:ext uri="{BB962C8B-B14F-4D97-AF65-F5344CB8AC3E}">
        <p14:creationId xmlns:p14="http://schemas.microsoft.com/office/powerpoint/2010/main" val="23050483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4BFD1-521A-1762-CB1B-1A1AD3BC6BF0}"/>
              </a:ext>
            </a:extLst>
          </p:cNvPr>
          <p:cNvSpPr>
            <a:spLocks noGrp="1"/>
          </p:cNvSpPr>
          <p:nvPr>
            <p:ph type="title"/>
          </p:nvPr>
        </p:nvSpPr>
        <p:spPr/>
        <p:txBody>
          <a:bodyPr>
            <a:normAutofit fontScale="90000"/>
          </a:bodyPr>
          <a:lstStyle/>
          <a:p>
            <a:r>
              <a:rPr lang="en-US" dirty="0"/>
              <a:t>Pros and cons of sigmoid </a:t>
            </a:r>
          </a:p>
        </p:txBody>
      </p:sp>
      <p:sp>
        <p:nvSpPr>
          <p:cNvPr id="3" name="Text Placeholder 2">
            <a:extLst>
              <a:ext uri="{FF2B5EF4-FFF2-40B4-BE49-F238E27FC236}">
                <a16:creationId xmlns:a16="http://schemas.microsoft.com/office/drawing/2014/main" id="{123CF0CE-65D9-5D2A-8ED5-42A3B023A5D6}"/>
              </a:ext>
            </a:extLst>
          </p:cNvPr>
          <p:cNvSpPr>
            <a:spLocks noGrp="1"/>
          </p:cNvSpPr>
          <p:nvPr>
            <p:ph type="body" idx="1"/>
          </p:nvPr>
        </p:nvSpPr>
        <p:spPr/>
        <p:txBody>
          <a:bodyPr/>
          <a:lstStyle/>
          <a:p>
            <a:r>
              <a:rPr lang="en-US" dirty="0"/>
              <a:t>If we have a deep network, then during backpropagation, the earlier layers may stop learning (vanishing gradient) </a:t>
            </a:r>
            <a:r>
              <a:rPr lang="en-US" dirty="0">
                <a:sym typeface="Wingdings" pitchFamily="2" charset="2"/>
              </a:rPr>
              <a:t> </a:t>
            </a:r>
          </a:p>
        </p:txBody>
      </p:sp>
    </p:spTree>
    <p:extLst>
      <p:ext uri="{BB962C8B-B14F-4D97-AF65-F5344CB8AC3E}">
        <p14:creationId xmlns:p14="http://schemas.microsoft.com/office/powerpoint/2010/main" val="1230751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85DB6-D2DC-B183-9178-17C97C3AF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335CC-0133-DEB1-95FA-F9317161FE0E}"/>
              </a:ext>
            </a:extLst>
          </p:cNvPr>
          <p:cNvSpPr>
            <a:spLocks noGrp="1"/>
          </p:cNvSpPr>
          <p:nvPr>
            <p:ph type="title"/>
          </p:nvPr>
        </p:nvSpPr>
        <p:spPr/>
        <p:txBody>
          <a:bodyPr>
            <a:normAutofit fontScale="90000"/>
          </a:bodyPr>
          <a:lstStyle/>
          <a:p>
            <a:r>
              <a:rPr lang="en-US" dirty="0"/>
              <a:t>Pros and cons of sigmoid </a:t>
            </a:r>
          </a:p>
        </p:txBody>
      </p:sp>
      <p:sp>
        <p:nvSpPr>
          <p:cNvPr id="3" name="Text Placeholder 2">
            <a:extLst>
              <a:ext uri="{FF2B5EF4-FFF2-40B4-BE49-F238E27FC236}">
                <a16:creationId xmlns:a16="http://schemas.microsoft.com/office/drawing/2014/main" id="{FF16C4A4-D1C8-4A1A-1645-B1A597E66A69}"/>
              </a:ext>
            </a:extLst>
          </p:cNvPr>
          <p:cNvSpPr>
            <a:spLocks noGrp="1"/>
          </p:cNvSpPr>
          <p:nvPr>
            <p:ph type="body" idx="1"/>
          </p:nvPr>
        </p:nvSpPr>
        <p:spPr/>
        <p:txBody>
          <a:bodyPr/>
          <a:lstStyle/>
          <a:p>
            <a:r>
              <a:rPr lang="en-US" dirty="0"/>
              <a:t>If we have a deep network, then during backpropagation, the earlier layers may stop learning (vanishing gradient) </a:t>
            </a:r>
            <a:r>
              <a:rPr lang="en-US" dirty="0">
                <a:sym typeface="Wingdings" pitchFamily="2" charset="2"/>
              </a:rPr>
              <a:t> </a:t>
            </a:r>
          </a:p>
          <a:p>
            <a:r>
              <a:rPr lang="en-US" dirty="0">
                <a:sym typeface="Wingdings" pitchFamily="2" charset="2"/>
              </a:rPr>
              <a:t>Smooth and continuously differentiable   </a:t>
            </a:r>
          </a:p>
        </p:txBody>
      </p:sp>
    </p:spTree>
    <p:extLst>
      <p:ext uri="{BB962C8B-B14F-4D97-AF65-F5344CB8AC3E}">
        <p14:creationId xmlns:p14="http://schemas.microsoft.com/office/powerpoint/2010/main" val="228496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B6FFE-08A3-E2AC-C926-AD4D5E6F0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88FE5-6E44-3C8C-A0F5-3B8A2A205209}"/>
              </a:ext>
            </a:extLst>
          </p:cNvPr>
          <p:cNvSpPr>
            <a:spLocks noGrp="1"/>
          </p:cNvSpPr>
          <p:nvPr>
            <p:ph type="title"/>
          </p:nvPr>
        </p:nvSpPr>
        <p:spPr/>
        <p:txBody>
          <a:bodyPr>
            <a:normAutofit fontScale="90000"/>
          </a:bodyPr>
          <a:lstStyle/>
          <a:p>
            <a:r>
              <a:rPr lang="en-US" dirty="0"/>
              <a:t>Pros and cons of sigmoid </a:t>
            </a:r>
          </a:p>
        </p:txBody>
      </p:sp>
      <p:sp>
        <p:nvSpPr>
          <p:cNvPr id="3" name="Text Placeholder 2">
            <a:extLst>
              <a:ext uri="{FF2B5EF4-FFF2-40B4-BE49-F238E27FC236}">
                <a16:creationId xmlns:a16="http://schemas.microsoft.com/office/drawing/2014/main" id="{D8A63B31-3FBE-9B08-8053-B4B8AD537235}"/>
              </a:ext>
            </a:extLst>
          </p:cNvPr>
          <p:cNvSpPr>
            <a:spLocks noGrp="1"/>
          </p:cNvSpPr>
          <p:nvPr>
            <p:ph type="body" idx="1"/>
          </p:nvPr>
        </p:nvSpPr>
        <p:spPr/>
        <p:txBody>
          <a:bodyPr/>
          <a:lstStyle/>
          <a:p>
            <a:r>
              <a:rPr lang="en-US" dirty="0"/>
              <a:t>If we have a deep network, then during backpropagation, the earlier layers may stop learning (vanishing gradient) </a:t>
            </a:r>
            <a:r>
              <a:rPr lang="en-US" dirty="0">
                <a:sym typeface="Wingdings" pitchFamily="2" charset="2"/>
              </a:rPr>
              <a:t> </a:t>
            </a:r>
          </a:p>
          <a:p>
            <a:r>
              <a:rPr lang="en-US" dirty="0">
                <a:sym typeface="Wingdings" pitchFamily="2" charset="2"/>
              </a:rPr>
              <a:t>Smooth and continuously differentiable   </a:t>
            </a:r>
          </a:p>
          <a:p>
            <a:r>
              <a:rPr lang="en-US" dirty="0">
                <a:sym typeface="Wingdings" pitchFamily="2" charset="2"/>
              </a:rPr>
              <a:t>Bounded between 0 and 1 which prevents activations from blowing up  </a:t>
            </a:r>
          </a:p>
        </p:txBody>
      </p:sp>
    </p:spTree>
    <p:extLst>
      <p:ext uri="{BB962C8B-B14F-4D97-AF65-F5344CB8AC3E}">
        <p14:creationId xmlns:p14="http://schemas.microsoft.com/office/powerpoint/2010/main" val="8130907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2F7F-A04B-CD1A-2C11-110096C92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C8D48-1722-85FE-74F9-EBE617E64AA3}"/>
              </a:ext>
            </a:extLst>
          </p:cNvPr>
          <p:cNvSpPr>
            <a:spLocks noGrp="1"/>
          </p:cNvSpPr>
          <p:nvPr>
            <p:ph type="title"/>
          </p:nvPr>
        </p:nvSpPr>
        <p:spPr/>
        <p:txBody>
          <a:bodyPr>
            <a:normAutofit fontScale="90000"/>
          </a:bodyPr>
          <a:lstStyle/>
          <a:p>
            <a:r>
              <a:rPr lang="en-US" dirty="0"/>
              <a:t>Pros and cons of sigmoid </a:t>
            </a:r>
          </a:p>
        </p:txBody>
      </p:sp>
      <p:sp>
        <p:nvSpPr>
          <p:cNvPr id="3" name="Text Placeholder 2">
            <a:extLst>
              <a:ext uri="{FF2B5EF4-FFF2-40B4-BE49-F238E27FC236}">
                <a16:creationId xmlns:a16="http://schemas.microsoft.com/office/drawing/2014/main" id="{577F3D42-DA9A-9CCC-E6A8-1FB81B8FB6AA}"/>
              </a:ext>
            </a:extLst>
          </p:cNvPr>
          <p:cNvSpPr>
            <a:spLocks noGrp="1"/>
          </p:cNvSpPr>
          <p:nvPr>
            <p:ph type="body" idx="1"/>
          </p:nvPr>
        </p:nvSpPr>
        <p:spPr/>
        <p:txBody>
          <a:bodyPr/>
          <a:lstStyle/>
          <a:p>
            <a:r>
              <a:rPr lang="en-US" dirty="0"/>
              <a:t>If we have a deep network, then during backpropagation, the earlier layers may stop learning (vanishing gradient) </a:t>
            </a:r>
            <a:r>
              <a:rPr lang="en-US" dirty="0">
                <a:sym typeface="Wingdings" pitchFamily="2" charset="2"/>
              </a:rPr>
              <a:t> </a:t>
            </a:r>
          </a:p>
          <a:p>
            <a:r>
              <a:rPr lang="en-US" dirty="0">
                <a:sym typeface="Wingdings" pitchFamily="2" charset="2"/>
              </a:rPr>
              <a:t>Smooth and continuously differentiable   </a:t>
            </a:r>
          </a:p>
          <a:p>
            <a:r>
              <a:rPr lang="en-US" dirty="0">
                <a:sym typeface="Wingdings" pitchFamily="2" charset="2"/>
              </a:rPr>
              <a:t>Bounded between 0 and 1 which prevents activations from blowing up  </a:t>
            </a:r>
          </a:p>
          <a:p>
            <a:r>
              <a:rPr lang="en-US" dirty="0">
                <a:sym typeface="Wingdings" pitchFamily="2" charset="2"/>
              </a:rPr>
              <a:t>Not zero-centered which can lead to oscillations during gradient descent  </a:t>
            </a:r>
          </a:p>
          <a:p>
            <a:endParaRPr lang="en-US" dirty="0"/>
          </a:p>
        </p:txBody>
      </p:sp>
    </p:spTree>
    <p:extLst>
      <p:ext uri="{BB962C8B-B14F-4D97-AF65-F5344CB8AC3E}">
        <p14:creationId xmlns:p14="http://schemas.microsoft.com/office/powerpoint/2010/main" val="36007695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5D3D-74F5-BEF4-1ECF-07AEF8D31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963D0-ECF4-35DF-AC03-8C91E30D66A0}"/>
              </a:ext>
            </a:extLst>
          </p:cNvPr>
          <p:cNvSpPr>
            <a:spLocks noGrp="1"/>
          </p:cNvSpPr>
          <p:nvPr>
            <p:ph type="title"/>
          </p:nvPr>
        </p:nvSpPr>
        <p:spPr/>
        <p:txBody>
          <a:bodyPr>
            <a:normAutofit fontScale="90000"/>
          </a:bodyPr>
          <a:lstStyle/>
          <a:p>
            <a:r>
              <a:rPr lang="en-US" dirty="0"/>
              <a:t>Pros and cons of sigmoid </a:t>
            </a:r>
          </a:p>
        </p:txBody>
      </p:sp>
      <p:sp>
        <p:nvSpPr>
          <p:cNvPr id="3" name="Text Placeholder 2">
            <a:extLst>
              <a:ext uri="{FF2B5EF4-FFF2-40B4-BE49-F238E27FC236}">
                <a16:creationId xmlns:a16="http://schemas.microsoft.com/office/drawing/2014/main" id="{1134F2F1-463C-1E05-87A6-7849D76690C9}"/>
              </a:ext>
            </a:extLst>
          </p:cNvPr>
          <p:cNvSpPr>
            <a:spLocks noGrp="1"/>
          </p:cNvSpPr>
          <p:nvPr>
            <p:ph type="body" idx="1"/>
          </p:nvPr>
        </p:nvSpPr>
        <p:spPr/>
        <p:txBody>
          <a:bodyPr/>
          <a:lstStyle/>
          <a:p>
            <a:r>
              <a:rPr lang="en-US" dirty="0"/>
              <a:t>If we have a deep network, then during backpropagation, the earlier layers may stop learning (vanishing gradient) </a:t>
            </a:r>
            <a:r>
              <a:rPr lang="en-US" dirty="0">
                <a:sym typeface="Wingdings" pitchFamily="2" charset="2"/>
              </a:rPr>
              <a:t> </a:t>
            </a:r>
          </a:p>
          <a:p>
            <a:r>
              <a:rPr lang="en-US" dirty="0">
                <a:sym typeface="Wingdings" pitchFamily="2" charset="2"/>
              </a:rPr>
              <a:t>Smooth and continuously differentiable   </a:t>
            </a:r>
          </a:p>
          <a:p>
            <a:r>
              <a:rPr lang="en-US" dirty="0">
                <a:sym typeface="Wingdings" pitchFamily="2" charset="2"/>
              </a:rPr>
              <a:t>Bounded between 0 and 1 which prevents activations from blowing up  </a:t>
            </a:r>
          </a:p>
          <a:p>
            <a:r>
              <a:rPr lang="en-US" dirty="0">
                <a:sym typeface="Wingdings" pitchFamily="2" charset="2"/>
              </a:rPr>
              <a:t>Not zero-centered which can lead to oscillations during gradient descent  </a:t>
            </a:r>
          </a:p>
          <a:p>
            <a:r>
              <a:rPr lang="en-US" dirty="0">
                <a:sym typeface="Wingdings" pitchFamily="2" charset="2"/>
              </a:rPr>
              <a:t>Computationally expensive (compared to a linear function or </a:t>
            </a:r>
            <a:r>
              <a:rPr lang="en-US" dirty="0" err="1">
                <a:sym typeface="Wingdings" pitchFamily="2" charset="2"/>
              </a:rPr>
              <a:t>ReLU</a:t>
            </a:r>
            <a:r>
              <a:rPr lang="en-US" dirty="0">
                <a:sym typeface="Wingdings" pitchFamily="2" charset="2"/>
              </a:rPr>
              <a:t>)  </a:t>
            </a:r>
          </a:p>
          <a:p>
            <a:endParaRPr lang="en-US" dirty="0"/>
          </a:p>
        </p:txBody>
      </p:sp>
    </p:spTree>
    <p:extLst>
      <p:ext uri="{BB962C8B-B14F-4D97-AF65-F5344CB8AC3E}">
        <p14:creationId xmlns:p14="http://schemas.microsoft.com/office/powerpoint/2010/main" val="3468523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5A2EDF-DD79-BCB4-9388-34CE0A860632}"/>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56C346C-48CF-EEAC-891F-6836B7438437}"/>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0000"/>
                </a:solidFill>
              </a:rPr>
              <a:t>In deep networks with tanh or sigmoid activations, early layers struggle to learn because gradients become too small by the time they reach the first layer</a:t>
            </a:r>
          </a:p>
        </p:txBody>
      </p:sp>
      <p:sp>
        <p:nvSpPr>
          <p:cNvPr id="4" name="Rectangle 3">
            <a:extLst>
              <a:ext uri="{FF2B5EF4-FFF2-40B4-BE49-F238E27FC236}">
                <a16:creationId xmlns:a16="http://schemas.microsoft.com/office/drawing/2014/main" id="{38360176-E8DA-8708-5D9A-C69F3910C581}"/>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77D0B491-BBA0-FCA1-E1C5-A922FC1FB1B9}"/>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CEBDADFF-C02F-DC65-2BB5-D9979B7D40D9}"/>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4CAA6043-9639-BE3D-D6E9-6194A18C2070}"/>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71733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210B6-9B1C-73F5-A763-2C78EDFAC292}"/>
              </a:ext>
            </a:extLst>
          </p:cNvPr>
          <p:cNvSpPr>
            <a:spLocks noGrp="1"/>
          </p:cNvSpPr>
          <p:nvPr>
            <p:ph type="title"/>
          </p:nvPr>
        </p:nvSpPr>
        <p:spPr/>
        <p:txBody>
          <a:bodyPr>
            <a:normAutofit fontScale="90000"/>
          </a:bodyPr>
          <a:lstStyle/>
          <a:p>
            <a:r>
              <a:rPr lang="en-US" dirty="0"/>
              <a:t>Solution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A0CB71A-E44C-5DE4-C27D-FBC1EB635072}"/>
                  </a:ext>
                </a:extLst>
              </p:cNvPr>
              <p:cNvSpPr>
                <a:spLocks noGrp="1"/>
              </p:cNvSpPr>
              <p:nvPr>
                <p:ph type="body" idx="1"/>
              </p:nvPr>
            </p:nvSpPr>
            <p:spPr/>
            <p:txBody>
              <a:bodyPr/>
              <a:lstStyle/>
              <a:p>
                <a:pPr marL="114300" indent="0">
                  <a:buNone/>
                </a:pPr>
                <a:r>
                  <a:rPr lang="en-US" dirty="0"/>
                  <a:t>In backpropagation, the error signal is sent back through the network multiplicatively </a:t>
                </a:r>
                <a:r>
                  <a:rPr lang="en-US" dirty="0">
                    <a:sym typeface="Wingdings" pitchFamily="2" charset="2"/>
                  </a:rPr>
                  <a:t> as the gradient moves from the output layer toward the first layer, it keeps getting multiplied by terms from each layer</a:t>
                </a:r>
              </a:p>
              <a:p>
                <a:pPr marL="114300" indent="0">
                  <a:buNone/>
                </a:pPr>
                <a:endParaRPr lang="en-US" b="0" i="1" dirty="0">
                  <a:latin typeface="Cambria Math" panose="02040503050406030204" pitchFamily="18" charset="0"/>
                </a:endParaRPr>
              </a:p>
              <a:p>
                <a:pPr marL="114300" indent="0">
                  <a:buNone/>
                </a:pP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b="0" dirty="0"/>
                  <a:t>:</a:t>
                </a:r>
              </a:p>
              <a:p>
                <a:pPr marL="114300" indent="0">
                  <a:buNone/>
                </a:pPr>
                <a:endParaRPr lang="en-US" dirty="0"/>
              </a:p>
            </p:txBody>
          </p:sp>
        </mc:Choice>
        <mc:Fallback>
          <p:sp>
            <p:nvSpPr>
              <p:cNvPr id="3" name="Text Placeholder 2">
                <a:extLst>
                  <a:ext uri="{FF2B5EF4-FFF2-40B4-BE49-F238E27FC236}">
                    <a16:creationId xmlns:a16="http://schemas.microsoft.com/office/drawing/2014/main" id="{1A0CB71A-E44C-5DE4-C27D-FBC1EB635072}"/>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37D9389-D151-FF38-0390-6E9FF8B9785E}"/>
              </a:ext>
            </a:extLst>
          </p:cNvPr>
          <p:cNvPicPr>
            <a:picLocks noChangeAspect="1"/>
          </p:cNvPicPr>
          <p:nvPr/>
        </p:nvPicPr>
        <p:blipFill>
          <a:blip r:embed="rId4"/>
          <a:stretch>
            <a:fillRect/>
          </a:stretch>
        </p:blipFill>
        <p:spPr>
          <a:xfrm>
            <a:off x="1149350" y="2676525"/>
            <a:ext cx="6502400" cy="1651000"/>
          </a:xfrm>
          <a:prstGeom prst="rect">
            <a:avLst/>
          </a:prstGeom>
        </p:spPr>
      </p:pic>
      <p:sp>
        <p:nvSpPr>
          <p:cNvPr id="6" name="TextBox 5">
            <a:extLst>
              <a:ext uri="{FF2B5EF4-FFF2-40B4-BE49-F238E27FC236}">
                <a16:creationId xmlns:a16="http://schemas.microsoft.com/office/drawing/2014/main" id="{4DB71220-BD9D-4E17-A945-4310BF67EC5C}"/>
              </a:ext>
            </a:extLst>
          </p:cNvPr>
          <p:cNvSpPr txBox="1"/>
          <p:nvPr/>
        </p:nvSpPr>
        <p:spPr>
          <a:xfrm>
            <a:off x="4533900" y="3502025"/>
            <a:ext cx="981075" cy="307777"/>
          </a:xfrm>
          <a:prstGeom prst="rect">
            <a:avLst/>
          </a:prstGeom>
          <a:noFill/>
        </p:spPr>
        <p:txBody>
          <a:bodyPr wrap="square" rtlCol="0">
            <a:spAutoFit/>
          </a:bodyPr>
          <a:lstStyle/>
          <a:p>
            <a:r>
              <a:rPr lang="en-US" dirty="0"/>
              <a:t>(0, 0.25)</a:t>
            </a:r>
          </a:p>
        </p:txBody>
      </p:sp>
    </p:spTree>
    <p:extLst>
      <p:ext uri="{BB962C8B-B14F-4D97-AF65-F5344CB8AC3E}">
        <p14:creationId xmlns:p14="http://schemas.microsoft.com/office/powerpoint/2010/main" val="25525740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D07C6B4-9A2C-74A3-7B19-B4078154CB71}"/>
                  </a:ext>
                </a:extLst>
              </p:cNvPr>
              <p:cNvSpPr>
                <a:spLocks noGrp="1"/>
              </p:cNvSpPr>
              <p:nvPr>
                <p:ph type="title"/>
              </p:nvPr>
            </p:nvSpPr>
            <p:spPr/>
            <p:txBody>
              <a:bodyPr>
                <a:normAutofit fontScale="90000"/>
              </a:bodyPr>
              <a:lstStyle/>
              <a:p>
                <a:r>
                  <a:rPr lang="en-US" dirty="0"/>
                  <a:t>Nonlinear function - </a:t>
                </a:r>
                <a14:m>
                  <m:oMath xmlns:m="http://schemas.openxmlformats.org/officeDocument/2006/math">
                    <m:func>
                      <m:funcPr>
                        <m:ctrlPr>
                          <a:rPr lang="en-US" b="1" i="1" smtClean="0">
                            <a:latin typeface="Cambria Math" panose="02040503050406030204" pitchFamily="18" charset="0"/>
                          </a:rPr>
                        </m:ctrlPr>
                      </m:funcPr>
                      <m:fName>
                        <m:r>
                          <m:rPr>
                            <m:sty m:val="p"/>
                          </m:rPr>
                          <a:rPr lang="en-US" b="0" i="0" smtClean="0">
                            <a:latin typeface="Cambria Math" panose="02040503050406030204" pitchFamily="18" charset="0"/>
                          </a:rPr>
                          <m:t>tanh</m:t>
                        </m:r>
                      </m:fName>
                      <m:e>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e>
                    </m:func>
                  </m:oMath>
                </a14:m>
                <a:br>
                  <a:rPr lang="en-US" b="1" dirty="0"/>
                </a:br>
                <a:endParaRPr lang="en-US" dirty="0"/>
              </a:p>
            </p:txBody>
          </p:sp>
        </mc:Choice>
        <mc:Fallback xmlns="">
          <p:sp>
            <p:nvSpPr>
              <p:cNvPr id="2" name="Title 1">
                <a:extLst>
                  <a:ext uri="{FF2B5EF4-FFF2-40B4-BE49-F238E27FC236}">
                    <a16:creationId xmlns:a16="http://schemas.microsoft.com/office/drawing/2014/main" id="{5D07C6B4-9A2C-74A3-7B19-B4078154CB71}"/>
                  </a:ext>
                </a:extLst>
              </p:cNvPr>
              <p:cNvSpPr>
                <a:spLocks noGrp="1" noRot="1" noChangeAspect="1" noMove="1" noResize="1" noEditPoints="1" noAdjustHandles="1" noChangeArrowheads="1" noChangeShapeType="1" noTextEdit="1"/>
              </p:cNvSpPr>
              <p:nvPr>
                <p:ph type="title"/>
              </p:nvPr>
            </p:nvSpPr>
            <p:spPr>
              <a:blipFill>
                <a:blip r:embed="rId2"/>
                <a:stretch>
                  <a:fillRect l="-1786" t="-5357" b="-16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438DDF8-151C-E2A5-CB15-624CAF4295E3}"/>
                  </a:ext>
                </a:extLst>
              </p:cNvPr>
              <p:cNvSpPr>
                <a:spLocks noGrp="1"/>
              </p:cNvSpPr>
              <p:nvPr>
                <p:ph type="body" idx="1"/>
              </p:nvPr>
            </p:nvSpPr>
            <p:spPr/>
            <p:txBody>
              <a:bodyPr/>
              <a:lstStyle/>
              <a:p>
                <a:r>
                  <a:rPr lang="en-US" dirty="0"/>
                  <a:t>Output ranges between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−1,1</m:t>
                        </m:r>
                      </m:e>
                    </m:d>
                  </m:oMath>
                </a14:m>
                <a:endParaRPr lang="en-US" dirty="0"/>
              </a:p>
              <a:p>
                <a:r>
                  <a:rPr lang="en-US" dirty="0"/>
                  <a:t>Commonly used in hidden layers due to its zero-centered output</a:t>
                </a:r>
              </a:p>
              <a:p>
                <a:endParaRPr lang="en-US" dirty="0"/>
              </a:p>
            </p:txBody>
          </p:sp>
        </mc:Choice>
        <mc:Fallback xmlns="">
          <p:sp>
            <p:nvSpPr>
              <p:cNvPr id="3" name="Text Placeholder 2">
                <a:extLst>
                  <a:ext uri="{FF2B5EF4-FFF2-40B4-BE49-F238E27FC236}">
                    <a16:creationId xmlns:a16="http://schemas.microsoft.com/office/drawing/2014/main" id="{C438DDF8-151C-E2A5-CB15-624CAF4295E3}"/>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0F1A209-6637-703E-7447-3EE4D29C87AD}"/>
              </a:ext>
            </a:extLst>
          </p:cNvPr>
          <p:cNvPicPr>
            <a:picLocks noChangeAspect="1"/>
          </p:cNvPicPr>
          <p:nvPr/>
        </p:nvPicPr>
        <p:blipFill>
          <a:blip r:embed="rId4"/>
          <a:srcRect l="5123" t="7382" r="12630" b="3855"/>
          <a:stretch>
            <a:fillRect/>
          </a:stretch>
        </p:blipFill>
        <p:spPr>
          <a:xfrm>
            <a:off x="2433195" y="2079771"/>
            <a:ext cx="3918177" cy="2489254"/>
          </a:xfrm>
          <a:prstGeom prst="rect">
            <a:avLst/>
          </a:prstGeom>
        </p:spPr>
      </p:pic>
    </p:spTree>
    <p:extLst>
      <p:ext uri="{BB962C8B-B14F-4D97-AF65-F5344CB8AC3E}">
        <p14:creationId xmlns:p14="http://schemas.microsoft.com/office/powerpoint/2010/main" val="1056829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BDF1-AB39-DB1D-4DBC-B3A4AB8BADFF}"/>
              </a:ext>
            </a:extLst>
          </p:cNvPr>
          <p:cNvSpPr>
            <a:spLocks noGrp="1"/>
          </p:cNvSpPr>
          <p:nvPr>
            <p:ph type="title"/>
          </p:nvPr>
        </p:nvSpPr>
        <p:spPr/>
        <p:txBody>
          <a:bodyPr>
            <a:normAutofit fontScale="90000"/>
          </a:bodyPr>
          <a:lstStyle/>
          <a:p>
            <a:r>
              <a:rPr lang="en-US" dirty="0"/>
              <a:t>Pros and cons of hyperbolic tangent</a:t>
            </a:r>
            <a:br>
              <a:rPr lang="en-US" dirty="0"/>
            </a:br>
            <a:endParaRPr lang="en-US" dirty="0"/>
          </a:p>
        </p:txBody>
      </p:sp>
      <p:sp>
        <p:nvSpPr>
          <p:cNvPr id="3" name="Text Placeholder 2">
            <a:extLst>
              <a:ext uri="{FF2B5EF4-FFF2-40B4-BE49-F238E27FC236}">
                <a16:creationId xmlns:a16="http://schemas.microsoft.com/office/drawing/2014/main" id="{79AC9A36-4385-1646-DC7F-314BB45CAC7B}"/>
              </a:ext>
            </a:extLst>
          </p:cNvPr>
          <p:cNvSpPr>
            <a:spLocks noGrp="1"/>
          </p:cNvSpPr>
          <p:nvPr>
            <p:ph type="body" idx="1"/>
          </p:nvPr>
        </p:nvSpPr>
        <p:spPr/>
        <p:txBody>
          <a:bodyPr/>
          <a:lstStyle/>
          <a:p>
            <a:r>
              <a:rPr lang="en-US" dirty="0"/>
              <a:t>Zero-centered output: helps keeps gradients balanced which can facilitate faster convergence of gradient descent </a:t>
            </a:r>
            <a:r>
              <a:rPr lang="en-US" dirty="0">
                <a:sym typeface="Wingdings" pitchFamily="2" charset="2"/>
              </a:rPr>
              <a:t> </a:t>
            </a:r>
          </a:p>
        </p:txBody>
      </p:sp>
    </p:spTree>
    <p:extLst>
      <p:ext uri="{BB962C8B-B14F-4D97-AF65-F5344CB8AC3E}">
        <p14:creationId xmlns:p14="http://schemas.microsoft.com/office/powerpoint/2010/main" val="17843206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9304A-327B-C503-821F-5CE100BFD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86834-4939-5EF2-9E47-1464CC8B49C8}"/>
              </a:ext>
            </a:extLst>
          </p:cNvPr>
          <p:cNvSpPr>
            <a:spLocks noGrp="1"/>
          </p:cNvSpPr>
          <p:nvPr>
            <p:ph type="title"/>
          </p:nvPr>
        </p:nvSpPr>
        <p:spPr/>
        <p:txBody>
          <a:bodyPr>
            <a:normAutofit fontScale="90000"/>
          </a:bodyPr>
          <a:lstStyle/>
          <a:p>
            <a:r>
              <a:rPr lang="en-US" dirty="0"/>
              <a:t>Pros and cons of hyperbolic tangent</a:t>
            </a:r>
            <a:br>
              <a:rPr lang="en-US" dirty="0"/>
            </a:br>
            <a:endParaRPr lang="en-US" dirty="0"/>
          </a:p>
        </p:txBody>
      </p:sp>
      <p:sp>
        <p:nvSpPr>
          <p:cNvPr id="3" name="Text Placeholder 2">
            <a:extLst>
              <a:ext uri="{FF2B5EF4-FFF2-40B4-BE49-F238E27FC236}">
                <a16:creationId xmlns:a16="http://schemas.microsoft.com/office/drawing/2014/main" id="{B674D5BF-FC64-70DB-8C2C-BF5DEA67BB43}"/>
              </a:ext>
            </a:extLst>
          </p:cNvPr>
          <p:cNvSpPr>
            <a:spLocks noGrp="1"/>
          </p:cNvSpPr>
          <p:nvPr>
            <p:ph type="body" idx="1"/>
          </p:nvPr>
        </p:nvSpPr>
        <p:spPr/>
        <p:txBody>
          <a:bodyPr/>
          <a:lstStyle/>
          <a:p>
            <a:r>
              <a:rPr lang="en-US" dirty="0"/>
              <a:t>Zero-centered output: helps keeps gradients balanced which can facilitate faster convergence of gradient descent </a:t>
            </a:r>
            <a:r>
              <a:rPr lang="en-US" dirty="0">
                <a:sym typeface="Wingdings" pitchFamily="2" charset="2"/>
              </a:rPr>
              <a:t> </a:t>
            </a:r>
          </a:p>
          <a:p>
            <a:r>
              <a:rPr lang="en-US" dirty="0">
                <a:sym typeface="Wingdings" pitchFamily="2" charset="2"/>
              </a:rPr>
              <a:t>Vanishing gradient  </a:t>
            </a:r>
          </a:p>
        </p:txBody>
      </p:sp>
    </p:spTree>
    <p:extLst>
      <p:ext uri="{BB962C8B-B14F-4D97-AF65-F5344CB8AC3E}">
        <p14:creationId xmlns:p14="http://schemas.microsoft.com/office/powerpoint/2010/main" val="21903493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15A91-CC4D-7ED9-C048-2A8496636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CC620-8317-9275-CFBC-B2B53ED99F83}"/>
              </a:ext>
            </a:extLst>
          </p:cNvPr>
          <p:cNvSpPr>
            <a:spLocks noGrp="1"/>
          </p:cNvSpPr>
          <p:nvPr>
            <p:ph type="title"/>
          </p:nvPr>
        </p:nvSpPr>
        <p:spPr/>
        <p:txBody>
          <a:bodyPr>
            <a:normAutofit fontScale="90000"/>
          </a:bodyPr>
          <a:lstStyle/>
          <a:p>
            <a:r>
              <a:rPr lang="en-US" dirty="0"/>
              <a:t>Pros and cons of hyperbolic tangent</a:t>
            </a:r>
            <a:br>
              <a:rPr lang="en-US" dirty="0"/>
            </a:br>
            <a:endParaRPr lang="en-US" dirty="0"/>
          </a:p>
        </p:txBody>
      </p:sp>
      <p:sp>
        <p:nvSpPr>
          <p:cNvPr id="3" name="Text Placeholder 2">
            <a:extLst>
              <a:ext uri="{FF2B5EF4-FFF2-40B4-BE49-F238E27FC236}">
                <a16:creationId xmlns:a16="http://schemas.microsoft.com/office/drawing/2014/main" id="{3D63AAE0-56B4-12E2-0D00-9DC2B5B296D2}"/>
              </a:ext>
            </a:extLst>
          </p:cNvPr>
          <p:cNvSpPr>
            <a:spLocks noGrp="1"/>
          </p:cNvSpPr>
          <p:nvPr>
            <p:ph type="body" idx="1"/>
          </p:nvPr>
        </p:nvSpPr>
        <p:spPr/>
        <p:txBody>
          <a:bodyPr/>
          <a:lstStyle/>
          <a:p>
            <a:r>
              <a:rPr lang="en-US" dirty="0"/>
              <a:t>Zero-centered output: helps keeps gradients balanced which can facilitate faster convergence of gradient descent </a:t>
            </a:r>
            <a:r>
              <a:rPr lang="en-US" dirty="0">
                <a:sym typeface="Wingdings" pitchFamily="2" charset="2"/>
              </a:rPr>
              <a:t> </a:t>
            </a:r>
          </a:p>
          <a:p>
            <a:r>
              <a:rPr lang="en-US" dirty="0">
                <a:sym typeface="Wingdings" pitchFamily="2" charset="2"/>
              </a:rPr>
              <a:t>Vanishing gradient  </a:t>
            </a:r>
          </a:p>
          <a:p>
            <a:r>
              <a:rPr lang="en-US" dirty="0"/>
              <a:t>Lack of sparsity: neurons will never truly be deactivated which means no truly sparse representation </a:t>
            </a:r>
            <a:r>
              <a:rPr lang="en-US" dirty="0">
                <a:sym typeface="Wingdings" pitchFamily="2" charset="2"/>
              </a:rPr>
              <a:t> </a:t>
            </a:r>
          </a:p>
          <a:p>
            <a:endParaRPr lang="en-US" dirty="0"/>
          </a:p>
        </p:txBody>
      </p:sp>
    </p:spTree>
    <p:extLst>
      <p:ext uri="{BB962C8B-B14F-4D97-AF65-F5344CB8AC3E}">
        <p14:creationId xmlns:p14="http://schemas.microsoft.com/office/powerpoint/2010/main" val="19741761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6C063-CD0A-6925-8096-5E0348773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7F087-9EDB-69A4-CD53-D92C6F4C1655}"/>
              </a:ext>
            </a:extLst>
          </p:cNvPr>
          <p:cNvSpPr>
            <a:spLocks noGrp="1"/>
          </p:cNvSpPr>
          <p:nvPr>
            <p:ph type="title"/>
          </p:nvPr>
        </p:nvSpPr>
        <p:spPr/>
        <p:txBody>
          <a:bodyPr>
            <a:normAutofit fontScale="90000"/>
          </a:bodyPr>
          <a:lstStyle/>
          <a:p>
            <a:r>
              <a:rPr lang="en-US" dirty="0"/>
              <a:t>Pros and cons of hyperbolic tangent</a:t>
            </a:r>
            <a:br>
              <a:rPr lang="en-US" dirty="0"/>
            </a:br>
            <a:endParaRPr lang="en-US" dirty="0"/>
          </a:p>
        </p:txBody>
      </p:sp>
      <p:sp>
        <p:nvSpPr>
          <p:cNvPr id="3" name="Text Placeholder 2">
            <a:extLst>
              <a:ext uri="{FF2B5EF4-FFF2-40B4-BE49-F238E27FC236}">
                <a16:creationId xmlns:a16="http://schemas.microsoft.com/office/drawing/2014/main" id="{5660C93F-747B-3FBC-24D0-0783FDEF28B1}"/>
              </a:ext>
            </a:extLst>
          </p:cNvPr>
          <p:cNvSpPr>
            <a:spLocks noGrp="1"/>
          </p:cNvSpPr>
          <p:nvPr>
            <p:ph type="body" idx="1"/>
          </p:nvPr>
        </p:nvSpPr>
        <p:spPr/>
        <p:txBody>
          <a:bodyPr/>
          <a:lstStyle/>
          <a:p>
            <a:r>
              <a:rPr lang="en-US" dirty="0"/>
              <a:t>Zero-centered output: helps keeps gradients balanced which can facilitate faster convergence of gradient descent </a:t>
            </a:r>
            <a:r>
              <a:rPr lang="en-US" dirty="0">
                <a:sym typeface="Wingdings" pitchFamily="2" charset="2"/>
              </a:rPr>
              <a:t> </a:t>
            </a:r>
          </a:p>
          <a:p>
            <a:r>
              <a:rPr lang="en-US" dirty="0">
                <a:sym typeface="Wingdings" pitchFamily="2" charset="2"/>
              </a:rPr>
              <a:t>Vanishing gradient  </a:t>
            </a:r>
          </a:p>
          <a:p>
            <a:r>
              <a:rPr lang="en-US" dirty="0"/>
              <a:t>Lack of sparsity: neurons will never truly be deactivated which means no truly sparse representation </a:t>
            </a:r>
            <a:r>
              <a:rPr lang="en-US" dirty="0">
                <a:sym typeface="Wingdings" pitchFamily="2" charset="2"/>
              </a:rPr>
              <a:t> </a:t>
            </a:r>
          </a:p>
          <a:p>
            <a:r>
              <a:rPr lang="en-US" dirty="0">
                <a:sym typeface="Wingdings" pitchFamily="2" charset="2"/>
              </a:rPr>
              <a:t>Bounded output  </a:t>
            </a:r>
          </a:p>
          <a:p>
            <a:endParaRPr lang="en-US" dirty="0"/>
          </a:p>
        </p:txBody>
      </p:sp>
    </p:spTree>
    <p:extLst>
      <p:ext uri="{BB962C8B-B14F-4D97-AF65-F5344CB8AC3E}">
        <p14:creationId xmlns:p14="http://schemas.microsoft.com/office/powerpoint/2010/main" val="2649808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EFABAC-18EE-A371-9780-F41144276DD9}"/>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8E16783-961A-741E-60EC-5B30D1B3E5C9}"/>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You train a fully-connected network with tanh activation and sigmoid output. Input features have large positive means. What will happen?</a:t>
            </a:r>
          </a:p>
        </p:txBody>
      </p:sp>
      <p:sp>
        <p:nvSpPr>
          <p:cNvPr id="4" name="Rectangle 3">
            <a:extLst>
              <a:ext uri="{FF2B5EF4-FFF2-40B4-BE49-F238E27FC236}">
                <a16:creationId xmlns:a16="http://schemas.microsoft.com/office/drawing/2014/main" id="{5CAC8E78-AF6F-B563-D938-817DEA9FC8C5}"/>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87736029-8395-60C8-A9D0-01E867F02E0A}"/>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9A2FF801-8B65-C47A-C79B-0C4D99BA3048}"/>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A7329B5D-129A-FA0B-33CD-9193605E55F4}"/>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268893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B90B0-ECD1-6AD4-B602-7F5055CBA51C}"/>
              </a:ext>
            </a:extLst>
          </p:cNvPr>
          <p:cNvSpPr>
            <a:spLocks noGrp="1"/>
          </p:cNvSpPr>
          <p:nvPr>
            <p:ph type="title"/>
          </p:nvPr>
        </p:nvSpPr>
        <p:spPr/>
        <p:txBody>
          <a:bodyPr>
            <a:normAutofit fontScale="90000"/>
          </a:bodyPr>
          <a:lstStyle/>
          <a:p>
            <a:r>
              <a:rPr lang="en-US" dirty="0"/>
              <a:t>Solution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362C0FDD-2667-1BA5-6D0C-FB05FB5022E9}"/>
                  </a:ext>
                </a:extLst>
              </p:cNvPr>
              <p:cNvSpPr>
                <a:spLocks noGrp="1"/>
              </p:cNvSpPr>
              <p:nvPr>
                <p:ph type="body" idx="1"/>
              </p:nvPr>
            </p:nvSpPr>
            <p:spPr/>
            <p:txBody>
              <a:bodyPr/>
              <a:lstStyle/>
              <a:p>
                <a:pPr marL="114300" indent="0">
                  <a:buNone/>
                </a:pPr>
                <a:r>
                  <a:rPr lang="en-US" dirty="0"/>
                  <a:t>Input very positive or very negative </a:t>
                </a:r>
                <a:r>
                  <a:rPr lang="en-US" dirty="0">
                    <a:sym typeface="Wingdings" pitchFamily="2" charset="2"/>
                  </a:rPr>
                  <a:t> </a:t>
                </a:r>
                <a14:m>
                  <m:oMath xmlns:m="http://schemas.openxmlformats.org/officeDocument/2006/math">
                    <m:r>
                      <m:rPr>
                        <m:nor/>
                      </m:rPr>
                      <a:rPr lang="en-US" b="0" i="0" smtClean="0">
                        <a:latin typeface="Cambria Math" panose="02040503050406030204" pitchFamily="18" charset="0"/>
                        <a:sym typeface="Wingdings" pitchFamily="2" charset="2"/>
                      </a:rPr>
                      <m:t>tanh</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e>
                    </m:d>
                    <m:r>
                      <a:rPr lang="en-US" b="0" i="1" smtClean="0">
                        <a:latin typeface="Cambria Math" panose="02040503050406030204" pitchFamily="18" charset="0"/>
                        <a:sym typeface="Wingdings" pitchFamily="2" charset="2"/>
                      </a:rPr>
                      <m:t>=1</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or</m:t>
                    </m:r>
                    <m:r>
                      <m:rPr>
                        <m:nor/>
                      </m:rPr>
                      <a:rPr lang="en-US" b="0" i="0"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−1</m:t>
                    </m:r>
                  </m:oMath>
                </a14:m>
                <a:endParaRPr lang="en-US" b="0" dirty="0">
                  <a:sym typeface="Wingdings" pitchFamily="2" charset="2"/>
                </a:endParaRPr>
              </a:p>
              <a:p>
                <a:pPr marL="114300" indent="0">
                  <a:buNone/>
                </a:pPr>
                <a:endParaRPr lang="en-US" dirty="0">
                  <a:sym typeface="Wingdings" pitchFamily="2" charset="2"/>
                </a:endParaRPr>
              </a:p>
              <a:p>
                <a:pPr marL="114300" indent="0">
                  <a:buNone/>
                </a:pPr>
                <a14:m>
                  <m:oMath xmlns:m="http://schemas.openxmlformats.org/officeDocument/2006/math">
                    <m:r>
                      <a:rPr lang="en-US" b="0" i="1" smtClean="0">
                        <a:latin typeface="Cambria Math" panose="02040503050406030204" pitchFamily="18" charset="0"/>
                        <a:sym typeface="Wingdings" pitchFamily="2" charset="2"/>
                      </a:rPr>
                      <m:t>𝜎</m:t>
                    </m:r>
                    <m:r>
                      <a:rPr lang="en-US" b="0" i="1" smtClean="0">
                        <a:latin typeface="Cambria Math" panose="02040503050406030204" pitchFamily="18" charset="0"/>
                        <a:sym typeface="Wingdings" pitchFamily="2" charset="2"/>
                      </a:rPr>
                      <m:t>‘</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𝜎</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e>
                    </m:d>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1−</m:t>
                        </m:r>
                        <m:r>
                          <a:rPr lang="en-US" b="0" i="1" smtClean="0">
                            <a:latin typeface="Cambria Math" panose="02040503050406030204" pitchFamily="18" charset="0"/>
                            <a:sym typeface="Wingdings" pitchFamily="2" charset="2"/>
                          </a:rPr>
                          <m:t>𝜎</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e>
                        </m:d>
                      </m:e>
                    </m:d>
                  </m:oMath>
                </a14:m>
                <a:r>
                  <a:rPr lang="en-US" b="0" dirty="0">
                    <a:sym typeface="Wingdings" pitchFamily="2" charset="2"/>
                  </a:rPr>
                  <a:t> </a:t>
                </a:r>
              </a:p>
              <a:p>
                <a:pPr marL="114300" indent="0">
                  <a:buNone/>
                </a:pPr>
                <a14:m>
                  <m:oMath xmlns:m="http://schemas.openxmlformats.org/officeDocument/2006/math">
                    <m:r>
                      <a:rPr lang="en-US" b="0" i="1" smtClean="0">
                        <a:latin typeface="Cambria Math" panose="02040503050406030204" pitchFamily="18" charset="0"/>
                        <a:sym typeface="Wingdings" pitchFamily="2" charset="2"/>
                      </a:rPr>
                      <m:t>𝜎</m:t>
                    </m:r>
                    <m:r>
                      <a:rPr lang="en-US" b="0" i="1" smtClean="0">
                        <a:latin typeface="Cambria Math" panose="02040503050406030204" pitchFamily="18" charset="0"/>
                        <a:sym typeface="Wingdings" pitchFamily="2" charset="2"/>
                      </a:rPr>
                      <m:t>‘</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1</m:t>
                        </m:r>
                      </m:e>
                    </m:d>
                    <m:r>
                      <a:rPr lang="en-US" b="0" i="1" smtClean="0">
                        <a:latin typeface="Cambria Math" panose="02040503050406030204" pitchFamily="18" charset="0"/>
                        <a:sym typeface="Wingdings" pitchFamily="2" charset="2"/>
                      </a:rPr>
                      <m:t>≈0.197</m:t>
                    </m:r>
                  </m:oMath>
                </a14:m>
                <a:r>
                  <a:rPr lang="en-US" b="0" dirty="0">
                    <a:sym typeface="Wingdings" pitchFamily="2" charset="2"/>
                  </a:rPr>
                  <a:t> </a:t>
                </a: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p>
            </p:txBody>
          </p:sp>
        </mc:Choice>
        <mc:Fallback>
          <p:sp>
            <p:nvSpPr>
              <p:cNvPr id="3" name="Text Placeholder 2">
                <a:extLst>
                  <a:ext uri="{FF2B5EF4-FFF2-40B4-BE49-F238E27FC236}">
                    <a16:creationId xmlns:a16="http://schemas.microsoft.com/office/drawing/2014/main" id="{362C0FDD-2667-1BA5-6D0C-FB05FB5022E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512049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DEC2328-C7AC-061E-4313-E6E18A61A3DF}"/>
                  </a:ext>
                </a:extLst>
              </p:cNvPr>
              <p:cNvSpPr>
                <a:spLocks noGrp="1"/>
              </p:cNvSpPr>
              <p:nvPr>
                <p:ph type="title"/>
              </p:nvPr>
            </p:nvSpPr>
            <p:spPr/>
            <p:txBody>
              <a:bodyPr>
                <a:normAutofit fontScale="90000"/>
              </a:bodyPr>
              <a:lstStyle/>
              <a:p>
                <a:r>
                  <a:rPr lang="en-US" dirty="0"/>
                  <a:t>Nonlinear function - </a:t>
                </a:r>
                <a14:m>
                  <m:oMath xmlns:m="http://schemas.openxmlformats.org/officeDocument/2006/math">
                    <m:r>
                      <m:rPr>
                        <m:nor/>
                      </m:rPr>
                      <a:rPr lang="en-US" b="1" i="0" smtClean="0">
                        <a:latin typeface="Cambria Math" panose="02040503050406030204" pitchFamily="18" charset="0"/>
                      </a:rPr>
                      <m:t>ReLU</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br>
                  <a:rPr lang="en-US" b="1" dirty="0"/>
                </a:br>
                <a:r>
                  <a:rPr lang="en-US" dirty="0"/>
                  <a:t>  </a:t>
                </a:r>
              </a:p>
            </p:txBody>
          </p:sp>
        </mc:Choice>
        <mc:Fallback xmlns="">
          <p:sp>
            <p:nvSpPr>
              <p:cNvPr id="2" name="Title 1">
                <a:extLst>
                  <a:ext uri="{FF2B5EF4-FFF2-40B4-BE49-F238E27FC236}">
                    <a16:creationId xmlns:a16="http://schemas.microsoft.com/office/drawing/2014/main" id="{4DEC2328-C7AC-061E-4313-E6E18A61A3DF}"/>
                  </a:ext>
                </a:extLst>
              </p:cNvPr>
              <p:cNvSpPr>
                <a:spLocks noGrp="1" noRot="1" noChangeAspect="1" noMove="1" noResize="1" noEditPoints="1" noAdjustHandles="1" noChangeArrowheads="1" noChangeShapeType="1" noTextEdit="1"/>
              </p:cNvSpPr>
              <p:nvPr>
                <p:ph type="title"/>
              </p:nvPr>
            </p:nvSpPr>
            <p:spPr>
              <a:blipFill>
                <a:blip r:embed="rId3"/>
                <a:stretch>
                  <a:fillRect l="-1786" t="-5357" b="-16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60C25D5-3FD7-EE10-281A-2A87579E94F1}"/>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r>
                            <m:rPr>
                              <m:lit/>
                            </m:rPr>
                            <a:rPr lang="en-US" b="0" i="1" smtClean="0">
                              <a:latin typeface="Cambria Math" panose="02040503050406030204" pitchFamily="18" charset="0"/>
                            </a:rPr>
                            <m:t>{</m:t>
                          </m:r>
                        </m:e>
                      </m:func>
                      <m:r>
                        <a:rPr lang="en-US" b="0" i="1" smtClean="0">
                          <a:latin typeface="Cambria Math" panose="02040503050406030204" pitchFamily="18" charset="0"/>
                        </a:rPr>
                        <m:t>0,</m:t>
                      </m:r>
                      <m:r>
                        <a:rPr lang="en-US" b="0" i="1" smtClean="0">
                          <a:latin typeface="Cambria Math" panose="02040503050406030204" pitchFamily="18" charset="0"/>
                        </a:rPr>
                        <m:t>𝑥</m:t>
                      </m:r>
                      <m:r>
                        <m:rPr>
                          <m:lit/>
                        </m:rPr>
                        <a:rPr lang="en-US" b="0" i="1" smtClean="0">
                          <a:latin typeface="Cambria Math" panose="02040503050406030204" pitchFamily="18" charset="0"/>
                        </a:rPr>
                        <m:t>}</m:t>
                      </m:r>
                    </m:oMath>
                  </m:oMathPara>
                </a14:m>
                <a:endParaRPr lang="en-US" b="0" dirty="0"/>
              </a:p>
              <a:p>
                <a:r>
                  <a:rPr lang="en-US" dirty="0"/>
                  <a:t>Output ranges between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e>
                    </m:d>
                  </m:oMath>
                </a14:m>
                <a:r>
                  <a:rPr lang="en-US" dirty="0"/>
                  <a:t> </a:t>
                </a:r>
              </a:p>
              <a:p>
                <a:r>
                  <a:rPr lang="en-US" dirty="0"/>
                  <a:t>If the input is positive, </a:t>
                </a:r>
                <a:r>
                  <a:rPr lang="en-US" dirty="0" err="1"/>
                  <a:t>ReLU</a:t>
                </a:r>
                <a:r>
                  <a:rPr lang="en-US" dirty="0"/>
                  <a:t> returns the input, otherwise it returns 0.</a:t>
                </a:r>
              </a:p>
              <a:p>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60C25D5-3FD7-EE10-281A-2A87579E94F1}"/>
                  </a:ext>
                </a:extLst>
              </p:cNvPr>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BFB4661-E2EE-FDEA-69A6-186E61E3DCB1}"/>
              </a:ext>
            </a:extLst>
          </p:cNvPr>
          <p:cNvPicPr>
            <a:picLocks noChangeAspect="1"/>
          </p:cNvPicPr>
          <p:nvPr/>
        </p:nvPicPr>
        <p:blipFill>
          <a:blip r:embed="rId5"/>
          <a:srcRect t="8027"/>
          <a:stretch>
            <a:fillRect/>
          </a:stretch>
        </p:blipFill>
        <p:spPr>
          <a:xfrm>
            <a:off x="2356193" y="2446143"/>
            <a:ext cx="3780996" cy="2458315"/>
          </a:xfrm>
          <a:prstGeom prst="rect">
            <a:avLst/>
          </a:prstGeom>
        </p:spPr>
      </p:pic>
    </p:spTree>
    <p:extLst>
      <p:ext uri="{BB962C8B-B14F-4D97-AF65-F5344CB8AC3E}">
        <p14:creationId xmlns:p14="http://schemas.microsoft.com/office/powerpoint/2010/main" val="2701845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BF49-5A33-4D71-B594-A04D15E6C613}"/>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B0F7C92A-CF2D-DF07-7B82-C9B3E38EFE63}"/>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p:txBody>
      </p:sp>
    </p:spTree>
    <p:extLst>
      <p:ext uri="{BB962C8B-B14F-4D97-AF65-F5344CB8AC3E}">
        <p14:creationId xmlns:p14="http://schemas.microsoft.com/office/powerpoint/2010/main" val="12273480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CAA4-174F-79DD-1A2A-C3702E060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2A1B4-8F14-0C3B-C272-82F456BE9D04}"/>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08F03507-9407-FC68-4876-F2ED290148CB}"/>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a:p>
            <a:r>
              <a:rPr lang="en-US" dirty="0">
                <a:sym typeface="Wingdings" pitchFamily="2" charset="2"/>
              </a:rPr>
              <a:t>Faster convergence: the gradient does not saturate for positive inputs  </a:t>
            </a:r>
          </a:p>
        </p:txBody>
      </p:sp>
    </p:spTree>
    <p:extLst>
      <p:ext uri="{BB962C8B-B14F-4D97-AF65-F5344CB8AC3E}">
        <p14:creationId xmlns:p14="http://schemas.microsoft.com/office/powerpoint/2010/main" val="39318896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CBC1-19BD-F58A-09C8-F7BA7B575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24A20-76E6-9AD6-6591-5FEC961D2115}"/>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F02934CC-31DC-A921-63AB-11608F1B6798}"/>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a:p>
            <a:r>
              <a:rPr lang="en-US" dirty="0">
                <a:sym typeface="Wingdings" pitchFamily="2" charset="2"/>
              </a:rPr>
              <a:t>Faster convergence: the gradient does not saturate for positive inputs  </a:t>
            </a:r>
          </a:p>
          <a:p>
            <a:r>
              <a:rPr lang="en-US" dirty="0">
                <a:sym typeface="Wingdings" pitchFamily="2" charset="2"/>
              </a:rPr>
              <a:t>Gradient for positive inputs is a constant 1 so no vanishing gradient </a:t>
            </a:r>
            <a:r>
              <a:rPr lang="en-US" i="1" dirty="0">
                <a:sym typeface="Wingdings" pitchFamily="2" charset="2"/>
              </a:rPr>
              <a:t>in the positive region</a:t>
            </a:r>
            <a:r>
              <a:rPr lang="en-US" dirty="0">
                <a:sym typeface="Wingdings" pitchFamily="2" charset="2"/>
              </a:rPr>
              <a:t>  </a:t>
            </a:r>
          </a:p>
        </p:txBody>
      </p:sp>
    </p:spTree>
    <p:extLst>
      <p:ext uri="{BB962C8B-B14F-4D97-AF65-F5344CB8AC3E}">
        <p14:creationId xmlns:p14="http://schemas.microsoft.com/office/powerpoint/2010/main" val="17931337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37C7-464E-3579-5B36-A237391AF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FE1B2-32FE-9EBC-3748-620641E24E9B}"/>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5005B822-EA8B-B48B-57AC-D673D00FDBF0}"/>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a:p>
            <a:r>
              <a:rPr lang="en-US" dirty="0">
                <a:sym typeface="Wingdings" pitchFamily="2" charset="2"/>
              </a:rPr>
              <a:t>Faster convergence: the gradient does not saturate for positive inputs  </a:t>
            </a:r>
          </a:p>
          <a:p>
            <a:r>
              <a:rPr lang="en-US" dirty="0">
                <a:sym typeface="Wingdings" pitchFamily="2" charset="2"/>
              </a:rPr>
              <a:t>Gradient for positive inputs is a constant 1 so no vanishing gradient </a:t>
            </a:r>
            <a:r>
              <a:rPr lang="en-US" i="1" dirty="0">
                <a:sym typeface="Wingdings" pitchFamily="2" charset="2"/>
              </a:rPr>
              <a:t>in the positive region</a:t>
            </a:r>
            <a:r>
              <a:rPr lang="en-US" dirty="0">
                <a:sym typeface="Wingdings" pitchFamily="2" charset="2"/>
              </a:rPr>
              <a:t>  </a:t>
            </a:r>
          </a:p>
          <a:p>
            <a:r>
              <a:rPr lang="en-US" dirty="0">
                <a:sym typeface="Wingdings" pitchFamily="2" charset="2"/>
              </a:rPr>
              <a:t>Sparse activation: All negative inputs are set to zero  </a:t>
            </a:r>
          </a:p>
        </p:txBody>
      </p:sp>
    </p:spTree>
    <p:extLst>
      <p:ext uri="{BB962C8B-B14F-4D97-AF65-F5344CB8AC3E}">
        <p14:creationId xmlns:p14="http://schemas.microsoft.com/office/powerpoint/2010/main" val="23834323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230F-F83A-AEB5-950C-221D21F9B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C603A-D5F6-C2B1-F889-1595F72E1B4C}"/>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43E8AF9B-089B-AAF9-5D87-0F26095BACCB}"/>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a:p>
            <a:r>
              <a:rPr lang="en-US" dirty="0">
                <a:sym typeface="Wingdings" pitchFamily="2" charset="2"/>
              </a:rPr>
              <a:t>Faster convergence: the gradient does not saturate for positive inputs  </a:t>
            </a:r>
          </a:p>
          <a:p>
            <a:r>
              <a:rPr lang="en-US" dirty="0">
                <a:sym typeface="Wingdings" pitchFamily="2" charset="2"/>
              </a:rPr>
              <a:t>Gradient for positive inputs is a constant 1 so no vanishing gradient </a:t>
            </a:r>
            <a:r>
              <a:rPr lang="en-US" i="1" dirty="0">
                <a:sym typeface="Wingdings" pitchFamily="2" charset="2"/>
              </a:rPr>
              <a:t>in the positive region</a:t>
            </a:r>
            <a:r>
              <a:rPr lang="en-US" dirty="0">
                <a:sym typeface="Wingdings" pitchFamily="2" charset="2"/>
              </a:rPr>
              <a:t>  </a:t>
            </a:r>
          </a:p>
          <a:p>
            <a:r>
              <a:rPr lang="en-US" dirty="0">
                <a:sym typeface="Wingdings" pitchFamily="2" charset="2"/>
              </a:rPr>
              <a:t>Sparse activation: All negative inputs are set to zero  </a:t>
            </a:r>
          </a:p>
          <a:p>
            <a:r>
              <a:rPr lang="en-US" dirty="0">
                <a:sym typeface="Wingdings" pitchFamily="2" charset="2"/>
              </a:rPr>
              <a:t>Dying </a:t>
            </a:r>
            <a:r>
              <a:rPr lang="en-US" dirty="0" err="1">
                <a:sym typeface="Wingdings" pitchFamily="2" charset="2"/>
              </a:rPr>
              <a:t>ReLU</a:t>
            </a:r>
            <a:r>
              <a:rPr lang="en-US" dirty="0">
                <a:sym typeface="Wingdings" pitchFamily="2" charset="2"/>
              </a:rPr>
              <a:t>: If a large negative gradient updates the weights, a neuron may always produce an output of 0 which means it has stopped learning  (dead neuron)  </a:t>
            </a:r>
          </a:p>
        </p:txBody>
      </p:sp>
    </p:spTree>
    <p:extLst>
      <p:ext uri="{BB962C8B-B14F-4D97-AF65-F5344CB8AC3E}">
        <p14:creationId xmlns:p14="http://schemas.microsoft.com/office/powerpoint/2010/main" val="3781819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00F7-8F26-9B9A-DA19-B8224BDFF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C74B0-9A8E-C2D8-39CF-75001C191ACA}"/>
              </a:ext>
            </a:extLst>
          </p:cNvPr>
          <p:cNvSpPr>
            <a:spLocks noGrp="1"/>
          </p:cNvSpPr>
          <p:nvPr>
            <p:ph type="title"/>
          </p:nvPr>
        </p:nvSpPr>
        <p:spPr/>
        <p:txBody>
          <a:bodyPr>
            <a:normAutofit fontScale="90000"/>
          </a:bodyPr>
          <a:lstStyle/>
          <a:p>
            <a:r>
              <a:rPr lang="en-US" dirty="0"/>
              <a:t>Pros and cons of </a:t>
            </a:r>
            <a:r>
              <a:rPr lang="en-US" dirty="0" err="1"/>
              <a:t>ReLU</a:t>
            </a:r>
            <a:endParaRPr lang="en-US" dirty="0"/>
          </a:p>
        </p:txBody>
      </p:sp>
      <p:sp>
        <p:nvSpPr>
          <p:cNvPr id="3" name="Text Placeholder 2">
            <a:extLst>
              <a:ext uri="{FF2B5EF4-FFF2-40B4-BE49-F238E27FC236}">
                <a16:creationId xmlns:a16="http://schemas.microsoft.com/office/drawing/2014/main" id="{D938CC0B-E2C1-48FB-5E83-6450B6987DC3}"/>
              </a:ext>
            </a:extLst>
          </p:cNvPr>
          <p:cNvSpPr>
            <a:spLocks noGrp="1"/>
          </p:cNvSpPr>
          <p:nvPr>
            <p:ph type="body" idx="1"/>
          </p:nvPr>
        </p:nvSpPr>
        <p:spPr>
          <a:xfrm>
            <a:off x="311700" y="1266324"/>
            <a:ext cx="8520600" cy="3717567"/>
          </a:xfrm>
        </p:spPr>
        <p:txBody>
          <a:bodyPr>
            <a:normAutofit/>
          </a:bodyPr>
          <a:lstStyle/>
          <a:p>
            <a:r>
              <a:rPr lang="en-US" dirty="0"/>
              <a:t>Computational efficiency </a:t>
            </a:r>
            <a:r>
              <a:rPr lang="en-US" dirty="0">
                <a:sym typeface="Wingdings" pitchFamily="2" charset="2"/>
              </a:rPr>
              <a:t> </a:t>
            </a:r>
          </a:p>
          <a:p>
            <a:r>
              <a:rPr lang="en-US" dirty="0">
                <a:sym typeface="Wingdings" pitchFamily="2" charset="2"/>
              </a:rPr>
              <a:t>Faster convergence: the gradient does not saturate for positive inputs  </a:t>
            </a:r>
          </a:p>
          <a:p>
            <a:r>
              <a:rPr lang="en-US" dirty="0">
                <a:sym typeface="Wingdings" pitchFamily="2" charset="2"/>
              </a:rPr>
              <a:t>Gradient for positive inputs is a constant 1 so no vanishing gradient </a:t>
            </a:r>
            <a:r>
              <a:rPr lang="en-US" i="1" dirty="0">
                <a:sym typeface="Wingdings" pitchFamily="2" charset="2"/>
              </a:rPr>
              <a:t>in the positive region</a:t>
            </a:r>
            <a:r>
              <a:rPr lang="en-US" dirty="0">
                <a:sym typeface="Wingdings" pitchFamily="2" charset="2"/>
              </a:rPr>
              <a:t>  </a:t>
            </a:r>
          </a:p>
          <a:p>
            <a:r>
              <a:rPr lang="en-US" dirty="0">
                <a:sym typeface="Wingdings" pitchFamily="2" charset="2"/>
              </a:rPr>
              <a:t>Sparse activation: All negative inputs are set to zero  </a:t>
            </a:r>
          </a:p>
          <a:p>
            <a:r>
              <a:rPr lang="en-US" dirty="0">
                <a:sym typeface="Wingdings" pitchFamily="2" charset="2"/>
              </a:rPr>
              <a:t>Dying </a:t>
            </a:r>
            <a:r>
              <a:rPr lang="en-US" dirty="0" err="1">
                <a:sym typeface="Wingdings" pitchFamily="2" charset="2"/>
              </a:rPr>
              <a:t>ReLU</a:t>
            </a:r>
            <a:r>
              <a:rPr lang="en-US" dirty="0">
                <a:sym typeface="Wingdings" pitchFamily="2" charset="2"/>
              </a:rPr>
              <a:t>: If a large negative gradient updates the weights, a neuron may always produce an output of 0 which means it has stopped learning  (dead neuron)  </a:t>
            </a:r>
          </a:p>
          <a:p>
            <a:r>
              <a:rPr lang="en-US" dirty="0">
                <a:sym typeface="Wingdings" pitchFamily="2" charset="2"/>
              </a:rPr>
              <a:t>Non-zero centered: output of </a:t>
            </a:r>
            <a:r>
              <a:rPr lang="en-US" dirty="0" err="1">
                <a:sym typeface="Wingdings" pitchFamily="2" charset="2"/>
              </a:rPr>
              <a:t>ReLu</a:t>
            </a:r>
            <a:r>
              <a:rPr lang="en-US" dirty="0">
                <a:sym typeface="Wingdings" pitchFamily="2" charset="2"/>
              </a:rPr>
              <a:t> is always at least 0 which can lead to oscillations during gradient descent  </a:t>
            </a:r>
          </a:p>
          <a:p>
            <a:pPr marL="114300" indent="0">
              <a:buNone/>
            </a:pPr>
            <a:endParaRPr lang="en-US" dirty="0">
              <a:sym typeface="Wingdings" pitchFamily="2" charset="2"/>
            </a:endParaRPr>
          </a:p>
          <a:p>
            <a:pPr marL="114300" indent="0">
              <a:buNone/>
            </a:pPr>
            <a:endParaRPr lang="en-US" dirty="0"/>
          </a:p>
        </p:txBody>
      </p:sp>
    </p:spTree>
    <p:extLst>
      <p:ext uri="{BB962C8B-B14F-4D97-AF65-F5344CB8AC3E}">
        <p14:creationId xmlns:p14="http://schemas.microsoft.com/office/powerpoint/2010/main" val="31214720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CECBE4-99CC-4197-7157-E395E2A2BC30}"/>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62B769-6900-7599-B631-B04709336EC6}"/>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Consider a single ReLU neuron with weights initialized from a symmetric distribution and data centered at 0. If the bias b is initialized to a small positive value (e.g. 0.01), then more than 50% of data points will make the neuron activate.</a:t>
            </a:r>
          </a:p>
        </p:txBody>
      </p:sp>
      <p:sp>
        <p:nvSpPr>
          <p:cNvPr id="4" name="Rectangle 3">
            <a:extLst>
              <a:ext uri="{FF2B5EF4-FFF2-40B4-BE49-F238E27FC236}">
                <a16:creationId xmlns:a16="http://schemas.microsoft.com/office/drawing/2014/main" id="{BC1C7E87-09BA-4CE2-3CDE-2D2C3D5B329C}"/>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E39EAAEB-E694-1EE4-2797-F7CF4C28BAAA}"/>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A6A61B72-65DE-2197-D110-F35DD17A5D84}"/>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23B8F72C-C155-62CA-1EF9-FEC37AC254B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92927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DA3B-CF5D-E263-77B1-9E6BBBF2928F}"/>
              </a:ext>
            </a:extLst>
          </p:cNvPr>
          <p:cNvSpPr>
            <a:spLocks noGrp="1"/>
          </p:cNvSpPr>
          <p:nvPr>
            <p:ph type="title"/>
          </p:nvPr>
        </p:nvSpPr>
        <p:spPr/>
        <p:txBody>
          <a:bodyPr>
            <a:normAutofit fontScale="90000"/>
          </a:bodyPr>
          <a:lstStyle/>
          <a:p>
            <a:r>
              <a:rPr lang="en-US" dirty="0"/>
              <a:t>Leaky </a:t>
            </a:r>
            <a:r>
              <a:rPr lang="en-US" dirty="0" err="1"/>
              <a:t>ReLU</a:t>
            </a:r>
            <a:endParaRPr lang="en-US" dirty="0"/>
          </a:p>
        </p:txBody>
      </p:sp>
      <p:pic>
        <p:nvPicPr>
          <p:cNvPr id="5" name="Picture 4">
            <a:extLst>
              <a:ext uri="{FF2B5EF4-FFF2-40B4-BE49-F238E27FC236}">
                <a16:creationId xmlns:a16="http://schemas.microsoft.com/office/drawing/2014/main" id="{ED6AFE58-4FE0-D921-9410-48B36A9C1AD1}"/>
              </a:ext>
            </a:extLst>
          </p:cNvPr>
          <p:cNvPicPr>
            <a:picLocks noChangeAspect="1"/>
          </p:cNvPicPr>
          <p:nvPr/>
        </p:nvPicPr>
        <p:blipFill>
          <a:blip r:embed="rId3"/>
          <a:srcRect l="3583" r="13433"/>
          <a:stretch>
            <a:fillRect/>
          </a:stretch>
        </p:blipFill>
        <p:spPr>
          <a:xfrm>
            <a:off x="2141837" y="1152425"/>
            <a:ext cx="4580238" cy="3705498"/>
          </a:xfrm>
          <a:prstGeom prst="rect">
            <a:avLst/>
          </a:prstGeom>
        </p:spPr>
      </p:pic>
      <p:pic>
        <p:nvPicPr>
          <p:cNvPr id="6" name="Picture 5">
            <a:extLst>
              <a:ext uri="{FF2B5EF4-FFF2-40B4-BE49-F238E27FC236}">
                <a16:creationId xmlns:a16="http://schemas.microsoft.com/office/drawing/2014/main" id="{BD0D7756-9F87-C27F-E357-E5C10DF0AB97}"/>
              </a:ext>
            </a:extLst>
          </p:cNvPr>
          <p:cNvPicPr>
            <a:picLocks noChangeAspect="1"/>
          </p:cNvPicPr>
          <p:nvPr/>
        </p:nvPicPr>
        <p:blipFill>
          <a:blip r:embed="rId4"/>
          <a:srcRect l="3973" t="7165" r="10548" b="12156"/>
          <a:stretch>
            <a:fillRect/>
          </a:stretch>
        </p:blipFill>
        <p:spPr>
          <a:xfrm>
            <a:off x="4869900" y="233724"/>
            <a:ext cx="3962400" cy="973393"/>
          </a:xfrm>
          <a:prstGeom prst="rect">
            <a:avLst/>
          </a:prstGeom>
        </p:spPr>
      </p:pic>
    </p:spTree>
    <p:extLst>
      <p:ext uri="{BB962C8B-B14F-4D97-AF65-F5344CB8AC3E}">
        <p14:creationId xmlns:p14="http://schemas.microsoft.com/office/powerpoint/2010/main" val="13466859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06BF0-4C31-2A6D-6493-751239AFF8DA}"/>
              </a:ext>
            </a:extLst>
          </p:cNvPr>
          <p:cNvSpPr>
            <a:spLocks noGrp="1"/>
          </p:cNvSpPr>
          <p:nvPr>
            <p:ph type="title"/>
          </p:nvPr>
        </p:nvSpPr>
        <p:spPr/>
        <p:txBody>
          <a:bodyPr>
            <a:normAutofit fontScale="90000"/>
          </a:bodyPr>
          <a:lstStyle/>
          <a:p>
            <a:r>
              <a:rPr lang="en-US" dirty="0"/>
              <a:t>Nonlinear function - </a:t>
            </a:r>
            <a:r>
              <a:rPr lang="en-US" dirty="0" err="1"/>
              <a:t>SoftPlus</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34A2810-122B-036A-CB08-965AC4376872}"/>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SoftPlus</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e>
                          </m:d>
                        </m:e>
                      </m:func>
                    </m:oMath>
                  </m:oMathPara>
                </a14:m>
                <a:endParaRPr lang="en-US" b="0" dirty="0"/>
              </a:p>
              <a:p>
                <a:r>
                  <a:rPr lang="en-US" dirty="0"/>
                  <a:t>Output is strictly positive and continuously differentiable</a:t>
                </a:r>
              </a:p>
              <a:p>
                <a:r>
                  <a:rPr lang="en-US" b="0" dirty="0"/>
                  <a:t>Output is in the range </a:t>
                </a:r>
                <a14:m>
                  <m:oMath xmlns:m="http://schemas.openxmlformats.org/officeDocument/2006/math">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oMath>
                </a14:m>
                <a:endParaRPr lang="en-US" b="0" dirty="0"/>
              </a:p>
              <a:p>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A34A2810-122B-036A-CB08-965AC4376872}"/>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396E5C3-95DD-383D-10E6-9A20E5F6FDDF}"/>
              </a:ext>
            </a:extLst>
          </p:cNvPr>
          <p:cNvPicPr>
            <a:picLocks noChangeAspect="1"/>
          </p:cNvPicPr>
          <p:nvPr/>
        </p:nvPicPr>
        <p:blipFill>
          <a:blip r:embed="rId4"/>
          <a:srcRect t="1583" r="6228"/>
          <a:stretch>
            <a:fillRect/>
          </a:stretch>
        </p:blipFill>
        <p:spPr>
          <a:xfrm>
            <a:off x="2348471" y="2487829"/>
            <a:ext cx="3663194" cy="2453306"/>
          </a:xfrm>
          <a:prstGeom prst="rect">
            <a:avLst/>
          </a:prstGeom>
        </p:spPr>
      </p:pic>
    </p:spTree>
    <p:extLst>
      <p:ext uri="{BB962C8B-B14F-4D97-AF65-F5344CB8AC3E}">
        <p14:creationId xmlns:p14="http://schemas.microsoft.com/office/powerpoint/2010/main" val="26178833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7A72-99B3-B323-F394-64CAF12B7614}"/>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AD1BC52D-A5A6-27CA-5CB9-97283EFCFF6A}"/>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p:txBody>
      </p:sp>
    </p:spTree>
    <p:extLst>
      <p:ext uri="{BB962C8B-B14F-4D97-AF65-F5344CB8AC3E}">
        <p14:creationId xmlns:p14="http://schemas.microsoft.com/office/powerpoint/2010/main" val="24752052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74564-F9BD-0B61-693D-8822CA77B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A5818-9B98-9612-88D6-2EEC63A2AC7F}"/>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2B17FDC4-0F77-67AF-F756-302108523AEF}"/>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a:p>
            <a:r>
              <a:rPr lang="en-US" dirty="0">
                <a:sym typeface="Wingdings" pitchFamily="2" charset="2"/>
              </a:rPr>
              <a:t>No dying neurons: function is non-zero for </a:t>
            </a:r>
            <a:r>
              <a:rPr lang="en-US" i="1" dirty="0">
                <a:sym typeface="Wingdings" pitchFamily="2" charset="2"/>
              </a:rPr>
              <a:t>all</a:t>
            </a:r>
            <a:r>
              <a:rPr lang="en-US" dirty="0">
                <a:sym typeface="Wingdings" pitchFamily="2" charset="2"/>
              </a:rPr>
              <a:t> input values  </a:t>
            </a:r>
          </a:p>
        </p:txBody>
      </p:sp>
    </p:spTree>
    <p:extLst>
      <p:ext uri="{BB962C8B-B14F-4D97-AF65-F5344CB8AC3E}">
        <p14:creationId xmlns:p14="http://schemas.microsoft.com/office/powerpoint/2010/main" val="11820452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8187-D9F0-281E-45C4-31F2AAB26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D3E24-E7FA-D17C-BD6D-3F4B806C8902}"/>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4A43EE48-D707-865C-97F5-F8C22EE115A6}"/>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a:p>
            <a:r>
              <a:rPr lang="en-US" dirty="0">
                <a:sym typeface="Wingdings" pitchFamily="2" charset="2"/>
              </a:rPr>
              <a:t>No dying neurons: function is non-zero for </a:t>
            </a:r>
            <a:r>
              <a:rPr lang="en-US" i="1" dirty="0">
                <a:sym typeface="Wingdings" pitchFamily="2" charset="2"/>
              </a:rPr>
              <a:t>all</a:t>
            </a:r>
            <a:r>
              <a:rPr lang="en-US" dirty="0">
                <a:sym typeface="Wingdings" pitchFamily="2" charset="2"/>
              </a:rPr>
              <a:t> input values  </a:t>
            </a:r>
          </a:p>
          <a:p>
            <a:r>
              <a:rPr lang="en-US" dirty="0">
                <a:sym typeface="Wingdings" pitchFamily="2" charset="2"/>
              </a:rPr>
              <a:t>Computationally expensive  </a:t>
            </a:r>
          </a:p>
        </p:txBody>
      </p:sp>
    </p:spTree>
    <p:extLst>
      <p:ext uri="{BB962C8B-B14F-4D97-AF65-F5344CB8AC3E}">
        <p14:creationId xmlns:p14="http://schemas.microsoft.com/office/powerpoint/2010/main" val="27595004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FF9FF-3836-FC42-45DB-8F3753830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45C96-BC0E-1E0F-0802-700DB43D6514}"/>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520EB20D-D2FA-C7AB-8900-275DD4259BD6}"/>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a:p>
            <a:r>
              <a:rPr lang="en-US" dirty="0">
                <a:sym typeface="Wingdings" pitchFamily="2" charset="2"/>
              </a:rPr>
              <a:t>No dying neurons: function is non-zero for </a:t>
            </a:r>
            <a:r>
              <a:rPr lang="en-US" i="1" dirty="0">
                <a:sym typeface="Wingdings" pitchFamily="2" charset="2"/>
              </a:rPr>
              <a:t>all</a:t>
            </a:r>
            <a:r>
              <a:rPr lang="en-US" dirty="0">
                <a:sym typeface="Wingdings" pitchFamily="2" charset="2"/>
              </a:rPr>
              <a:t> input values  </a:t>
            </a:r>
          </a:p>
          <a:p>
            <a:r>
              <a:rPr lang="en-US" dirty="0">
                <a:sym typeface="Wingdings" pitchFamily="2" charset="2"/>
              </a:rPr>
              <a:t>Computationally expensive  </a:t>
            </a:r>
          </a:p>
          <a:p>
            <a:r>
              <a:rPr lang="en-US" dirty="0">
                <a:sym typeface="Wingdings" pitchFamily="2" charset="2"/>
              </a:rPr>
              <a:t>Slower convergence despite smoothness  </a:t>
            </a:r>
          </a:p>
        </p:txBody>
      </p:sp>
    </p:spTree>
    <p:extLst>
      <p:ext uri="{BB962C8B-B14F-4D97-AF65-F5344CB8AC3E}">
        <p14:creationId xmlns:p14="http://schemas.microsoft.com/office/powerpoint/2010/main" val="7269609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D5D34-ECDA-9184-1D29-5F6D1B378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46262-5F60-51FD-5716-7881E29C7DBA}"/>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D56CF5D9-EB1F-64FB-8668-899152044030}"/>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a:p>
            <a:r>
              <a:rPr lang="en-US" dirty="0">
                <a:sym typeface="Wingdings" pitchFamily="2" charset="2"/>
              </a:rPr>
              <a:t>No dying neurons: function is non-zero for </a:t>
            </a:r>
            <a:r>
              <a:rPr lang="en-US" i="1" dirty="0">
                <a:sym typeface="Wingdings" pitchFamily="2" charset="2"/>
              </a:rPr>
              <a:t>all</a:t>
            </a:r>
            <a:r>
              <a:rPr lang="en-US" dirty="0">
                <a:sym typeface="Wingdings" pitchFamily="2" charset="2"/>
              </a:rPr>
              <a:t> input values  </a:t>
            </a:r>
          </a:p>
          <a:p>
            <a:r>
              <a:rPr lang="en-US" dirty="0">
                <a:sym typeface="Wingdings" pitchFamily="2" charset="2"/>
              </a:rPr>
              <a:t>Computationally expensive  </a:t>
            </a:r>
          </a:p>
          <a:p>
            <a:r>
              <a:rPr lang="en-US" dirty="0">
                <a:sym typeface="Wingdings" pitchFamily="2" charset="2"/>
              </a:rPr>
              <a:t>Slower convergence despite smoothness  </a:t>
            </a:r>
          </a:p>
          <a:p>
            <a:r>
              <a:rPr lang="en-US" dirty="0">
                <a:sym typeface="Wingdings" pitchFamily="2" charset="2"/>
              </a:rPr>
              <a:t>Not-zero centered  </a:t>
            </a:r>
          </a:p>
        </p:txBody>
      </p:sp>
    </p:spTree>
    <p:extLst>
      <p:ext uri="{BB962C8B-B14F-4D97-AF65-F5344CB8AC3E}">
        <p14:creationId xmlns:p14="http://schemas.microsoft.com/office/powerpoint/2010/main" val="5608645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1AAB7-BFD7-AD5E-460A-8E2EE70C8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EC2FF-B294-5C12-E54D-1DD3C676714C}"/>
              </a:ext>
            </a:extLst>
          </p:cNvPr>
          <p:cNvSpPr>
            <a:spLocks noGrp="1"/>
          </p:cNvSpPr>
          <p:nvPr>
            <p:ph type="title"/>
          </p:nvPr>
        </p:nvSpPr>
        <p:spPr/>
        <p:txBody>
          <a:bodyPr>
            <a:normAutofit fontScale="90000"/>
          </a:bodyPr>
          <a:lstStyle/>
          <a:p>
            <a:r>
              <a:rPr lang="en-US" dirty="0"/>
              <a:t>Pros and cons of </a:t>
            </a:r>
            <a:r>
              <a:rPr lang="en-US" dirty="0" err="1"/>
              <a:t>SoftPlus</a:t>
            </a:r>
            <a:endParaRPr lang="en-US" dirty="0"/>
          </a:p>
        </p:txBody>
      </p:sp>
      <p:sp>
        <p:nvSpPr>
          <p:cNvPr id="3" name="Text Placeholder 2">
            <a:extLst>
              <a:ext uri="{FF2B5EF4-FFF2-40B4-BE49-F238E27FC236}">
                <a16:creationId xmlns:a16="http://schemas.microsoft.com/office/drawing/2014/main" id="{3B6BC327-8613-65E1-BAD7-2F8CCE6BDCA4}"/>
              </a:ext>
            </a:extLst>
          </p:cNvPr>
          <p:cNvSpPr>
            <a:spLocks noGrp="1"/>
          </p:cNvSpPr>
          <p:nvPr>
            <p:ph type="body" idx="1"/>
          </p:nvPr>
        </p:nvSpPr>
        <p:spPr/>
        <p:txBody>
          <a:bodyPr/>
          <a:lstStyle/>
          <a:p>
            <a:r>
              <a:rPr lang="en-US" dirty="0"/>
              <a:t>Smooth everywhere: stable gradient </a:t>
            </a:r>
            <a:r>
              <a:rPr lang="en-US" dirty="0">
                <a:sym typeface="Wingdings" pitchFamily="2" charset="2"/>
              </a:rPr>
              <a:t> </a:t>
            </a:r>
          </a:p>
          <a:p>
            <a:r>
              <a:rPr lang="en-US" dirty="0">
                <a:sym typeface="Wingdings" pitchFamily="2" charset="2"/>
              </a:rPr>
              <a:t>No dying neurons: function is non-zero for </a:t>
            </a:r>
            <a:r>
              <a:rPr lang="en-US" i="1" dirty="0">
                <a:sym typeface="Wingdings" pitchFamily="2" charset="2"/>
              </a:rPr>
              <a:t>all</a:t>
            </a:r>
            <a:r>
              <a:rPr lang="en-US" dirty="0">
                <a:sym typeface="Wingdings" pitchFamily="2" charset="2"/>
              </a:rPr>
              <a:t> input values  </a:t>
            </a:r>
          </a:p>
          <a:p>
            <a:r>
              <a:rPr lang="en-US" dirty="0">
                <a:sym typeface="Wingdings" pitchFamily="2" charset="2"/>
              </a:rPr>
              <a:t>Computationally expensive  </a:t>
            </a:r>
          </a:p>
          <a:p>
            <a:r>
              <a:rPr lang="en-US" dirty="0">
                <a:sym typeface="Wingdings" pitchFamily="2" charset="2"/>
              </a:rPr>
              <a:t>Slower convergence despite smoothness  </a:t>
            </a:r>
          </a:p>
          <a:p>
            <a:r>
              <a:rPr lang="en-US" dirty="0">
                <a:sym typeface="Wingdings" pitchFamily="2" charset="2"/>
              </a:rPr>
              <a:t>Not-zero centered  </a:t>
            </a:r>
          </a:p>
          <a:p>
            <a:r>
              <a:rPr lang="en-US" dirty="0">
                <a:sym typeface="Wingdings" pitchFamily="2" charset="2"/>
              </a:rPr>
              <a:t>Vanishing gradient for negative inputs: as inputs become increasingly negative, the gradient will approach zero leading to vanishing gradients in those regions  </a:t>
            </a:r>
          </a:p>
        </p:txBody>
      </p:sp>
    </p:spTree>
    <p:extLst>
      <p:ext uri="{BB962C8B-B14F-4D97-AF65-F5344CB8AC3E}">
        <p14:creationId xmlns:p14="http://schemas.microsoft.com/office/powerpoint/2010/main" val="8940000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7B2E-331A-4E24-FA28-D4CEB2FD6C95}"/>
              </a:ext>
            </a:extLst>
          </p:cNvPr>
          <p:cNvSpPr>
            <a:spLocks noGrp="1"/>
          </p:cNvSpPr>
          <p:nvPr>
            <p:ph type="title"/>
          </p:nvPr>
        </p:nvSpPr>
        <p:spPr/>
        <p:txBody>
          <a:bodyPr>
            <a:normAutofit fontScale="90000"/>
          </a:bodyPr>
          <a:lstStyle/>
          <a:p>
            <a:r>
              <a:rPr lang="en-US" dirty="0"/>
              <a:t>Exponential Linear Unit - ELU</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A37DE08-00A1-8637-AD56-EF3B16931CEF}"/>
                  </a:ext>
                </a:extLst>
              </p:cNvPr>
              <p:cNvSpPr>
                <a:spLocks noGrp="1"/>
              </p:cNvSpPr>
              <p:nvPr>
                <p:ph type="body" idx="1"/>
              </p:nvPr>
            </p:nvSpPr>
            <p:spPr/>
            <p:txBody>
              <a:bodyPr/>
              <a:lstStyle/>
              <a:p>
                <a:r>
                  <a:rPr lang="en-US" b="0" dirty="0"/>
                  <a:t>Output ranges from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e>
                    </m:d>
                  </m:oMath>
                </a14:m>
                <a:endParaRPr lang="en-US" b="0" dirty="0"/>
              </a:p>
              <a:p>
                <a:r>
                  <a:rPr lang="en-US" dirty="0"/>
                  <a:t>Smooth and continuously differentiable</a:t>
                </a:r>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CA37DE08-00A1-8637-AD56-EF3B16931CE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0C61445-AEF9-8263-3BD0-215869529C5F}"/>
              </a:ext>
            </a:extLst>
          </p:cNvPr>
          <p:cNvPicPr>
            <a:picLocks noChangeAspect="1"/>
          </p:cNvPicPr>
          <p:nvPr/>
        </p:nvPicPr>
        <p:blipFill>
          <a:blip r:embed="rId3"/>
          <a:stretch>
            <a:fillRect/>
          </a:stretch>
        </p:blipFill>
        <p:spPr>
          <a:xfrm>
            <a:off x="5857926" y="324760"/>
            <a:ext cx="2974374" cy="947930"/>
          </a:xfrm>
          <a:prstGeom prst="rect">
            <a:avLst/>
          </a:prstGeom>
        </p:spPr>
      </p:pic>
      <p:pic>
        <p:nvPicPr>
          <p:cNvPr id="7" name="Picture 6">
            <a:extLst>
              <a:ext uri="{FF2B5EF4-FFF2-40B4-BE49-F238E27FC236}">
                <a16:creationId xmlns:a16="http://schemas.microsoft.com/office/drawing/2014/main" id="{C89E769E-0366-D04F-0A9C-D7F176797808}"/>
              </a:ext>
            </a:extLst>
          </p:cNvPr>
          <p:cNvPicPr>
            <a:picLocks noChangeAspect="1"/>
          </p:cNvPicPr>
          <p:nvPr/>
        </p:nvPicPr>
        <p:blipFill>
          <a:blip r:embed="rId4"/>
          <a:stretch>
            <a:fillRect/>
          </a:stretch>
        </p:blipFill>
        <p:spPr>
          <a:xfrm>
            <a:off x="2810753" y="2061315"/>
            <a:ext cx="3522493" cy="2637160"/>
          </a:xfrm>
          <a:prstGeom prst="rect">
            <a:avLst/>
          </a:prstGeom>
        </p:spPr>
      </p:pic>
    </p:spTree>
    <p:extLst>
      <p:ext uri="{BB962C8B-B14F-4D97-AF65-F5344CB8AC3E}">
        <p14:creationId xmlns:p14="http://schemas.microsoft.com/office/powerpoint/2010/main" val="13022308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6F1D-1E46-5F21-DD0D-E98251E2AB17}"/>
              </a:ext>
            </a:extLst>
          </p:cNvPr>
          <p:cNvSpPr>
            <a:spLocks noGrp="1"/>
          </p:cNvSpPr>
          <p:nvPr>
            <p:ph type="title"/>
          </p:nvPr>
        </p:nvSpPr>
        <p:spPr/>
        <p:txBody>
          <a:bodyPr>
            <a:normAutofit fontScale="90000"/>
          </a:bodyPr>
          <a:lstStyle/>
          <a:p>
            <a:r>
              <a:rPr lang="en-US" dirty="0"/>
              <a:t>Pros and cons of ELU</a:t>
            </a:r>
          </a:p>
        </p:txBody>
      </p:sp>
      <p:sp>
        <p:nvSpPr>
          <p:cNvPr id="3" name="Text Placeholder 2">
            <a:extLst>
              <a:ext uri="{FF2B5EF4-FFF2-40B4-BE49-F238E27FC236}">
                <a16:creationId xmlns:a16="http://schemas.microsoft.com/office/drawing/2014/main" id="{522E0BAB-4845-ABBE-4C2B-A52C3CFF3201}"/>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p:txBody>
      </p:sp>
    </p:spTree>
    <p:extLst>
      <p:ext uri="{BB962C8B-B14F-4D97-AF65-F5344CB8AC3E}">
        <p14:creationId xmlns:p14="http://schemas.microsoft.com/office/powerpoint/2010/main" val="32669863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ACC0-E456-EACA-6992-AE9E3405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0B000-ACF2-063B-6BE8-1966F35D4359}"/>
              </a:ext>
            </a:extLst>
          </p:cNvPr>
          <p:cNvSpPr>
            <a:spLocks noGrp="1"/>
          </p:cNvSpPr>
          <p:nvPr>
            <p:ph type="title"/>
          </p:nvPr>
        </p:nvSpPr>
        <p:spPr/>
        <p:txBody>
          <a:bodyPr>
            <a:normAutofit fontScale="90000"/>
          </a:bodyPr>
          <a:lstStyle/>
          <a:p>
            <a:r>
              <a:rPr lang="en-US" dirty="0"/>
              <a:t>Pros and cons of ELU</a:t>
            </a:r>
          </a:p>
        </p:txBody>
      </p:sp>
      <p:sp>
        <p:nvSpPr>
          <p:cNvPr id="3" name="Text Placeholder 2">
            <a:extLst>
              <a:ext uri="{FF2B5EF4-FFF2-40B4-BE49-F238E27FC236}">
                <a16:creationId xmlns:a16="http://schemas.microsoft.com/office/drawing/2014/main" id="{CE1E9E3C-09D5-6DB5-C3AB-3E0A687A7AC0}"/>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a:p>
            <a:r>
              <a:rPr lang="en-US" dirty="0">
                <a:sym typeface="Wingdings" pitchFamily="2" charset="2"/>
              </a:rPr>
              <a:t>Smooth gradient  </a:t>
            </a:r>
          </a:p>
        </p:txBody>
      </p:sp>
    </p:spTree>
    <p:extLst>
      <p:ext uri="{BB962C8B-B14F-4D97-AF65-F5344CB8AC3E}">
        <p14:creationId xmlns:p14="http://schemas.microsoft.com/office/powerpoint/2010/main" val="36183761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915D-60EE-8CD5-0EBE-2DB5C6368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74FA0-14C2-6504-A548-6CB05A5686A0}"/>
              </a:ext>
            </a:extLst>
          </p:cNvPr>
          <p:cNvSpPr>
            <a:spLocks noGrp="1"/>
          </p:cNvSpPr>
          <p:nvPr>
            <p:ph type="title"/>
          </p:nvPr>
        </p:nvSpPr>
        <p:spPr/>
        <p:txBody>
          <a:bodyPr>
            <a:normAutofit fontScale="90000"/>
          </a:bodyPr>
          <a:lstStyle/>
          <a:p>
            <a:r>
              <a:rPr lang="en-US" dirty="0"/>
              <a:t>Pros and cons of ELU</a:t>
            </a:r>
          </a:p>
        </p:txBody>
      </p:sp>
      <p:sp>
        <p:nvSpPr>
          <p:cNvPr id="3" name="Text Placeholder 2">
            <a:extLst>
              <a:ext uri="{FF2B5EF4-FFF2-40B4-BE49-F238E27FC236}">
                <a16:creationId xmlns:a16="http://schemas.microsoft.com/office/drawing/2014/main" id="{5DE23854-B1E3-4293-5576-97072AC1A35A}"/>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a:p>
            <a:r>
              <a:rPr lang="en-US" dirty="0">
                <a:sym typeface="Wingdings" pitchFamily="2" charset="2"/>
              </a:rPr>
              <a:t>Smooth gradient  </a:t>
            </a:r>
          </a:p>
          <a:p>
            <a:r>
              <a:rPr lang="en-US" dirty="0">
                <a:sym typeface="Wingdings" pitchFamily="2" charset="2"/>
              </a:rPr>
              <a:t>Pushes mean activations closer to 0 which results in faster convergence of gradient descent  </a:t>
            </a:r>
          </a:p>
        </p:txBody>
      </p:sp>
    </p:spTree>
    <p:extLst>
      <p:ext uri="{BB962C8B-B14F-4D97-AF65-F5344CB8AC3E}">
        <p14:creationId xmlns:p14="http://schemas.microsoft.com/office/powerpoint/2010/main" val="22212044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0D1AF-341D-FB20-B6FC-7D569BF2C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62CA0-D393-E53B-DD55-6FB6745AB28A}"/>
              </a:ext>
            </a:extLst>
          </p:cNvPr>
          <p:cNvSpPr>
            <a:spLocks noGrp="1"/>
          </p:cNvSpPr>
          <p:nvPr>
            <p:ph type="title"/>
          </p:nvPr>
        </p:nvSpPr>
        <p:spPr/>
        <p:txBody>
          <a:bodyPr>
            <a:normAutofit fontScale="90000"/>
          </a:bodyPr>
          <a:lstStyle/>
          <a:p>
            <a:r>
              <a:rPr lang="en-US" dirty="0"/>
              <a:t>Pros and cons of ELU</a:t>
            </a:r>
          </a:p>
        </p:txBody>
      </p:sp>
      <p:sp>
        <p:nvSpPr>
          <p:cNvPr id="3" name="Text Placeholder 2">
            <a:extLst>
              <a:ext uri="{FF2B5EF4-FFF2-40B4-BE49-F238E27FC236}">
                <a16:creationId xmlns:a16="http://schemas.microsoft.com/office/drawing/2014/main" id="{88D4B2F4-ACBE-AE2B-8012-9226338284E2}"/>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a:p>
            <a:r>
              <a:rPr lang="en-US" dirty="0">
                <a:sym typeface="Wingdings" pitchFamily="2" charset="2"/>
              </a:rPr>
              <a:t>Smooth gradient  </a:t>
            </a:r>
          </a:p>
          <a:p>
            <a:r>
              <a:rPr lang="en-US" dirty="0">
                <a:sym typeface="Wingdings" pitchFamily="2" charset="2"/>
              </a:rPr>
              <a:t>Pushes mean activations closer to 0 which results in faster convergence of gradient descent  </a:t>
            </a:r>
          </a:p>
          <a:p>
            <a:r>
              <a:rPr lang="en-US" dirty="0">
                <a:sym typeface="Wingdings" pitchFamily="2" charset="2"/>
              </a:rPr>
              <a:t>Computationally expensive  </a:t>
            </a:r>
          </a:p>
        </p:txBody>
      </p:sp>
    </p:spTree>
    <p:extLst>
      <p:ext uri="{BB962C8B-B14F-4D97-AF65-F5344CB8AC3E}">
        <p14:creationId xmlns:p14="http://schemas.microsoft.com/office/powerpoint/2010/main" val="16442022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D0A95-723E-54AD-DB62-D818A29D4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93C34-2064-262E-99DD-CF60D5D11DC4}"/>
              </a:ext>
            </a:extLst>
          </p:cNvPr>
          <p:cNvSpPr>
            <a:spLocks noGrp="1"/>
          </p:cNvSpPr>
          <p:nvPr>
            <p:ph type="title"/>
          </p:nvPr>
        </p:nvSpPr>
        <p:spPr/>
        <p:txBody>
          <a:bodyPr>
            <a:normAutofit fontScale="90000"/>
          </a:bodyPr>
          <a:lstStyle/>
          <a:p>
            <a:r>
              <a:rPr lang="en-US" dirty="0"/>
              <a:t>Pros and cons of ELU</a:t>
            </a:r>
          </a:p>
        </p:txBody>
      </p:sp>
      <p:sp>
        <p:nvSpPr>
          <p:cNvPr id="3" name="Text Placeholder 2">
            <a:extLst>
              <a:ext uri="{FF2B5EF4-FFF2-40B4-BE49-F238E27FC236}">
                <a16:creationId xmlns:a16="http://schemas.microsoft.com/office/drawing/2014/main" id="{BFBC6ECE-6A48-7BAD-3EC8-42C1B7016FC8}"/>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a:p>
            <a:r>
              <a:rPr lang="en-US" dirty="0">
                <a:sym typeface="Wingdings" pitchFamily="2" charset="2"/>
              </a:rPr>
              <a:t>Smooth gradient  </a:t>
            </a:r>
          </a:p>
          <a:p>
            <a:r>
              <a:rPr lang="en-US" dirty="0">
                <a:sym typeface="Wingdings" pitchFamily="2" charset="2"/>
              </a:rPr>
              <a:t>Pushes mean activations closer to 0 which results in faster convergence of gradient descent  </a:t>
            </a:r>
          </a:p>
          <a:p>
            <a:r>
              <a:rPr lang="en-US" dirty="0">
                <a:sym typeface="Wingdings" pitchFamily="2" charset="2"/>
              </a:rPr>
              <a:t>Computationally expensive  </a:t>
            </a:r>
          </a:p>
          <a:p>
            <a:r>
              <a:rPr lang="en-US" dirty="0">
                <a:sym typeface="Wingdings" pitchFamily="2" charset="2"/>
              </a:rPr>
              <a:t>Not strictly zero-centered  </a:t>
            </a:r>
          </a:p>
        </p:txBody>
      </p:sp>
    </p:spTree>
    <p:extLst>
      <p:ext uri="{BB962C8B-B14F-4D97-AF65-F5344CB8AC3E}">
        <p14:creationId xmlns:p14="http://schemas.microsoft.com/office/powerpoint/2010/main" val="17188053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40DC3-FA6D-86AD-80AC-14CBA2CD8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387B1-19D4-F386-589B-2C71DCED776D}"/>
              </a:ext>
            </a:extLst>
          </p:cNvPr>
          <p:cNvSpPr>
            <a:spLocks noGrp="1"/>
          </p:cNvSpPr>
          <p:nvPr>
            <p:ph type="title"/>
          </p:nvPr>
        </p:nvSpPr>
        <p:spPr/>
        <p:txBody>
          <a:bodyPr>
            <a:normAutofit fontScale="90000"/>
          </a:bodyPr>
          <a:lstStyle/>
          <a:p>
            <a:r>
              <a:rPr lang="en-US" dirty="0"/>
              <a:t>Pros and cons of ELU</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F576123-3B81-A44A-EEDC-046554502214}"/>
                  </a:ext>
                </a:extLst>
              </p:cNvPr>
              <p:cNvSpPr>
                <a:spLocks noGrp="1"/>
              </p:cNvSpPr>
              <p:nvPr>
                <p:ph type="body" idx="1"/>
              </p:nvPr>
            </p:nvSpPr>
            <p:spPr/>
            <p:txBody>
              <a:bodyPr/>
              <a:lstStyle/>
              <a:p>
                <a:r>
                  <a:rPr lang="en-US" dirty="0"/>
                  <a:t>No dying neurons: ELU does not bound negative inputs to an output of zero </a:t>
                </a:r>
                <a:r>
                  <a:rPr lang="en-US" dirty="0">
                    <a:sym typeface="Wingdings" pitchFamily="2" charset="2"/>
                  </a:rPr>
                  <a:t> </a:t>
                </a:r>
              </a:p>
              <a:p>
                <a:r>
                  <a:rPr lang="en-US" dirty="0">
                    <a:sym typeface="Wingdings" pitchFamily="2" charset="2"/>
                  </a:rPr>
                  <a:t>Smooth gradient  </a:t>
                </a:r>
              </a:p>
              <a:p>
                <a:r>
                  <a:rPr lang="en-US" dirty="0">
                    <a:sym typeface="Wingdings" pitchFamily="2" charset="2"/>
                  </a:rPr>
                  <a:t>Pushes mean activations closer to 0 which results in faster convergence of gradient descent  </a:t>
                </a:r>
              </a:p>
              <a:p>
                <a:r>
                  <a:rPr lang="en-US" dirty="0">
                    <a:sym typeface="Wingdings" pitchFamily="2" charset="2"/>
                  </a:rPr>
                  <a:t>Computationally expensive  </a:t>
                </a:r>
              </a:p>
              <a:p>
                <a:r>
                  <a:rPr lang="en-US" dirty="0">
                    <a:sym typeface="Wingdings" pitchFamily="2" charset="2"/>
                  </a:rPr>
                  <a:t>Not strictly zero-centered  </a:t>
                </a:r>
              </a:p>
              <a:p>
                <a:r>
                  <a:rPr lang="en-US" dirty="0">
                    <a:sym typeface="Wingdings" pitchFamily="2" charset="2"/>
                  </a:rPr>
                  <a:t>Hyperparameter dependent: Performance depends on parameter </a:t>
                </a:r>
                <a14:m>
                  <m:oMath xmlns:m="http://schemas.openxmlformats.org/officeDocument/2006/math">
                    <m:r>
                      <a:rPr lang="en-US" b="0" i="1" smtClean="0">
                        <a:latin typeface="Cambria Math" panose="02040503050406030204" pitchFamily="18" charset="0"/>
                        <a:sym typeface="Wingdings" pitchFamily="2" charset="2"/>
                      </a:rPr>
                      <m:t>𝛼</m:t>
                    </m:r>
                  </m:oMath>
                </a14:m>
                <a:r>
                  <a:rPr lang="en-US" b="0" dirty="0">
                    <a:sym typeface="Wingdings" pitchFamily="2" charset="2"/>
                  </a:rPr>
                  <a:t> which is usually fixed rather than learned  </a:t>
                </a:r>
              </a:p>
              <a:p>
                <a:endParaRPr lang="en-US" dirty="0"/>
              </a:p>
            </p:txBody>
          </p:sp>
        </mc:Choice>
        <mc:Fallback xmlns="">
          <p:sp>
            <p:nvSpPr>
              <p:cNvPr id="3" name="Text Placeholder 2">
                <a:extLst>
                  <a:ext uri="{FF2B5EF4-FFF2-40B4-BE49-F238E27FC236}">
                    <a16:creationId xmlns:a16="http://schemas.microsoft.com/office/drawing/2014/main" id="{4F576123-3B81-A44A-EEDC-046554502214}"/>
                  </a:ext>
                </a:extLst>
              </p:cNvPr>
              <p:cNvSpPr>
                <a:spLocks noGrp="1" noRot="1" noChangeAspect="1" noMove="1" noResize="1" noEditPoints="1" noAdjustHandles="1" noChangeArrowheads="1" noChangeShapeType="1" noTextEdit="1"/>
              </p:cNvSpPr>
              <p:nvPr>
                <p:ph type="body" idx="1"/>
              </p:nvPr>
            </p:nvSpPr>
            <p:spPr>
              <a:blipFill>
                <a:blip r:embed="rId2"/>
                <a:stretch>
                  <a:fillRect r="-1190"/>
                </a:stretch>
              </a:blipFill>
            </p:spPr>
            <p:txBody>
              <a:bodyPr/>
              <a:lstStyle/>
              <a:p>
                <a:r>
                  <a:rPr lang="en-US">
                    <a:noFill/>
                  </a:rPr>
                  <a:t> </a:t>
                </a:r>
              </a:p>
            </p:txBody>
          </p:sp>
        </mc:Fallback>
      </mc:AlternateContent>
    </p:spTree>
    <p:extLst>
      <p:ext uri="{BB962C8B-B14F-4D97-AF65-F5344CB8AC3E}">
        <p14:creationId xmlns:p14="http://schemas.microsoft.com/office/powerpoint/2010/main" val="18268551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D651-E62C-6218-6FAC-8EEE25CB5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122BF-4459-0929-50EE-152AFA5D31F4}"/>
              </a:ext>
            </a:extLst>
          </p:cNvPr>
          <p:cNvSpPr>
            <a:spLocks noGrp="1"/>
          </p:cNvSpPr>
          <p:nvPr>
            <p:ph type="title"/>
          </p:nvPr>
        </p:nvSpPr>
        <p:spPr/>
        <p:txBody>
          <a:bodyPr>
            <a:normAutofit fontScale="90000"/>
          </a:bodyPr>
          <a:lstStyle/>
          <a:p>
            <a:r>
              <a:rPr lang="en-US" dirty="0"/>
              <a:t>Output layer activation functions - </a:t>
            </a:r>
            <a:r>
              <a:rPr lang="en-US" dirty="0" err="1"/>
              <a:t>softmax</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76178BB-D9F5-D977-AB1E-CDD22909247B}"/>
                  </a:ext>
                </a:extLst>
              </p:cNvPr>
              <p:cNvSpPr>
                <a:spLocks noGrp="1"/>
              </p:cNvSpPr>
              <p:nvPr>
                <p:ph type="body" idx="1"/>
              </p:nvPr>
            </p:nvSpPr>
            <p:spPr/>
            <p:txBody>
              <a:bodyPr/>
              <a:lstStyle/>
              <a:p>
                <a:pPr marL="114300" indent="0">
                  <a:buNone/>
                </a:pPr>
                <a:r>
                  <a:rPr lang="en-US" dirty="0"/>
                  <a:t>Designed to handle multi-class classification problems</a:t>
                </a:r>
              </a:p>
              <a:p>
                <a:pPr marL="114300" indent="0">
                  <a:buNone/>
                </a:pPr>
                <a:r>
                  <a:rPr lang="en-US" dirty="0"/>
                  <a:t>Squashes raw output layer scores into the range </a:t>
                </a:r>
                <a14:m>
                  <m:oMath xmlns:m="http://schemas.openxmlformats.org/officeDocument/2006/math">
                    <m:r>
                      <a:rPr lang="en-US" i="1" dirty="0" smtClean="0">
                        <a:latin typeface="Cambria Math" panose="02040503050406030204" pitchFamily="18" charset="0"/>
                      </a:rPr>
                      <m:t>(0,1)</m:t>
                    </m:r>
                  </m:oMath>
                </a14:m>
                <a:r>
                  <a:rPr lang="en-US" dirty="0"/>
                  <a:t> producing probabilities ensuring that the probabilities all sum to 1.</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576178BB-D9F5-D977-AB1E-CDD22909247B}"/>
                  </a:ext>
                </a:extLst>
              </p:cNvPr>
              <p:cNvSpPr>
                <a:spLocks noGrp="1" noRot="1" noChangeAspect="1" noMove="1" noResize="1" noEditPoints="1" noAdjustHandles="1" noChangeArrowheads="1" noChangeShapeType="1" noTextEdit="1"/>
              </p:cNvSpPr>
              <p:nvPr>
                <p:ph type="body" idx="1"/>
              </p:nvPr>
            </p:nvSpPr>
            <p:spPr>
              <a:blipFill>
                <a:blip r:embed="rId2"/>
                <a:stretch>
                  <a:fillRect r="-119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34538CA-4937-9827-4A91-1840B74CEF28}"/>
              </a:ext>
            </a:extLst>
          </p:cNvPr>
          <p:cNvPicPr>
            <a:picLocks noChangeAspect="1"/>
          </p:cNvPicPr>
          <p:nvPr/>
        </p:nvPicPr>
        <p:blipFill>
          <a:blip r:embed="rId3"/>
          <a:stretch>
            <a:fillRect/>
          </a:stretch>
        </p:blipFill>
        <p:spPr>
          <a:xfrm>
            <a:off x="1206736" y="2571750"/>
            <a:ext cx="2708018" cy="1511729"/>
          </a:xfrm>
          <a:prstGeom prst="rect">
            <a:avLst/>
          </a:prstGeom>
        </p:spPr>
      </p:pic>
      <p:pic>
        <p:nvPicPr>
          <p:cNvPr id="9" name="Picture 8">
            <a:extLst>
              <a:ext uri="{FF2B5EF4-FFF2-40B4-BE49-F238E27FC236}">
                <a16:creationId xmlns:a16="http://schemas.microsoft.com/office/drawing/2014/main" id="{D17D87FA-8AB5-F722-7F7B-F4BBBCB44935}"/>
              </a:ext>
            </a:extLst>
          </p:cNvPr>
          <p:cNvPicPr>
            <a:picLocks noChangeAspect="1"/>
          </p:cNvPicPr>
          <p:nvPr/>
        </p:nvPicPr>
        <p:blipFill>
          <a:blip r:embed="rId4"/>
          <a:srcRect l="4646" t="2883" r="5690" b="3103"/>
          <a:stretch>
            <a:fillRect/>
          </a:stretch>
        </p:blipFill>
        <p:spPr>
          <a:xfrm>
            <a:off x="4801552" y="2298358"/>
            <a:ext cx="3468121" cy="2633618"/>
          </a:xfrm>
          <a:prstGeom prst="rect">
            <a:avLst/>
          </a:prstGeom>
        </p:spPr>
      </p:pic>
    </p:spTree>
    <p:extLst>
      <p:ext uri="{BB962C8B-B14F-4D97-AF65-F5344CB8AC3E}">
        <p14:creationId xmlns:p14="http://schemas.microsoft.com/office/powerpoint/2010/main" val="8381956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13DD-93D4-F5BC-3F86-2A051D6C067D}"/>
              </a:ext>
            </a:extLst>
          </p:cNvPr>
          <p:cNvSpPr>
            <a:spLocks noGrp="1"/>
          </p:cNvSpPr>
          <p:nvPr>
            <p:ph type="title"/>
          </p:nvPr>
        </p:nvSpPr>
        <p:spPr>
          <a:xfrm>
            <a:off x="311700" y="2218050"/>
            <a:ext cx="8520600" cy="707400"/>
          </a:xfrm>
        </p:spPr>
        <p:txBody>
          <a:bodyPr>
            <a:normAutofit fontScale="90000"/>
          </a:bodyPr>
          <a:lstStyle/>
          <a:p>
            <a:pPr algn="ctr"/>
            <a:r>
              <a:rPr lang="en-US" dirty="0"/>
              <a:t>Optimization</a:t>
            </a:r>
          </a:p>
        </p:txBody>
      </p:sp>
    </p:spTree>
    <p:extLst>
      <p:ext uri="{BB962C8B-B14F-4D97-AF65-F5344CB8AC3E}">
        <p14:creationId xmlns:p14="http://schemas.microsoft.com/office/powerpoint/2010/main" val="20211347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BCD99-E61D-4E7D-3BED-066D361CC6E4}"/>
              </a:ext>
            </a:extLst>
          </p:cNvPr>
          <p:cNvSpPr>
            <a:spLocks noGrp="1"/>
          </p:cNvSpPr>
          <p:nvPr>
            <p:ph type="title"/>
          </p:nvPr>
        </p:nvSpPr>
        <p:spPr/>
        <p:txBody>
          <a:bodyPr>
            <a:normAutofit fontScale="90000"/>
          </a:bodyPr>
          <a:lstStyle/>
          <a:p>
            <a:r>
              <a:rPr lang="en-US" dirty="0"/>
              <a:t>Minimal architecture </a:t>
            </a:r>
          </a:p>
        </p:txBody>
      </p:sp>
      <p:sp>
        <p:nvSpPr>
          <p:cNvPr id="3" name="Text Placeholder 2">
            <a:extLst>
              <a:ext uri="{FF2B5EF4-FFF2-40B4-BE49-F238E27FC236}">
                <a16:creationId xmlns:a16="http://schemas.microsoft.com/office/drawing/2014/main" id="{5A16D054-79FE-AB89-2430-0E6CBE2C045E}"/>
              </a:ext>
            </a:extLst>
          </p:cNvPr>
          <p:cNvSpPr>
            <a:spLocks noGrp="1"/>
          </p:cNvSpPr>
          <p:nvPr>
            <p:ph type="body" idx="1"/>
          </p:nvPr>
        </p:nvSpPr>
        <p:spPr/>
        <p:txBody>
          <a:bodyPr/>
          <a:lstStyle/>
          <a:p>
            <a:r>
              <a:rPr lang="en-US" dirty="0"/>
              <a:t>Can we make the network smaller, simpler, or computationally cheaper while keeping most of its performance?</a:t>
            </a:r>
          </a:p>
        </p:txBody>
      </p:sp>
    </p:spTree>
    <p:extLst>
      <p:ext uri="{BB962C8B-B14F-4D97-AF65-F5344CB8AC3E}">
        <p14:creationId xmlns:p14="http://schemas.microsoft.com/office/powerpoint/2010/main" val="40668759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4B1A-FBD3-8028-7F16-C671D7474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FCBFF-E313-4980-489E-F59A665C83ED}"/>
              </a:ext>
            </a:extLst>
          </p:cNvPr>
          <p:cNvSpPr>
            <a:spLocks noGrp="1"/>
          </p:cNvSpPr>
          <p:nvPr>
            <p:ph type="title"/>
          </p:nvPr>
        </p:nvSpPr>
        <p:spPr/>
        <p:txBody>
          <a:bodyPr>
            <a:normAutofit fontScale="90000"/>
          </a:bodyPr>
          <a:lstStyle/>
          <a:p>
            <a:r>
              <a:rPr lang="en-US" dirty="0"/>
              <a:t>Minimal architecture </a:t>
            </a:r>
          </a:p>
        </p:txBody>
      </p:sp>
      <p:sp>
        <p:nvSpPr>
          <p:cNvPr id="3" name="Text Placeholder 2">
            <a:extLst>
              <a:ext uri="{FF2B5EF4-FFF2-40B4-BE49-F238E27FC236}">
                <a16:creationId xmlns:a16="http://schemas.microsoft.com/office/drawing/2014/main" id="{49E3C2D7-54A0-3299-CF49-358C4D114E28}"/>
              </a:ext>
            </a:extLst>
          </p:cNvPr>
          <p:cNvSpPr>
            <a:spLocks noGrp="1"/>
          </p:cNvSpPr>
          <p:nvPr>
            <p:ph type="body" idx="1"/>
          </p:nvPr>
        </p:nvSpPr>
        <p:spPr/>
        <p:txBody>
          <a:bodyPr/>
          <a:lstStyle/>
          <a:p>
            <a:r>
              <a:rPr lang="en-US" dirty="0"/>
              <a:t>Can we make the network smaller, simpler, or computationally cheaper while keeping most of its performance?</a:t>
            </a:r>
          </a:p>
          <a:p>
            <a:r>
              <a:rPr lang="en-US" dirty="0"/>
              <a:t>Strategies include:</a:t>
            </a:r>
          </a:p>
        </p:txBody>
      </p:sp>
    </p:spTree>
    <p:extLst>
      <p:ext uri="{BB962C8B-B14F-4D97-AF65-F5344CB8AC3E}">
        <p14:creationId xmlns:p14="http://schemas.microsoft.com/office/powerpoint/2010/main" val="31589262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5B10F-E7B4-1E55-6164-261ABF0FF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C26A9-4643-BB3F-AB76-CB75A5D1DB5B}"/>
              </a:ext>
            </a:extLst>
          </p:cNvPr>
          <p:cNvSpPr>
            <a:spLocks noGrp="1"/>
          </p:cNvSpPr>
          <p:nvPr>
            <p:ph type="title"/>
          </p:nvPr>
        </p:nvSpPr>
        <p:spPr/>
        <p:txBody>
          <a:bodyPr>
            <a:normAutofit fontScale="90000"/>
          </a:bodyPr>
          <a:lstStyle/>
          <a:p>
            <a:r>
              <a:rPr lang="en-US" dirty="0"/>
              <a:t>Minimal architecture </a:t>
            </a:r>
          </a:p>
        </p:txBody>
      </p:sp>
      <p:sp>
        <p:nvSpPr>
          <p:cNvPr id="3" name="Text Placeholder 2">
            <a:extLst>
              <a:ext uri="{FF2B5EF4-FFF2-40B4-BE49-F238E27FC236}">
                <a16:creationId xmlns:a16="http://schemas.microsoft.com/office/drawing/2014/main" id="{FA424CAF-D8AE-3832-0A5A-00E09850E2F0}"/>
              </a:ext>
            </a:extLst>
          </p:cNvPr>
          <p:cNvSpPr>
            <a:spLocks noGrp="1"/>
          </p:cNvSpPr>
          <p:nvPr>
            <p:ph type="body" idx="1"/>
          </p:nvPr>
        </p:nvSpPr>
        <p:spPr/>
        <p:txBody>
          <a:bodyPr/>
          <a:lstStyle/>
          <a:p>
            <a:r>
              <a:rPr lang="en-US" dirty="0"/>
              <a:t>Can we make the network smaller, simpler, or computationally cheaper while keeping most of its performance?</a:t>
            </a:r>
          </a:p>
          <a:p>
            <a:r>
              <a:rPr lang="en-US" dirty="0"/>
              <a:t>Strategies include:</a:t>
            </a:r>
          </a:p>
          <a:p>
            <a:pPr lvl="1"/>
            <a:r>
              <a:rPr lang="en-US" dirty="0"/>
              <a:t>Pruning</a:t>
            </a:r>
          </a:p>
        </p:txBody>
      </p:sp>
    </p:spTree>
    <p:extLst>
      <p:ext uri="{BB962C8B-B14F-4D97-AF65-F5344CB8AC3E}">
        <p14:creationId xmlns:p14="http://schemas.microsoft.com/office/powerpoint/2010/main" val="27774010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5736-9CA7-D46A-46A2-66DD386D4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3C25A-031B-254B-E97F-575949DC7A6D}"/>
              </a:ext>
            </a:extLst>
          </p:cNvPr>
          <p:cNvSpPr>
            <a:spLocks noGrp="1"/>
          </p:cNvSpPr>
          <p:nvPr>
            <p:ph type="title"/>
          </p:nvPr>
        </p:nvSpPr>
        <p:spPr/>
        <p:txBody>
          <a:bodyPr>
            <a:normAutofit fontScale="90000"/>
          </a:bodyPr>
          <a:lstStyle/>
          <a:p>
            <a:r>
              <a:rPr lang="en-US" dirty="0"/>
              <a:t>Minimal architecture </a:t>
            </a:r>
          </a:p>
        </p:txBody>
      </p:sp>
      <p:sp>
        <p:nvSpPr>
          <p:cNvPr id="3" name="Text Placeholder 2">
            <a:extLst>
              <a:ext uri="{FF2B5EF4-FFF2-40B4-BE49-F238E27FC236}">
                <a16:creationId xmlns:a16="http://schemas.microsoft.com/office/drawing/2014/main" id="{BDAB56AC-59D7-8C78-76FB-7AC5134ABFC2}"/>
              </a:ext>
            </a:extLst>
          </p:cNvPr>
          <p:cNvSpPr>
            <a:spLocks noGrp="1"/>
          </p:cNvSpPr>
          <p:nvPr>
            <p:ph type="body" idx="1"/>
          </p:nvPr>
        </p:nvSpPr>
        <p:spPr/>
        <p:txBody>
          <a:bodyPr/>
          <a:lstStyle/>
          <a:p>
            <a:r>
              <a:rPr lang="en-US" dirty="0"/>
              <a:t>Can we make the network smaller, simpler, or computationally cheaper while keeping most of its performance?</a:t>
            </a:r>
          </a:p>
          <a:p>
            <a:r>
              <a:rPr lang="en-US" dirty="0"/>
              <a:t>Strategies include:</a:t>
            </a:r>
          </a:p>
          <a:p>
            <a:pPr lvl="1"/>
            <a:r>
              <a:rPr lang="en-US" dirty="0"/>
              <a:t>Pruning</a:t>
            </a:r>
          </a:p>
          <a:p>
            <a:pPr lvl="1"/>
            <a:r>
              <a:rPr lang="en-US" dirty="0"/>
              <a:t>Knowledge distillation</a:t>
            </a:r>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25214141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A3CD-DC67-E0D9-7574-F88B09094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A8237-4B6D-AE3D-CBA7-DF5DC2B75D7D}"/>
              </a:ext>
            </a:extLst>
          </p:cNvPr>
          <p:cNvSpPr>
            <a:spLocks noGrp="1"/>
          </p:cNvSpPr>
          <p:nvPr>
            <p:ph type="title"/>
          </p:nvPr>
        </p:nvSpPr>
        <p:spPr/>
        <p:txBody>
          <a:bodyPr>
            <a:normAutofit fontScale="90000"/>
          </a:bodyPr>
          <a:lstStyle/>
          <a:p>
            <a:r>
              <a:rPr lang="en-US" dirty="0"/>
              <a:t>Minimal architecture </a:t>
            </a:r>
          </a:p>
        </p:txBody>
      </p:sp>
      <p:sp>
        <p:nvSpPr>
          <p:cNvPr id="3" name="Text Placeholder 2">
            <a:extLst>
              <a:ext uri="{FF2B5EF4-FFF2-40B4-BE49-F238E27FC236}">
                <a16:creationId xmlns:a16="http://schemas.microsoft.com/office/drawing/2014/main" id="{6A549F77-6083-C68A-F7A5-89A43F78B9CE}"/>
              </a:ext>
            </a:extLst>
          </p:cNvPr>
          <p:cNvSpPr>
            <a:spLocks noGrp="1"/>
          </p:cNvSpPr>
          <p:nvPr>
            <p:ph type="body" idx="1"/>
          </p:nvPr>
        </p:nvSpPr>
        <p:spPr/>
        <p:txBody>
          <a:bodyPr/>
          <a:lstStyle/>
          <a:p>
            <a:r>
              <a:rPr lang="en-US" dirty="0"/>
              <a:t>Can we make the network smaller, simpler, or computationally cheaper while keeping most of its performance?</a:t>
            </a:r>
          </a:p>
          <a:p>
            <a:r>
              <a:rPr lang="en-US" dirty="0"/>
              <a:t>Strategies include:</a:t>
            </a:r>
          </a:p>
          <a:p>
            <a:pPr lvl="1"/>
            <a:r>
              <a:rPr lang="en-US" dirty="0"/>
              <a:t>Pruning</a:t>
            </a:r>
          </a:p>
          <a:p>
            <a:pPr lvl="1"/>
            <a:r>
              <a:rPr lang="en-US" dirty="0"/>
              <a:t>Knowledge distillation</a:t>
            </a:r>
          </a:p>
          <a:p>
            <a:pPr lvl="1"/>
            <a:r>
              <a:rPr lang="en-US" dirty="0"/>
              <a:t>Low-rank factorization</a:t>
            </a:r>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743344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505A-97CE-2097-355C-A8B9B4909321}"/>
              </a:ext>
            </a:extLst>
          </p:cNvPr>
          <p:cNvSpPr>
            <a:spLocks noGrp="1"/>
          </p:cNvSpPr>
          <p:nvPr>
            <p:ph type="title"/>
          </p:nvPr>
        </p:nvSpPr>
        <p:spPr/>
        <p:txBody>
          <a:bodyPr>
            <a:normAutofit fontScale="90000"/>
          </a:bodyPr>
          <a:lstStyle/>
          <a:p>
            <a:r>
              <a:rPr lang="en-US" dirty="0"/>
              <a:t>Pruning</a:t>
            </a:r>
          </a:p>
        </p:txBody>
      </p:sp>
      <p:sp>
        <p:nvSpPr>
          <p:cNvPr id="3" name="Text Placeholder 2">
            <a:extLst>
              <a:ext uri="{FF2B5EF4-FFF2-40B4-BE49-F238E27FC236}">
                <a16:creationId xmlns:a16="http://schemas.microsoft.com/office/drawing/2014/main" id="{4DB1FAA7-57CB-F073-F326-246C529B7F34}"/>
              </a:ext>
            </a:extLst>
          </p:cNvPr>
          <p:cNvSpPr>
            <a:spLocks noGrp="1"/>
          </p:cNvSpPr>
          <p:nvPr>
            <p:ph type="body" idx="1"/>
          </p:nvPr>
        </p:nvSpPr>
        <p:spPr/>
        <p:txBody>
          <a:bodyPr/>
          <a:lstStyle/>
          <a:p>
            <a:pPr marL="114300" indent="0">
              <a:buNone/>
            </a:pPr>
            <a:r>
              <a:rPr lang="en-US" dirty="0"/>
              <a:t>Process of removing redundant or less important neurons or weights from a neural network, without significantly impacting its performance.</a:t>
            </a:r>
          </a:p>
        </p:txBody>
      </p:sp>
    </p:spTree>
    <p:extLst>
      <p:ext uri="{BB962C8B-B14F-4D97-AF65-F5344CB8AC3E}">
        <p14:creationId xmlns:p14="http://schemas.microsoft.com/office/powerpoint/2010/main" val="12518643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4C21-0400-78C1-EA71-25D1FA789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E64F0-2DEB-7471-5C27-6B7F099DA3B5}"/>
              </a:ext>
            </a:extLst>
          </p:cNvPr>
          <p:cNvSpPr>
            <a:spLocks noGrp="1"/>
          </p:cNvSpPr>
          <p:nvPr>
            <p:ph type="title"/>
          </p:nvPr>
        </p:nvSpPr>
        <p:spPr/>
        <p:txBody>
          <a:bodyPr>
            <a:normAutofit fontScale="90000"/>
          </a:bodyPr>
          <a:lstStyle/>
          <a:p>
            <a:r>
              <a:rPr lang="en-US" dirty="0"/>
              <a:t>Pruning</a:t>
            </a:r>
          </a:p>
        </p:txBody>
      </p:sp>
      <p:sp>
        <p:nvSpPr>
          <p:cNvPr id="3" name="Text Placeholder 2">
            <a:extLst>
              <a:ext uri="{FF2B5EF4-FFF2-40B4-BE49-F238E27FC236}">
                <a16:creationId xmlns:a16="http://schemas.microsoft.com/office/drawing/2014/main" id="{4021098B-5187-C9F2-7F9F-275D3EA593E0}"/>
              </a:ext>
            </a:extLst>
          </p:cNvPr>
          <p:cNvSpPr>
            <a:spLocks noGrp="1"/>
          </p:cNvSpPr>
          <p:nvPr>
            <p:ph type="body" idx="1"/>
          </p:nvPr>
        </p:nvSpPr>
        <p:spPr/>
        <p:txBody>
          <a:bodyPr/>
          <a:lstStyle/>
          <a:p>
            <a:pPr marL="114300" indent="0">
              <a:buNone/>
            </a:pPr>
            <a:r>
              <a:rPr lang="en-US" dirty="0"/>
              <a:t>Process of removing redundant or less important neurons or weights from a neural network, without significantly impacting its performance.</a:t>
            </a:r>
          </a:p>
          <a:p>
            <a:pPr marL="114300" indent="0">
              <a:buNone/>
            </a:pPr>
            <a:endParaRPr lang="en-US" dirty="0"/>
          </a:p>
          <a:p>
            <a:pPr marL="114300" indent="0">
              <a:buNone/>
            </a:pPr>
            <a:r>
              <a:rPr lang="en-US" dirty="0"/>
              <a:t>We can prune individual weights, entire neurons, or even entire layers</a:t>
            </a:r>
          </a:p>
        </p:txBody>
      </p:sp>
    </p:spTree>
    <p:extLst>
      <p:ext uri="{BB962C8B-B14F-4D97-AF65-F5344CB8AC3E}">
        <p14:creationId xmlns:p14="http://schemas.microsoft.com/office/powerpoint/2010/main" val="788742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7811-2DB0-3501-918E-393EAEEB7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BCD8F-1D54-3AE5-0E78-B3A55DD6ECF9}"/>
              </a:ext>
            </a:extLst>
          </p:cNvPr>
          <p:cNvSpPr>
            <a:spLocks noGrp="1"/>
          </p:cNvSpPr>
          <p:nvPr>
            <p:ph type="title"/>
          </p:nvPr>
        </p:nvSpPr>
        <p:spPr/>
        <p:txBody>
          <a:bodyPr>
            <a:normAutofit fontScale="90000"/>
          </a:bodyPr>
          <a:lstStyle/>
          <a:p>
            <a:r>
              <a:rPr lang="en-US" dirty="0"/>
              <a:t>Pruning</a:t>
            </a:r>
          </a:p>
        </p:txBody>
      </p:sp>
      <p:sp>
        <p:nvSpPr>
          <p:cNvPr id="3" name="Text Placeholder 2">
            <a:extLst>
              <a:ext uri="{FF2B5EF4-FFF2-40B4-BE49-F238E27FC236}">
                <a16:creationId xmlns:a16="http://schemas.microsoft.com/office/drawing/2014/main" id="{FB3F8917-95D2-E786-1F75-F46CBB136D47}"/>
              </a:ext>
            </a:extLst>
          </p:cNvPr>
          <p:cNvSpPr>
            <a:spLocks noGrp="1"/>
          </p:cNvSpPr>
          <p:nvPr>
            <p:ph type="body" idx="1"/>
          </p:nvPr>
        </p:nvSpPr>
        <p:spPr/>
        <p:txBody>
          <a:bodyPr/>
          <a:lstStyle/>
          <a:p>
            <a:pPr marL="114300" indent="0">
              <a:buNone/>
            </a:pPr>
            <a:r>
              <a:rPr lang="en-US" dirty="0"/>
              <a:t>Process of removing redundant or less important neurons or weights from a neural network, without significantly impacting its performance.</a:t>
            </a:r>
          </a:p>
          <a:p>
            <a:pPr marL="114300" indent="0">
              <a:buNone/>
            </a:pPr>
            <a:endParaRPr lang="en-US" dirty="0"/>
          </a:p>
          <a:p>
            <a:pPr marL="114300" indent="0">
              <a:buNone/>
            </a:pPr>
            <a:r>
              <a:rPr lang="en-US" dirty="0"/>
              <a:t>We can prune individual weights, entire neurons, or even entire layers</a:t>
            </a:r>
          </a:p>
          <a:p>
            <a:pPr marL="114300" indent="0">
              <a:buNone/>
            </a:pPr>
            <a:endParaRPr lang="en-US" dirty="0"/>
          </a:p>
          <a:p>
            <a:pPr marL="114300" indent="0">
              <a:buNone/>
            </a:pPr>
            <a:r>
              <a:rPr lang="en-US" dirty="0"/>
              <a:t>We will discuss two types of pruning:</a:t>
            </a:r>
          </a:p>
        </p:txBody>
      </p:sp>
    </p:spTree>
    <p:extLst>
      <p:ext uri="{BB962C8B-B14F-4D97-AF65-F5344CB8AC3E}">
        <p14:creationId xmlns:p14="http://schemas.microsoft.com/office/powerpoint/2010/main" val="8526857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C4DC8-82A9-1DFA-46FB-D0346F877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4051F-6701-FA26-470F-62D0937AFCDC}"/>
              </a:ext>
            </a:extLst>
          </p:cNvPr>
          <p:cNvSpPr>
            <a:spLocks noGrp="1"/>
          </p:cNvSpPr>
          <p:nvPr>
            <p:ph type="title"/>
          </p:nvPr>
        </p:nvSpPr>
        <p:spPr/>
        <p:txBody>
          <a:bodyPr>
            <a:normAutofit fontScale="90000"/>
          </a:bodyPr>
          <a:lstStyle/>
          <a:p>
            <a:r>
              <a:rPr lang="en-US" dirty="0"/>
              <a:t>Pruning</a:t>
            </a:r>
          </a:p>
        </p:txBody>
      </p:sp>
      <p:sp>
        <p:nvSpPr>
          <p:cNvPr id="3" name="Text Placeholder 2">
            <a:extLst>
              <a:ext uri="{FF2B5EF4-FFF2-40B4-BE49-F238E27FC236}">
                <a16:creationId xmlns:a16="http://schemas.microsoft.com/office/drawing/2014/main" id="{52F44A83-1D25-BD91-67D9-14D676E118A7}"/>
              </a:ext>
            </a:extLst>
          </p:cNvPr>
          <p:cNvSpPr>
            <a:spLocks noGrp="1"/>
          </p:cNvSpPr>
          <p:nvPr>
            <p:ph type="body" idx="1"/>
          </p:nvPr>
        </p:nvSpPr>
        <p:spPr/>
        <p:txBody>
          <a:bodyPr/>
          <a:lstStyle/>
          <a:p>
            <a:pPr marL="114300" indent="0">
              <a:buNone/>
            </a:pPr>
            <a:r>
              <a:rPr lang="en-US" dirty="0"/>
              <a:t>Process of removing redundant or less important neurons or weights from a neural network, without significantly impacting its performance.</a:t>
            </a:r>
          </a:p>
          <a:p>
            <a:pPr marL="114300" indent="0">
              <a:buNone/>
            </a:pPr>
            <a:endParaRPr lang="en-US" dirty="0"/>
          </a:p>
          <a:p>
            <a:pPr marL="114300" indent="0">
              <a:buNone/>
            </a:pPr>
            <a:r>
              <a:rPr lang="en-US" dirty="0"/>
              <a:t>We can prune individual weights, entire neurons, or even entire layers</a:t>
            </a:r>
          </a:p>
          <a:p>
            <a:pPr marL="114300" indent="0">
              <a:buNone/>
            </a:pPr>
            <a:endParaRPr lang="en-US" dirty="0"/>
          </a:p>
          <a:p>
            <a:pPr marL="114300" indent="0">
              <a:buNone/>
            </a:pPr>
            <a:r>
              <a:rPr lang="en-US" dirty="0"/>
              <a:t>We will discuss two types of pruning:</a:t>
            </a:r>
          </a:p>
          <a:p>
            <a:r>
              <a:rPr lang="en-US" dirty="0"/>
              <a:t>Iterative pruning</a:t>
            </a:r>
          </a:p>
          <a:p>
            <a:pPr lvl="1">
              <a:buFont typeface="+mj-lt"/>
              <a:buAutoNum type="arabicPeriod"/>
            </a:pPr>
            <a:endParaRPr lang="en-US" dirty="0"/>
          </a:p>
        </p:txBody>
      </p:sp>
    </p:spTree>
    <p:extLst>
      <p:ext uri="{BB962C8B-B14F-4D97-AF65-F5344CB8AC3E}">
        <p14:creationId xmlns:p14="http://schemas.microsoft.com/office/powerpoint/2010/main" val="36957980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A230-A539-331E-9046-E523F732E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75C52-A9BA-5A4A-E2C0-0F1DC9E19036}"/>
              </a:ext>
            </a:extLst>
          </p:cNvPr>
          <p:cNvSpPr>
            <a:spLocks noGrp="1"/>
          </p:cNvSpPr>
          <p:nvPr>
            <p:ph type="title"/>
          </p:nvPr>
        </p:nvSpPr>
        <p:spPr/>
        <p:txBody>
          <a:bodyPr>
            <a:normAutofit fontScale="90000"/>
          </a:bodyPr>
          <a:lstStyle/>
          <a:p>
            <a:r>
              <a:rPr lang="en-US" dirty="0"/>
              <a:t>Pruning</a:t>
            </a:r>
          </a:p>
        </p:txBody>
      </p:sp>
      <p:sp>
        <p:nvSpPr>
          <p:cNvPr id="3" name="Text Placeholder 2">
            <a:extLst>
              <a:ext uri="{FF2B5EF4-FFF2-40B4-BE49-F238E27FC236}">
                <a16:creationId xmlns:a16="http://schemas.microsoft.com/office/drawing/2014/main" id="{157EAB01-2012-82C7-A531-0FFFB556F1C6}"/>
              </a:ext>
            </a:extLst>
          </p:cNvPr>
          <p:cNvSpPr>
            <a:spLocks noGrp="1"/>
          </p:cNvSpPr>
          <p:nvPr>
            <p:ph type="body" idx="1"/>
          </p:nvPr>
        </p:nvSpPr>
        <p:spPr/>
        <p:txBody>
          <a:bodyPr/>
          <a:lstStyle/>
          <a:p>
            <a:pPr marL="114300" indent="0">
              <a:buNone/>
            </a:pPr>
            <a:r>
              <a:rPr lang="en-US" dirty="0"/>
              <a:t>Process of removing redundant or less important neurons or weights from a neural network, without significantly impacting its performance.</a:t>
            </a:r>
          </a:p>
          <a:p>
            <a:pPr marL="114300" indent="0">
              <a:buNone/>
            </a:pPr>
            <a:endParaRPr lang="en-US" dirty="0"/>
          </a:p>
          <a:p>
            <a:pPr marL="114300" indent="0">
              <a:buNone/>
            </a:pPr>
            <a:r>
              <a:rPr lang="en-US" dirty="0"/>
              <a:t>We can prune individual weights, entire neurons, or even entire layers</a:t>
            </a:r>
          </a:p>
          <a:p>
            <a:pPr marL="114300" indent="0">
              <a:buNone/>
            </a:pPr>
            <a:endParaRPr lang="en-US" dirty="0"/>
          </a:p>
          <a:p>
            <a:pPr marL="114300" indent="0">
              <a:buNone/>
            </a:pPr>
            <a:r>
              <a:rPr lang="en-US" dirty="0"/>
              <a:t>We will discuss two types of pruning:</a:t>
            </a:r>
          </a:p>
          <a:p>
            <a:r>
              <a:rPr lang="en-US" dirty="0"/>
              <a:t>Iterative pruning</a:t>
            </a:r>
          </a:p>
          <a:p>
            <a:r>
              <a:rPr lang="en-US" dirty="0"/>
              <a:t>One-shot pruning</a:t>
            </a:r>
          </a:p>
          <a:p>
            <a:pPr lvl="1">
              <a:buFont typeface="+mj-lt"/>
              <a:buAutoNum type="arabicPeriod"/>
            </a:pPr>
            <a:endParaRPr lang="en-US" dirty="0"/>
          </a:p>
        </p:txBody>
      </p:sp>
    </p:spTree>
    <p:extLst>
      <p:ext uri="{BB962C8B-B14F-4D97-AF65-F5344CB8AC3E}">
        <p14:creationId xmlns:p14="http://schemas.microsoft.com/office/powerpoint/2010/main" val="19211380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DC5F-0872-40FA-BAD2-0E3F94DED80C}"/>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2541185B-FB20-39C5-2D3C-E19D123F98B5}"/>
              </a:ext>
            </a:extLst>
          </p:cNvPr>
          <p:cNvSpPr>
            <a:spLocks noGrp="1"/>
          </p:cNvSpPr>
          <p:nvPr>
            <p:ph type="body" idx="1"/>
          </p:nvPr>
        </p:nvSpPr>
        <p:spPr>
          <a:xfrm>
            <a:off x="311700" y="1266324"/>
            <a:ext cx="8520600" cy="3483477"/>
          </a:xfrm>
        </p:spPr>
        <p:txBody>
          <a:bodyPr>
            <a:normAutofit/>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p:txBody>
      </p:sp>
      <p:sp>
        <p:nvSpPr>
          <p:cNvPr id="4" name="TextBox 3">
            <a:extLst>
              <a:ext uri="{FF2B5EF4-FFF2-40B4-BE49-F238E27FC236}">
                <a16:creationId xmlns:a16="http://schemas.microsoft.com/office/drawing/2014/main" id="{AA2DC340-B436-4002-EE3D-186B2EA35B20}"/>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7675067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089C-F5CE-6F59-77BA-D198BB4FC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D65C0-75C7-387C-D5C6-64E24C21A4F7}"/>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1205659B-A049-52BC-C2DE-597EFFFC8A0F}"/>
              </a:ext>
            </a:extLst>
          </p:cNvPr>
          <p:cNvSpPr>
            <a:spLocks noGrp="1"/>
          </p:cNvSpPr>
          <p:nvPr>
            <p:ph type="body" idx="1"/>
          </p:nvPr>
        </p:nvSpPr>
        <p:spPr>
          <a:xfrm>
            <a:off x="311700" y="1266324"/>
            <a:ext cx="8520600" cy="3483477"/>
          </a:xfrm>
        </p:spPr>
        <p:txBody>
          <a:bodyPr>
            <a:normAutofit/>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p:txBody>
      </p:sp>
      <p:sp>
        <p:nvSpPr>
          <p:cNvPr id="4" name="TextBox 3">
            <a:extLst>
              <a:ext uri="{FF2B5EF4-FFF2-40B4-BE49-F238E27FC236}">
                <a16:creationId xmlns:a16="http://schemas.microsoft.com/office/drawing/2014/main" id="{AF3583F2-272D-C085-82D4-089197C87F32}"/>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11025738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26AA4-B14A-8B81-70C1-3B00028E4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F90F-F94B-1596-99E2-A8F77343671E}"/>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606414B3-75DB-549A-1202-2DBE93BB134E}"/>
              </a:ext>
            </a:extLst>
          </p:cNvPr>
          <p:cNvSpPr>
            <a:spLocks noGrp="1"/>
          </p:cNvSpPr>
          <p:nvPr>
            <p:ph type="body" idx="1"/>
          </p:nvPr>
        </p:nvSpPr>
        <p:spPr>
          <a:xfrm>
            <a:off x="311700" y="1266324"/>
            <a:ext cx="8520600" cy="3483477"/>
          </a:xfrm>
        </p:spPr>
        <p:txBody>
          <a:bodyPr>
            <a:normAutofit/>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a:p>
            <a:pPr>
              <a:buFont typeface="+mj-lt"/>
              <a:buAutoNum type="arabicPeriod"/>
            </a:pPr>
            <a:r>
              <a:rPr lang="en-US" dirty="0"/>
              <a:t>Train the model to convergence or for a fixed number of epochs</a:t>
            </a:r>
          </a:p>
        </p:txBody>
      </p:sp>
      <p:sp>
        <p:nvSpPr>
          <p:cNvPr id="4" name="TextBox 3">
            <a:extLst>
              <a:ext uri="{FF2B5EF4-FFF2-40B4-BE49-F238E27FC236}">
                <a16:creationId xmlns:a16="http://schemas.microsoft.com/office/drawing/2014/main" id="{C6D01866-D620-5DE6-0A5F-AEA89FF1BE25}"/>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28571398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1C8B3-1314-CB06-3782-F76FCC6BF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50929-8F00-3FFF-3D2B-D58F67E8A934}"/>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38C03BF4-EDB5-09F8-5754-472BE7B4F200}"/>
              </a:ext>
            </a:extLst>
          </p:cNvPr>
          <p:cNvSpPr>
            <a:spLocks noGrp="1"/>
          </p:cNvSpPr>
          <p:nvPr>
            <p:ph type="body" idx="1"/>
          </p:nvPr>
        </p:nvSpPr>
        <p:spPr>
          <a:xfrm>
            <a:off x="311700" y="1266324"/>
            <a:ext cx="8520600" cy="3483477"/>
          </a:xfrm>
        </p:spPr>
        <p:txBody>
          <a:bodyPr>
            <a:normAutofit/>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a:p>
            <a:pPr>
              <a:buFont typeface="+mj-lt"/>
              <a:buAutoNum type="arabicPeriod"/>
            </a:pPr>
            <a:r>
              <a:rPr lang="en-US" dirty="0"/>
              <a:t>Train the model to convergence or for a fixed number of epochs</a:t>
            </a:r>
          </a:p>
          <a:p>
            <a:pPr>
              <a:buFont typeface="+mj-lt"/>
              <a:buAutoNum type="arabicPeriod"/>
            </a:pPr>
            <a:r>
              <a:rPr lang="en-US" dirty="0"/>
              <a:t>Compute parameter importance (weight magnitude, gradients, etc.)</a:t>
            </a:r>
          </a:p>
        </p:txBody>
      </p:sp>
      <p:sp>
        <p:nvSpPr>
          <p:cNvPr id="4" name="TextBox 3">
            <a:extLst>
              <a:ext uri="{FF2B5EF4-FFF2-40B4-BE49-F238E27FC236}">
                <a16:creationId xmlns:a16="http://schemas.microsoft.com/office/drawing/2014/main" id="{7FA540AB-96B7-E3B0-282B-F1BFD8B113F0}"/>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34318060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D48B-5657-4A03-21F0-2B0A29EB8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C129B-0ABD-0C8F-E5D9-1F6081DE3BC1}"/>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61A39778-D515-ADB1-7F88-B38D215F224F}"/>
              </a:ext>
            </a:extLst>
          </p:cNvPr>
          <p:cNvSpPr>
            <a:spLocks noGrp="1"/>
          </p:cNvSpPr>
          <p:nvPr>
            <p:ph type="body" idx="1"/>
          </p:nvPr>
        </p:nvSpPr>
        <p:spPr>
          <a:xfrm>
            <a:off x="311700" y="1266324"/>
            <a:ext cx="8520600" cy="3483477"/>
          </a:xfrm>
        </p:spPr>
        <p:txBody>
          <a:bodyPr>
            <a:normAutofit/>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a:p>
            <a:pPr>
              <a:buFont typeface="+mj-lt"/>
              <a:buAutoNum type="arabicPeriod"/>
            </a:pPr>
            <a:r>
              <a:rPr lang="en-US" dirty="0"/>
              <a:t>Train the model to convergence or for a fixed number of epochs</a:t>
            </a:r>
          </a:p>
          <a:p>
            <a:pPr>
              <a:buFont typeface="+mj-lt"/>
              <a:buAutoNum type="arabicPeriod"/>
            </a:pPr>
            <a:r>
              <a:rPr lang="en-US" dirty="0"/>
              <a:t>Compute parameter importance (weight magnitude, gradients, etc.)</a:t>
            </a:r>
          </a:p>
          <a:p>
            <a:pPr>
              <a:buFont typeface="+mj-lt"/>
              <a:buAutoNum type="arabicPeriod"/>
            </a:pPr>
            <a:r>
              <a:rPr lang="en-US" dirty="0"/>
              <a:t>Prune a fraction of the least important parameters by setting them to zero (or removing them.)</a:t>
            </a:r>
          </a:p>
        </p:txBody>
      </p:sp>
      <p:sp>
        <p:nvSpPr>
          <p:cNvPr id="4" name="TextBox 3">
            <a:extLst>
              <a:ext uri="{FF2B5EF4-FFF2-40B4-BE49-F238E27FC236}">
                <a16:creationId xmlns:a16="http://schemas.microsoft.com/office/drawing/2014/main" id="{404D287B-1C15-EB26-0863-BFC602030549}"/>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2694952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CD20-6B57-0DFD-1BB0-9CC2C2C18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FE9A9-FBA5-FE1D-4F10-3BAEB0ECC2A1}"/>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A4FD23E7-6D19-8793-65A0-836EA853BFB7}"/>
              </a:ext>
            </a:extLst>
          </p:cNvPr>
          <p:cNvSpPr>
            <a:spLocks noGrp="1"/>
          </p:cNvSpPr>
          <p:nvPr>
            <p:ph type="body" idx="1"/>
          </p:nvPr>
        </p:nvSpPr>
        <p:spPr>
          <a:xfrm>
            <a:off x="311700" y="1266324"/>
            <a:ext cx="8520600" cy="3483477"/>
          </a:xfrm>
        </p:spPr>
        <p:txBody>
          <a:bodyPr>
            <a:normAutofit lnSpcReduction="10000"/>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a:p>
            <a:pPr>
              <a:buFont typeface="+mj-lt"/>
              <a:buAutoNum type="arabicPeriod"/>
            </a:pPr>
            <a:r>
              <a:rPr lang="en-US" dirty="0"/>
              <a:t>Train the model to convergence or for a fixed number of epochs</a:t>
            </a:r>
          </a:p>
          <a:p>
            <a:pPr>
              <a:buFont typeface="+mj-lt"/>
              <a:buAutoNum type="arabicPeriod"/>
            </a:pPr>
            <a:r>
              <a:rPr lang="en-US" dirty="0"/>
              <a:t>Compute parameter importance (weight magnitude, gradients, etc.)</a:t>
            </a:r>
          </a:p>
          <a:p>
            <a:pPr>
              <a:buFont typeface="+mj-lt"/>
              <a:buAutoNum type="arabicPeriod"/>
            </a:pPr>
            <a:r>
              <a:rPr lang="en-US" dirty="0"/>
              <a:t>Prune a fraction of the least important parameters by setting them to zero (or removing them.)</a:t>
            </a:r>
          </a:p>
          <a:p>
            <a:pPr>
              <a:buFont typeface="+mj-lt"/>
              <a:buAutoNum type="arabicPeriod"/>
            </a:pPr>
            <a:r>
              <a:rPr lang="en-US" dirty="0"/>
              <a:t>Retrain on the remaining weights, either from the latest state or after “rewinding” to an earlier checkpoint.</a:t>
            </a:r>
          </a:p>
          <a:p>
            <a:pPr marL="114300" indent="0">
              <a:buNone/>
            </a:pPr>
            <a:endParaRPr lang="en-US" dirty="0"/>
          </a:p>
        </p:txBody>
      </p:sp>
      <p:sp>
        <p:nvSpPr>
          <p:cNvPr id="4" name="TextBox 3">
            <a:extLst>
              <a:ext uri="{FF2B5EF4-FFF2-40B4-BE49-F238E27FC236}">
                <a16:creationId xmlns:a16="http://schemas.microsoft.com/office/drawing/2014/main" id="{563EB9CD-7AC2-FE31-5FBC-56F0BDCAFD15}"/>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219765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E41F-B0AD-86D8-4A78-45F2CEDBC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0473E-B616-2071-D863-34078FD7522D}"/>
              </a:ext>
            </a:extLst>
          </p:cNvPr>
          <p:cNvSpPr>
            <a:spLocks noGrp="1"/>
          </p:cNvSpPr>
          <p:nvPr>
            <p:ph type="title"/>
          </p:nvPr>
        </p:nvSpPr>
        <p:spPr/>
        <p:txBody>
          <a:bodyPr>
            <a:normAutofit fontScale="90000"/>
          </a:bodyPr>
          <a:lstStyle/>
          <a:p>
            <a:r>
              <a:rPr lang="en-US" dirty="0"/>
              <a:t>Iterative pruning</a:t>
            </a:r>
          </a:p>
        </p:txBody>
      </p:sp>
      <p:sp>
        <p:nvSpPr>
          <p:cNvPr id="3" name="Text Placeholder 2">
            <a:extLst>
              <a:ext uri="{FF2B5EF4-FFF2-40B4-BE49-F238E27FC236}">
                <a16:creationId xmlns:a16="http://schemas.microsoft.com/office/drawing/2014/main" id="{07BED4F0-23F0-5B74-8D48-8625080F7D2B}"/>
              </a:ext>
            </a:extLst>
          </p:cNvPr>
          <p:cNvSpPr>
            <a:spLocks noGrp="1"/>
          </p:cNvSpPr>
          <p:nvPr>
            <p:ph type="body" idx="1"/>
          </p:nvPr>
        </p:nvSpPr>
        <p:spPr>
          <a:xfrm>
            <a:off x="311700" y="1266324"/>
            <a:ext cx="8520600" cy="3483477"/>
          </a:xfrm>
        </p:spPr>
        <p:txBody>
          <a:bodyPr>
            <a:normAutofit fontScale="92500" lnSpcReduction="10000"/>
          </a:bodyPr>
          <a:lstStyle/>
          <a:p>
            <a:pPr marL="114300" indent="0">
              <a:buNone/>
            </a:pPr>
            <a:r>
              <a:rPr lang="en-US" dirty="0"/>
              <a:t>Iterative pruning refines neural network architectures by progressively removing less important parameters or structures while fine-tuning the network to maintain performance.</a:t>
            </a:r>
            <a:r>
              <a:rPr lang="en-US" baseline="30000" dirty="0"/>
              <a:t>1</a:t>
            </a:r>
          </a:p>
          <a:p>
            <a:pPr marL="114300" indent="0">
              <a:buNone/>
            </a:pPr>
            <a:endParaRPr lang="en-US" dirty="0"/>
          </a:p>
          <a:p>
            <a:pPr marL="114300" indent="0">
              <a:buNone/>
            </a:pPr>
            <a:r>
              <a:rPr lang="en-US" dirty="0"/>
              <a:t>Iterative magnitude pruning:</a:t>
            </a:r>
          </a:p>
          <a:p>
            <a:pPr>
              <a:buFont typeface="+mj-lt"/>
              <a:buAutoNum type="arabicPeriod"/>
            </a:pPr>
            <a:r>
              <a:rPr lang="en-US" dirty="0"/>
              <a:t>Train the model to convergence or for a fixed number of epochs</a:t>
            </a:r>
          </a:p>
          <a:p>
            <a:pPr>
              <a:buFont typeface="+mj-lt"/>
              <a:buAutoNum type="arabicPeriod"/>
            </a:pPr>
            <a:r>
              <a:rPr lang="en-US" dirty="0"/>
              <a:t>Compute parameter importance (weight magnitude, gradients, etc.)</a:t>
            </a:r>
          </a:p>
          <a:p>
            <a:pPr>
              <a:buFont typeface="+mj-lt"/>
              <a:buAutoNum type="arabicPeriod"/>
            </a:pPr>
            <a:r>
              <a:rPr lang="en-US" dirty="0"/>
              <a:t>Prune a fraction of the least important parameters by setting them to zero (or removing them.)</a:t>
            </a:r>
          </a:p>
          <a:p>
            <a:pPr>
              <a:buFont typeface="+mj-lt"/>
              <a:buAutoNum type="arabicPeriod"/>
            </a:pPr>
            <a:r>
              <a:rPr lang="en-US" dirty="0"/>
              <a:t>Retrain on the remaining weights, either from the latest state or after “rewinding” to an earlier checkpoint.</a:t>
            </a:r>
          </a:p>
          <a:p>
            <a:pPr>
              <a:buFont typeface="+mj-lt"/>
              <a:buAutoNum type="arabicPeriod"/>
            </a:pPr>
            <a:r>
              <a:rPr lang="en-US" dirty="0"/>
              <a:t>Repeat 2-4 until desired sparsity is reached</a:t>
            </a:r>
          </a:p>
          <a:p>
            <a:pPr marL="114300" indent="0">
              <a:buNone/>
            </a:pPr>
            <a:endParaRPr lang="en-US" dirty="0"/>
          </a:p>
        </p:txBody>
      </p:sp>
      <p:sp>
        <p:nvSpPr>
          <p:cNvPr id="4" name="TextBox 3">
            <a:extLst>
              <a:ext uri="{FF2B5EF4-FFF2-40B4-BE49-F238E27FC236}">
                <a16:creationId xmlns:a16="http://schemas.microsoft.com/office/drawing/2014/main" id="{C7A199CD-80AD-1B12-7B28-C80F7DC36DDE}"/>
              </a:ext>
            </a:extLst>
          </p:cNvPr>
          <p:cNvSpPr txBox="1"/>
          <p:nvPr/>
        </p:nvSpPr>
        <p:spPr>
          <a:xfrm>
            <a:off x="533400" y="4749802"/>
            <a:ext cx="7950200" cy="230832"/>
          </a:xfrm>
          <a:prstGeom prst="rect">
            <a:avLst/>
          </a:prstGeom>
          <a:noFill/>
        </p:spPr>
        <p:txBody>
          <a:bodyPr wrap="square" rtlCol="0">
            <a:spAutoFit/>
          </a:bodyPr>
          <a:lstStyle/>
          <a:p>
            <a:r>
              <a:rPr lang="en-US" sz="9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Janusz, Wojnar, </a:t>
            </a:r>
            <a:r>
              <a:rPr lang="en-US" sz="900" dirty="0" err="1">
                <a:solidFill>
                  <a:schemeClr val="bg2"/>
                </a:solidFill>
                <a:latin typeface="Open Sans" panose="020B0606030504020204" pitchFamily="34" charset="0"/>
                <a:ea typeface="Open Sans" panose="020B0606030504020204" pitchFamily="34" charset="0"/>
                <a:cs typeface="Open Sans" panose="020B0606030504020204" pitchFamily="34" charset="0"/>
              </a:rPr>
              <a:t>et.al</a:t>
            </a:r>
            <a:r>
              <a:rPr lang="en-US" sz="900" dirty="0">
                <a:solidFill>
                  <a:schemeClr val="bg2"/>
                </a:solidFill>
                <a:latin typeface="Open Sans" panose="020B0606030504020204" pitchFamily="34" charset="0"/>
                <a:ea typeface="Open Sans" panose="020B0606030504020204" pitchFamily="34" charset="0"/>
                <a:cs typeface="Open Sans" panose="020B0606030504020204" pitchFamily="34" charset="0"/>
              </a:rPr>
              <a:t> One Shot vs. Iterative: Rethinking Pruning Strategies for Model Compression</a:t>
            </a:r>
            <a:endParaRPr lang="en-US" dirty="0"/>
          </a:p>
        </p:txBody>
      </p:sp>
    </p:spTree>
    <p:extLst>
      <p:ext uri="{BB962C8B-B14F-4D97-AF65-F5344CB8AC3E}">
        <p14:creationId xmlns:p14="http://schemas.microsoft.com/office/powerpoint/2010/main" val="41719973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4ECF-B365-F7DC-93B2-31EFBEC8A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AA74C-F6EA-4F22-6ADB-BA38B3F7D599}"/>
              </a:ext>
            </a:extLst>
          </p:cNvPr>
          <p:cNvSpPr>
            <a:spLocks noGrp="1"/>
          </p:cNvSpPr>
          <p:nvPr>
            <p:ph type="title"/>
          </p:nvPr>
        </p:nvSpPr>
        <p:spPr/>
        <p:txBody>
          <a:bodyPr>
            <a:normAutofit fontScale="90000"/>
          </a:bodyPr>
          <a:lstStyle/>
          <a:p>
            <a:r>
              <a:rPr lang="en-US" dirty="0"/>
              <a:t>One-shot pruning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7AA84FD-7AF8-7B5B-7ADE-D5F99D45D5CE}"/>
                  </a:ext>
                </a:extLst>
              </p:cNvPr>
              <p:cNvSpPr>
                <a:spLocks noGrp="1"/>
              </p:cNvSpPr>
              <p:nvPr>
                <p:ph type="body" idx="1"/>
              </p:nvPr>
            </p:nvSpPr>
            <p:spPr>
              <a:xfrm>
                <a:off x="311700" y="1266325"/>
                <a:ext cx="8520600" cy="3602008"/>
              </a:xfrm>
            </p:spPr>
            <p:txBody>
              <a:bodyPr>
                <a:normAutofit/>
              </a:bodyPr>
              <a:lstStyle/>
              <a:p>
                <a:pPr marL="114300" indent="0">
                  <a:buNone/>
                </a:pPr>
                <a:r>
                  <a:rPr lang="en-US" dirty="0"/>
                  <a:t>Let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𝑑</m:t>
                        </m:r>
                      </m:sup>
                    </m:sSup>
                  </m:oMath>
                </a14:m>
                <a:r>
                  <a:rPr lang="en-US" dirty="0"/>
                  <a:t> denote the network’s weight vector after training. A binary pruning mask </a:t>
                </a:r>
                <a14:m>
                  <m:oMath xmlns:m="http://schemas.openxmlformats.org/officeDocument/2006/math">
                    <m:r>
                      <a:rPr lang="en-US">
                        <a:latin typeface="Cambria Math" panose="02040503050406030204" pitchFamily="18" charset="0"/>
                      </a:rPr>
                      <m:t>𝑚</m:t>
                    </m:r>
                    <m:r>
                      <a:rPr lang="en-US">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0,1</m:t>
                    </m:r>
                    <m:sSup>
                      <m:sSupPr>
                        <m:ctrlPr>
                          <a:rPr lang="en-US" i="1">
                            <a:latin typeface="Cambria Math" panose="02040503050406030204" pitchFamily="18" charset="0"/>
                          </a:rPr>
                        </m:ctrlPr>
                      </m:sSupPr>
                      <m:e>
                        <m:r>
                          <m:rPr>
                            <m:lit/>
                          </m:rPr>
                          <a:rPr lang="en-US" i="1">
                            <a:latin typeface="Cambria Math" panose="02040503050406030204" pitchFamily="18" charset="0"/>
                          </a:rPr>
                          <m:t>}</m:t>
                        </m:r>
                      </m:e>
                      <m:sup>
                        <m:r>
                          <a:rPr lang="en-US" i="1">
                            <a:latin typeface="Cambria Math" panose="02040503050406030204" pitchFamily="18" charset="0"/>
                          </a:rPr>
                          <m:t>𝑑</m:t>
                        </m:r>
                      </m:sup>
                    </m:sSup>
                  </m:oMath>
                </a14:m>
                <a:r>
                  <a:rPr lang="en-US" dirty="0"/>
                  <a:t> selects a subnetwork via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m:rPr>
                            <m:nor/>
                          </m:rPr>
                          <a:rPr lang="en-US">
                            <a:latin typeface="Cambria Math" panose="02040503050406030204" pitchFamily="18" charset="0"/>
                          </a:rPr>
                          <m:t>sub</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𝜃</m:t>
                        </m:r>
                      </m:e>
                    </m:d>
                  </m:oMath>
                </a14:m>
                <a:r>
                  <a:rPr lang="en-US" dirty="0"/>
                  <a:t>. </a:t>
                </a:r>
              </a:p>
              <a:p>
                <a:pPr marL="114300" indent="0">
                  <a:buNone/>
                </a:pPr>
                <a:endParaRPr lang="en-US" dirty="0"/>
              </a:p>
              <a:p>
                <a:pPr marL="114300" indent="0">
                  <a:buNone/>
                </a:pPr>
                <a:r>
                  <a:rPr lang="en-US" dirty="0"/>
                  <a:t>Given a network and a target sparsity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oMath>
                </a14:m>
                <a:r>
                  <a:rPr lang="en-US" b="0" dirty="0"/>
                  <a:t>, the one-shot magnitude pruning mask sets exactly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 × </m:t>
                    </m:r>
                    <m:r>
                      <a:rPr lang="en-US" b="0" i="1" smtClean="0">
                        <a:latin typeface="Cambria Math" panose="02040503050406030204" pitchFamily="18" charset="0"/>
                      </a:rPr>
                      <m:t>𝑑</m:t>
                    </m:r>
                  </m:oMath>
                </a14:m>
                <a:r>
                  <a:rPr lang="en-US" b="0" dirty="0"/>
                  <a:t> of the smallest-magnitude weights to zero:</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inf</m:t>
                          </m:r>
                        </m:fName>
                        <m:e>
                          <m:r>
                            <m:rPr>
                              <m:lit/>
                            </m:rP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lit/>
                                </m:rP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&lt;</m:t>
                              </m:r>
                              <m:r>
                                <a:rPr lang="en-US" b="0" i="1" smtClean="0">
                                  <a:latin typeface="Cambria Math" panose="02040503050406030204" pitchFamily="18" charset="0"/>
                                </a:rPr>
                                <m:t>𝑡</m:t>
                              </m:r>
                              <m:r>
                                <m:rPr>
                                  <m:lit/>
                                </m:rP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𝑑</m:t>
                          </m:r>
                          <m:r>
                            <m:rPr>
                              <m:lit/>
                            </m:rPr>
                            <a:rPr lang="en-US" b="0" i="1" smtClean="0">
                              <a:latin typeface="Cambria Math" panose="02040503050406030204" pitchFamily="18" charset="0"/>
                            </a:rPr>
                            <m:t>}</m:t>
                          </m:r>
                        </m:e>
                      </m:func>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0</m:t>
                      </m:r>
                      <m:r>
                        <m:rPr>
                          <m:nor/>
                        </m:rPr>
                        <a:rPr lang="en-US" b="0" i="0" smtClean="0">
                          <a:latin typeface="Cambria Math" panose="02040503050406030204" pitchFamily="18" charset="0"/>
                        </a:rPr>
                        <m:t> </m:t>
                      </m:r>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&lt;</m:t>
                      </m:r>
                      <m:r>
                        <a:rPr lang="en-US" b="0" i="1" smtClean="0">
                          <a:latin typeface="Cambria Math" panose="02040503050406030204" pitchFamily="18" charset="0"/>
                        </a:rPr>
                        <m:t>𝜏</m:t>
                      </m:r>
                      <m:r>
                        <a:rPr lang="en-US" b="0" i="1" smtClean="0">
                          <a:latin typeface="Cambria Math" panose="02040503050406030204" pitchFamily="18" charset="0"/>
                        </a:rPr>
                        <m:t>,1</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otherwise</m:t>
                      </m:r>
                    </m:oMath>
                  </m:oMathPara>
                </a14:m>
                <a:endParaRPr lang="en-US" b="0" dirty="0"/>
              </a:p>
              <a:p>
                <a:pPr marL="114300" indent="0">
                  <a:buNone/>
                </a:pPr>
                <a:r>
                  <a:rPr lang="en-US" b="0" dirty="0"/>
                  <a:t>The subnetwork is defined by applying </a:t>
                </a:r>
                <a14:m>
                  <m:oMath xmlns:m="http://schemas.openxmlformats.org/officeDocument/2006/math">
                    <m:r>
                      <a:rPr lang="en-US" b="0" i="1" smtClean="0">
                        <a:latin typeface="Cambria Math" panose="02040503050406030204" pitchFamily="18" charset="0"/>
                      </a:rPr>
                      <m:t>𝑚</m:t>
                    </m:r>
                  </m:oMath>
                </a14:m>
                <a:r>
                  <a:rPr lang="en-US" b="0" dirty="0"/>
                  <a:t> to the weights at initialization or a “rewinding” point, and then training or fine-tuning the mask-fixed network to convergence</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57AA84FD-7AF8-7B5B-7ADE-D5F99D45D5CE}"/>
                  </a:ext>
                </a:extLst>
              </p:cNvPr>
              <p:cNvSpPr>
                <a:spLocks noGrp="1" noRot="1" noChangeAspect="1" noMove="1" noResize="1" noEditPoints="1" noAdjustHandles="1" noChangeArrowheads="1" noChangeShapeType="1" noTextEdit="1"/>
              </p:cNvSpPr>
              <p:nvPr>
                <p:ph type="body" idx="1"/>
              </p:nvPr>
            </p:nvSpPr>
            <p:spPr>
              <a:xfrm>
                <a:off x="311700" y="1266325"/>
                <a:ext cx="8520600" cy="3602008"/>
              </a:xfrm>
              <a:blipFill>
                <a:blip r:embed="rId3"/>
                <a:stretch>
                  <a:fillRect r="-1190"/>
                </a:stretch>
              </a:blipFill>
            </p:spPr>
            <p:txBody>
              <a:bodyPr/>
              <a:lstStyle/>
              <a:p>
                <a:r>
                  <a:rPr lang="en-US">
                    <a:noFill/>
                  </a:rPr>
                  <a:t> </a:t>
                </a:r>
              </a:p>
            </p:txBody>
          </p:sp>
        </mc:Fallback>
      </mc:AlternateContent>
    </p:spTree>
    <p:extLst>
      <p:ext uri="{BB962C8B-B14F-4D97-AF65-F5344CB8AC3E}">
        <p14:creationId xmlns:p14="http://schemas.microsoft.com/office/powerpoint/2010/main" val="329954422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27A4-B7E6-77F3-3F62-D2941ED4683F}"/>
              </a:ext>
            </a:extLst>
          </p:cNvPr>
          <p:cNvSpPr>
            <a:spLocks noGrp="1"/>
          </p:cNvSpPr>
          <p:nvPr>
            <p:ph type="title"/>
          </p:nvPr>
        </p:nvSpPr>
        <p:spPr/>
        <p:txBody>
          <a:bodyPr>
            <a:normAutofit fontScale="90000"/>
          </a:bodyPr>
          <a:lstStyle/>
          <a:p>
            <a:r>
              <a:rPr lang="en-US" dirty="0"/>
              <a:t>One-shot pruning</a:t>
            </a:r>
          </a:p>
        </p:txBody>
      </p:sp>
      <p:sp>
        <p:nvSpPr>
          <p:cNvPr id="3" name="Text Placeholder 2">
            <a:extLst>
              <a:ext uri="{FF2B5EF4-FFF2-40B4-BE49-F238E27FC236}">
                <a16:creationId xmlns:a16="http://schemas.microsoft.com/office/drawing/2014/main" id="{FA5AFB5B-C019-FF5A-2FB5-B54DDE66821C}"/>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p:txBody>
      </p:sp>
    </p:spTree>
    <p:extLst>
      <p:ext uri="{BB962C8B-B14F-4D97-AF65-F5344CB8AC3E}">
        <p14:creationId xmlns:p14="http://schemas.microsoft.com/office/powerpoint/2010/main" val="13015021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7623-466F-5C23-7EC8-8D137200F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9C801-81FC-13BA-536B-D3B5EEAF3BF9}"/>
              </a:ext>
            </a:extLst>
          </p:cNvPr>
          <p:cNvSpPr>
            <a:spLocks noGrp="1"/>
          </p:cNvSpPr>
          <p:nvPr>
            <p:ph type="title"/>
          </p:nvPr>
        </p:nvSpPr>
        <p:spPr/>
        <p:txBody>
          <a:bodyPr>
            <a:normAutofit fontScale="90000"/>
          </a:bodyPr>
          <a:lstStyle/>
          <a:p>
            <a:r>
              <a:rPr lang="en-US" dirty="0"/>
              <a:t>One-shot pruning</a:t>
            </a:r>
          </a:p>
        </p:txBody>
      </p:sp>
      <p:sp>
        <p:nvSpPr>
          <p:cNvPr id="3" name="Text Placeholder 2">
            <a:extLst>
              <a:ext uri="{FF2B5EF4-FFF2-40B4-BE49-F238E27FC236}">
                <a16:creationId xmlns:a16="http://schemas.microsoft.com/office/drawing/2014/main" id="{EF96BF34-5842-C812-04B6-6403B20731D1}"/>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p:txBody>
      </p:sp>
    </p:spTree>
    <p:extLst>
      <p:ext uri="{BB962C8B-B14F-4D97-AF65-F5344CB8AC3E}">
        <p14:creationId xmlns:p14="http://schemas.microsoft.com/office/powerpoint/2010/main" val="42802232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1305-192F-D6D4-31BD-0AC2F0901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75B5F-EFAA-D092-6A76-D7AB4B1B5EB8}"/>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75B0352-D072-4106-3017-1ACD4BDB38B2}"/>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p:txBody>
          </p:sp>
        </mc:Choice>
        <mc:Fallback xmlns="">
          <p:sp>
            <p:nvSpPr>
              <p:cNvPr id="3" name="Text Placeholder 2">
                <a:extLst>
                  <a:ext uri="{FF2B5EF4-FFF2-40B4-BE49-F238E27FC236}">
                    <a16:creationId xmlns:a16="http://schemas.microsoft.com/office/drawing/2014/main" id="{A75B0352-D072-4106-3017-1ACD4BDB38B2}"/>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257368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6272-F63D-2973-C0AB-B286F6F38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99861-1226-29C7-0397-E6176F096949}"/>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03E139E-B7E5-8D40-1496-80C08D8C529C}"/>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a:p>
                <a:pPr>
                  <a:buFont typeface="+mj-lt"/>
                  <a:buAutoNum type="arabicPeriod"/>
                </a:pPr>
                <a:r>
                  <a:rPr lang="en-US" b="0" dirty="0"/>
                  <a:t>Train dense network to convergence </a:t>
                </a:r>
                <a:r>
                  <a:rPr lang="en-US" b="0" dirty="0">
                    <a:sym typeface="Wingdings" pitchFamily="2" charset="2"/>
                  </a:rPr>
                  <a:t>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oMath>
                </a14:m>
                <a:endParaRPr lang="en-US" b="0" dirty="0">
                  <a:sym typeface="Wingdings" pitchFamily="2" charset="2"/>
                </a:endParaRPr>
              </a:p>
            </p:txBody>
          </p:sp>
        </mc:Choice>
        <mc:Fallback xmlns="">
          <p:sp>
            <p:nvSpPr>
              <p:cNvPr id="3" name="Text Placeholder 2">
                <a:extLst>
                  <a:ext uri="{FF2B5EF4-FFF2-40B4-BE49-F238E27FC236}">
                    <a16:creationId xmlns:a16="http://schemas.microsoft.com/office/drawing/2014/main" id="{F03E139E-B7E5-8D40-1496-80C08D8C529C}"/>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779792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3E610-398E-5D33-E818-84DDF2386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107AD-6AD4-86FE-DDD7-0215CB4BD968}"/>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2F01457-8AED-EE50-7DC1-4F07A391CA99}"/>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a:p>
                <a:pPr>
                  <a:buFont typeface="+mj-lt"/>
                  <a:buAutoNum type="arabicPeriod"/>
                </a:pPr>
                <a:r>
                  <a:rPr lang="en-US" b="0" dirty="0"/>
                  <a:t>Train dense network to convergence </a:t>
                </a:r>
                <a:r>
                  <a:rPr lang="en-US" b="0" dirty="0">
                    <a:sym typeface="Wingdings" pitchFamily="2" charset="2"/>
                  </a:rPr>
                  <a:t>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oMath>
                </a14:m>
                <a:endParaRPr lang="en-US" b="0" dirty="0">
                  <a:sym typeface="Wingdings" pitchFamily="2" charset="2"/>
                </a:endParaRPr>
              </a:p>
              <a:p>
                <a:pPr>
                  <a:buFont typeface="+mj-lt"/>
                  <a:buAutoNum type="arabicPeriod"/>
                </a:pPr>
                <a:r>
                  <a:rPr lang="en-US" b="0" dirty="0">
                    <a:sym typeface="Wingdings" pitchFamily="2" charset="2"/>
                  </a:rPr>
                  <a:t>Compute </a:t>
                </a:r>
                <a14:m>
                  <m:oMath xmlns:m="http://schemas.openxmlformats.org/officeDocument/2006/math">
                    <m:d>
                      <m:dPr>
                        <m:begChr m:val="|"/>
                        <m:endChr m:val="|"/>
                        <m:ctrlPr>
                          <a:rPr lang="en-US" b="0" i="1" smtClean="0">
                            <a:latin typeface="Cambria Math" panose="02040503050406030204" pitchFamily="18" charset="0"/>
                            <a:sym typeface="Wingdings" pitchFamily="2" charset="2"/>
                          </a:rPr>
                        </m:ctrlPr>
                      </m:dPr>
                      <m:e>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e>
                    </m:d>
                  </m:oMath>
                </a14:m>
                <a:r>
                  <a:rPr lang="en-US" b="0" dirty="0">
                    <a:sym typeface="Wingdings" pitchFamily="2" charset="2"/>
                  </a:rPr>
                  <a:t> and prune the </a:t>
                </a:r>
                <a14:m>
                  <m:oMath xmlns:m="http://schemas.openxmlformats.org/officeDocument/2006/math">
                    <m:r>
                      <a:rPr lang="en-US" b="0" i="1" smtClean="0">
                        <a:latin typeface="Cambria Math" panose="02040503050406030204" pitchFamily="18" charset="0"/>
                        <a:sym typeface="Wingdings" pitchFamily="2" charset="2"/>
                      </a:rPr>
                      <m:t>𝑠</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𝑑</m:t>
                    </m:r>
                  </m:oMath>
                </a14:m>
                <a:r>
                  <a:rPr lang="en-US" b="0" dirty="0">
                    <a:sym typeface="Wingdings" pitchFamily="2" charset="2"/>
                  </a:rPr>
                  <a:t> smallest entries, forming mask </a:t>
                </a:r>
                <a14:m>
                  <m:oMath xmlns:m="http://schemas.openxmlformats.org/officeDocument/2006/math">
                    <m:r>
                      <a:rPr lang="en-US" b="0" i="1" smtClean="0">
                        <a:latin typeface="Cambria Math" panose="02040503050406030204" pitchFamily="18" charset="0"/>
                        <a:sym typeface="Wingdings" pitchFamily="2" charset="2"/>
                      </a:rPr>
                      <m:t>𝑚</m:t>
                    </m:r>
                  </m:oMath>
                </a14:m>
                <a:endParaRPr lang="en-US" b="0" dirty="0">
                  <a:sym typeface="Wingdings" pitchFamily="2" charset="2"/>
                </a:endParaRPr>
              </a:p>
            </p:txBody>
          </p:sp>
        </mc:Choice>
        <mc:Fallback xmlns="">
          <p:sp>
            <p:nvSpPr>
              <p:cNvPr id="3" name="Text Placeholder 2">
                <a:extLst>
                  <a:ext uri="{FF2B5EF4-FFF2-40B4-BE49-F238E27FC236}">
                    <a16:creationId xmlns:a16="http://schemas.microsoft.com/office/drawing/2014/main" id="{22F01457-8AED-EE50-7DC1-4F07A391CA99}"/>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356469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EF251-D459-F307-64AA-7CA315F1A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C1FEB-269E-DDBB-218F-3178BE71B343}"/>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D814DD0-987B-C35B-930F-93AA2106EBF1}"/>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a:p>
                <a:pPr>
                  <a:buFont typeface="+mj-lt"/>
                  <a:buAutoNum type="arabicPeriod"/>
                </a:pPr>
                <a:r>
                  <a:rPr lang="en-US" b="0" dirty="0"/>
                  <a:t>Train dense network to convergence </a:t>
                </a:r>
                <a:r>
                  <a:rPr lang="en-US" b="0" dirty="0">
                    <a:sym typeface="Wingdings" pitchFamily="2" charset="2"/>
                  </a:rPr>
                  <a:t>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oMath>
                </a14:m>
                <a:endParaRPr lang="en-US" b="0" dirty="0">
                  <a:sym typeface="Wingdings" pitchFamily="2" charset="2"/>
                </a:endParaRPr>
              </a:p>
              <a:p>
                <a:pPr>
                  <a:buFont typeface="+mj-lt"/>
                  <a:buAutoNum type="arabicPeriod"/>
                </a:pPr>
                <a:r>
                  <a:rPr lang="en-US" b="0" dirty="0">
                    <a:sym typeface="Wingdings" pitchFamily="2" charset="2"/>
                  </a:rPr>
                  <a:t>Compute </a:t>
                </a:r>
                <a14:m>
                  <m:oMath xmlns:m="http://schemas.openxmlformats.org/officeDocument/2006/math">
                    <m:d>
                      <m:dPr>
                        <m:begChr m:val="|"/>
                        <m:endChr m:val="|"/>
                        <m:ctrlPr>
                          <a:rPr lang="en-US" b="0" i="1" smtClean="0">
                            <a:latin typeface="Cambria Math" panose="02040503050406030204" pitchFamily="18" charset="0"/>
                            <a:sym typeface="Wingdings" pitchFamily="2" charset="2"/>
                          </a:rPr>
                        </m:ctrlPr>
                      </m:dPr>
                      <m:e>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e>
                    </m:d>
                  </m:oMath>
                </a14:m>
                <a:r>
                  <a:rPr lang="en-US" b="0" dirty="0">
                    <a:sym typeface="Wingdings" pitchFamily="2" charset="2"/>
                  </a:rPr>
                  <a:t> and prune the </a:t>
                </a:r>
                <a14:m>
                  <m:oMath xmlns:m="http://schemas.openxmlformats.org/officeDocument/2006/math">
                    <m:r>
                      <a:rPr lang="en-US" b="0" i="1" smtClean="0">
                        <a:latin typeface="Cambria Math" panose="02040503050406030204" pitchFamily="18" charset="0"/>
                        <a:sym typeface="Wingdings" pitchFamily="2" charset="2"/>
                      </a:rPr>
                      <m:t>𝑠</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𝑑</m:t>
                    </m:r>
                  </m:oMath>
                </a14:m>
                <a:r>
                  <a:rPr lang="en-US" b="0" dirty="0">
                    <a:sym typeface="Wingdings" pitchFamily="2" charset="2"/>
                  </a:rPr>
                  <a:t> smallest entries, forming mask </a:t>
                </a:r>
                <a14:m>
                  <m:oMath xmlns:m="http://schemas.openxmlformats.org/officeDocument/2006/math">
                    <m:r>
                      <a:rPr lang="en-US" b="0" i="1" smtClean="0">
                        <a:latin typeface="Cambria Math" panose="02040503050406030204" pitchFamily="18" charset="0"/>
                        <a:sym typeface="Wingdings" pitchFamily="2" charset="2"/>
                      </a:rPr>
                      <m:t>𝑚</m:t>
                    </m:r>
                  </m:oMath>
                </a14:m>
                <a:endParaRPr lang="en-US" b="0" dirty="0">
                  <a:sym typeface="Wingdings" pitchFamily="2" charset="2"/>
                </a:endParaRPr>
              </a:p>
              <a:p>
                <a:pPr>
                  <a:buFont typeface="+mj-lt"/>
                  <a:buAutoNum type="arabicPeriod"/>
                </a:pPr>
                <a:r>
                  <a:rPr lang="en-US" dirty="0">
                    <a:sym typeface="Wingdings" pitchFamily="2" charset="2"/>
                  </a:rPr>
                  <a:t>Optionally rewind to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0</m:t>
                        </m:r>
                      </m:sub>
                    </m:sSub>
                  </m:oMath>
                </a14:m>
                <a:r>
                  <a:rPr lang="en-US" b="0" dirty="0">
                    <a:sym typeface="Wingdings" pitchFamily="2" charset="2"/>
                  </a:rPr>
                  <a:t> (or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 </m:t>
                        </m:r>
                      </m:sub>
                    </m:sSub>
                    <m:r>
                      <m:rPr>
                        <m:nor/>
                      </m:rPr>
                      <a:rPr lang="en-US" b="0" i="0" smtClean="0">
                        <a:latin typeface="Cambria Math" panose="02040503050406030204" pitchFamily="18" charset="0"/>
                        <a:sym typeface="Wingdings" pitchFamily="2" charset="2"/>
                      </a:rPr>
                      <m:t>for</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&lt;</m:t>
                    </m:r>
                    <m:r>
                      <a:rPr lang="en-US" b="0" i="1" smtClean="0">
                        <a:latin typeface="Cambria Math" panose="02040503050406030204" pitchFamily="18" charset="0"/>
                        <a:sym typeface="Wingdings" pitchFamily="2" charset="2"/>
                      </a:rPr>
                      <m:t>𝑇</m:t>
                    </m:r>
                  </m:oMath>
                </a14:m>
                <a:r>
                  <a:rPr lang="en-US" b="0" dirty="0">
                    <a:sym typeface="Wingdings" pitchFamily="2" charset="2"/>
                  </a:rPr>
                  <a:t>)</a:t>
                </a:r>
              </a:p>
            </p:txBody>
          </p:sp>
        </mc:Choice>
        <mc:Fallback xmlns="">
          <p:sp>
            <p:nvSpPr>
              <p:cNvPr id="3" name="Text Placeholder 2">
                <a:extLst>
                  <a:ext uri="{FF2B5EF4-FFF2-40B4-BE49-F238E27FC236}">
                    <a16:creationId xmlns:a16="http://schemas.microsoft.com/office/drawing/2014/main" id="{4D814DD0-987B-C35B-930F-93AA2106EBF1}"/>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149046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DF8B8-BA39-9185-D5EF-DEF989F5B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F440C-693F-BA9F-8139-39BD3C06AF35}"/>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4A7B53-BB89-32C6-3534-A5CD5935AF2E}"/>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a:p>
                <a:pPr>
                  <a:buFont typeface="+mj-lt"/>
                  <a:buAutoNum type="arabicPeriod"/>
                </a:pPr>
                <a:r>
                  <a:rPr lang="en-US" b="0" dirty="0"/>
                  <a:t>Train dense network to convergence </a:t>
                </a:r>
                <a:r>
                  <a:rPr lang="en-US" b="0" dirty="0">
                    <a:sym typeface="Wingdings" pitchFamily="2" charset="2"/>
                  </a:rPr>
                  <a:t>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oMath>
                </a14:m>
                <a:endParaRPr lang="en-US" b="0" dirty="0">
                  <a:sym typeface="Wingdings" pitchFamily="2" charset="2"/>
                </a:endParaRPr>
              </a:p>
              <a:p>
                <a:pPr>
                  <a:buFont typeface="+mj-lt"/>
                  <a:buAutoNum type="arabicPeriod"/>
                </a:pPr>
                <a:r>
                  <a:rPr lang="en-US" b="0" dirty="0">
                    <a:sym typeface="Wingdings" pitchFamily="2" charset="2"/>
                  </a:rPr>
                  <a:t>Compute </a:t>
                </a:r>
                <a14:m>
                  <m:oMath xmlns:m="http://schemas.openxmlformats.org/officeDocument/2006/math">
                    <m:d>
                      <m:dPr>
                        <m:begChr m:val="|"/>
                        <m:endChr m:val="|"/>
                        <m:ctrlPr>
                          <a:rPr lang="en-US" b="0" i="1" smtClean="0">
                            <a:latin typeface="Cambria Math" panose="02040503050406030204" pitchFamily="18" charset="0"/>
                            <a:sym typeface="Wingdings" pitchFamily="2" charset="2"/>
                          </a:rPr>
                        </m:ctrlPr>
                      </m:dPr>
                      <m:e>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e>
                    </m:d>
                  </m:oMath>
                </a14:m>
                <a:r>
                  <a:rPr lang="en-US" b="0" dirty="0">
                    <a:sym typeface="Wingdings" pitchFamily="2" charset="2"/>
                  </a:rPr>
                  <a:t> and prune the </a:t>
                </a:r>
                <a14:m>
                  <m:oMath xmlns:m="http://schemas.openxmlformats.org/officeDocument/2006/math">
                    <m:r>
                      <a:rPr lang="en-US" b="0" i="1" smtClean="0">
                        <a:latin typeface="Cambria Math" panose="02040503050406030204" pitchFamily="18" charset="0"/>
                        <a:sym typeface="Wingdings" pitchFamily="2" charset="2"/>
                      </a:rPr>
                      <m:t>𝑠</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𝑑</m:t>
                    </m:r>
                  </m:oMath>
                </a14:m>
                <a:r>
                  <a:rPr lang="en-US" b="0" dirty="0">
                    <a:sym typeface="Wingdings" pitchFamily="2" charset="2"/>
                  </a:rPr>
                  <a:t> smallest entries, forming mask </a:t>
                </a:r>
                <a14:m>
                  <m:oMath xmlns:m="http://schemas.openxmlformats.org/officeDocument/2006/math">
                    <m:r>
                      <a:rPr lang="en-US" b="0" i="1" smtClean="0">
                        <a:latin typeface="Cambria Math" panose="02040503050406030204" pitchFamily="18" charset="0"/>
                        <a:sym typeface="Wingdings" pitchFamily="2" charset="2"/>
                      </a:rPr>
                      <m:t>𝑚</m:t>
                    </m:r>
                  </m:oMath>
                </a14:m>
                <a:endParaRPr lang="en-US" b="0" dirty="0">
                  <a:sym typeface="Wingdings" pitchFamily="2" charset="2"/>
                </a:endParaRPr>
              </a:p>
              <a:p>
                <a:pPr>
                  <a:buFont typeface="+mj-lt"/>
                  <a:buAutoNum type="arabicPeriod"/>
                </a:pPr>
                <a:r>
                  <a:rPr lang="en-US" dirty="0">
                    <a:sym typeface="Wingdings" pitchFamily="2" charset="2"/>
                  </a:rPr>
                  <a:t>Optionally rewind to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0</m:t>
                        </m:r>
                      </m:sub>
                    </m:sSub>
                  </m:oMath>
                </a14:m>
                <a:r>
                  <a:rPr lang="en-US" b="0" dirty="0">
                    <a:sym typeface="Wingdings" pitchFamily="2" charset="2"/>
                  </a:rPr>
                  <a:t> (or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 </m:t>
                        </m:r>
                      </m:sub>
                    </m:sSub>
                    <m:r>
                      <m:rPr>
                        <m:nor/>
                      </m:rPr>
                      <a:rPr lang="en-US" b="0" i="0" smtClean="0">
                        <a:latin typeface="Cambria Math" panose="02040503050406030204" pitchFamily="18" charset="0"/>
                        <a:sym typeface="Wingdings" pitchFamily="2" charset="2"/>
                      </a:rPr>
                      <m:t>for</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&lt;</m:t>
                    </m:r>
                    <m:r>
                      <a:rPr lang="en-US" b="0" i="1" smtClean="0">
                        <a:latin typeface="Cambria Math" panose="02040503050406030204" pitchFamily="18" charset="0"/>
                        <a:sym typeface="Wingdings" pitchFamily="2" charset="2"/>
                      </a:rPr>
                      <m:t>𝑇</m:t>
                    </m:r>
                  </m:oMath>
                </a14:m>
                <a:r>
                  <a:rPr lang="en-US" b="0" dirty="0">
                    <a:sym typeface="Wingdings" pitchFamily="2" charset="2"/>
                  </a:rPr>
                  <a:t>)</a:t>
                </a:r>
              </a:p>
              <a:p>
                <a:pPr>
                  <a:buFont typeface="+mj-lt"/>
                  <a:buAutoNum type="arabicPeriod"/>
                </a:pPr>
                <a:r>
                  <a:rPr lang="en-US" dirty="0">
                    <a:sym typeface="Wingdings" pitchFamily="2" charset="2"/>
                  </a:rPr>
                  <a:t>Train </a:t>
                </a:r>
                <a14:m>
                  <m:oMath xmlns:m="http://schemas.openxmlformats.org/officeDocument/2006/math">
                    <m:r>
                      <a:rPr lang="en-US" b="0" i="1" smtClean="0">
                        <a:latin typeface="Cambria Math" panose="02040503050406030204" pitchFamily="18" charset="0"/>
                        <a:sym typeface="Wingdings" pitchFamily="2" charset="2"/>
                      </a:rPr>
                      <m:t>𝑓</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𝑚</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𝜃</m:t>
                        </m:r>
                      </m:e>
                    </m:d>
                  </m:oMath>
                </a14:m>
                <a:r>
                  <a:rPr lang="en-US" b="0" dirty="0">
                    <a:sym typeface="Wingdings" pitchFamily="2" charset="2"/>
                  </a:rPr>
                  <a:t> to convergence</a:t>
                </a: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p>
            </p:txBody>
          </p:sp>
        </mc:Choice>
        <mc:Fallback xmlns="">
          <p:sp>
            <p:nvSpPr>
              <p:cNvPr id="3" name="Text Placeholder 2">
                <a:extLst>
                  <a:ext uri="{FF2B5EF4-FFF2-40B4-BE49-F238E27FC236}">
                    <a16:creationId xmlns:a16="http://schemas.microsoft.com/office/drawing/2014/main" id="{3B4A7B53-BB89-32C6-3534-A5CD5935AF2E}"/>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8359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57D91-7DBE-D648-C267-3976E210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AAB4F-D363-BB41-352E-0C2B5EEE4D79}"/>
              </a:ext>
            </a:extLst>
          </p:cNvPr>
          <p:cNvSpPr>
            <a:spLocks noGrp="1"/>
          </p:cNvSpPr>
          <p:nvPr>
            <p:ph type="title"/>
          </p:nvPr>
        </p:nvSpPr>
        <p:spPr/>
        <p:txBody>
          <a:bodyPr>
            <a:normAutofit fontScale="90000"/>
          </a:bodyPr>
          <a:lstStyle/>
          <a:p>
            <a:r>
              <a:rPr lang="en-US" dirty="0"/>
              <a:t>One-shot pruning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FE321A5-C2D7-6DA0-8F4E-652A57F712BF}"/>
                  </a:ext>
                </a:extLst>
              </p:cNvPr>
              <p:cNvSpPr>
                <a:spLocks noGrp="1"/>
              </p:cNvSpPr>
              <p:nvPr>
                <p:ph type="body" idx="1"/>
              </p:nvPr>
            </p:nvSpPr>
            <p:spPr>
              <a:xfrm>
                <a:off x="311700" y="1266325"/>
                <a:ext cx="8520600" cy="3568142"/>
              </a:xfrm>
            </p:spPr>
            <p:txBody>
              <a:bodyPr>
                <a:normAutofit/>
              </a:bodyPr>
              <a:lstStyle/>
              <a:p>
                <a:pPr marL="114300" indent="0">
                  <a:buNone/>
                </a:pPr>
                <a:r>
                  <a:rPr lang="en-US" dirty="0"/>
                  <a:t>Identify a sparse subnetwork by directly zeroing the smallest-magnitude weights in a single pruning step</a:t>
                </a:r>
              </a:p>
              <a:p>
                <a:pPr marL="114300" indent="0">
                  <a:buNone/>
                </a:pPr>
                <a:endParaRPr lang="en-US" dirty="0"/>
              </a:p>
              <a:p>
                <a:pPr marL="114300" indent="0">
                  <a:buNone/>
                </a:pPr>
                <a:r>
                  <a:rPr lang="en-US" dirty="0"/>
                  <a:t>Typical steps:</a:t>
                </a:r>
              </a:p>
              <a:p>
                <a:pPr>
                  <a:buFont typeface="+mj-lt"/>
                  <a:buAutoNum type="arabicPeriod"/>
                </a:pPr>
                <a:r>
                  <a:rPr lang="en-US" dirty="0"/>
                  <a:t>Initialize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a14:m>
                <a:endParaRPr lang="en-US" dirty="0"/>
              </a:p>
              <a:p>
                <a:pPr>
                  <a:buFont typeface="+mj-lt"/>
                  <a:buAutoNum type="arabicPeriod"/>
                </a:pPr>
                <a:r>
                  <a:rPr lang="en-US" b="0" dirty="0"/>
                  <a:t>Train dense network to convergence </a:t>
                </a:r>
                <a:r>
                  <a:rPr lang="en-US" b="0" dirty="0">
                    <a:sym typeface="Wingdings" pitchFamily="2" charset="2"/>
                  </a:rPr>
                  <a:t>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oMath>
                </a14:m>
                <a:endParaRPr lang="en-US" b="0" dirty="0">
                  <a:sym typeface="Wingdings" pitchFamily="2" charset="2"/>
                </a:endParaRPr>
              </a:p>
              <a:p>
                <a:pPr>
                  <a:buFont typeface="+mj-lt"/>
                  <a:buAutoNum type="arabicPeriod"/>
                </a:pPr>
                <a:r>
                  <a:rPr lang="en-US" b="0" dirty="0">
                    <a:sym typeface="Wingdings" pitchFamily="2" charset="2"/>
                  </a:rPr>
                  <a:t>Compute </a:t>
                </a:r>
                <a14:m>
                  <m:oMath xmlns:m="http://schemas.openxmlformats.org/officeDocument/2006/math">
                    <m:d>
                      <m:dPr>
                        <m:begChr m:val="|"/>
                        <m:endChr m:val="|"/>
                        <m:ctrlPr>
                          <a:rPr lang="en-US" b="0" i="1" smtClean="0">
                            <a:latin typeface="Cambria Math" panose="02040503050406030204" pitchFamily="18" charset="0"/>
                            <a:sym typeface="Wingdings" pitchFamily="2" charset="2"/>
                          </a:rPr>
                        </m:ctrlPr>
                      </m:dPr>
                      <m:e>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𝑇</m:t>
                            </m:r>
                          </m:sub>
                        </m:sSub>
                      </m:e>
                    </m:d>
                  </m:oMath>
                </a14:m>
                <a:r>
                  <a:rPr lang="en-US" b="0" dirty="0">
                    <a:sym typeface="Wingdings" pitchFamily="2" charset="2"/>
                  </a:rPr>
                  <a:t> and prune the </a:t>
                </a:r>
                <a14:m>
                  <m:oMath xmlns:m="http://schemas.openxmlformats.org/officeDocument/2006/math">
                    <m:r>
                      <a:rPr lang="en-US" b="0" i="1" smtClean="0">
                        <a:latin typeface="Cambria Math" panose="02040503050406030204" pitchFamily="18" charset="0"/>
                        <a:sym typeface="Wingdings" pitchFamily="2" charset="2"/>
                      </a:rPr>
                      <m:t>𝑠</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𝑑</m:t>
                    </m:r>
                  </m:oMath>
                </a14:m>
                <a:r>
                  <a:rPr lang="en-US" b="0" dirty="0">
                    <a:sym typeface="Wingdings" pitchFamily="2" charset="2"/>
                  </a:rPr>
                  <a:t> smallest entries, forming mask </a:t>
                </a:r>
                <a14:m>
                  <m:oMath xmlns:m="http://schemas.openxmlformats.org/officeDocument/2006/math">
                    <m:r>
                      <a:rPr lang="en-US" b="0" i="1" smtClean="0">
                        <a:latin typeface="Cambria Math" panose="02040503050406030204" pitchFamily="18" charset="0"/>
                        <a:sym typeface="Wingdings" pitchFamily="2" charset="2"/>
                      </a:rPr>
                      <m:t>𝑚</m:t>
                    </m:r>
                  </m:oMath>
                </a14:m>
                <a:endParaRPr lang="en-US" b="0" dirty="0">
                  <a:sym typeface="Wingdings" pitchFamily="2" charset="2"/>
                </a:endParaRPr>
              </a:p>
              <a:p>
                <a:pPr>
                  <a:buFont typeface="+mj-lt"/>
                  <a:buAutoNum type="arabicPeriod"/>
                </a:pPr>
                <a:r>
                  <a:rPr lang="en-US" dirty="0">
                    <a:sym typeface="Wingdings" pitchFamily="2" charset="2"/>
                  </a:rPr>
                  <a:t>Optionally rewind to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0</m:t>
                        </m:r>
                      </m:sub>
                    </m:sSub>
                  </m:oMath>
                </a14:m>
                <a:r>
                  <a:rPr lang="en-US" b="0" dirty="0">
                    <a:sym typeface="Wingdings" pitchFamily="2" charset="2"/>
                  </a:rPr>
                  <a:t> (or </a:t>
                </a:r>
                <a14:m>
                  <m:oMath xmlns:m="http://schemas.openxmlformats.org/officeDocument/2006/math">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𝜃</m:t>
                        </m:r>
                      </m:e>
                      <m:sub>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 </m:t>
                        </m:r>
                      </m:sub>
                    </m:sSub>
                    <m:r>
                      <m:rPr>
                        <m:nor/>
                      </m:rPr>
                      <a:rPr lang="en-US" b="0" i="0" smtClean="0">
                        <a:latin typeface="Cambria Math" panose="02040503050406030204" pitchFamily="18" charset="0"/>
                        <a:sym typeface="Wingdings" pitchFamily="2" charset="2"/>
                      </a:rPr>
                      <m:t>for</m:t>
                    </m:r>
                    <m:r>
                      <a:rPr lang="en-US" b="0" i="1"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&lt;</m:t>
                    </m:r>
                    <m:r>
                      <a:rPr lang="en-US" b="0" i="1" smtClean="0">
                        <a:latin typeface="Cambria Math" panose="02040503050406030204" pitchFamily="18" charset="0"/>
                        <a:sym typeface="Wingdings" pitchFamily="2" charset="2"/>
                      </a:rPr>
                      <m:t>𝑇</m:t>
                    </m:r>
                  </m:oMath>
                </a14:m>
                <a:r>
                  <a:rPr lang="en-US" b="0" dirty="0">
                    <a:sym typeface="Wingdings" pitchFamily="2" charset="2"/>
                  </a:rPr>
                  <a:t>)</a:t>
                </a:r>
              </a:p>
              <a:p>
                <a:pPr>
                  <a:buFont typeface="+mj-lt"/>
                  <a:buAutoNum type="arabicPeriod"/>
                </a:pPr>
                <a:r>
                  <a:rPr lang="en-US" dirty="0">
                    <a:sym typeface="Wingdings" pitchFamily="2" charset="2"/>
                  </a:rPr>
                  <a:t>Train </a:t>
                </a:r>
                <a14:m>
                  <m:oMath xmlns:m="http://schemas.openxmlformats.org/officeDocument/2006/math">
                    <m:r>
                      <a:rPr lang="en-US" b="0" i="1" smtClean="0">
                        <a:latin typeface="Cambria Math" panose="02040503050406030204" pitchFamily="18" charset="0"/>
                        <a:sym typeface="Wingdings" pitchFamily="2" charset="2"/>
                      </a:rPr>
                      <m:t>𝑓</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𝑥</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𝑚</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𝜃</m:t>
                        </m:r>
                      </m:e>
                    </m:d>
                  </m:oMath>
                </a14:m>
                <a:r>
                  <a:rPr lang="en-US" b="0" dirty="0">
                    <a:sym typeface="Wingdings" pitchFamily="2" charset="2"/>
                  </a:rPr>
                  <a:t> to convergence</a:t>
                </a:r>
              </a:p>
              <a:p>
                <a:pPr>
                  <a:buFont typeface="+mj-lt"/>
                  <a:buAutoNum type="arabicPeriod"/>
                </a:pPr>
                <a:r>
                  <a:rPr lang="en-US" dirty="0">
                    <a:sym typeface="Wingdings" pitchFamily="2" charset="2"/>
                  </a:rPr>
                  <a:t>Evaluate performance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p>
            </p:txBody>
          </p:sp>
        </mc:Choice>
        <mc:Fallback xmlns="">
          <p:sp>
            <p:nvSpPr>
              <p:cNvPr id="3" name="Text Placeholder 2">
                <a:extLst>
                  <a:ext uri="{FF2B5EF4-FFF2-40B4-BE49-F238E27FC236}">
                    <a16:creationId xmlns:a16="http://schemas.microsoft.com/office/drawing/2014/main" id="{4FE321A5-C2D7-6DA0-8F4E-652A57F712BF}"/>
                  </a:ext>
                </a:extLst>
              </p:cNvPr>
              <p:cNvSpPr>
                <a:spLocks noGrp="1" noRot="1" noChangeAspect="1" noMove="1" noResize="1" noEditPoints="1" noAdjustHandles="1" noChangeArrowheads="1" noChangeShapeType="1" noTextEdit="1"/>
              </p:cNvSpPr>
              <p:nvPr>
                <p:ph type="body" idx="1"/>
              </p:nvPr>
            </p:nvSpPr>
            <p:spPr>
              <a:xfrm>
                <a:off x="311700" y="1266325"/>
                <a:ext cx="8520600" cy="3568142"/>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507707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86213-563B-B680-B20C-9C286282A935}"/>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4C556DDF-0523-E7AD-3D5F-D3291FA5C416}"/>
              </a:ext>
            </a:extLst>
          </p:cNvPr>
          <p:cNvSpPr>
            <a:spLocks noGrp="1"/>
          </p:cNvSpPr>
          <p:nvPr>
            <p:ph type="body" idx="1"/>
          </p:nvPr>
        </p:nvSpPr>
        <p:spPr/>
        <p:txBody>
          <a:bodyPr/>
          <a:lstStyle/>
          <a:p>
            <a:r>
              <a:rPr lang="en-US" dirty="0"/>
              <a:t>Aims to transfer the learnings of a large pre-trained model, the “teacher” model, to a smaller “student” model. </a:t>
            </a:r>
          </a:p>
        </p:txBody>
      </p:sp>
    </p:spTree>
    <p:extLst>
      <p:ext uri="{BB962C8B-B14F-4D97-AF65-F5344CB8AC3E}">
        <p14:creationId xmlns:p14="http://schemas.microsoft.com/office/powerpoint/2010/main" val="10383161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AE88-3F9D-70C0-5834-DB2DBC7C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BAACC-D945-14F6-7345-DAD3EC55EBE5}"/>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999FDC3B-5769-BBD0-BC3F-4D3291279307}"/>
              </a:ext>
            </a:extLst>
          </p:cNvPr>
          <p:cNvSpPr>
            <a:spLocks noGrp="1"/>
          </p:cNvSpPr>
          <p:nvPr>
            <p:ph type="body" idx="1"/>
          </p:nvPr>
        </p:nvSpPr>
        <p:spPr/>
        <p:txBody>
          <a:bodyPr/>
          <a:lstStyle/>
          <a:p>
            <a:r>
              <a:rPr lang="en-US" dirty="0"/>
              <a:t>Aims to transfer the learnings of a large pre-trained model, the “teacher” model, to a smaller “student” model. </a:t>
            </a:r>
          </a:p>
          <a:p>
            <a:pPr lvl="1"/>
            <a:r>
              <a:rPr lang="en-US" dirty="0"/>
              <a:t>Used as a form of model compression and knowledge transfer</a:t>
            </a:r>
          </a:p>
        </p:txBody>
      </p:sp>
    </p:spTree>
    <p:extLst>
      <p:ext uri="{BB962C8B-B14F-4D97-AF65-F5344CB8AC3E}">
        <p14:creationId xmlns:p14="http://schemas.microsoft.com/office/powerpoint/2010/main" val="11493723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0E83-7E45-4BF1-24BC-47C490A4A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3E489-B3A6-B0C8-6FCF-E824A1C4331B}"/>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74A11F14-E33E-A049-B59A-99A705A2BB1B}"/>
              </a:ext>
            </a:extLst>
          </p:cNvPr>
          <p:cNvSpPr>
            <a:spLocks noGrp="1"/>
          </p:cNvSpPr>
          <p:nvPr>
            <p:ph type="body" idx="1"/>
          </p:nvPr>
        </p:nvSpPr>
        <p:spPr/>
        <p:txBody>
          <a:bodyPr/>
          <a:lstStyle/>
          <a:p>
            <a:r>
              <a:rPr lang="en-US" dirty="0"/>
              <a:t>Aims to transfer the learnings of a large pre-trained model, the “teacher” model, to a smaller “student” model. </a:t>
            </a:r>
          </a:p>
          <a:p>
            <a:pPr lvl="1"/>
            <a:r>
              <a:rPr lang="en-US" dirty="0"/>
              <a:t>Used as a form of model compression and knowledge transfer</a:t>
            </a:r>
          </a:p>
          <a:p>
            <a:pPr lvl="1"/>
            <a:r>
              <a:rPr lang="en-US" dirty="0"/>
              <a:t>Particularly useful for massive neural networks</a:t>
            </a:r>
          </a:p>
        </p:txBody>
      </p:sp>
    </p:spTree>
    <p:extLst>
      <p:ext uri="{BB962C8B-B14F-4D97-AF65-F5344CB8AC3E}">
        <p14:creationId xmlns:p14="http://schemas.microsoft.com/office/powerpoint/2010/main" val="17874349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1677C-1E15-38B9-D1BC-26B4070BE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1B941-490B-0E1D-17E1-11B52449571B}"/>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CAC33590-3852-CE9B-55B2-A6E590167D93}"/>
              </a:ext>
            </a:extLst>
          </p:cNvPr>
          <p:cNvSpPr>
            <a:spLocks noGrp="1"/>
          </p:cNvSpPr>
          <p:nvPr>
            <p:ph type="body" idx="1"/>
          </p:nvPr>
        </p:nvSpPr>
        <p:spPr/>
        <p:txBody>
          <a:bodyPr/>
          <a:lstStyle/>
          <a:p>
            <a:r>
              <a:rPr lang="en-US" dirty="0"/>
              <a:t>Aims to transfer the learnings of a large pre-trained model, the “teacher” model, to a smaller “student” model. </a:t>
            </a:r>
          </a:p>
          <a:p>
            <a:pPr lvl="1"/>
            <a:r>
              <a:rPr lang="en-US" dirty="0"/>
              <a:t>Used as a form of model compression and knowledge transfer</a:t>
            </a:r>
          </a:p>
          <a:p>
            <a:pPr lvl="1"/>
            <a:r>
              <a:rPr lang="en-US" dirty="0"/>
              <a:t>Particularly useful for massive neural networks</a:t>
            </a:r>
          </a:p>
          <a:p>
            <a:r>
              <a:rPr lang="en-US" dirty="0"/>
              <a:t>We want to train the student network to match the predictions and thought process of the teacher network</a:t>
            </a:r>
          </a:p>
        </p:txBody>
      </p:sp>
    </p:spTree>
    <p:extLst>
      <p:ext uri="{BB962C8B-B14F-4D97-AF65-F5344CB8AC3E}">
        <p14:creationId xmlns:p14="http://schemas.microsoft.com/office/powerpoint/2010/main" val="13905912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D7EA-07EA-725A-CA84-1C4AAB7C2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ED157-08F6-D148-3CC1-D5F679D1793F}"/>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4D63F7A8-D406-7EC5-9B3B-EBE3758EC7C4}"/>
              </a:ext>
            </a:extLst>
          </p:cNvPr>
          <p:cNvSpPr>
            <a:spLocks noGrp="1"/>
          </p:cNvSpPr>
          <p:nvPr>
            <p:ph type="body" idx="1"/>
          </p:nvPr>
        </p:nvSpPr>
        <p:spPr/>
        <p:txBody>
          <a:bodyPr/>
          <a:lstStyle/>
          <a:p>
            <a:r>
              <a:rPr lang="en-US" dirty="0"/>
              <a:t>Aims to transfer the learnings of a large pre-trained model, the “teacher” model, to a smaller “student” model. </a:t>
            </a:r>
          </a:p>
          <a:p>
            <a:pPr lvl="1"/>
            <a:r>
              <a:rPr lang="en-US" dirty="0"/>
              <a:t>Used as a form of model compression and knowledge transfer</a:t>
            </a:r>
          </a:p>
          <a:p>
            <a:pPr lvl="1"/>
            <a:r>
              <a:rPr lang="en-US" dirty="0"/>
              <a:t>Particularly useful for massive neural networks</a:t>
            </a:r>
          </a:p>
          <a:p>
            <a:r>
              <a:rPr lang="en-US" dirty="0"/>
              <a:t>We want to train the student network to match the predictions and thought process of the teacher network</a:t>
            </a:r>
          </a:p>
          <a:p>
            <a:pPr lvl="1"/>
            <a:r>
              <a:rPr lang="en-US" dirty="0"/>
              <a:t>Introduce a new type of cost function to see how the student’s reasoning deviates from the teacher: distillation loss</a:t>
            </a:r>
          </a:p>
        </p:txBody>
      </p:sp>
    </p:spTree>
    <p:extLst>
      <p:ext uri="{BB962C8B-B14F-4D97-AF65-F5344CB8AC3E}">
        <p14:creationId xmlns:p14="http://schemas.microsoft.com/office/powerpoint/2010/main" val="425989158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D172E-561F-DDD8-1AC4-D426AB2F6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BC396-50B3-3172-5709-D012BEA3A6C0}"/>
              </a:ext>
            </a:extLst>
          </p:cNvPr>
          <p:cNvSpPr>
            <a:spLocks noGrp="1"/>
          </p:cNvSpPr>
          <p:nvPr>
            <p:ph type="title"/>
          </p:nvPr>
        </p:nvSpPr>
        <p:spPr/>
        <p:txBody>
          <a:bodyPr>
            <a:normAutofit fontScale="90000"/>
          </a:bodyPr>
          <a:lstStyle/>
          <a:p>
            <a:r>
              <a:rPr lang="en-US" dirty="0"/>
              <a:t>Knowledge distillation</a:t>
            </a:r>
          </a:p>
        </p:txBody>
      </p:sp>
      <p:sp>
        <p:nvSpPr>
          <p:cNvPr id="3" name="Text Placeholder 2">
            <a:extLst>
              <a:ext uri="{FF2B5EF4-FFF2-40B4-BE49-F238E27FC236}">
                <a16:creationId xmlns:a16="http://schemas.microsoft.com/office/drawing/2014/main" id="{80484AAF-C50E-BD4C-99B6-CBD02DC666A5}"/>
              </a:ext>
            </a:extLst>
          </p:cNvPr>
          <p:cNvSpPr>
            <a:spLocks noGrp="1"/>
          </p:cNvSpPr>
          <p:nvPr>
            <p:ph type="body" idx="1"/>
          </p:nvPr>
        </p:nvSpPr>
        <p:spPr/>
        <p:txBody>
          <a:bodyPr/>
          <a:lstStyle/>
          <a:p>
            <a:r>
              <a:rPr lang="en-US" dirty="0"/>
              <a:t>Aims to transfer the learnings of a large pre-trained model, the “teacher” model, to a smaller “student” model. </a:t>
            </a:r>
          </a:p>
          <a:p>
            <a:pPr lvl="1"/>
            <a:r>
              <a:rPr lang="en-US" dirty="0"/>
              <a:t>Used as a form of model compression and knowledge transfer</a:t>
            </a:r>
          </a:p>
          <a:p>
            <a:pPr lvl="1"/>
            <a:r>
              <a:rPr lang="en-US" dirty="0"/>
              <a:t>Particularly useful for massive neural networks</a:t>
            </a:r>
          </a:p>
          <a:p>
            <a:r>
              <a:rPr lang="en-US" dirty="0"/>
              <a:t>We want to train the student network to match the predictions and thought process of the teacher network</a:t>
            </a:r>
          </a:p>
          <a:p>
            <a:pPr lvl="1"/>
            <a:r>
              <a:rPr lang="en-US" dirty="0"/>
              <a:t>Introduce a new type of cost function to see how the student’s reasoning deviates from the teacher: distillation loss</a:t>
            </a:r>
          </a:p>
          <a:p>
            <a:pPr lvl="1"/>
            <a:r>
              <a:rPr lang="en-US" dirty="0"/>
              <a:t>Soft targets: instead of using the actual predictions of the teacher to train the student, use the class-probabilities produced by the teacher</a:t>
            </a:r>
          </a:p>
        </p:txBody>
      </p:sp>
    </p:spTree>
    <p:extLst>
      <p:ext uri="{BB962C8B-B14F-4D97-AF65-F5344CB8AC3E}">
        <p14:creationId xmlns:p14="http://schemas.microsoft.com/office/powerpoint/2010/main" val="403355306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E7C8-DE06-C1A3-88A9-47D445750849}"/>
              </a:ext>
            </a:extLst>
          </p:cNvPr>
          <p:cNvSpPr>
            <a:spLocks noGrp="1"/>
          </p:cNvSpPr>
          <p:nvPr>
            <p:ph type="title"/>
          </p:nvPr>
        </p:nvSpPr>
        <p:spPr/>
        <p:txBody>
          <a:bodyPr>
            <a:normAutofit fontScale="90000"/>
          </a:bodyPr>
          <a:lstStyle/>
          <a:p>
            <a:r>
              <a:rPr lang="en-US" dirty="0"/>
              <a:t>Types of knowledge distillation </a:t>
            </a:r>
          </a:p>
        </p:txBody>
      </p:sp>
      <p:sp>
        <p:nvSpPr>
          <p:cNvPr id="3" name="Text Placeholder 2">
            <a:extLst>
              <a:ext uri="{FF2B5EF4-FFF2-40B4-BE49-F238E27FC236}">
                <a16:creationId xmlns:a16="http://schemas.microsoft.com/office/drawing/2014/main" id="{0486E2C8-F0A6-6AD1-2342-10DDF17173FB}"/>
              </a:ext>
            </a:extLst>
          </p:cNvPr>
          <p:cNvSpPr>
            <a:spLocks noGrp="1"/>
          </p:cNvSpPr>
          <p:nvPr>
            <p:ph type="body" idx="1"/>
          </p:nvPr>
        </p:nvSpPr>
        <p:spPr/>
        <p:txBody>
          <a:bodyPr/>
          <a:lstStyle/>
          <a:p>
            <a:r>
              <a:rPr lang="en-US" dirty="0"/>
              <a:t>Offline distillation: freeze the teacher network and only alter the student</a:t>
            </a:r>
          </a:p>
        </p:txBody>
      </p:sp>
    </p:spTree>
    <p:extLst>
      <p:ext uri="{BB962C8B-B14F-4D97-AF65-F5344CB8AC3E}">
        <p14:creationId xmlns:p14="http://schemas.microsoft.com/office/powerpoint/2010/main" val="29794665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B1AF5-C5D3-D85B-02B1-DAC19F590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3F7AB-A394-8F15-4BC3-F7D029180E51}"/>
              </a:ext>
            </a:extLst>
          </p:cNvPr>
          <p:cNvSpPr>
            <a:spLocks noGrp="1"/>
          </p:cNvSpPr>
          <p:nvPr>
            <p:ph type="title"/>
          </p:nvPr>
        </p:nvSpPr>
        <p:spPr/>
        <p:txBody>
          <a:bodyPr>
            <a:normAutofit fontScale="90000"/>
          </a:bodyPr>
          <a:lstStyle/>
          <a:p>
            <a:r>
              <a:rPr lang="en-US" dirty="0"/>
              <a:t>Types of knowledge distillation </a:t>
            </a:r>
          </a:p>
        </p:txBody>
      </p:sp>
      <p:sp>
        <p:nvSpPr>
          <p:cNvPr id="3" name="Text Placeholder 2">
            <a:extLst>
              <a:ext uri="{FF2B5EF4-FFF2-40B4-BE49-F238E27FC236}">
                <a16:creationId xmlns:a16="http://schemas.microsoft.com/office/drawing/2014/main" id="{F6C322A3-84EE-9EBE-E31F-286E6C31A339}"/>
              </a:ext>
            </a:extLst>
          </p:cNvPr>
          <p:cNvSpPr>
            <a:spLocks noGrp="1"/>
          </p:cNvSpPr>
          <p:nvPr>
            <p:ph type="body" idx="1"/>
          </p:nvPr>
        </p:nvSpPr>
        <p:spPr/>
        <p:txBody>
          <a:bodyPr/>
          <a:lstStyle/>
          <a:p>
            <a:r>
              <a:rPr lang="en-US" dirty="0"/>
              <a:t>Offline distillation: freeze the teacher network and only alter the student</a:t>
            </a:r>
          </a:p>
          <a:p>
            <a:r>
              <a:rPr lang="en-US" dirty="0"/>
              <a:t>Online distillation: simultaneously train the teacher and student networks</a:t>
            </a:r>
          </a:p>
        </p:txBody>
      </p:sp>
    </p:spTree>
    <p:extLst>
      <p:ext uri="{BB962C8B-B14F-4D97-AF65-F5344CB8AC3E}">
        <p14:creationId xmlns:p14="http://schemas.microsoft.com/office/powerpoint/2010/main" val="41998316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36815-7ED0-7505-A7FA-1326B3950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7CDEC-D091-3155-C236-2A48A278F369}"/>
              </a:ext>
            </a:extLst>
          </p:cNvPr>
          <p:cNvSpPr>
            <a:spLocks noGrp="1"/>
          </p:cNvSpPr>
          <p:nvPr>
            <p:ph type="title"/>
          </p:nvPr>
        </p:nvSpPr>
        <p:spPr/>
        <p:txBody>
          <a:bodyPr>
            <a:normAutofit fontScale="90000"/>
          </a:bodyPr>
          <a:lstStyle/>
          <a:p>
            <a:r>
              <a:rPr lang="en-US" dirty="0"/>
              <a:t>Types of knowledge distillation </a:t>
            </a:r>
          </a:p>
        </p:txBody>
      </p:sp>
      <p:sp>
        <p:nvSpPr>
          <p:cNvPr id="3" name="Text Placeholder 2">
            <a:extLst>
              <a:ext uri="{FF2B5EF4-FFF2-40B4-BE49-F238E27FC236}">
                <a16:creationId xmlns:a16="http://schemas.microsoft.com/office/drawing/2014/main" id="{2CB2FF6E-AC7D-326B-1326-8AAB52E398A8}"/>
              </a:ext>
            </a:extLst>
          </p:cNvPr>
          <p:cNvSpPr>
            <a:spLocks noGrp="1"/>
          </p:cNvSpPr>
          <p:nvPr>
            <p:ph type="body" idx="1"/>
          </p:nvPr>
        </p:nvSpPr>
        <p:spPr/>
        <p:txBody>
          <a:bodyPr/>
          <a:lstStyle/>
          <a:p>
            <a:r>
              <a:rPr lang="en-US" dirty="0"/>
              <a:t>Offline distillation: freeze the teacher network and only alter the student</a:t>
            </a:r>
          </a:p>
          <a:p>
            <a:r>
              <a:rPr lang="en-US" dirty="0"/>
              <a:t>Online distillation: simultaneously train the teacher and student networks</a:t>
            </a:r>
          </a:p>
          <a:p>
            <a:r>
              <a:rPr lang="en-US" dirty="0"/>
              <a:t>Self-distillation: one network acts as both the student and teacher</a:t>
            </a:r>
          </a:p>
        </p:txBody>
      </p:sp>
    </p:spTree>
    <p:extLst>
      <p:ext uri="{BB962C8B-B14F-4D97-AF65-F5344CB8AC3E}">
        <p14:creationId xmlns:p14="http://schemas.microsoft.com/office/powerpoint/2010/main" val="6066036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004FB-A280-522C-1FA4-07248EE0B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8198D-7E68-88C8-84A1-EAD32F5ED761}"/>
              </a:ext>
            </a:extLst>
          </p:cNvPr>
          <p:cNvSpPr>
            <a:spLocks noGrp="1"/>
          </p:cNvSpPr>
          <p:nvPr>
            <p:ph type="title"/>
          </p:nvPr>
        </p:nvSpPr>
        <p:spPr/>
        <p:txBody>
          <a:bodyPr>
            <a:normAutofit fontScale="90000"/>
          </a:bodyPr>
          <a:lstStyle/>
          <a:p>
            <a:r>
              <a:rPr lang="en-US" dirty="0"/>
              <a:t>Types of knowledge distillation </a:t>
            </a:r>
          </a:p>
        </p:txBody>
      </p:sp>
      <p:sp>
        <p:nvSpPr>
          <p:cNvPr id="3" name="Text Placeholder 2">
            <a:extLst>
              <a:ext uri="{FF2B5EF4-FFF2-40B4-BE49-F238E27FC236}">
                <a16:creationId xmlns:a16="http://schemas.microsoft.com/office/drawing/2014/main" id="{DA24A6E9-A311-2D28-6FC9-A2A0C5E910A5}"/>
              </a:ext>
            </a:extLst>
          </p:cNvPr>
          <p:cNvSpPr>
            <a:spLocks noGrp="1"/>
          </p:cNvSpPr>
          <p:nvPr>
            <p:ph type="body" idx="1"/>
          </p:nvPr>
        </p:nvSpPr>
        <p:spPr/>
        <p:txBody>
          <a:bodyPr/>
          <a:lstStyle/>
          <a:p>
            <a:r>
              <a:rPr lang="en-US" dirty="0"/>
              <a:t>Offline distillation: freeze the teacher network and only alter the student</a:t>
            </a:r>
          </a:p>
          <a:p>
            <a:r>
              <a:rPr lang="en-US" dirty="0"/>
              <a:t>Online distillation: simultaneously train the teacher and student networks</a:t>
            </a:r>
          </a:p>
          <a:p>
            <a:r>
              <a:rPr lang="en-US" dirty="0"/>
              <a:t>Self-distillation: one network acts as both the student and teacher</a:t>
            </a:r>
          </a:p>
          <a:p>
            <a:pPr lvl="1"/>
            <a:r>
              <a:rPr lang="en-US" dirty="0"/>
              <a:t>Transfer of knowledge from a network’s “deeper” layers to its “shallow” layers</a:t>
            </a:r>
          </a:p>
          <a:p>
            <a:pPr marL="596900" lvl="1" indent="0">
              <a:buNone/>
            </a:pPr>
            <a:endParaRPr lang="en-US" dirty="0"/>
          </a:p>
        </p:txBody>
      </p:sp>
    </p:spTree>
    <p:extLst>
      <p:ext uri="{BB962C8B-B14F-4D97-AF65-F5344CB8AC3E}">
        <p14:creationId xmlns:p14="http://schemas.microsoft.com/office/powerpoint/2010/main" val="5947991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454AF-B6BE-1ADE-2D57-194422E09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CE74C-51CE-3323-615C-A027A3F4C9A2}"/>
              </a:ext>
            </a:extLst>
          </p:cNvPr>
          <p:cNvSpPr>
            <a:spLocks noGrp="1"/>
          </p:cNvSpPr>
          <p:nvPr>
            <p:ph type="title"/>
          </p:nvPr>
        </p:nvSpPr>
        <p:spPr/>
        <p:txBody>
          <a:bodyPr>
            <a:normAutofit fontScale="90000"/>
          </a:bodyPr>
          <a:lstStyle/>
          <a:p>
            <a:r>
              <a:rPr lang="en-US" dirty="0"/>
              <a:t>Types of knowledge distillation </a:t>
            </a:r>
          </a:p>
        </p:txBody>
      </p:sp>
      <p:sp>
        <p:nvSpPr>
          <p:cNvPr id="3" name="Text Placeholder 2">
            <a:extLst>
              <a:ext uri="{FF2B5EF4-FFF2-40B4-BE49-F238E27FC236}">
                <a16:creationId xmlns:a16="http://schemas.microsoft.com/office/drawing/2014/main" id="{359843FF-0B5F-A5E6-A329-FC57C08E52DE}"/>
              </a:ext>
            </a:extLst>
          </p:cNvPr>
          <p:cNvSpPr>
            <a:spLocks noGrp="1"/>
          </p:cNvSpPr>
          <p:nvPr>
            <p:ph type="body" idx="1"/>
          </p:nvPr>
        </p:nvSpPr>
        <p:spPr/>
        <p:txBody>
          <a:bodyPr/>
          <a:lstStyle/>
          <a:p>
            <a:r>
              <a:rPr lang="en-US" dirty="0"/>
              <a:t>Offline distillation: freeze the teacher network and only alter the student</a:t>
            </a:r>
          </a:p>
          <a:p>
            <a:r>
              <a:rPr lang="en-US" dirty="0"/>
              <a:t>Online distillation: simultaneously train the teacher and student networks</a:t>
            </a:r>
          </a:p>
          <a:p>
            <a:r>
              <a:rPr lang="en-US" dirty="0"/>
              <a:t>Self-distillation: one network acts as both the student and teacher</a:t>
            </a:r>
          </a:p>
          <a:p>
            <a:pPr lvl="1"/>
            <a:r>
              <a:rPr lang="en-US" dirty="0"/>
              <a:t>Transfer of knowledge from a network’s “deeper” layers to its “shallow” layers</a:t>
            </a:r>
          </a:p>
          <a:p>
            <a:pPr marL="596900" lvl="1" indent="0">
              <a:buNone/>
            </a:pPr>
            <a:endParaRPr lang="en-US" dirty="0"/>
          </a:p>
          <a:p>
            <a:pPr marL="596900" lvl="1" indent="0">
              <a:buNone/>
            </a:pPr>
            <a:endParaRPr lang="en-US" dirty="0"/>
          </a:p>
          <a:p>
            <a:pPr marL="114300" indent="0">
              <a:buNone/>
            </a:pPr>
            <a:r>
              <a:rPr lang="en-US" dirty="0"/>
              <a:t>We will focus on offline distillation today.</a:t>
            </a:r>
          </a:p>
        </p:txBody>
      </p:sp>
    </p:spTree>
    <p:extLst>
      <p:ext uri="{BB962C8B-B14F-4D97-AF65-F5344CB8AC3E}">
        <p14:creationId xmlns:p14="http://schemas.microsoft.com/office/powerpoint/2010/main" val="31560756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9EEF-40A2-601F-C91F-527E25EA7133}"/>
              </a:ext>
            </a:extLst>
          </p:cNvPr>
          <p:cNvSpPr>
            <a:spLocks noGrp="1"/>
          </p:cNvSpPr>
          <p:nvPr>
            <p:ph type="title"/>
          </p:nvPr>
        </p:nvSpPr>
        <p:spPr/>
        <p:txBody>
          <a:bodyPr>
            <a:normAutofit fontScale="90000"/>
          </a:bodyPr>
          <a:lstStyle/>
          <a:p>
            <a:r>
              <a:rPr lang="en-US" dirty="0"/>
              <a:t>Offline distillation</a:t>
            </a:r>
          </a:p>
        </p:txBody>
      </p:sp>
      <p:sp>
        <p:nvSpPr>
          <p:cNvPr id="3" name="Text Placeholder 2">
            <a:extLst>
              <a:ext uri="{FF2B5EF4-FFF2-40B4-BE49-F238E27FC236}">
                <a16:creationId xmlns:a16="http://schemas.microsoft.com/office/drawing/2014/main" id="{E29E994C-9937-16BD-2155-F5E38D81105F}"/>
              </a:ext>
            </a:extLst>
          </p:cNvPr>
          <p:cNvSpPr>
            <a:spLocks noGrp="1"/>
          </p:cNvSpPr>
          <p:nvPr>
            <p:ph type="body" idx="1"/>
          </p:nvPr>
        </p:nvSpPr>
        <p:spPr/>
        <p:txBody>
          <a:bodyPr/>
          <a:lstStyle/>
          <a:p>
            <a:pPr marL="114300" indent="0">
              <a:buNone/>
            </a:pPr>
            <a:r>
              <a:rPr lang="en-US" dirty="0"/>
              <a:t>Typical steps to conduct offline distillation:</a:t>
            </a:r>
          </a:p>
        </p:txBody>
      </p:sp>
      <p:pic>
        <p:nvPicPr>
          <p:cNvPr id="4" name="Picture 3">
            <a:extLst>
              <a:ext uri="{FF2B5EF4-FFF2-40B4-BE49-F238E27FC236}">
                <a16:creationId xmlns:a16="http://schemas.microsoft.com/office/drawing/2014/main" id="{CBF66994-B875-103A-79F1-9552CD32BB4A}"/>
              </a:ext>
            </a:extLst>
          </p:cNvPr>
          <p:cNvPicPr>
            <a:picLocks noChangeAspect="1"/>
          </p:cNvPicPr>
          <p:nvPr/>
        </p:nvPicPr>
        <p:blipFill>
          <a:blip r:embed="rId2"/>
          <a:stretch>
            <a:fillRect/>
          </a:stretch>
        </p:blipFill>
        <p:spPr>
          <a:xfrm>
            <a:off x="2565400" y="3561779"/>
            <a:ext cx="3852333" cy="1406911"/>
          </a:xfrm>
          <a:prstGeom prst="rect">
            <a:avLst/>
          </a:prstGeom>
        </p:spPr>
      </p:pic>
    </p:spTree>
    <p:extLst>
      <p:ext uri="{BB962C8B-B14F-4D97-AF65-F5344CB8AC3E}">
        <p14:creationId xmlns:p14="http://schemas.microsoft.com/office/powerpoint/2010/main" val="54685271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4578D-E7E4-2C85-839B-FD339C97D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0D7DB-E30E-689A-7E59-7632F522E3D2}"/>
              </a:ext>
            </a:extLst>
          </p:cNvPr>
          <p:cNvSpPr>
            <a:spLocks noGrp="1"/>
          </p:cNvSpPr>
          <p:nvPr>
            <p:ph type="title"/>
          </p:nvPr>
        </p:nvSpPr>
        <p:spPr/>
        <p:txBody>
          <a:bodyPr>
            <a:normAutofit fontScale="90000"/>
          </a:bodyPr>
          <a:lstStyle/>
          <a:p>
            <a:r>
              <a:rPr lang="en-US" dirty="0"/>
              <a:t>Offline distillation</a:t>
            </a:r>
          </a:p>
        </p:txBody>
      </p:sp>
      <p:sp>
        <p:nvSpPr>
          <p:cNvPr id="3" name="Text Placeholder 2">
            <a:extLst>
              <a:ext uri="{FF2B5EF4-FFF2-40B4-BE49-F238E27FC236}">
                <a16:creationId xmlns:a16="http://schemas.microsoft.com/office/drawing/2014/main" id="{376FF4F0-1262-8182-8F87-B3828FC592F2}"/>
              </a:ext>
            </a:extLst>
          </p:cNvPr>
          <p:cNvSpPr>
            <a:spLocks noGrp="1"/>
          </p:cNvSpPr>
          <p:nvPr>
            <p:ph type="body" idx="1"/>
          </p:nvPr>
        </p:nvSpPr>
        <p:spPr/>
        <p:txBody>
          <a:bodyPr/>
          <a:lstStyle/>
          <a:p>
            <a:pPr marL="114300" indent="0">
              <a:buNone/>
            </a:pPr>
            <a:r>
              <a:rPr lang="en-US" dirty="0"/>
              <a:t>Typical steps to conduct offline distillation:</a:t>
            </a:r>
          </a:p>
          <a:p>
            <a:pPr>
              <a:buFont typeface="+mj-lt"/>
              <a:buAutoNum type="arabicPeriod"/>
            </a:pPr>
            <a:r>
              <a:rPr lang="en-US" dirty="0"/>
              <a:t>Pre-train teacher model and freeze its weights</a:t>
            </a:r>
          </a:p>
        </p:txBody>
      </p:sp>
      <p:pic>
        <p:nvPicPr>
          <p:cNvPr id="4" name="Picture 3">
            <a:extLst>
              <a:ext uri="{FF2B5EF4-FFF2-40B4-BE49-F238E27FC236}">
                <a16:creationId xmlns:a16="http://schemas.microsoft.com/office/drawing/2014/main" id="{7DDE6966-014A-B285-4690-551BD8ACB97B}"/>
              </a:ext>
            </a:extLst>
          </p:cNvPr>
          <p:cNvPicPr>
            <a:picLocks noChangeAspect="1"/>
          </p:cNvPicPr>
          <p:nvPr/>
        </p:nvPicPr>
        <p:blipFill>
          <a:blip r:embed="rId2"/>
          <a:stretch>
            <a:fillRect/>
          </a:stretch>
        </p:blipFill>
        <p:spPr>
          <a:xfrm>
            <a:off x="2565400" y="3561779"/>
            <a:ext cx="3852333" cy="1406911"/>
          </a:xfrm>
          <a:prstGeom prst="rect">
            <a:avLst/>
          </a:prstGeom>
        </p:spPr>
      </p:pic>
    </p:spTree>
    <p:extLst>
      <p:ext uri="{BB962C8B-B14F-4D97-AF65-F5344CB8AC3E}">
        <p14:creationId xmlns:p14="http://schemas.microsoft.com/office/powerpoint/2010/main" val="186287722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7F8BF-DE4E-1068-9210-9ADDA804A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ED458-5A8D-F3DC-FE05-108341E6BAA0}"/>
              </a:ext>
            </a:extLst>
          </p:cNvPr>
          <p:cNvSpPr>
            <a:spLocks noGrp="1"/>
          </p:cNvSpPr>
          <p:nvPr>
            <p:ph type="title"/>
          </p:nvPr>
        </p:nvSpPr>
        <p:spPr/>
        <p:txBody>
          <a:bodyPr>
            <a:normAutofit fontScale="90000"/>
          </a:bodyPr>
          <a:lstStyle/>
          <a:p>
            <a:r>
              <a:rPr lang="en-US" dirty="0"/>
              <a:t>Offline distillation</a:t>
            </a:r>
          </a:p>
        </p:txBody>
      </p:sp>
      <p:sp>
        <p:nvSpPr>
          <p:cNvPr id="3" name="Text Placeholder 2">
            <a:extLst>
              <a:ext uri="{FF2B5EF4-FFF2-40B4-BE49-F238E27FC236}">
                <a16:creationId xmlns:a16="http://schemas.microsoft.com/office/drawing/2014/main" id="{F4B99D03-4B14-6992-1089-EC5CED96CFB8}"/>
              </a:ext>
            </a:extLst>
          </p:cNvPr>
          <p:cNvSpPr>
            <a:spLocks noGrp="1"/>
          </p:cNvSpPr>
          <p:nvPr>
            <p:ph type="body" idx="1"/>
          </p:nvPr>
        </p:nvSpPr>
        <p:spPr/>
        <p:txBody>
          <a:bodyPr/>
          <a:lstStyle/>
          <a:p>
            <a:pPr marL="114300" indent="0">
              <a:buNone/>
            </a:pPr>
            <a:r>
              <a:rPr lang="en-US" dirty="0"/>
              <a:t>Typical steps to conduct offline distillation:</a:t>
            </a:r>
          </a:p>
          <a:p>
            <a:pPr>
              <a:buFont typeface="+mj-lt"/>
              <a:buAutoNum type="arabicPeriod"/>
            </a:pPr>
            <a:r>
              <a:rPr lang="en-US" dirty="0"/>
              <a:t>Pre-train teacher model and freeze its weights</a:t>
            </a:r>
          </a:p>
          <a:p>
            <a:pPr>
              <a:buFont typeface="+mj-lt"/>
              <a:buAutoNum type="arabicPeriod"/>
            </a:pPr>
            <a:r>
              <a:rPr lang="en-US" dirty="0"/>
              <a:t>Generate soft labels (probabilities) from the teacher</a:t>
            </a:r>
          </a:p>
        </p:txBody>
      </p:sp>
      <p:pic>
        <p:nvPicPr>
          <p:cNvPr id="5" name="Picture 4">
            <a:extLst>
              <a:ext uri="{FF2B5EF4-FFF2-40B4-BE49-F238E27FC236}">
                <a16:creationId xmlns:a16="http://schemas.microsoft.com/office/drawing/2014/main" id="{4AAF03EF-DB39-9E2B-2D5E-A7E1F5772D29}"/>
              </a:ext>
            </a:extLst>
          </p:cNvPr>
          <p:cNvPicPr>
            <a:picLocks noChangeAspect="1"/>
          </p:cNvPicPr>
          <p:nvPr/>
        </p:nvPicPr>
        <p:blipFill>
          <a:blip r:embed="rId2"/>
          <a:stretch>
            <a:fillRect/>
          </a:stretch>
        </p:blipFill>
        <p:spPr>
          <a:xfrm>
            <a:off x="2565400" y="3561779"/>
            <a:ext cx="3852333" cy="1406911"/>
          </a:xfrm>
          <a:prstGeom prst="rect">
            <a:avLst/>
          </a:prstGeom>
        </p:spPr>
      </p:pic>
    </p:spTree>
    <p:extLst>
      <p:ext uri="{BB962C8B-B14F-4D97-AF65-F5344CB8AC3E}">
        <p14:creationId xmlns:p14="http://schemas.microsoft.com/office/powerpoint/2010/main" val="176534729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46E12-CB6E-E438-2267-441431FC3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DE863-27A3-828B-0502-1C5AB0CCFF36}"/>
              </a:ext>
            </a:extLst>
          </p:cNvPr>
          <p:cNvSpPr>
            <a:spLocks noGrp="1"/>
          </p:cNvSpPr>
          <p:nvPr>
            <p:ph type="title"/>
          </p:nvPr>
        </p:nvSpPr>
        <p:spPr/>
        <p:txBody>
          <a:bodyPr>
            <a:normAutofit fontScale="90000"/>
          </a:bodyPr>
          <a:lstStyle/>
          <a:p>
            <a:r>
              <a:rPr lang="en-US" dirty="0"/>
              <a:t>Offline distillation</a:t>
            </a:r>
          </a:p>
        </p:txBody>
      </p:sp>
      <p:sp>
        <p:nvSpPr>
          <p:cNvPr id="3" name="Text Placeholder 2">
            <a:extLst>
              <a:ext uri="{FF2B5EF4-FFF2-40B4-BE49-F238E27FC236}">
                <a16:creationId xmlns:a16="http://schemas.microsoft.com/office/drawing/2014/main" id="{41E1966F-0263-960C-7179-D269576EF03E}"/>
              </a:ext>
            </a:extLst>
          </p:cNvPr>
          <p:cNvSpPr>
            <a:spLocks noGrp="1"/>
          </p:cNvSpPr>
          <p:nvPr>
            <p:ph type="body" idx="1"/>
          </p:nvPr>
        </p:nvSpPr>
        <p:spPr/>
        <p:txBody>
          <a:bodyPr/>
          <a:lstStyle/>
          <a:p>
            <a:pPr marL="114300" indent="0">
              <a:buNone/>
            </a:pPr>
            <a:r>
              <a:rPr lang="en-US" dirty="0"/>
              <a:t>Typical steps to conduct offline distillation:</a:t>
            </a:r>
          </a:p>
          <a:p>
            <a:pPr>
              <a:buFont typeface="+mj-lt"/>
              <a:buAutoNum type="arabicPeriod"/>
            </a:pPr>
            <a:r>
              <a:rPr lang="en-US" dirty="0"/>
              <a:t>Pre-train teacher model and freeze its weights</a:t>
            </a:r>
          </a:p>
          <a:p>
            <a:pPr>
              <a:buFont typeface="+mj-lt"/>
              <a:buAutoNum type="arabicPeriod"/>
            </a:pPr>
            <a:r>
              <a:rPr lang="en-US" dirty="0"/>
              <a:t>Generate soft labels (probabilities) from the teacher</a:t>
            </a:r>
          </a:p>
          <a:p>
            <a:pPr>
              <a:buFont typeface="+mj-lt"/>
              <a:buAutoNum type="arabicPeriod"/>
            </a:pPr>
            <a:r>
              <a:rPr lang="en-US" dirty="0"/>
              <a:t>Train student model</a:t>
            </a:r>
          </a:p>
        </p:txBody>
      </p:sp>
      <p:pic>
        <p:nvPicPr>
          <p:cNvPr id="5" name="Picture 4">
            <a:extLst>
              <a:ext uri="{FF2B5EF4-FFF2-40B4-BE49-F238E27FC236}">
                <a16:creationId xmlns:a16="http://schemas.microsoft.com/office/drawing/2014/main" id="{A05876B1-3B6D-6F06-3AD1-4564C7008CE0}"/>
              </a:ext>
            </a:extLst>
          </p:cNvPr>
          <p:cNvPicPr>
            <a:picLocks noChangeAspect="1"/>
          </p:cNvPicPr>
          <p:nvPr/>
        </p:nvPicPr>
        <p:blipFill>
          <a:blip r:embed="rId2"/>
          <a:stretch>
            <a:fillRect/>
          </a:stretch>
        </p:blipFill>
        <p:spPr>
          <a:xfrm>
            <a:off x="2565400" y="3561779"/>
            <a:ext cx="3852333" cy="1406911"/>
          </a:xfrm>
          <a:prstGeom prst="rect">
            <a:avLst/>
          </a:prstGeom>
        </p:spPr>
      </p:pic>
    </p:spTree>
    <p:extLst>
      <p:ext uri="{BB962C8B-B14F-4D97-AF65-F5344CB8AC3E}">
        <p14:creationId xmlns:p14="http://schemas.microsoft.com/office/powerpoint/2010/main" val="299406509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65A7-DC21-001D-488A-DC5EF0A25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313C3-E507-AE87-AE00-F0ADE8326E7E}"/>
              </a:ext>
            </a:extLst>
          </p:cNvPr>
          <p:cNvSpPr>
            <a:spLocks noGrp="1"/>
          </p:cNvSpPr>
          <p:nvPr>
            <p:ph type="title"/>
          </p:nvPr>
        </p:nvSpPr>
        <p:spPr/>
        <p:txBody>
          <a:bodyPr>
            <a:normAutofit fontScale="90000"/>
          </a:bodyPr>
          <a:lstStyle/>
          <a:p>
            <a:r>
              <a:rPr lang="en-US" dirty="0"/>
              <a:t>Offline distillation</a:t>
            </a:r>
          </a:p>
        </p:txBody>
      </p:sp>
      <p:sp>
        <p:nvSpPr>
          <p:cNvPr id="3" name="Text Placeholder 2">
            <a:extLst>
              <a:ext uri="{FF2B5EF4-FFF2-40B4-BE49-F238E27FC236}">
                <a16:creationId xmlns:a16="http://schemas.microsoft.com/office/drawing/2014/main" id="{A4C9AFBD-0966-CC39-E51A-E1B9A0FDE024}"/>
              </a:ext>
            </a:extLst>
          </p:cNvPr>
          <p:cNvSpPr>
            <a:spLocks noGrp="1"/>
          </p:cNvSpPr>
          <p:nvPr>
            <p:ph type="body" idx="1"/>
          </p:nvPr>
        </p:nvSpPr>
        <p:spPr/>
        <p:txBody>
          <a:bodyPr/>
          <a:lstStyle/>
          <a:p>
            <a:pPr marL="114300" indent="0">
              <a:buNone/>
            </a:pPr>
            <a:r>
              <a:rPr lang="en-US" dirty="0"/>
              <a:t>Typical steps to conduct offline distillation:</a:t>
            </a:r>
          </a:p>
          <a:p>
            <a:pPr>
              <a:buFont typeface="+mj-lt"/>
              <a:buAutoNum type="arabicPeriod"/>
            </a:pPr>
            <a:r>
              <a:rPr lang="en-US" dirty="0"/>
              <a:t>Pre-train teacher model and freeze its weights</a:t>
            </a:r>
          </a:p>
          <a:p>
            <a:pPr>
              <a:buFont typeface="+mj-lt"/>
              <a:buAutoNum type="arabicPeriod"/>
            </a:pPr>
            <a:r>
              <a:rPr lang="en-US" dirty="0"/>
              <a:t>Generate soft labels (probabilities) from the teacher</a:t>
            </a:r>
          </a:p>
          <a:p>
            <a:pPr>
              <a:buFont typeface="+mj-lt"/>
              <a:buAutoNum type="arabicPeriod"/>
            </a:pPr>
            <a:r>
              <a:rPr lang="en-US" dirty="0"/>
              <a:t>Train student model</a:t>
            </a:r>
          </a:p>
          <a:p>
            <a:pPr lvl="1"/>
            <a:r>
              <a:rPr lang="en-US" dirty="0"/>
              <a:t>A smaller student model is trained on the same data. It learns using a combined loss function: distillation loss and student loss (soft target loss and predicted outcome loss, respectively)</a:t>
            </a:r>
          </a:p>
          <a:p>
            <a:pPr>
              <a:buFont typeface="+mj-lt"/>
              <a:buAutoNum type="arabicPeriod"/>
            </a:pPr>
            <a:endParaRPr lang="en-US" dirty="0"/>
          </a:p>
        </p:txBody>
      </p:sp>
      <p:pic>
        <p:nvPicPr>
          <p:cNvPr id="5" name="Picture 4">
            <a:extLst>
              <a:ext uri="{FF2B5EF4-FFF2-40B4-BE49-F238E27FC236}">
                <a16:creationId xmlns:a16="http://schemas.microsoft.com/office/drawing/2014/main" id="{86C0747B-703D-CAF3-C13C-6B49D0F3A3C7}"/>
              </a:ext>
            </a:extLst>
          </p:cNvPr>
          <p:cNvPicPr>
            <a:picLocks noChangeAspect="1"/>
          </p:cNvPicPr>
          <p:nvPr/>
        </p:nvPicPr>
        <p:blipFill>
          <a:blip r:embed="rId2"/>
          <a:stretch>
            <a:fillRect/>
          </a:stretch>
        </p:blipFill>
        <p:spPr>
          <a:xfrm>
            <a:off x="2565400" y="3561779"/>
            <a:ext cx="3852333" cy="1406911"/>
          </a:xfrm>
          <a:prstGeom prst="rect">
            <a:avLst/>
          </a:prstGeom>
        </p:spPr>
      </p:pic>
    </p:spTree>
    <p:extLst>
      <p:ext uri="{BB962C8B-B14F-4D97-AF65-F5344CB8AC3E}">
        <p14:creationId xmlns:p14="http://schemas.microsoft.com/office/powerpoint/2010/main" val="199913579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A8FE-44D8-346D-7850-1B7D1DA97821}"/>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3D0907A7-8DA2-B3C1-D808-213E25EFD7B0}"/>
              </a:ext>
            </a:extLst>
          </p:cNvPr>
          <p:cNvSpPr>
            <a:spLocks noGrp="1"/>
          </p:cNvSpPr>
          <p:nvPr>
            <p:ph type="body" idx="1"/>
          </p:nvPr>
        </p:nvSpPr>
        <p:spPr/>
        <p:txBody>
          <a:bodyPr/>
          <a:lstStyle/>
          <a:p>
            <a:pPr marL="114300" indent="0">
              <a:buNone/>
            </a:pPr>
            <a:r>
              <a:rPr lang="en-US" dirty="0"/>
              <a:t>Similar idea to SVD where we are looking for the largest singular values which represent the most important directions in how the layer transforms inputs into outputs. </a:t>
            </a:r>
          </a:p>
        </p:txBody>
      </p:sp>
    </p:spTree>
    <p:extLst>
      <p:ext uri="{BB962C8B-B14F-4D97-AF65-F5344CB8AC3E}">
        <p14:creationId xmlns:p14="http://schemas.microsoft.com/office/powerpoint/2010/main" val="105158624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9824-24AF-0829-E10E-CFAA6CFCB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FB498-05D2-2C1F-031A-3A286B00025E}"/>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FD1D0B25-45C4-80E7-809F-20C2FCD9D6EA}"/>
              </a:ext>
            </a:extLst>
          </p:cNvPr>
          <p:cNvSpPr>
            <a:spLocks noGrp="1"/>
          </p:cNvSpPr>
          <p:nvPr>
            <p:ph type="body" idx="1"/>
          </p:nvPr>
        </p:nvSpPr>
        <p:spPr/>
        <p:txBody>
          <a:bodyPr/>
          <a:lstStyle/>
          <a:p>
            <a:pPr marL="114300" indent="0">
              <a:buNone/>
            </a:pPr>
            <a:r>
              <a:rPr lang="en-US" dirty="0"/>
              <a:t>Similar idea to SVD where we are looking for the largest singular values which represent the most important directions in how the layer transforms inputs into outputs. </a:t>
            </a:r>
          </a:p>
          <a:p>
            <a:r>
              <a:rPr lang="en-US" dirty="0"/>
              <a:t>The smaller singular values represent weaker directions, which may be removable with little effect</a:t>
            </a:r>
          </a:p>
        </p:txBody>
      </p:sp>
    </p:spTree>
    <p:extLst>
      <p:ext uri="{BB962C8B-B14F-4D97-AF65-F5344CB8AC3E}">
        <p14:creationId xmlns:p14="http://schemas.microsoft.com/office/powerpoint/2010/main" val="12966616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1705-A8D4-1E56-A058-21F39916A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2AF20-F262-E2F5-680B-4D6810585B7F}"/>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69FEBD76-1173-D01E-2A3A-8F5B547C5E5E}"/>
              </a:ext>
            </a:extLst>
          </p:cNvPr>
          <p:cNvSpPr>
            <a:spLocks noGrp="1"/>
          </p:cNvSpPr>
          <p:nvPr>
            <p:ph type="body" idx="1"/>
          </p:nvPr>
        </p:nvSpPr>
        <p:spPr/>
        <p:txBody>
          <a:bodyPr/>
          <a:lstStyle/>
          <a:p>
            <a:pPr marL="114300" indent="0">
              <a:buNone/>
            </a:pPr>
            <a:r>
              <a:rPr lang="en-US" dirty="0"/>
              <a:t>Similar idea to SVD where we are looking for the largest singular values which represent the most important directions in how the layer transforms inputs into outputs. </a:t>
            </a:r>
          </a:p>
          <a:p>
            <a:r>
              <a:rPr lang="en-US" dirty="0"/>
              <a:t>The smaller singular values represent weaker directions, which may be removable with little effect</a:t>
            </a:r>
          </a:p>
          <a:p>
            <a:r>
              <a:rPr lang="en-US" dirty="0"/>
              <a:t>Especially useful when when one layer is much larger than others</a:t>
            </a:r>
          </a:p>
        </p:txBody>
      </p:sp>
    </p:spTree>
    <p:extLst>
      <p:ext uri="{BB962C8B-B14F-4D97-AF65-F5344CB8AC3E}">
        <p14:creationId xmlns:p14="http://schemas.microsoft.com/office/powerpoint/2010/main" val="96930471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A90ED-619D-770A-6251-C9D27842F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E2817-83C1-81AD-825D-321D7CCB36A4}"/>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92843190-EE06-F5F5-1D6D-931C735F3244}"/>
              </a:ext>
            </a:extLst>
          </p:cNvPr>
          <p:cNvSpPr>
            <a:spLocks noGrp="1"/>
          </p:cNvSpPr>
          <p:nvPr>
            <p:ph type="body" idx="1"/>
          </p:nvPr>
        </p:nvSpPr>
        <p:spPr/>
        <p:txBody>
          <a:bodyPr/>
          <a:lstStyle/>
          <a:p>
            <a:pPr marL="114300" indent="0">
              <a:buNone/>
            </a:pPr>
            <a:r>
              <a:rPr lang="en-US" dirty="0"/>
              <a:t>Similar idea to SVD where we are looking for the largest singular values which represent the most important directions in how the layer transforms inputs into outputs. </a:t>
            </a:r>
          </a:p>
          <a:p>
            <a:r>
              <a:rPr lang="en-US" dirty="0"/>
              <a:t>The smaller singular values represent weaker directions, which may be removable with little effect</a:t>
            </a:r>
          </a:p>
          <a:p>
            <a:r>
              <a:rPr lang="en-US" dirty="0"/>
              <a:t>Especially useful when when one layer is much larger than others</a:t>
            </a:r>
          </a:p>
          <a:p>
            <a:pPr lvl="1"/>
            <a:r>
              <a:rPr lang="en-US" dirty="0"/>
              <a:t>Compression in general should be targeted! You get the greatest payoff by compressing layers that dominate the parameter count.</a:t>
            </a:r>
          </a:p>
        </p:txBody>
      </p:sp>
    </p:spTree>
    <p:extLst>
      <p:ext uri="{BB962C8B-B14F-4D97-AF65-F5344CB8AC3E}">
        <p14:creationId xmlns:p14="http://schemas.microsoft.com/office/powerpoint/2010/main" val="41341032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9DE31-32EB-5754-FDCA-0A7E65605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DBE75-AED6-4DDB-8151-4BCF29393184}"/>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37DB9321-B34B-3A28-25EE-F8433E8081B5}"/>
              </a:ext>
            </a:extLst>
          </p:cNvPr>
          <p:cNvSpPr>
            <a:spLocks noGrp="1"/>
          </p:cNvSpPr>
          <p:nvPr>
            <p:ph type="body" idx="1"/>
          </p:nvPr>
        </p:nvSpPr>
        <p:spPr/>
        <p:txBody>
          <a:bodyPr/>
          <a:lstStyle/>
          <a:p>
            <a:pPr marL="114300" indent="0">
              <a:buNone/>
            </a:pPr>
            <a:r>
              <a:rPr lang="en-US" dirty="0"/>
              <a:t>Similar idea to SVD where we are looking for the largest singular values which represent the most important directions in how the layer transforms inputs into outputs. </a:t>
            </a:r>
          </a:p>
          <a:p>
            <a:r>
              <a:rPr lang="en-US" dirty="0"/>
              <a:t>The smaller singular values represent weaker directions, which may be removable with little effect</a:t>
            </a:r>
          </a:p>
          <a:p>
            <a:r>
              <a:rPr lang="en-US" dirty="0"/>
              <a:t>Especially useful when when one layer is much larger than others</a:t>
            </a:r>
          </a:p>
          <a:p>
            <a:pPr lvl="1"/>
            <a:r>
              <a:rPr lang="en-US" dirty="0"/>
              <a:t>Compression in general should be targeted! You get the greatest payoff by compressing layers that dominate the parameter count.</a:t>
            </a:r>
          </a:p>
          <a:p>
            <a:r>
              <a:rPr lang="en-US" dirty="0"/>
              <a:t>This factorization can be built into the architecture before training</a:t>
            </a:r>
          </a:p>
        </p:txBody>
      </p:sp>
    </p:spTree>
    <p:extLst>
      <p:ext uri="{BB962C8B-B14F-4D97-AF65-F5344CB8AC3E}">
        <p14:creationId xmlns:p14="http://schemas.microsoft.com/office/powerpoint/2010/main" val="288203461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AE3B-5FF0-DFBC-A7F1-E45CFB4A4074}"/>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2FB87EC-58E6-B868-4225-D508D7FFAC22}"/>
                  </a:ext>
                </a:extLst>
              </p:cNvPr>
              <p:cNvSpPr>
                <a:spLocks noGrp="1"/>
              </p:cNvSpPr>
              <p:nvPr>
                <p:ph type="body" idx="1"/>
              </p:nvPr>
            </p:nvSpPr>
            <p:spPr>
              <a:xfrm>
                <a:off x="311700" y="1266325"/>
                <a:ext cx="8520600" cy="3779808"/>
              </a:xfrm>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p:txBody>
          </p:sp>
        </mc:Choice>
        <mc:Fallback xmlns="">
          <p:sp>
            <p:nvSpPr>
              <p:cNvPr id="3" name="Text Placeholder 2">
                <a:extLst>
                  <a:ext uri="{FF2B5EF4-FFF2-40B4-BE49-F238E27FC236}">
                    <a16:creationId xmlns:a16="http://schemas.microsoft.com/office/drawing/2014/main" id="{22FB87EC-58E6-B868-4225-D508D7FFAC22}"/>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238470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79D33-1594-B326-3031-1A9C5FC4B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BBF0D-F9C6-9F14-F13E-B2D001BE6DDB}"/>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E5C9E49-E487-A180-73F3-E2E9D5432B0B}"/>
                  </a:ext>
                </a:extLst>
              </p:cNvPr>
              <p:cNvSpPr>
                <a:spLocks noGrp="1"/>
              </p:cNvSpPr>
              <p:nvPr>
                <p:ph type="body" idx="1"/>
              </p:nvPr>
            </p:nvSpPr>
            <p:spPr>
              <a:xfrm>
                <a:off x="311700" y="1266325"/>
                <a:ext cx="8520600" cy="3779808"/>
              </a:xfrm>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𝐵𝐶</m:t>
                      </m:r>
                    </m:oMath>
                  </m:oMathPara>
                </a14:m>
                <a:endParaRPr lang="en-US" b="0" dirty="0"/>
              </a:p>
            </p:txBody>
          </p:sp>
        </mc:Choice>
        <mc:Fallback xmlns="">
          <p:sp>
            <p:nvSpPr>
              <p:cNvPr id="3" name="Text Placeholder 2">
                <a:extLst>
                  <a:ext uri="{FF2B5EF4-FFF2-40B4-BE49-F238E27FC236}">
                    <a16:creationId xmlns:a16="http://schemas.microsoft.com/office/drawing/2014/main" id="{CE5C9E49-E487-A180-73F3-E2E9D5432B0B}"/>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927391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5267-2716-B058-E6AD-5B5F70ECD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283EC-FA3D-F979-84DF-B4B92AD2A707}"/>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D9CB8C9-5A6F-B0D2-0E34-C3C0F6C2CC2D}"/>
                  </a:ext>
                </a:extLst>
              </p:cNvPr>
              <p:cNvSpPr>
                <a:spLocks noGrp="1"/>
              </p:cNvSpPr>
              <p:nvPr>
                <p:ph type="body" idx="1"/>
              </p:nvPr>
            </p:nvSpPr>
            <p:spPr>
              <a:xfrm>
                <a:off x="311700" y="1266325"/>
                <a:ext cx="8520600" cy="3779808"/>
              </a:xfrm>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𝐵𝐶</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a14:m>
                <a:r>
                  <a:rPr lang="en-US" b="0" dirty="0"/>
                  <a:t> and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The original matrix has </a:t>
                </a:r>
                <a14:m>
                  <m:oMath xmlns:m="http://schemas.openxmlformats.org/officeDocument/2006/math">
                    <m:r>
                      <a:rPr lang="en-US" b="0" i="1" smtClean="0">
                        <a:latin typeface="Cambria Math" panose="02040503050406030204" pitchFamily="18" charset="0"/>
                      </a:rPr>
                      <m:t>𝑚𝑛</m:t>
                    </m:r>
                  </m:oMath>
                </a14:m>
                <a:r>
                  <a:rPr lang="en-US" b="0" dirty="0"/>
                  <a:t> parameters. The factored version has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𝑚𝑟</m:t>
                      </m:r>
                      <m:r>
                        <a:rPr lang="en-US" b="0" i="1" smtClean="0">
                          <a:latin typeface="Cambria Math" panose="02040503050406030204" pitchFamily="18" charset="0"/>
                        </a:rPr>
                        <m:t>+</m:t>
                      </m:r>
                      <m:r>
                        <a:rPr lang="en-US" b="0" i="1" smtClean="0">
                          <a:latin typeface="Cambria Math" panose="02040503050406030204" pitchFamily="18" charset="0"/>
                        </a:rPr>
                        <m:t>𝑟𝑛</m:t>
                      </m:r>
                      <m:r>
                        <a:rPr lang="en-US" b="0" i="1" smtClean="0">
                          <a:latin typeface="Cambria Math" panose="02040503050406030204" pitchFamily="18" charset="0"/>
                        </a:rPr>
                        <m:t>=</m:t>
                      </m:r>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m:oMathPara>
                </a14:m>
                <a:endParaRPr lang="en-US" dirty="0"/>
              </a:p>
              <a:p>
                <a:pPr marL="114300" indent="0">
                  <a:buNone/>
                </a:pPr>
                <a:r>
                  <a:rPr lang="en-US" b="0" dirty="0"/>
                  <a:t>parameters. </a:t>
                </a:r>
              </a:p>
            </p:txBody>
          </p:sp>
        </mc:Choice>
        <mc:Fallback xmlns="">
          <p:sp>
            <p:nvSpPr>
              <p:cNvPr id="3" name="Text Placeholder 2">
                <a:extLst>
                  <a:ext uri="{FF2B5EF4-FFF2-40B4-BE49-F238E27FC236}">
                    <a16:creationId xmlns:a16="http://schemas.microsoft.com/office/drawing/2014/main" id="{6D9CB8C9-5A6F-B0D2-0E34-C3C0F6C2CC2D}"/>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0860240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78A1-A978-6E13-8D13-3309C4C3D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3D42F-50EB-46BB-8C40-07A6511033B2}"/>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58458A4-FAB6-62C9-476D-76CB97A345F1}"/>
                  </a:ext>
                </a:extLst>
              </p:cNvPr>
              <p:cNvSpPr>
                <a:spLocks noGrp="1"/>
              </p:cNvSpPr>
              <p:nvPr>
                <p:ph type="body" idx="1"/>
              </p:nvPr>
            </p:nvSpPr>
            <p:spPr>
              <a:xfrm>
                <a:off x="311700" y="1266325"/>
                <a:ext cx="8520600" cy="3779808"/>
              </a:xfrm>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𝐵𝐶</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a14:m>
                <a:r>
                  <a:rPr lang="en-US" b="0" dirty="0"/>
                  <a:t> and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The original matrix has </a:t>
                </a:r>
                <a14:m>
                  <m:oMath xmlns:m="http://schemas.openxmlformats.org/officeDocument/2006/math">
                    <m:r>
                      <a:rPr lang="en-US" b="0" i="1" smtClean="0">
                        <a:latin typeface="Cambria Math" panose="02040503050406030204" pitchFamily="18" charset="0"/>
                      </a:rPr>
                      <m:t>𝑚𝑛</m:t>
                    </m:r>
                  </m:oMath>
                </a14:m>
                <a:r>
                  <a:rPr lang="en-US" b="0" dirty="0"/>
                  <a:t> parameters. The factored version has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𝑚𝑟</m:t>
                      </m:r>
                      <m:r>
                        <a:rPr lang="en-US" b="0" i="1" smtClean="0">
                          <a:latin typeface="Cambria Math" panose="02040503050406030204" pitchFamily="18" charset="0"/>
                        </a:rPr>
                        <m:t>+</m:t>
                      </m:r>
                      <m:r>
                        <a:rPr lang="en-US" b="0" i="1" smtClean="0">
                          <a:latin typeface="Cambria Math" panose="02040503050406030204" pitchFamily="18" charset="0"/>
                        </a:rPr>
                        <m:t>𝑟𝑛</m:t>
                      </m:r>
                      <m:r>
                        <a:rPr lang="en-US" b="0" i="1" smtClean="0">
                          <a:latin typeface="Cambria Math" panose="02040503050406030204" pitchFamily="18" charset="0"/>
                        </a:rPr>
                        <m:t>=</m:t>
                      </m:r>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m:oMathPara>
                </a14:m>
                <a:endParaRPr lang="en-US" dirty="0"/>
              </a:p>
              <a:p>
                <a:pPr marL="114300" indent="0">
                  <a:buNone/>
                </a:pPr>
                <a:r>
                  <a:rPr lang="en-US" b="0" dirty="0"/>
                  <a:t>parameters. So the model is smaller when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&lt;</m:t>
                      </m:r>
                      <m:r>
                        <a:rPr lang="en-US" b="0" i="1" smtClean="0">
                          <a:latin typeface="Cambria Math" panose="02040503050406030204" pitchFamily="18" charset="0"/>
                        </a:rPr>
                        <m:t>𝑚𝑛</m:t>
                      </m:r>
                    </m:oMath>
                  </m:oMathPara>
                </a14:m>
                <a:endParaRPr lang="en-US" b="0" dirty="0"/>
              </a:p>
            </p:txBody>
          </p:sp>
        </mc:Choice>
        <mc:Fallback xmlns="">
          <p:sp>
            <p:nvSpPr>
              <p:cNvPr id="3" name="Text Placeholder 2">
                <a:extLst>
                  <a:ext uri="{FF2B5EF4-FFF2-40B4-BE49-F238E27FC236}">
                    <a16:creationId xmlns:a16="http://schemas.microsoft.com/office/drawing/2014/main" id="{258458A4-FAB6-62C9-476D-76CB97A345F1}"/>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146147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F645-D722-FF54-8AFA-887FC25F1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3162D-F602-7F71-4E4A-6F183944B745}"/>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1D2855-3C89-FD0E-63D4-8A637C52A7E4}"/>
                  </a:ext>
                </a:extLst>
              </p:cNvPr>
              <p:cNvSpPr>
                <a:spLocks noGrp="1"/>
              </p:cNvSpPr>
              <p:nvPr>
                <p:ph type="body" idx="1"/>
              </p:nvPr>
            </p:nvSpPr>
            <p:spPr>
              <a:xfrm>
                <a:off x="311700" y="1266325"/>
                <a:ext cx="8520600" cy="3779808"/>
              </a:xfrm>
            </p:spPr>
            <p:txBody>
              <a:bodyPr>
                <a:normAutofit/>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𝐵𝐶</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a14:m>
                <a:r>
                  <a:rPr lang="en-US" b="0" dirty="0"/>
                  <a:t> and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The original matrix has </a:t>
                </a:r>
                <a14:m>
                  <m:oMath xmlns:m="http://schemas.openxmlformats.org/officeDocument/2006/math">
                    <m:r>
                      <a:rPr lang="en-US" b="0" i="1" smtClean="0">
                        <a:latin typeface="Cambria Math" panose="02040503050406030204" pitchFamily="18" charset="0"/>
                      </a:rPr>
                      <m:t>𝑚𝑛</m:t>
                    </m:r>
                  </m:oMath>
                </a14:m>
                <a:r>
                  <a:rPr lang="en-US" b="0" dirty="0"/>
                  <a:t> parameters. The factored version has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𝑚𝑟</m:t>
                      </m:r>
                      <m:r>
                        <a:rPr lang="en-US" b="0" i="1" smtClean="0">
                          <a:latin typeface="Cambria Math" panose="02040503050406030204" pitchFamily="18" charset="0"/>
                        </a:rPr>
                        <m:t>+</m:t>
                      </m:r>
                      <m:r>
                        <a:rPr lang="en-US" b="0" i="1" smtClean="0">
                          <a:latin typeface="Cambria Math" panose="02040503050406030204" pitchFamily="18" charset="0"/>
                        </a:rPr>
                        <m:t>𝑟𝑛</m:t>
                      </m:r>
                      <m:r>
                        <a:rPr lang="en-US" b="0" i="1" smtClean="0">
                          <a:latin typeface="Cambria Math" panose="02040503050406030204" pitchFamily="18" charset="0"/>
                        </a:rPr>
                        <m:t>=</m:t>
                      </m:r>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m:oMathPara>
                </a14:m>
                <a:endParaRPr lang="en-US" dirty="0"/>
              </a:p>
              <a:p>
                <a:pPr marL="114300" indent="0">
                  <a:buNone/>
                </a:pPr>
                <a:r>
                  <a:rPr lang="en-US" b="0" dirty="0"/>
                  <a:t>parameters. So the model is smaller when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&lt;</m:t>
                      </m:r>
                      <m:r>
                        <a:rPr lang="en-US" b="0" i="1" smtClean="0">
                          <a:latin typeface="Cambria Math" panose="02040503050406030204" pitchFamily="18" charset="0"/>
                        </a:rPr>
                        <m:t>𝑚𝑛</m:t>
                      </m:r>
                    </m:oMath>
                  </m:oMathPara>
                </a14:m>
                <a:endParaRPr lang="en-US" b="0" dirty="0"/>
              </a:p>
              <a:p>
                <a:pPr marL="114300" indent="0">
                  <a:buNone/>
                </a:pPr>
                <a:r>
                  <a:rPr lang="en-US" dirty="0"/>
                  <a:t>The rank </a:t>
                </a:r>
                <a14:m>
                  <m:oMath xmlns:m="http://schemas.openxmlformats.org/officeDocument/2006/math">
                    <m:r>
                      <a:rPr lang="en-US" b="0" i="1" smtClean="0">
                        <a:latin typeface="Cambria Math" panose="02040503050406030204" pitchFamily="18" charset="0"/>
                      </a:rPr>
                      <m:t>𝑟</m:t>
                    </m:r>
                  </m:oMath>
                </a14:m>
                <a:r>
                  <a:rPr lang="en-US" b="0" dirty="0"/>
                  <a:t> is a compression knob. Smaller </a:t>
                </a:r>
                <a14:m>
                  <m:oMath xmlns:m="http://schemas.openxmlformats.org/officeDocument/2006/math">
                    <m:r>
                      <a:rPr lang="en-US" b="0" i="1" smtClean="0">
                        <a:latin typeface="Cambria Math" panose="02040503050406030204" pitchFamily="18" charset="0"/>
                      </a:rPr>
                      <m:t>𝑟</m:t>
                    </m:r>
                  </m:oMath>
                </a14:m>
                <a:r>
                  <a:rPr lang="en-US" b="0" dirty="0"/>
                  <a:t> means fewer parameters.</a:t>
                </a:r>
              </a:p>
            </p:txBody>
          </p:sp>
        </mc:Choice>
        <mc:Fallback xmlns="">
          <p:sp>
            <p:nvSpPr>
              <p:cNvPr id="3" name="Text Placeholder 2">
                <a:extLst>
                  <a:ext uri="{FF2B5EF4-FFF2-40B4-BE49-F238E27FC236}">
                    <a16:creationId xmlns:a16="http://schemas.microsoft.com/office/drawing/2014/main" id="{711D2855-3C89-FD0E-63D4-8A637C52A7E4}"/>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76260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A7865-B00C-0AB4-4628-9EC159315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B2831-192A-F145-6BA8-179AE9D93DEF}"/>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4A523FF-8441-FEFB-3529-94A236843453}"/>
                  </a:ext>
                </a:extLst>
              </p:cNvPr>
              <p:cNvSpPr>
                <a:spLocks noGrp="1"/>
              </p:cNvSpPr>
              <p:nvPr>
                <p:ph type="body" idx="1"/>
              </p:nvPr>
            </p:nvSpPr>
            <p:spPr>
              <a:xfrm>
                <a:off x="311700" y="1266325"/>
                <a:ext cx="8520600" cy="3779808"/>
              </a:xfrm>
            </p:spPr>
            <p:txBody>
              <a:bodyPr>
                <a:normAutofit lnSpcReduction="10000"/>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be a large and low-rank weight matri</a:t>
                </a:r>
                <a:r>
                  <a:rPr lang="en-US" dirty="0"/>
                  <a:t>x. We will replace </a:t>
                </a:r>
                <a14:m>
                  <m:oMath xmlns:m="http://schemas.openxmlformats.org/officeDocument/2006/math">
                    <m:r>
                      <a:rPr lang="en-US" b="0" i="1" smtClean="0">
                        <a:latin typeface="Cambria Math" panose="02040503050406030204" pitchFamily="18" charset="0"/>
                      </a:rPr>
                      <m:t>𝐴</m:t>
                    </m:r>
                  </m:oMath>
                </a14:m>
                <a:r>
                  <a:rPr lang="en-US" b="0" dirty="0"/>
                  <a:t> with two matrices: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𝐵𝐶</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a14:m>
                <a:r>
                  <a:rPr lang="en-US" b="0" dirty="0"/>
                  <a:t> and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b="0" dirty="0"/>
                  <a:t>. The original matrix has </a:t>
                </a:r>
                <a14:m>
                  <m:oMath xmlns:m="http://schemas.openxmlformats.org/officeDocument/2006/math">
                    <m:r>
                      <a:rPr lang="en-US" b="0" i="1" smtClean="0">
                        <a:latin typeface="Cambria Math" panose="02040503050406030204" pitchFamily="18" charset="0"/>
                      </a:rPr>
                      <m:t>𝑚𝑛</m:t>
                    </m:r>
                  </m:oMath>
                </a14:m>
                <a:r>
                  <a:rPr lang="en-US" b="0" dirty="0"/>
                  <a:t> parameters. The factored version has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𝑚𝑟</m:t>
                      </m:r>
                      <m:r>
                        <a:rPr lang="en-US" b="0" i="1" smtClean="0">
                          <a:latin typeface="Cambria Math" panose="02040503050406030204" pitchFamily="18" charset="0"/>
                        </a:rPr>
                        <m:t>+</m:t>
                      </m:r>
                      <m:r>
                        <a:rPr lang="en-US" b="0" i="1" smtClean="0">
                          <a:latin typeface="Cambria Math" panose="02040503050406030204" pitchFamily="18" charset="0"/>
                        </a:rPr>
                        <m:t>𝑟𝑛</m:t>
                      </m:r>
                      <m:r>
                        <a:rPr lang="en-US" b="0" i="1" smtClean="0">
                          <a:latin typeface="Cambria Math" panose="02040503050406030204" pitchFamily="18" charset="0"/>
                        </a:rPr>
                        <m:t>=</m:t>
                      </m:r>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m:oMathPara>
                </a14:m>
                <a:endParaRPr lang="en-US" dirty="0"/>
              </a:p>
              <a:p>
                <a:pPr marL="114300" indent="0">
                  <a:buNone/>
                </a:pPr>
                <a:r>
                  <a:rPr lang="en-US" b="0" dirty="0"/>
                  <a:t>parameters. So the model is smaller when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&lt;</m:t>
                      </m:r>
                      <m:r>
                        <a:rPr lang="en-US" b="0" i="1" smtClean="0">
                          <a:latin typeface="Cambria Math" panose="02040503050406030204" pitchFamily="18" charset="0"/>
                        </a:rPr>
                        <m:t>𝑚𝑛</m:t>
                      </m:r>
                    </m:oMath>
                  </m:oMathPara>
                </a14:m>
                <a:endParaRPr lang="en-US" b="0" dirty="0"/>
              </a:p>
              <a:p>
                <a:pPr marL="114300" indent="0">
                  <a:buNone/>
                </a:pPr>
                <a:r>
                  <a:rPr lang="en-US" dirty="0"/>
                  <a:t>The rank </a:t>
                </a:r>
                <a14:m>
                  <m:oMath xmlns:m="http://schemas.openxmlformats.org/officeDocument/2006/math">
                    <m:r>
                      <a:rPr lang="en-US" b="0" i="1" smtClean="0">
                        <a:latin typeface="Cambria Math" panose="02040503050406030204" pitchFamily="18" charset="0"/>
                      </a:rPr>
                      <m:t>𝑟</m:t>
                    </m:r>
                  </m:oMath>
                </a14:m>
                <a:r>
                  <a:rPr lang="en-US" b="0" dirty="0"/>
                  <a:t> is a compression knob. Smaller </a:t>
                </a:r>
                <a14:m>
                  <m:oMath xmlns:m="http://schemas.openxmlformats.org/officeDocument/2006/math">
                    <m:r>
                      <a:rPr lang="en-US" b="0" i="1" smtClean="0">
                        <a:latin typeface="Cambria Math" panose="02040503050406030204" pitchFamily="18" charset="0"/>
                      </a:rPr>
                      <m:t>𝑟</m:t>
                    </m:r>
                  </m:oMath>
                </a14:m>
                <a:r>
                  <a:rPr lang="en-US" b="0" dirty="0"/>
                  <a:t> means fewer parameters.</a:t>
                </a:r>
              </a:p>
              <a:p>
                <a:pPr marL="114300" indent="0">
                  <a:buNone/>
                </a:pPr>
                <a:endParaRPr lang="en-US" dirty="0"/>
              </a:p>
              <a:p>
                <a:pPr marL="114300" indent="0">
                  <a:buNone/>
                </a:pPr>
                <a:r>
                  <a:rPr lang="en-US" dirty="0"/>
                  <a:t>If many singular values are small, then the matrix may be approximately low-rank </a:t>
                </a:r>
                <a:r>
                  <a:rPr lang="en-US" dirty="0">
                    <a:sym typeface="Wingdings" pitchFamily="2" charset="2"/>
                  </a:rPr>
                  <a:t> we may be able to compress it without losing too much</a:t>
                </a:r>
              </a:p>
              <a:p>
                <a:pPr marL="114300" indent="0">
                  <a:buNone/>
                </a:pPr>
                <a:endParaRPr lang="en-US" dirty="0">
                  <a:sym typeface="Wingdings" pitchFamily="2" charset="2"/>
                </a:endParaRPr>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44A523FF-8441-FEFB-3529-94A236843453}"/>
                  </a:ext>
                </a:extLst>
              </p:cNvPr>
              <p:cNvSpPr>
                <a:spLocks noGrp="1" noRot="1" noChangeAspect="1" noMove="1" noResize="1" noEditPoints="1" noAdjustHandles="1" noChangeArrowheads="1" noChangeShapeType="1" noTextEdit="1"/>
              </p:cNvSpPr>
              <p:nvPr>
                <p:ph type="body" idx="1"/>
              </p:nvPr>
            </p:nvSpPr>
            <p:spPr>
              <a:xfrm>
                <a:off x="311700" y="1266325"/>
                <a:ext cx="8520600" cy="37798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480734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B2576-4508-1C3A-6031-3C6BD8A13C03}"/>
              </a:ext>
            </a:extLst>
          </p:cNvPr>
          <p:cNvSpPr>
            <a:spLocks noGrp="1"/>
          </p:cNvSpPr>
          <p:nvPr>
            <p:ph type="title"/>
          </p:nvPr>
        </p:nvSpPr>
        <p:spPr/>
        <p:txBody>
          <a:bodyPr>
            <a:normAutofit fontScale="90000"/>
          </a:bodyPr>
          <a:lstStyle/>
          <a:p>
            <a:r>
              <a:rPr lang="en-US" dirty="0"/>
              <a:t>Low-rank factorization</a:t>
            </a:r>
          </a:p>
        </p:txBody>
      </p:sp>
      <p:sp>
        <p:nvSpPr>
          <p:cNvPr id="3" name="Text Placeholder 2">
            <a:extLst>
              <a:ext uri="{FF2B5EF4-FFF2-40B4-BE49-F238E27FC236}">
                <a16:creationId xmlns:a16="http://schemas.microsoft.com/office/drawing/2014/main" id="{8121CAC6-DCD8-11D2-A061-9CAAE3EC7EC5}"/>
              </a:ext>
            </a:extLst>
          </p:cNvPr>
          <p:cNvSpPr>
            <a:spLocks noGrp="1"/>
          </p:cNvSpPr>
          <p:nvPr>
            <p:ph type="body" idx="1"/>
          </p:nvPr>
        </p:nvSpPr>
        <p:spPr>
          <a:xfrm>
            <a:off x="311700" y="1266325"/>
            <a:ext cx="8520600" cy="3551208"/>
          </a:xfrm>
        </p:spPr>
        <p:txBody>
          <a:bodyPr>
            <a:normAutofit/>
          </a:bodyPr>
          <a:lstStyle/>
          <a:p>
            <a:pPr marL="114300" indent="0">
              <a:buNone/>
            </a:pPr>
            <a:r>
              <a:rPr lang="en-US" dirty="0"/>
              <a:t>Original: </a:t>
            </a:r>
          </a:p>
        </p:txBody>
      </p:sp>
    </p:spTree>
    <p:extLst>
      <p:ext uri="{BB962C8B-B14F-4D97-AF65-F5344CB8AC3E}">
        <p14:creationId xmlns:p14="http://schemas.microsoft.com/office/powerpoint/2010/main" val="281221997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108F0-7103-291E-5EBF-F3D83BF55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44462-0BAB-35C6-1B2E-A66E7D4AA794}"/>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B0A17C-D7E1-D74C-2A69-7BC57AEFB530}"/>
                  </a:ext>
                </a:extLst>
              </p:cNvPr>
              <p:cNvSpPr>
                <a:spLocks noGrp="1"/>
              </p:cNvSpPr>
              <p:nvPr>
                <p:ph type="body" idx="1"/>
              </p:nvPr>
            </p:nvSpPr>
            <p:spPr>
              <a:xfrm>
                <a:off x="311700" y="1266325"/>
                <a:ext cx="8520600" cy="3551208"/>
              </a:xfrm>
            </p:spPr>
            <p:txBody>
              <a:bodyPr>
                <a:normAutofit/>
              </a:bodyPr>
              <a:lstStyle/>
              <a:p>
                <a:pPr marL="114300" indent="0">
                  <a:buNone/>
                </a:pPr>
                <a:r>
                  <a:rPr lang="en-US" dirty="0"/>
                  <a:t>Original: </a:t>
                </a:r>
              </a:p>
              <a:p>
                <a:pPr marL="114300" indent="0">
                  <a:buNone/>
                </a:pPr>
                <a:r>
                  <a:rPr lang="en-US" dirty="0"/>
                  <a:t>n-dimensional input </a:t>
                </a:r>
                <a14:m>
                  <m:oMath xmlns:m="http://schemas.openxmlformats.org/officeDocument/2006/math">
                    <m:r>
                      <a:rPr lang="en-US" b="0" i="1" smtClean="0">
                        <a:latin typeface="Cambria Math" panose="02040503050406030204" pitchFamily="18" charset="0"/>
                      </a:rPr>
                      <m:t>𝑥</m:t>
                    </m:r>
                  </m:oMath>
                </a14:m>
                <a:r>
                  <a:rPr lang="en-US" dirty="0"/>
                  <a:t> </a:t>
                </a:r>
                <a:r>
                  <a:rPr lang="en-US" dirty="0">
                    <a:sym typeface="Wingdings" pitchFamily="2" charset="2"/>
                  </a:rPr>
                  <a:t> weight matrix </a:t>
                </a:r>
                <a14:m>
                  <m:oMath xmlns:m="http://schemas.openxmlformats.org/officeDocument/2006/math">
                    <m:r>
                      <a:rPr lang="en-US" i="1" dirty="0" smtClean="0">
                        <a:latin typeface="Cambria Math" panose="02040503050406030204" pitchFamily="18" charset="0"/>
                        <a:sym typeface="Wingdings" pitchFamily="2" charset="2"/>
                      </a:rPr>
                      <m:t>𝐴</m:t>
                    </m:r>
                  </m:oMath>
                </a14:m>
                <a:r>
                  <a:rPr lang="en-US" b="0" dirty="0">
                    <a:sym typeface="Wingdings" pitchFamily="2" charset="2"/>
                  </a:rPr>
                  <a:t>  m-dimensional output </a:t>
                </a:r>
                <a14:m>
                  <m:oMath xmlns:m="http://schemas.openxmlformats.org/officeDocument/2006/math">
                    <m:r>
                      <a:rPr lang="en-US" b="0" i="1" smtClean="0">
                        <a:latin typeface="Cambria Math" panose="02040503050406030204" pitchFamily="18" charset="0"/>
                        <a:sym typeface="Wingdings" pitchFamily="2" charset="2"/>
                      </a:rPr>
                      <m:t>𝑧</m:t>
                    </m:r>
                  </m:oMath>
                </a14:m>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16B0A17C-D7E1-D74C-2A69-7BC57AEFB530}"/>
                  </a:ext>
                </a:extLst>
              </p:cNvPr>
              <p:cNvSpPr>
                <a:spLocks noGrp="1" noRot="1" noChangeAspect="1" noMove="1" noResize="1" noEditPoints="1" noAdjustHandles="1" noChangeArrowheads="1" noChangeShapeType="1" noTextEdit="1"/>
              </p:cNvSpPr>
              <p:nvPr>
                <p:ph type="body" idx="1"/>
              </p:nvPr>
            </p:nvSpPr>
            <p:spPr>
              <a:xfrm>
                <a:off x="311700" y="1266325"/>
                <a:ext cx="8520600" cy="35512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487806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56156-0DA8-066E-1311-C64C51419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85617-8DD9-30F5-7260-038575A38406}"/>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66BBF82-4691-94A2-ADA8-88D5A7A40A6D}"/>
                  </a:ext>
                </a:extLst>
              </p:cNvPr>
              <p:cNvSpPr>
                <a:spLocks noGrp="1"/>
              </p:cNvSpPr>
              <p:nvPr>
                <p:ph type="body" idx="1"/>
              </p:nvPr>
            </p:nvSpPr>
            <p:spPr>
              <a:xfrm>
                <a:off x="311700" y="1266325"/>
                <a:ext cx="8520600" cy="3551208"/>
              </a:xfrm>
            </p:spPr>
            <p:txBody>
              <a:bodyPr>
                <a:normAutofit/>
              </a:bodyPr>
              <a:lstStyle/>
              <a:p>
                <a:pPr marL="114300" indent="0">
                  <a:buNone/>
                </a:pPr>
                <a:r>
                  <a:rPr lang="en-US" dirty="0"/>
                  <a:t>Original: </a:t>
                </a:r>
              </a:p>
              <a:p>
                <a:pPr marL="114300" indent="0">
                  <a:buNone/>
                </a:pPr>
                <a:r>
                  <a:rPr lang="en-US" dirty="0"/>
                  <a:t>n-dimensional input </a:t>
                </a:r>
                <a14:m>
                  <m:oMath xmlns:m="http://schemas.openxmlformats.org/officeDocument/2006/math">
                    <m:r>
                      <a:rPr lang="en-US" b="0" i="1" smtClean="0">
                        <a:latin typeface="Cambria Math" panose="02040503050406030204" pitchFamily="18" charset="0"/>
                      </a:rPr>
                      <m:t>𝑥</m:t>
                    </m:r>
                  </m:oMath>
                </a14:m>
                <a:r>
                  <a:rPr lang="en-US" dirty="0"/>
                  <a:t> </a:t>
                </a:r>
                <a:r>
                  <a:rPr lang="en-US" dirty="0">
                    <a:sym typeface="Wingdings" pitchFamily="2" charset="2"/>
                  </a:rPr>
                  <a:t> weight matrix </a:t>
                </a:r>
                <a14:m>
                  <m:oMath xmlns:m="http://schemas.openxmlformats.org/officeDocument/2006/math">
                    <m:r>
                      <a:rPr lang="en-US" i="1" dirty="0" smtClean="0">
                        <a:latin typeface="Cambria Math" panose="02040503050406030204" pitchFamily="18" charset="0"/>
                        <a:sym typeface="Wingdings" pitchFamily="2" charset="2"/>
                      </a:rPr>
                      <m:t>𝐴</m:t>
                    </m:r>
                  </m:oMath>
                </a14:m>
                <a:r>
                  <a:rPr lang="en-US" b="0" dirty="0">
                    <a:sym typeface="Wingdings" pitchFamily="2" charset="2"/>
                  </a:rPr>
                  <a:t>  m-dimensional output </a:t>
                </a:r>
                <a14:m>
                  <m:oMath xmlns:m="http://schemas.openxmlformats.org/officeDocument/2006/math">
                    <m:r>
                      <a:rPr lang="en-US" b="0" i="1" smtClean="0">
                        <a:latin typeface="Cambria Math" panose="02040503050406030204" pitchFamily="18" charset="0"/>
                        <a:sym typeface="Wingdings" pitchFamily="2" charset="2"/>
                      </a:rPr>
                      <m:t>𝑧</m:t>
                    </m:r>
                  </m:oMath>
                </a14:m>
                <a:endParaRPr lang="en-US" b="0" dirty="0">
                  <a:sym typeface="Wingdings" pitchFamily="2" charset="2"/>
                </a:endParaRPr>
              </a:p>
              <a:p>
                <a:pPr marL="114300" indent="0">
                  <a:buNone/>
                </a:pPr>
                <a:endParaRPr lang="en-US" dirty="0">
                  <a:sym typeface="Wingdings" pitchFamily="2" charset="2"/>
                </a:endParaRPr>
              </a:p>
              <a:p>
                <a:pPr marL="114300" indent="0">
                  <a:buNone/>
                </a:pPr>
                <a:r>
                  <a:rPr lang="en-US" b="0" dirty="0">
                    <a:sym typeface="Wingdings" pitchFamily="2" charset="2"/>
                  </a:rPr>
                  <a:t>Reduced:</a:t>
                </a:r>
              </a:p>
            </p:txBody>
          </p:sp>
        </mc:Choice>
        <mc:Fallback xmlns="">
          <p:sp>
            <p:nvSpPr>
              <p:cNvPr id="3" name="Text Placeholder 2">
                <a:extLst>
                  <a:ext uri="{FF2B5EF4-FFF2-40B4-BE49-F238E27FC236}">
                    <a16:creationId xmlns:a16="http://schemas.microsoft.com/office/drawing/2014/main" id="{C66BBF82-4691-94A2-ADA8-88D5A7A40A6D}"/>
                  </a:ext>
                </a:extLst>
              </p:cNvPr>
              <p:cNvSpPr>
                <a:spLocks noGrp="1" noRot="1" noChangeAspect="1" noMove="1" noResize="1" noEditPoints="1" noAdjustHandles="1" noChangeArrowheads="1" noChangeShapeType="1" noTextEdit="1"/>
              </p:cNvSpPr>
              <p:nvPr>
                <p:ph type="body" idx="1"/>
              </p:nvPr>
            </p:nvSpPr>
            <p:spPr>
              <a:xfrm>
                <a:off x="311700" y="1266325"/>
                <a:ext cx="8520600" cy="35512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3586648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2DE75-8E37-4876-2C23-C7E9E7AE1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B3979-7005-48AB-2D47-0CF7DA4D635B}"/>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67DEC3B-1F1B-F41B-FA6E-D54666201801}"/>
                  </a:ext>
                </a:extLst>
              </p:cNvPr>
              <p:cNvSpPr>
                <a:spLocks noGrp="1"/>
              </p:cNvSpPr>
              <p:nvPr>
                <p:ph type="body" idx="1"/>
              </p:nvPr>
            </p:nvSpPr>
            <p:spPr>
              <a:xfrm>
                <a:off x="311700" y="1266325"/>
                <a:ext cx="8520600" cy="3551208"/>
              </a:xfrm>
            </p:spPr>
            <p:txBody>
              <a:bodyPr>
                <a:normAutofit/>
              </a:bodyPr>
              <a:lstStyle/>
              <a:p>
                <a:pPr marL="114300" indent="0">
                  <a:buNone/>
                </a:pPr>
                <a:r>
                  <a:rPr lang="en-US" dirty="0"/>
                  <a:t>Original: </a:t>
                </a:r>
              </a:p>
              <a:p>
                <a:pPr marL="114300" indent="0">
                  <a:buNone/>
                </a:pPr>
                <a:r>
                  <a:rPr lang="en-US" dirty="0"/>
                  <a:t>n-dimensional input </a:t>
                </a:r>
                <a14:m>
                  <m:oMath xmlns:m="http://schemas.openxmlformats.org/officeDocument/2006/math">
                    <m:r>
                      <a:rPr lang="en-US" b="0" i="1" smtClean="0">
                        <a:latin typeface="Cambria Math" panose="02040503050406030204" pitchFamily="18" charset="0"/>
                      </a:rPr>
                      <m:t>𝑥</m:t>
                    </m:r>
                  </m:oMath>
                </a14:m>
                <a:r>
                  <a:rPr lang="en-US" dirty="0"/>
                  <a:t> </a:t>
                </a:r>
                <a:r>
                  <a:rPr lang="en-US" dirty="0">
                    <a:sym typeface="Wingdings" pitchFamily="2" charset="2"/>
                  </a:rPr>
                  <a:t> weight matrix </a:t>
                </a:r>
                <a14:m>
                  <m:oMath xmlns:m="http://schemas.openxmlformats.org/officeDocument/2006/math">
                    <m:r>
                      <a:rPr lang="en-US" i="1" dirty="0" smtClean="0">
                        <a:latin typeface="Cambria Math" panose="02040503050406030204" pitchFamily="18" charset="0"/>
                        <a:sym typeface="Wingdings" pitchFamily="2" charset="2"/>
                      </a:rPr>
                      <m:t>𝐴</m:t>
                    </m:r>
                  </m:oMath>
                </a14:m>
                <a:r>
                  <a:rPr lang="en-US" b="0" dirty="0">
                    <a:sym typeface="Wingdings" pitchFamily="2" charset="2"/>
                  </a:rPr>
                  <a:t>  m-dimensional output </a:t>
                </a:r>
                <a14:m>
                  <m:oMath xmlns:m="http://schemas.openxmlformats.org/officeDocument/2006/math">
                    <m:r>
                      <a:rPr lang="en-US" b="0" i="1" smtClean="0">
                        <a:latin typeface="Cambria Math" panose="02040503050406030204" pitchFamily="18" charset="0"/>
                        <a:sym typeface="Wingdings" pitchFamily="2" charset="2"/>
                      </a:rPr>
                      <m:t>𝑧</m:t>
                    </m:r>
                  </m:oMath>
                </a14:m>
                <a:endParaRPr lang="en-US" b="0" dirty="0">
                  <a:sym typeface="Wingdings" pitchFamily="2" charset="2"/>
                </a:endParaRPr>
              </a:p>
              <a:p>
                <a:pPr marL="114300" indent="0">
                  <a:buNone/>
                </a:pPr>
                <a:endParaRPr lang="en-US" dirty="0">
                  <a:sym typeface="Wingdings" pitchFamily="2" charset="2"/>
                </a:endParaRPr>
              </a:p>
              <a:p>
                <a:pPr marL="114300" indent="0">
                  <a:buNone/>
                </a:pPr>
                <a:r>
                  <a:rPr lang="en-US" b="0" dirty="0">
                    <a:sym typeface="Wingdings" pitchFamily="2" charset="2"/>
                  </a:rPr>
                  <a:t>Reduced:</a:t>
                </a:r>
              </a:p>
              <a:p>
                <a:pPr marL="114300" indent="0">
                  <a:buNone/>
                </a:pPr>
                <a14:m>
                  <m:oMath xmlns:m="http://schemas.openxmlformats.org/officeDocument/2006/math">
                    <m:r>
                      <a:rPr lang="en-US" i="1" dirty="0" smtClean="0">
                        <a:latin typeface="Cambria Math" panose="02040503050406030204" pitchFamily="18" charset="0"/>
                        <a:sym typeface="Wingdings" pitchFamily="2" charset="2"/>
                      </a:rPr>
                      <m:t>𝑥</m:t>
                    </m:r>
                  </m:oMath>
                </a14:m>
                <a:r>
                  <a:rPr lang="en-US" b="0" dirty="0">
                    <a:sym typeface="Wingdings" pitchFamily="2" charset="2"/>
                  </a:rPr>
                  <a:t>  C  bottleneck </a:t>
                </a:r>
                <a14:m>
                  <m:oMath xmlns:m="http://schemas.openxmlformats.org/officeDocument/2006/math">
                    <m:r>
                      <a:rPr lang="en-US" b="0" i="1" smtClean="0">
                        <a:latin typeface="Cambria Math" panose="02040503050406030204" pitchFamily="18" charset="0"/>
                        <a:sym typeface="Wingdings" pitchFamily="2" charset="2"/>
                      </a:rPr>
                      <m:t>𝑞</m:t>
                    </m:r>
                  </m:oMath>
                </a14:m>
                <a:r>
                  <a:rPr lang="en-US" dirty="0">
                    <a:sym typeface="Wingdings" pitchFamily="2" charset="2"/>
                  </a:rPr>
                  <a:t> </a:t>
                </a:r>
                <a:r>
                  <a:rPr lang="en-US" b="0" dirty="0">
                    <a:sym typeface="Wingdings" pitchFamily="2" charset="2"/>
                  </a:rPr>
                  <a:t> B  Z</a:t>
                </a:r>
              </a:p>
            </p:txBody>
          </p:sp>
        </mc:Choice>
        <mc:Fallback xmlns="">
          <p:sp>
            <p:nvSpPr>
              <p:cNvPr id="3" name="Text Placeholder 2">
                <a:extLst>
                  <a:ext uri="{FF2B5EF4-FFF2-40B4-BE49-F238E27FC236}">
                    <a16:creationId xmlns:a16="http://schemas.microsoft.com/office/drawing/2014/main" id="{767DEC3B-1F1B-F41B-FA6E-D54666201801}"/>
                  </a:ext>
                </a:extLst>
              </p:cNvPr>
              <p:cNvSpPr>
                <a:spLocks noGrp="1" noRot="1" noChangeAspect="1" noMove="1" noResize="1" noEditPoints="1" noAdjustHandles="1" noChangeArrowheads="1" noChangeShapeType="1" noTextEdit="1"/>
              </p:cNvSpPr>
              <p:nvPr>
                <p:ph type="body" idx="1"/>
              </p:nvPr>
            </p:nvSpPr>
            <p:spPr>
              <a:xfrm>
                <a:off x="311700" y="1266325"/>
                <a:ext cx="8520600" cy="355120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4248189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F214-A1F5-E905-06FD-90C793FF2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62355-8B33-68E2-52A9-20A8A4CC003E}"/>
              </a:ext>
            </a:extLst>
          </p:cNvPr>
          <p:cNvSpPr>
            <a:spLocks noGrp="1"/>
          </p:cNvSpPr>
          <p:nvPr>
            <p:ph type="title"/>
          </p:nvPr>
        </p:nvSpPr>
        <p:spPr/>
        <p:txBody>
          <a:bodyPr>
            <a:normAutofit fontScale="90000"/>
          </a:bodyPr>
          <a:lstStyle/>
          <a:p>
            <a:r>
              <a:rPr lang="en-US" dirty="0"/>
              <a:t>Low-rank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129E42F-17A2-6747-1ABE-BCA8CE302FAA}"/>
                  </a:ext>
                </a:extLst>
              </p:cNvPr>
              <p:cNvSpPr>
                <a:spLocks noGrp="1"/>
              </p:cNvSpPr>
              <p:nvPr>
                <p:ph type="body" idx="1"/>
              </p:nvPr>
            </p:nvSpPr>
            <p:spPr>
              <a:xfrm>
                <a:off x="311700" y="1266325"/>
                <a:ext cx="8520600" cy="3551208"/>
              </a:xfrm>
            </p:spPr>
            <p:txBody>
              <a:bodyPr>
                <a:normAutofit/>
              </a:bodyPr>
              <a:lstStyle/>
              <a:p>
                <a:pPr marL="114300" indent="0">
                  <a:buNone/>
                </a:pPr>
                <a:r>
                  <a:rPr lang="en-US" dirty="0"/>
                  <a:t>Original: </a:t>
                </a:r>
              </a:p>
              <a:p>
                <a:pPr marL="114300" indent="0">
                  <a:buNone/>
                </a:pPr>
                <a:r>
                  <a:rPr lang="en-US" dirty="0"/>
                  <a:t>n-dimensional input </a:t>
                </a:r>
                <a14:m>
                  <m:oMath xmlns:m="http://schemas.openxmlformats.org/officeDocument/2006/math">
                    <m:r>
                      <a:rPr lang="en-US" b="0" i="1" smtClean="0">
                        <a:latin typeface="Cambria Math" panose="02040503050406030204" pitchFamily="18" charset="0"/>
                      </a:rPr>
                      <m:t>𝑥</m:t>
                    </m:r>
                  </m:oMath>
                </a14:m>
                <a:r>
                  <a:rPr lang="en-US" dirty="0"/>
                  <a:t> </a:t>
                </a:r>
                <a:r>
                  <a:rPr lang="en-US" dirty="0">
                    <a:sym typeface="Wingdings" pitchFamily="2" charset="2"/>
                  </a:rPr>
                  <a:t> weight matrix </a:t>
                </a:r>
                <a14:m>
                  <m:oMath xmlns:m="http://schemas.openxmlformats.org/officeDocument/2006/math">
                    <m:r>
                      <a:rPr lang="en-US" i="1" dirty="0" smtClean="0">
                        <a:latin typeface="Cambria Math" panose="02040503050406030204" pitchFamily="18" charset="0"/>
                        <a:sym typeface="Wingdings" pitchFamily="2" charset="2"/>
                      </a:rPr>
                      <m:t>𝐴</m:t>
                    </m:r>
                  </m:oMath>
                </a14:m>
                <a:r>
                  <a:rPr lang="en-US" b="0" dirty="0">
                    <a:sym typeface="Wingdings" pitchFamily="2" charset="2"/>
                  </a:rPr>
                  <a:t>  m-dimensional output </a:t>
                </a:r>
                <a14:m>
                  <m:oMath xmlns:m="http://schemas.openxmlformats.org/officeDocument/2006/math">
                    <m:r>
                      <a:rPr lang="en-US" b="0" i="1" smtClean="0">
                        <a:latin typeface="Cambria Math" panose="02040503050406030204" pitchFamily="18" charset="0"/>
                        <a:sym typeface="Wingdings" pitchFamily="2" charset="2"/>
                      </a:rPr>
                      <m:t>𝑧</m:t>
                    </m:r>
                  </m:oMath>
                </a14:m>
                <a:endParaRPr lang="en-US" b="0" dirty="0">
                  <a:sym typeface="Wingdings" pitchFamily="2" charset="2"/>
                </a:endParaRPr>
              </a:p>
              <a:p>
                <a:pPr marL="114300" indent="0">
                  <a:buNone/>
                </a:pPr>
                <a:endParaRPr lang="en-US" dirty="0">
                  <a:sym typeface="Wingdings" pitchFamily="2" charset="2"/>
                </a:endParaRPr>
              </a:p>
              <a:p>
                <a:pPr marL="114300" indent="0">
                  <a:buNone/>
                </a:pPr>
                <a:r>
                  <a:rPr lang="en-US" b="0" dirty="0">
                    <a:sym typeface="Wingdings" pitchFamily="2" charset="2"/>
                  </a:rPr>
                  <a:t>Reduced:</a:t>
                </a:r>
              </a:p>
              <a:p>
                <a:pPr marL="114300" indent="0">
                  <a:buNone/>
                </a:pPr>
                <a14:m>
                  <m:oMath xmlns:m="http://schemas.openxmlformats.org/officeDocument/2006/math">
                    <m:r>
                      <a:rPr lang="en-US" i="1" dirty="0" smtClean="0">
                        <a:latin typeface="Cambria Math" panose="02040503050406030204" pitchFamily="18" charset="0"/>
                        <a:sym typeface="Wingdings" pitchFamily="2" charset="2"/>
                      </a:rPr>
                      <m:t>𝑥</m:t>
                    </m:r>
                  </m:oMath>
                </a14:m>
                <a:r>
                  <a:rPr lang="en-US" b="0" dirty="0">
                    <a:sym typeface="Wingdings" pitchFamily="2" charset="2"/>
                  </a:rPr>
                  <a:t>  C  bottleneck </a:t>
                </a:r>
                <a14:m>
                  <m:oMath xmlns:m="http://schemas.openxmlformats.org/officeDocument/2006/math">
                    <m:r>
                      <a:rPr lang="en-US" b="0" i="1" smtClean="0">
                        <a:latin typeface="Cambria Math" panose="02040503050406030204" pitchFamily="18" charset="0"/>
                        <a:sym typeface="Wingdings" pitchFamily="2" charset="2"/>
                      </a:rPr>
                      <m:t>𝑞</m:t>
                    </m:r>
                  </m:oMath>
                </a14:m>
                <a:r>
                  <a:rPr lang="en-US" dirty="0">
                    <a:sym typeface="Wingdings" pitchFamily="2" charset="2"/>
                  </a:rPr>
                  <a:t> </a:t>
                </a:r>
                <a:r>
                  <a:rPr lang="en-US" b="0" dirty="0">
                    <a:sym typeface="Wingdings" pitchFamily="2" charset="2"/>
                  </a:rPr>
                  <a:t> B  Z</a:t>
                </a:r>
              </a:p>
              <a:p>
                <a:pPr marL="114300" indent="0">
                  <a:buNone/>
                </a:pPr>
                <a:endParaRPr lang="en-US" dirty="0">
                  <a:sym typeface="Wingdings" pitchFamily="2" charset="2"/>
                </a:endParaRPr>
              </a:p>
              <a:p>
                <a:pPr marL="114300" indent="0">
                  <a:buNone/>
                </a:pPr>
                <a:r>
                  <a:rPr lang="en-US" b="0" dirty="0">
                    <a:sym typeface="Wingdings" pitchFamily="2" charset="2"/>
                  </a:rPr>
                  <a:t>Where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𝑞</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𝐶𝑥</m:t>
                      </m:r>
                      <m:r>
                        <a:rPr lang="en-US" b="0" i="1" smtClean="0">
                          <a:latin typeface="Cambria Math" panose="02040503050406030204" pitchFamily="18" charset="0"/>
                          <a:sym typeface="Wingdings" pitchFamily="2" charset="2"/>
                        </a:rPr>
                        <m:t>∈</m:t>
                      </m:r>
                      <m:sSup>
                        <m:sSupPr>
                          <m:ctrlPr>
                            <a:rPr lang="en-US" b="0" i="1" smtClean="0">
                              <a:latin typeface="Cambria Math" panose="02040503050406030204" pitchFamily="18" charset="0"/>
                              <a:sym typeface="Wingdings" pitchFamily="2" charset="2"/>
                            </a:rPr>
                          </m:ctrlPr>
                        </m:sSupPr>
                        <m:e>
                          <m:r>
                            <a:rPr lang="en-US" b="0" i="1" smtClean="0">
                              <a:latin typeface="Cambria Math" panose="02040503050406030204" pitchFamily="18" charset="0"/>
                              <a:sym typeface="Wingdings" pitchFamily="2" charset="2"/>
                            </a:rPr>
                            <m:t>ℝ</m:t>
                          </m:r>
                        </m:e>
                        <m:sup>
                          <m:r>
                            <a:rPr lang="en-US" b="0" i="1" smtClean="0">
                              <a:latin typeface="Cambria Math" panose="02040503050406030204" pitchFamily="18" charset="0"/>
                              <a:sym typeface="Wingdings" pitchFamily="2" charset="2"/>
                            </a:rPr>
                            <m:t>𝑟</m:t>
                          </m:r>
                        </m:sup>
                      </m:sSup>
                    </m:oMath>
                  </m:oMathPara>
                </a14:m>
                <a:endParaRPr lang="en-US" b="0" dirty="0">
                  <a:sym typeface="Wingdings" pitchFamily="2" charset="2"/>
                </a:endParaRPr>
              </a:p>
              <a:p>
                <a:pPr marL="114300" indent="0">
                  <a:buNone/>
                </a:pPr>
                <a14:m>
                  <m:oMath xmlns:m="http://schemas.openxmlformats.org/officeDocument/2006/math">
                    <m:r>
                      <a:rPr lang="en-US" b="0" i="1" smtClean="0">
                        <a:latin typeface="Cambria Math" panose="02040503050406030204" pitchFamily="18" charset="0"/>
                        <a:sym typeface="Wingdings" pitchFamily="2" charset="2"/>
                      </a:rPr>
                      <m:t>𝑞</m:t>
                    </m:r>
                  </m:oMath>
                </a14:m>
                <a:r>
                  <a:rPr lang="en-US" b="0" dirty="0">
                    <a:sym typeface="Wingdings" pitchFamily="2" charset="2"/>
                  </a:rPr>
                  <a:t> is called a bottleneck because it is forced to squeeze its higher dimensional input information into </a:t>
                </a:r>
                <a14:m>
                  <m:oMath xmlns:m="http://schemas.openxmlformats.org/officeDocument/2006/math">
                    <m:r>
                      <a:rPr lang="en-US" b="0" i="1" smtClean="0">
                        <a:latin typeface="Cambria Math" panose="02040503050406030204" pitchFamily="18" charset="0"/>
                        <a:sym typeface="Wingdings" pitchFamily="2" charset="2"/>
                      </a:rPr>
                      <m:t>𝑟</m:t>
                    </m:r>
                  </m:oMath>
                </a14:m>
                <a:r>
                  <a:rPr lang="en-US" b="0" dirty="0">
                    <a:sym typeface="Wingdings" pitchFamily="2" charset="2"/>
                  </a:rPr>
                  <a:t> dimensions.</a:t>
                </a: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p>
            </p:txBody>
          </p:sp>
        </mc:Choice>
        <mc:Fallback xmlns="">
          <p:sp>
            <p:nvSpPr>
              <p:cNvPr id="3" name="Text Placeholder 2">
                <a:extLst>
                  <a:ext uri="{FF2B5EF4-FFF2-40B4-BE49-F238E27FC236}">
                    <a16:creationId xmlns:a16="http://schemas.microsoft.com/office/drawing/2014/main" id="{1129E42F-17A2-6747-1ABE-BCA8CE302FAA}"/>
                  </a:ext>
                </a:extLst>
              </p:cNvPr>
              <p:cNvSpPr>
                <a:spLocks noGrp="1" noRot="1" noChangeAspect="1" noMove="1" noResize="1" noEditPoints="1" noAdjustHandles="1" noChangeArrowheads="1" noChangeShapeType="1" noTextEdit="1"/>
              </p:cNvSpPr>
              <p:nvPr>
                <p:ph type="body" idx="1"/>
              </p:nvPr>
            </p:nvSpPr>
            <p:spPr>
              <a:xfrm>
                <a:off x="311700" y="1266325"/>
                <a:ext cx="8520600" cy="3551208"/>
              </a:xfrm>
              <a:blipFill>
                <a:blip r:embed="rId2"/>
                <a:stretch>
                  <a:fillRect r="-298"/>
                </a:stretch>
              </a:blipFill>
            </p:spPr>
            <p:txBody>
              <a:bodyPr/>
              <a:lstStyle/>
              <a:p>
                <a:r>
                  <a:rPr lang="en-US">
                    <a:noFill/>
                  </a:rPr>
                  <a:t> </a:t>
                </a:r>
              </a:p>
            </p:txBody>
          </p:sp>
        </mc:Fallback>
      </mc:AlternateContent>
    </p:spTree>
    <p:extLst>
      <p:ext uri="{BB962C8B-B14F-4D97-AF65-F5344CB8AC3E}">
        <p14:creationId xmlns:p14="http://schemas.microsoft.com/office/powerpoint/2010/main" val="19290218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4a10d6ac-46f6-48a1-b9e5-c48a8c5b5c4c"/>
  <p:tag name="SLIDO_EVENT_UUID" val="26a80375-1043-4b74-93b6-ae3b22a0a4fa"/>
  <p:tag name="SLIDO_EVENT_SECTION_UUID" val="08446eac-bd1a-47e9-8712-610b1eace71e"/>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97b60526-fd7f-455f-9d0a-8becb8c524b1"/>
  <p:tag name="SLIDO_TIMELINE" val="W3sic2hvd0NvcnJlY3RBbnN3ZXJzIjpmYWxzZSwic2hvd1Jlc3VsdHMiOmZhbHNlLCJwb2xsUXVlc3Rpb25VdWlkIjoiODgxMzVmMjMtNjgyZC00MzE1LTg2YTUtZjYwMzBlMmJlYjNhIn0seyJzaG93Q29ycmVjdEFuc3dlcnMiOnRydWUsInNob3dSZXN1bHRzIjp0cnVlLCJwb2xsUXVlc3Rpb25VdWlkIjoiODgxMzVmMjMtNjgyZC00MzE1LTg2YTUtZjYwMzBlMmJlYjNhIn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79cf82fb-35d3-4cff-90f7-2aeea83b18c6"/>
  <p:tag name="SLIDO_TIMELINE" val="W3sic2hvd1Jlc3VsdHMiOmZhbHNlLCJzaG93Q29ycmVjdEFuc3dlcnMiOmZhbHNlLCJwb2xsUXVlc3Rpb25VdWlkIjoiZGE5NDgwYjEtN2MzMS00MmYwLTk3OGEtODM1NzQzNjdkODdlIn0seyJzaG93UmVzdWx0cyI6dHJ1ZSwic2hvd0NvcnJlY3RBbnN3ZXJzIjp0cnVlLCJwb2xsUXVlc3Rpb25VdWlkIjoiZGE5NDgwYjEtN2MzMS00MmYwLTk3OGEtODM1NzQzNjdkODdlIn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ea88eada-20da-464d-b8d8-c0111ff671a1"/>
  <p:tag name="SLIDO_TIMELINE" val="W3sicG9sbFF1ZXN0aW9uVXVpZCI6IjA1MjliNGQwLTE0ZTktNGNlNy04NzhiLTBkYzJlMDNlMDg2OCIsInNob3dDb3JyZWN0QW5zd2VycyI6ZmFsc2UsInNob3dSZXN1bHRzIjpmYWxzZX0seyJwb2xsUXVlc3Rpb25VdWlkIjoiMDUyOWI0ZDAtMTRlOS00Y2U3LTg3OGItMGRjMmUwM2UwODY4Iiwic2hvd0NvcnJlY3RBbnN3ZXJzIjp0cnVlLCJzaG93UmVzdWx0cyI6dHJ1ZX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TYPE" val="SlidoPoll"/>
  <p:tag name="SLIDO_POLL_UUID" val="c5078e92-1e92-4ed5-8391-d7e5b21b4419"/>
  <p:tag name="SLIDO_TIMELINE" val="W3sic2hvd0NvcnJlY3RBbnN3ZXJzIjpmYWxzZSwicG9sbFF1ZXN0aW9uVXVpZCI6ImI5MmM2OWJiLWE4MjEtNGM3MC05NTc0LTE2OWI1MTk0YTU2MCIsInNob3dSZXN1bHRzIjpmYWxzZX0seyJzaG93Q29ycmVjdEFuc3dlcnMiOnRydWUsInBvbGxRdWVzdGlvblV1aWQiOiJiOTJjNjliYi1hODIxLTRjNzAtOTU3NC0xNjliNTE5NGE1NjAiLCJzaG93UmVzdWx0cyI6dHJ1ZX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TYPE" val="SlidoPoll"/>
  <p:tag name="SLIDO_POLL_UUID" val="1cf9ed55-3608-4e43-bb61-c88960833a57"/>
  <p:tag name="SLIDO_TIMELINE" val="W3sic2hvd0NvcnJlY3RBbnN3ZXJzIjpmYWxzZSwicG9sbFF1ZXN0aW9uVXVpZCI6ImM2N2Q3NTI0LTUyMTctNGExMC04ZGQ0LTZiNTg3NGRmMDNkNCIsInNob3dSZXN1bHRzIjpmYWxzZX0seyJzaG93Q29ycmVjdEFuc3dlcnMiOnRydWUsInBvbGxRdWVzdGlvblV1aWQiOiJjNjdkNzUyNC01MjE3LTRhMTAtOGRkNC02YjU4NzRkZjAzZDQiLCJzaG93UmVzdWx0cyI6dHJ1ZX1d"/>
</p:tagLst>
</file>

<file path=ppt/tags/tag1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6.xml><?xml version="1.0" encoding="utf-8"?>
<p:tagLst xmlns:a="http://schemas.openxmlformats.org/drawingml/2006/main" xmlns:r="http://schemas.openxmlformats.org/officeDocument/2006/relationships" xmlns:p="http://schemas.openxmlformats.org/presentationml/2006/main">
  <p:tag name="SLIDO_ELEMENT" val="title"/>
</p:tagLst>
</file>

<file path=ppt/tags/tag17.xml><?xml version="1.0" encoding="utf-8"?>
<p:tagLst xmlns:a="http://schemas.openxmlformats.org/drawingml/2006/main" xmlns:r="http://schemas.openxmlformats.org/officeDocument/2006/relationships" xmlns:p="http://schemas.openxmlformats.org/presentationml/2006/main">
  <p:tag name="SLIDO_TYPE" val="SlidoPoll"/>
  <p:tag name="SLIDO_POLL_UUID" val="c4316b68-75cb-4ba0-af7c-716a5a957b1e"/>
  <p:tag name="SLIDO_TIMELINE" val="W3sicG9sbFF1ZXN0aW9uVXVpZCI6IjU4MzJkODRhLTVhNjYtNDZkZi1iOWU5LWRjZTc3ZDM4NmRkNyIsInNob3dSZXN1bHRzIjpmYWxzZSwic2hvd0NvcnJlY3RBbnN3ZXJzIjpmYWxzZX0seyJwb2xsUXVlc3Rpb25VdWlkIjoiNTgzMmQ4NGEtNWE2Ni00NmRmLWI5ZTktZGNlNzdkMzg2ZGQ3Iiwic2hvd1Jlc3VsdHMiOnRydWUsInNob3dDb3JyZWN0QW5zd2VycyI6dHJ1ZX1d"/>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ags/tag20.xml><?xml version="1.0" encoding="utf-8"?>
<p:tagLst xmlns:a="http://schemas.openxmlformats.org/drawingml/2006/main" xmlns:r="http://schemas.openxmlformats.org/officeDocument/2006/relationships" xmlns:p="http://schemas.openxmlformats.org/presentationml/2006/main">
  <p:tag name="SLIDO_TYPE" val="SlidoPoll"/>
  <p:tag name="SLIDO_POLL_UUID" val="401b1754-331a-4f18-844f-f0317518d2bd"/>
  <p:tag name="SLIDO_TIMELINE" val="W3sic2hvd0NvcnJlY3RBbnN3ZXJzIjpmYWxzZSwicG9sbFF1ZXN0aW9uVXVpZCI6IjAwYmNhZDRmLTlkYTItNDRhOS05YmQxLWY3ZmJkYWEzMjExZSIsInNob3dSZXN1bHRzIjpmYWxzZX0seyJzaG93Q29ycmVjdEFuc3dlcnMiOnRydWUsInBvbGxRdWVzdGlvblV1aWQiOiIwMGJjYWQ0Zi05ZGEyLTQ0YTktOWJkMS1mN2ZiZGFhMzIxMWUiLCJzaG93UmVzdWx0cyI6dHJ1ZX1d"/>
</p:tagLst>
</file>

<file path=ppt/tags/tag21.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22.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896</TotalTime>
  <Words>7708</Words>
  <Application>Microsoft Macintosh PowerPoint</Application>
  <PresentationFormat>On-screen Show (16:9)</PresentationFormat>
  <Paragraphs>1079</Paragraphs>
  <Slides>161</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161</vt:i4>
      </vt:variant>
    </vt:vector>
  </HeadingPairs>
  <TitlesOfParts>
    <vt:vector size="167" baseType="lpstr">
      <vt:lpstr>Arial</vt:lpstr>
      <vt:lpstr>Cambria Math</vt:lpstr>
      <vt:lpstr>Open Sans</vt:lpstr>
      <vt:lpstr>Wingdings</vt:lpstr>
      <vt:lpstr>PT Sans Narrow</vt:lpstr>
      <vt:lpstr>Tropic</vt:lpstr>
      <vt:lpstr>Backpropagation and Optimization</vt:lpstr>
      <vt:lpstr>Recall: neural networks</vt:lpstr>
      <vt:lpstr>Recall: neural networks</vt:lpstr>
      <vt:lpstr>Recall: neural networks</vt:lpstr>
      <vt:lpstr>Recall: neural networks</vt:lpstr>
      <vt:lpstr>Recall: neural networks</vt:lpstr>
      <vt:lpstr>Recall: hidden layers in neural networks</vt:lpstr>
      <vt:lpstr>Recall: computing hidden layers</vt:lpstr>
      <vt:lpstr>Recall: computing output layer</vt:lpstr>
      <vt:lpstr>PowerPoint Presentation</vt:lpstr>
      <vt:lpstr>Solution</vt:lpstr>
      <vt:lpstr>Solution</vt:lpstr>
      <vt:lpstr>PowerPoint Presentation</vt:lpstr>
      <vt:lpstr>Typical NN training loop</vt:lpstr>
      <vt:lpstr>Typical NN training loop</vt:lpstr>
      <vt:lpstr>Typical NN training loop</vt:lpstr>
      <vt:lpstr>Typical NN training loop</vt:lpstr>
      <vt:lpstr>Typical NN training loop</vt:lpstr>
      <vt:lpstr>Backpropagation</vt:lpstr>
      <vt:lpstr>Recall: Backpropagation</vt:lpstr>
      <vt:lpstr>PowerPoint Presentation</vt:lpstr>
      <vt:lpstr>PowerPoint Presentation</vt:lpstr>
      <vt:lpstr>PowerPoint Presentation</vt:lpstr>
      <vt:lpstr>Output error term</vt:lpstr>
      <vt:lpstr>Output error term</vt:lpstr>
      <vt:lpstr>Output error term</vt:lpstr>
      <vt:lpstr>PowerPoint Presentation</vt:lpstr>
      <vt:lpstr>Gradients for output weights and biases</vt:lpstr>
      <vt:lpstr>Gradients for output weights and biases</vt:lpstr>
      <vt:lpstr>Gradients for output weights and biases</vt:lpstr>
      <vt:lpstr>Gradients for output weights and biases</vt:lpstr>
      <vt:lpstr>Gradients for output weights and biases</vt:lpstr>
      <vt:lpstr>PowerPoint Presentation</vt:lpstr>
      <vt:lpstr>Error terms for hidden layer</vt:lpstr>
      <vt:lpstr>Error terms for hidden layer</vt:lpstr>
      <vt:lpstr>Error terms for hidden layer</vt:lpstr>
      <vt:lpstr>Gradients for hidden layer weights and biases</vt:lpstr>
      <vt:lpstr>Gradients for hidden layer weights and biases</vt:lpstr>
      <vt:lpstr>Gradients for hidden layer weights and biases</vt:lpstr>
      <vt:lpstr>Gradients for hidden layer weights and biases</vt:lpstr>
      <vt:lpstr>Gradients for hidden layer weights and biases</vt:lpstr>
      <vt:lpstr>Gradients for hidden layer weights and biases</vt:lpstr>
      <vt:lpstr>PowerPoint Presentation</vt:lpstr>
      <vt:lpstr>PowerPoint Presentation</vt:lpstr>
      <vt:lpstr>Gradient descent for parameter optimization</vt:lpstr>
      <vt:lpstr>Gradient descent for parameter optimization</vt:lpstr>
      <vt:lpstr>Gradient descent for parameter optimization</vt:lpstr>
      <vt:lpstr>Gradient descent for parameter optimization</vt:lpstr>
      <vt:lpstr>Gradient descent for parameter optimization</vt:lpstr>
      <vt:lpstr>PowerPoint Presentation</vt:lpstr>
      <vt:lpstr>Activation Functions</vt:lpstr>
      <vt:lpstr>Recall: activation functions</vt:lpstr>
      <vt:lpstr>PowerPoint Presentation</vt:lpstr>
      <vt:lpstr>PowerPoint Presentation</vt:lpstr>
      <vt:lpstr>Solution</vt:lpstr>
      <vt:lpstr>Solution</vt:lpstr>
      <vt:lpstr>Choosing activation functions</vt:lpstr>
      <vt:lpstr>Choosing activation functions</vt:lpstr>
      <vt:lpstr>Choosing activation functions</vt:lpstr>
      <vt:lpstr>Choosing activation functions</vt:lpstr>
      <vt:lpstr>Choosing activation functions</vt:lpstr>
      <vt:lpstr>Nonlinear function – Sigmoid σ(x) </vt:lpstr>
      <vt:lpstr>Nonlinear function – Sigmoid σ(x) </vt:lpstr>
      <vt:lpstr>Nonlinear function – Sigmoid σ(x) </vt:lpstr>
      <vt:lpstr>Pros and cons of sigmoid </vt:lpstr>
      <vt:lpstr>Pros and cons of sigmoid </vt:lpstr>
      <vt:lpstr>Pros and cons of sigmoid </vt:lpstr>
      <vt:lpstr>Pros and cons of sigmoid </vt:lpstr>
      <vt:lpstr>Pros and cons of sigmoid </vt:lpstr>
      <vt:lpstr>PowerPoint Presentation</vt:lpstr>
      <vt:lpstr>Solution</vt:lpstr>
      <vt:lpstr>Nonlinear function - tanh⁡(x) </vt:lpstr>
      <vt:lpstr>Pros and cons of hyperbolic tangent </vt:lpstr>
      <vt:lpstr>Pros and cons of hyperbolic tangent </vt:lpstr>
      <vt:lpstr>Pros and cons of hyperbolic tangent </vt:lpstr>
      <vt:lpstr>Pros and cons of hyperbolic tangent </vt:lpstr>
      <vt:lpstr>PowerPoint Presentation</vt:lpstr>
      <vt:lpstr>Solution</vt:lpstr>
      <vt:lpstr>Nonlinear function - "ReLU" (x)   </vt:lpstr>
      <vt:lpstr>Pros and cons of ReLU</vt:lpstr>
      <vt:lpstr>Pros and cons of ReLU</vt:lpstr>
      <vt:lpstr>Pros and cons of ReLU</vt:lpstr>
      <vt:lpstr>Pros and cons of ReLU</vt:lpstr>
      <vt:lpstr>Pros and cons of ReLU</vt:lpstr>
      <vt:lpstr>Pros and cons of ReLU</vt:lpstr>
      <vt:lpstr>PowerPoint Presentation</vt:lpstr>
      <vt:lpstr>Leaky ReLU</vt:lpstr>
      <vt:lpstr>Nonlinear function - SoftPlus</vt:lpstr>
      <vt:lpstr>Pros and cons of SoftPlus</vt:lpstr>
      <vt:lpstr>Pros and cons of SoftPlus</vt:lpstr>
      <vt:lpstr>Pros and cons of SoftPlus</vt:lpstr>
      <vt:lpstr>Pros and cons of SoftPlus</vt:lpstr>
      <vt:lpstr>Pros and cons of SoftPlus</vt:lpstr>
      <vt:lpstr>Pros and cons of SoftPlus</vt:lpstr>
      <vt:lpstr>Exponential Linear Unit - ELU</vt:lpstr>
      <vt:lpstr>Pros and cons of ELU</vt:lpstr>
      <vt:lpstr>Pros and cons of ELU</vt:lpstr>
      <vt:lpstr>Pros and cons of ELU</vt:lpstr>
      <vt:lpstr>Pros and cons of ELU</vt:lpstr>
      <vt:lpstr>Pros and cons of ELU</vt:lpstr>
      <vt:lpstr>Pros and cons of ELU</vt:lpstr>
      <vt:lpstr>Output layer activation functions - softmax</vt:lpstr>
      <vt:lpstr>Optimization</vt:lpstr>
      <vt:lpstr>Minimal architecture </vt:lpstr>
      <vt:lpstr>Minimal architecture </vt:lpstr>
      <vt:lpstr>Minimal architecture </vt:lpstr>
      <vt:lpstr>Minimal architecture </vt:lpstr>
      <vt:lpstr>Minimal architecture </vt:lpstr>
      <vt:lpstr>Pruning</vt:lpstr>
      <vt:lpstr>Pruning</vt:lpstr>
      <vt:lpstr>Pruning</vt:lpstr>
      <vt:lpstr>Pruning</vt:lpstr>
      <vt:lpstr>Pruning</vt:lpstr>
      <vt:lpstr>Iterative pruning</vt:lpstr>
      <vt:lpstr>Iterative pruning</vt:lpstr>
      <vt:lpstr>Iterative pruning</vt:lpstr>
      <vt:lpstr>Iterative pruning</vt:lpstr>
      <vt:lpstr>Iterative pruning</vt:lpstr>
      <vt:lpstr>Iterative pruning</vt:lpstr>
      <vt:lpstr>Iterative pruning</vt:lpstr>
      <vt:lpstr>One-shot pruning </vt:lpstr>
      <vt:lpstr>One-shot pruning</vt:lpstr>
      <vt:lpstr>One-shot pruning</vt:lpstr>
      <vt:lpstr>One-shot pruning</vt:lpstr>
      <vt:lpstr>One-shot pruning</vt:lpstr>
      <vt:lpstr>One-shot pruning</vt:lpstr>
      <vt:lpstr>One-shot pruning</vt:lpstr>
      <vt:lpstr>One-shot pruning</vt:lpstr>
      <vt:lpstr>One-shot pruning</vt:lpstr>
      <vt:lpstr>Knowledge distillation</vt:lpstr>
      <vt:lpstr>Knowledge distillation</vt:lpstr>
      <vt:lpstr>Knowledge distillation</vt:lpstr>
      <vt:lpstr>Knowledge distillation</vt:lpstr>
      <vt:lpstr>Knowledge distillation</vt:lpstr>
      <vt:lpstr>Knowledge distillation</vt:lpstr>
      <vt:lpstr>Types of knowledge distillation </vt:lpstr>
      <vt:lpstr>Types of knowledge distillation </vt:lpstr>
      <vt:lpstr>Types of knowledge distillation </vt:lpstr>
      <vt:lpstr>Types of knowledge distillation </vt:lpstr>
      <vt:lpstr>Types of knowledge distillation </vt:lpstr>
      <vt:lpstr>Offline distillation</vt:lpstr>
      <vt:lpstr>Offline distillation</vt:lpstr>
      <vt:lpstr>Offline distillation</vt:lpstr>
      <vt:lpstr>Offline distillation</vt:lpstr>
      <vt:lpstr>Offline distillation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lpstr>Low-rank factorization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Gattupalli, Eeshwar</cp:lastModifiedBy>
  <cp:revision>12</cp:revision>
  <dcterms:modified xsi:type="dcterms:W3CDTF">2026-04-29T01:29:12Z</dcterms:modified>
</cp:coreProperties>
</file>