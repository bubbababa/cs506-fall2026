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5"/>
  </p:notesMasterIdLst>
  <p:sldIdLst>
    <p:sldId id="256" r:id="rId2"/>
    <p:sldId id="257" r:id="rId3"/>
    <p:sldId id="266" r:id="rId4"/>
    <p:sldId id="267" r:id="rId5"/>
    <p:sldId id="269" r:id="rId6"/>
    <p:sldId id="270" r:id="rId7"/>
    <p:sldId id="271" r:id="rId8"/>
    <p:sldId id="272" r:id="rId9"/>
    <p:sldId id="268" r:id="rId10"/>
    <p:sldId id="289" r:id="rId11"/>
    <p:sldId id="258" r:id="rId12"/>
    <p:sldId id="259" r:id="rId13"/>
    <p:sldId id="260" r:id="rId14"/>
    <p:sldId id="261" r:id="rId15"/>
    <p:sldId id="285" r:id="rId16"/>
    <p:sldId id="298" r:id="rId17"/>
    <p:sldId id="296" r:id="rId18"/>
    <p:sldId id="297" r:id="rId19"/>
    <p:sldId id="265" r:id="rId20"/>
    <p:sldId id="299" r:id="rId21"/>
    <p:sldId id="300" r:id="rId22"/>
    <p:sldId id="303" r:id="rId23"/>
    <p:sldId id="304" r:id="rId24"/>
    <p:sldId id="302" r:id="rId25"/>
    <p:sldId id="305" r:id="rId26"/>
    <p:sldId id="292" r:id="rId27"/>
    <p:sldId id="273" r:id="rId28"/>
    <p:sldId id="274" r:id="rId29"/>
    <p:sldId id="290" r:id="rId30"/>
    <p:sldId id="275" r:id="rId31"/>
    <p:sldId id="276" r:id="rId32"/>
    <p:sldId id="281" r:id="rId33"/>
    <p:sldId id="282" r:id="rId34"/>
    <p:sldId id="283" r:id="rId35"/>
    <p:sldId id="284" r:id="rId36"/>
    <p:sldId id="288" r:id="rId37"/>
    <p:sldId id="293" r:id="rId38"/>
    <p:sldId id="291" r:id="rId39"/>
    <p:sldId id="294" r:id="rId40"/>
    <p:sldId id="306" r:id="rId41"/>
    <p:sldId id="307" r:id="rId42"/>
    <p:sldId id="308" r:id="rId43"/>
    <p:sldId id="309" r:id="rId44"/>
    <p:sldId id="310" r:id="rId45"/>
    <p:sldId id="311" r:id="rId46"/>
    <p:sldId id="313" r:id="rId47"/>
    <p:sldId id="314" r:id="rId48"/>
    <p:sldId id="315" r:id="rId49"/>
    <p:sldId id="317" r:id="rId50"/>
    <p:sldId id="318" r:id="rId51"/>
    <p:sldId id="319" r:id="rId52"/>
    <p:sldId id="320" r:id="rId53"/>
    <p:sldId id="321" r:id="rId54"/>
    <p:sldId id="322" r:id="rId55"/>
    <p:sldId id="340" r:id="rId56"/>
    <p:sldId id="324" r:id="rId57"/>
    <p:sldId id="332" r:id="rId58"/>
    <p:sldId id="333" r:id="rId59"/>
    <p:sldId id="338" r:id="rId60"/>
    <p:sldId id="335" r:id="rId61"/>
    <p:sldId id="323" r:id="rId62"/>
    <p:sldId id="339" r:id="rId63"/>
    <p:sldId id="331" r:id="rId64"/>
    <p:sldId id="326" r:id="rId65"/>
    <p:sldId id="327" r:id="rId66"/>
    <p:sldId id="328" r:id="rId67"/>
    <p:sldId id="330" r:id="rId68"/>
    <p:sldId id="329" r:id="rId69"/>
    <p:sldId id="341" r:id="rId70"/>
    <p:sldId id="342" r:id="rId71"/>
    <p:sldId id="343" r:id="rId72"/>
    <p:sldId id="344" r:id="rId73"/>
    <p:sldId id="345" r:id="rId74"/>
    <p:sldId id="346" r:id="rId75"/>
    <p:sldId id="347" r:id="rId76"/>
    <p:sldId id="348" r:id="rId77"/>
    <p:sldId id="349" r:id="rId78"/>
    <p:sldId id="350" r:id="rId79"/>
    <p:sldId id="353" r:id="rId80"/>
    <p:sldId id="357" r:id="rId81"/>
    <p:sldId id="356" r:id="rId82"/>
    <p:sldId id="354" r:id="rId83"/>
    <p:sldId id="355" r:id="rId84"/>
    <p:sldId id="358" r:id="rId85"/>
    <p:sldId id="359" r:id="rId86"/>
    <p:sldId id="360" r:id="rId87"/>
    <p:sldId id="361" r:id="rId88"/>
    <p:sldId id="362" r:id="rId89"/>
    <p:sldId id="363" r:id="rId90"/>
    <p:sldId id="364" r:id="rId91"/>
    <p:sldId id="365" r:id="rId92"/>
    <p:sldId id="366" r:id="rId93"/>
    <p:sldId id="367" r:id="rId94"/>
    <p:sldId id="368" r:id="rId95"/>
    <p:sldId id="369" r:id="rId96"/>
    <p:sldId id="370" r:id="rId97"/>
    <p:sldId id="371" r:id="rId98"/>
    <p:sldId id="372" r:id="rId99"/>
    <p:sldId id="373" r:id="rId100"/>
    <p:sldId id="374" r:id="rId101"/>
    <p:sldId id="375" r:id="rId102"/>
    <p:sldId id="376" r:id="rId103"/>
    <p:sldId id="377" r:id="rId104"/>
  </p:sldIdLst>
  <p:sldSz cx="9144000" cy="5143500" type="screen16x9"/>
  <p:notesSz cx="6858000" cy="9144000"/>
  <p:embeddedFontLst>
    <p:embeddedFont>
      <p:font typeface="Cambria Math" panose="02040503050406030204" pitchFamily="18" charset="0"/>
      <p:regular r:id="rId106"/>
    </p:embeddedFont>
    <p:embeddedFont>
      <p:font typeface="Open Sans" panose="020B0606030504020204" pitchFamily="34" charset="0"/>
      <p:regular r:id="rId107"/>
      <p:bold r:id="rId108"/>
      <p:italic r:id="rId109"/>
      <p:boldItalic r:id="rId110"/>
    </p:embeddedFont>
    <p:embeddedFont>
      <p:font typeface="PT Sans Narrow" panose="020B0506020203020204" pitchFamily="34" charset="77"/>
      <p:regular r:id="rId111"/>
      <p:bold r:id="rId112"/>
    </p:embeddedFont>
  </p:embeddedFontLst>
  <p:custDataLst>
    <p:tags r:id="rId113"/>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0D538DEE-B98C-2244-B072-564E961AE196}">
          <p14:sldIdLst>
            <p14:sldId id="256"/>
            <p14:sldId id="257"/>
            <p14:sldId id="266"/>
            <p14:sldId id="267"/>
            <p14:sldId id="269"/>
            <p14:sldId id="270"/>
            <p14:sldId id="271"/>
            <p14:sldId id="272"/>
            <p14:sldId id="268"/>
            <p14:sldId id="289"/>
            <p14:sldId id="258"/>
            <p14:sldId id="259"/>
            <p14:sldId id="260"/>
            <p14:sldId id="261"/>
            <p14:sldId id="285"/>
            <p14:sldId id="298"/>
            <p14:sldId id="296"/>
            <p14:sldId id="297"/>
            <p14:sldId id="265"/>
            <p14:sldId id="299"/>
            <p14:sldId id="300"/>
            <p14:sldId id="303"/>
            <p14:sldId id="304"/>
            <p14:sldId id="302"/>
            <p14:sldId id="305"/>
            <p14:sldId id="292"/>
            <p14:sldId id="273"/>
            <p14:sldId id="274"/>
            <p14:sldId id="290"/>
            <p14:sldId id="275"/>
            <p14:sldId id="276"/>
            <p14:sldId id="281"/>
            <p14:sldId id="282"/>
            <p14:sldId id="283"/>
            <p14:sldId id="284"/>
            <p14:sldId id="288"/>
            <p14:sldId id="293"/>
            <p14:sldId id="291"/>
            <p14:sldId id="294"/>
            <p14:sldId id="306"/>
            <p14:sldId id="307"/>
            <p14:sldId id="308"/>
            <p14:sldId id="309"/>
            <p14:sldId id="310"/>
            <p14:sldId id="311"/>
            <p14:sldId id="313"/>
            <p14:sldId id="314"/>
            <p14:sldId id="315"/>
            <p14:sldId id="317"/>
            <p14:sldId id="318"/>
            <p14:sldId id="319"/>
            <p14:sldId id="320"/>
            <p14:sldId id="321"/>
            <p14:sldId id="322"/>
            <p14:sldId id="340"/>
            <p14:sldId id="324"/>
            <p14:sldId id="332"/>
            <p14:sldId id="333"/>
            <p14:sldId id="338"/>
            <p14:sldId id="335"/>
            <p14:sldId id="323"/>
            <p14:sldId id="339"/>
            <p14:sldId id="331"/>
            <p14:sldId id="326"/>
            <p14:sldId id="327"/>
            <p14:sldId id="328"/>
            <p14:sldId id="330"/>
            <p14:sldId id="329"/>
            <p14:sldId id="341"/>
            <p14:sldId id="342"/>
            <p14:sldId id="343"/>
            <p14:sldId id="344"/>
            <p14:sldId id="345"/>
            <p14:sldId id="346"/>
            <p14:sldId id="347"/>
            <p14:sldId id="348"/>
            <p14:sldId id="349"/>
            <p14:sldId id="350"/>
            <p14:sldId id="353"/>
            <p14:sldId id="357"/>
            <p14:sldId id="356"/>
            <p14:sldId id="354"/>
            <p14:sldId id="355"/>
            <p14:sldId id="358"/>
            <p14:sldId id="359"/>
            <p14:sldId id="360"/>
            <p14:sldId id="361"/>
            <p14:sldId id="362"/>
            <p14:sldId id="363"/>
            <p14:sldId id="364"/>
            <p14:sldId id="365"/>
            <p14:sldId id="366"/>
            <p14:sldId id="367"/>
            <p14:sldId id="368"/>
            <p14:sldId id="369"/>
            <p14:sldId id="370"/>
            <p14:sldId id="371"/>
            <p14:sldId id="372"/>
            <p14:sldId id="373"/>
            <p14:sldId id="374"/>
            <p14:sldId id="375"/>
            <p14:sldId id="376"/>
            <p14:sldId id="377"/>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5669"/>
    <p:restoredTop sz="94658"/>
  </p:normalViewPr>
  <p:slideViewPr>
    <p:cSldViewPr snapToGrid="0">
      <p:cViewPr>
        <p:scale>
          <a:sx n="107" d="100"/>
          <a:sy n="107" d="100"/>
        </p:scale>
        <p:origin x="1072" y="103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7.fntdata"/><Relationship Id="rId16" Type="http://schemas.openxmlformats.org/officeDocument/2006/relationships/slide" Target="slides/slide15.xml"/><Relationship Id="rId107" Type="http://schemas.openxmlformats.org/officeDocument/2006/relationships/font" Target="fonts/font2.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gs" Target="tags/tag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font" Target="fonts/font3.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4.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5.fntdata"/><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6.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Entries of V also tell us how much each original feature contributes to the latent features</a:t>
            </a:r>
          </a:p>
        </p:txBody>
      </p:sp>
    </p:spTree>
    <p:extLst>
      <p:ext uri="{BB962C8B-B14F-4D97-AF65-F5344CB8AC3E}">
        <p14:creationId xmlns:p14="http://schemas.microsoft.com/office/powerpoint/2010/main" val="2140712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A14B8-AA8D-3729-EFA3-482440D37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B39158-35BB-6330-8CE8-539DA006D15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3E8ACAE-156D-9DC3-052D-D7F54040CF0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06388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02B63-D56E-37E7-2ED8-FEE0D50E01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A7C3BF-23C8-FBAE-1C0D-02F6A8EB794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D206E9B-E4AB-6E80-3AF4-3DF08D2F07A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80103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E2A57-98C8-B7A0-DF58-C7944E0D6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A03BC0-CD2F-F9D6-DCD2-B3168442874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3FCD5F4-3A85-62CC-390C-DF10DA9EAC3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580783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350124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74349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If needed, show what a one hot representation is</a:t>
            </a:r>
          </a:p>
        </p:txBody>
      </p:sp>
    </p:spTree>
    <p:extLst>
      <p:ext uri="{BB962C8B-B14F-4D97-AF65-F5344CB8AC3E}">
        <p14:creationId xmlns:p14="http://schemas.microsoft.com/office/powerpoint/2010/main" val="2034070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3F70E-2954-12BD-C9FD-875BAFF80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7C0597-84BD-E266-C2F5-9989ABA6F98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39DDBBA-94D7-8B9A-C516-52B4AE85B441}"/>
              </a:ext>
            </a:extLst>
          </p:cNvPr>
          <p:cNvSpPr>
            <a:spLocks noGrp="1"/>
          </p:cNvSpPr>
          <p:nvPr>
            <p:ph type="body" idx="1"/>
          </p:nvPr>
        </p:nvSpPr>
        <p:spPr/>
        <p:txBody>
          <a:bodyPr/>
          <a:lstStyle/>
          <a:p>
            <a:r>
              <a:rPr lang="en-US" dirty="0"/>
              <a:t>If needed, show what a one hot representation is</a:t>
            </a:r>
          </a:p>
        </p:txBody>
      </p:sp>
    </p:spTree>
    <p:extLst>
      <p:ext uri="{BB962C8B-B14F-4D97-AF65-F5344CB8AC3E}">
        <p14:creationId xmlns:p14="http://schemas.microsoft.com/office/powerpoint/2010/main" val="2660162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is an SVD for our dataset. Keep in mind, concepts here refer to latent concepts/hidden concepts</a:t>
            </a:r>
          </a:p>
        </p:txBody>
      </p:sp>
    </p:spTree>
    <p:extLst>
      <p:ext uri="{BB962C8B-B14F-4D97-AF65-F5344CB8AC3E}">
        <p14:creationId xmlns:p14="http://schemas.microsoft.com/office/powerpoint/2010/main" val="1885850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7A45E-1C58-8808-756C-3CE888E1DF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C598A-91DA-8976-B0FA-78F4C86692C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CC2F252-5293-320C-AA98-D3D0CDBADD86}"/>
              </a:ext>
            </a:extLst>
          </p:cNvPr>
          <p:cNvSpPr>
            <a:spLocks noGrp="1"/>
          </p:cNvSpPr>
          <p:nvPr>
            <p:ph type="body" idx="1"/>
          </p:nvPr>
        </p:nvSpPr>
        <p:spPr/>
        <p:txBody>
          <a:bodyPr/>
          <a:lstStyle/>
          <a:p>
            <a:r>
              <a:rPr lang="en-US" dirty="0"/>
              <a:t>This is an SVD for our dataset. Keep in mind, concepts here refer to latent concepts/hidden concepts</a:t>
            </a:r>
          </a:p>
        </p:txBody>
      </p:sp>
    </p:spTree>
    <p:extLst>
      <p:ext uri="{BB962C8B-B14F-4D97-AF65-F5344CB8AC3E}">
        <p14:creationId xmlns:p14="http://schemas.microsoft.com/office/powerpoint/2010/main" val="2349200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Note: with </a:t>
            </a:r>
            <a:r>
              <a:rPr lang="en-US" dirty="0" err="1"/>
              <a:t>idf</a:t>
            </a:r>
            <a:r>
              <a:rPr lang="en-US" dirty="0"/>
              <a:t> rarer words get higher weight</a:t>
            </a:r>
          </a:p>
        </p:txBody>
      </p:sp>
    </p:spTree>
    <p:extLst>
      <p:ext uri="{BB962C8B-B14F-4D97-AF65-F5344CB8AC3E}">
        <p14:creationId xmlns:p14="http://schemas.microsoft.com/office/powerpoint/2010/main" val="22310171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C58E4-1F55-D57F-4206-ADDB0C7AC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6BF181-A86C-F499-06BF-27218FBA765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81D9458-19DE-5C85-A115-6373D60B3D78}"/>
              </a:ext>
            </a:extLst>
          </p:cNvPr>
          <p:cNvSpPr>
            <a:spLocks noGrp="1"/>
          </p:cNvSpPr>
          <p:nvPr>
            <p:ph type="body" idx="1"/>
          </p:nvPr>
        </p:nvSpPr>
        <p:spPr/>
        <p:txBody>
          <a:bodyPr/>
          <a:lstStyle/>
          <a:p>
            <a:r>
              <a:rPr lang="en-US" dirty="0"/>
              <a:t>Note: with </a:t>
            </a:r>
            <a:r>
              <a:rPr lang="en-US" dirty="0" err="1"/>
              <a:t>idf</a:t>
            </a:r>
            <a:r>
              <a:rPr lang="en-US" dirty="0"/>
              <a:t> rarer words get higher weight</a:t>
            </a:r>
          </a:p>
        </p:txBody>
      </p:sp>
    </p:spTree>
    <p:extLst>
      <p:ext uri="{BB962C8B-B14F-4D97-AF65-F5344CB8AC3E}">
        <p14:creationId xmlns:p14="http://schemas.microsoft.com/office/powerpoint/2010/main" val="2797187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078ED-E430-3CDE-7DA1-A453D83A1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B5915A-05EE-2824-B089-3B8F0ADC564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571E814-E36F-41AA-3CA5-A45BAEB0D726}"/>
              </a:ext>
            </a:extLst>
          </p:cNvPr>
          <p:cNvSpPr>
            <a:spLocks noGrp="1"/>
          </p:cNvSpPr>
          <p:nvPr>
            <p:ph type="body" idx="1"/>
          </p:nvPr>
        </p:nvSpPr>
        <p:spPr/>
        <p:txBody>
          <a:bodyPr/>
          <a:lstStyle/>
          <a:p>
            <a:r>
              <a:rPr lang="en-US" dirty="0"/>
              <a:t>Read as “term frequency of word t in document d” times “inverse document frequency of term t”</a:t>
            </a:r>
          </a:p>
        </p:txBody>
      </p:sp>
    </p:spTree>
    <p:extLst>
      <p:ext uri="{BB962C8B-B14F-4D97-AF65-F5344CB8AC3E}">
        <p14:creationId xmlns:p14="http://schemas.microsoft.com/office/powerpoint/2010/main" val="25919876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69C4B-091D-BA51-88E7-0F85C8C93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1818DA-D4A5-ACAF-48B3-CD3A5A86BA7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7857988-D409-DF13-28FE-C4C49421F5A0}"/>
              </a:ext>
            </a:extLst>
          </p:cNvPr>
          <p:cNvSpPr>
            <a:spLocks noGrp="1"/>
          </p:cNvSpPr>
          <p:nvPr>
            <p:ph type="body" idx="1"/>
          </p:nvPr>
        </p:nvSpPr>
        <p:spPr/>
        <p:txBody>
          <a:bodyPr/>
          <a:lstStyle/>
          <a:p>
            <a:r>
              <a:rPr lang="en-US" dirty="0"/>
              <a:t>Read as “term frequency of word t in document d” times “inverse document frequency of term t”</a:t>
            </a:r>
          </a:p>
        </p:txBody>
      </p:sp>
    </p:spTree>
    <p:extLst>
      <p:ext uri="{BB962C8B-B14F-4D97-AF65-F5344CB8AC3E}">
        <p14:creationId xmlns:p14="http://schemas.microsoft.com/office/powerpoint/2010/main" val="3797001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p_1 corresponds to paper 1 </a:t>
            </a:r>
          </a:p>
        </p:txBody>
      </p:sp>
    </p:spTree>
    <p:extLst>
      <p:ext uri="{BB962C8B-B14F-4D97-AF65-F5344CB8AC3E}">
        <p14:creationId xmlns:p14="http://schemas.microsoft.com/office/powerpoint/2010/main" val="885469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10.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tags" Target="../tags/tag4.xml"/><Relationship Id="rId7" Type="http://schemas.openxmlformats.org/officeDocument/2006/relationships/hyperlink" Target="https://www.slido.com/powerpoint-polling?utm_source=powerpoint&amp;utm_medium=placeholder-slide" TargetMode="Externa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25.svg"/><Relationship Id="rId5" Type="http://schemas.openxmlformats.org/officeDocument/2006/relationships/notesSlide" Target="../notesSlides/notesSlide6.xml"/><Relationship Id="rId10" Type="http://schemas.openxmlformats.org/officeDocument/2006/relationships/image" Target="../media/image27.svg"/><Relationship Id="rId4" Type="http://schemas.openxmlformats.org/officeDocument/2006/relationships/slideLayout" Target="../slideLayouts/slideLayout11.xml"/><Relationship Id="rId9" Type="http://schemas.openxmlformats.org/officeDocument/2006/relationships/hyperlink" Target="https://www.slido.com/support/ppi/how-to-change-the-design"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7.xml"/><Relationship Id="rId7" Type="http://schemas.openxmlformats.org/officeDocument/2006/relationships/image" Target="../media/image26.sv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25.svg"/><Relationship Id="rId4" Type="http://schemas.openxmlformats.org/officeDocument/2006/relationships/slideLayout" Target="../slideLayouts/slideLayout11.xml"/><Relationship Id="rId9" Type="http://schemas.openxmlformats.org/officeDocument/2006/relationships/image" Target="../media/image27.svg"/></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10.xml"/><Relationship Id="rId7" Type="http://schemas.openxmlformats.org/officeDocument/2006/relationships/image" Target="../media/image26.sv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25.svg"/><Relationship Id="rId4" Type="http://schemas.openxmlformats.org/officeDocument/2006/relationships/slideLayout" Target="../slideLayouts/slideLayout11.xml"/><Relationship Id="rId9" Type="http://schemas.openxmlformats.org/officeDocument/2006/relationships/image" Target="../media/image27.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13.xml"/><Relationship Id="rId7" Type="http://schemas.openxmlformats.org/officeDocument/2006/relationships/image" Target="../media/image26.sv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25.svg"/><Relationship Id="rId4" Type="http://schemas.openxmlformats.org/officeDocument/2006/relationships/slideLayout" Target="../slideLayouts/slideLayout11.xml"/><Relationship Id="rId9" Type="http://schemas.openxmlformats.org/officeDocument/2006/relationships/image" Target="../media/image27.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29.png"/></Relationships>
</file>

<file path=ppt/slides/_rels/slide6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2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52.png"/></Relationships>
</file>

<file path=ppt/slides/_rels/slide8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10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3.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10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3.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103.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28.gif"/><Relationship Id="rId2" Type="http://schemas.openxmlformats.org/officeDocument/2006/relationships/image" Target="../media/image63.png"/><Relationship Id="rId1" Type="http://schemas.openxmlformats.org/officeDocument/2006/relationships/slideLayout" Target="../slideLayouts/slideLayout3.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400" dirty="0"/>
              <a:t>Lab 7 – Singular Value Decomposition</a:t>
            </a:r>
            <a:endParaRPr sz="4400" dirty="0"/>
          </a:p>
        </p:txBody>
      </p:sp>
      <p:sp>
        <p:nvSpPr>
          <p:cNvPr id="67" name="Google Shape;67;p13"/>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US" dirty="0"/>
              <a:t>CS 506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20938-FD2D-6F2B-3589-8BD35E2BF006}"/>
              </a:ext>
            </a:extLst>
          </p:cNvPr>
          <p:cNvSpPr>
            <a:spLocks noGrp="1"/>
          </p:cNvSpPr>
          <p:nvPr>
            <p:ph type="title"/>
          </p:nvPr>
        </p:nvSpPr>
        <p:spPr/>
        <p:txBody>
          <a:bodyPr>
            <a:normAutofit fontScale="90000"/>
          </a:bodyPr>
          <a:lstStyle/>
          <a:p>
            <a:r>
              <a:rPr lang="en-US" dirty="0"/>
              <a:t>Feature Extraction</a:t>
            </a:r>
          </a:p>
        </p:txBody>
      </p:sp>
      <p:sp>
        <p:nvSpPr>
          <p:cNvPr id="3" name="Text Placeholder 2">
            <a:extLst>
              <a:ext uri="{FF2B5EF4-FFF2-40B4-BE49-F238E27FC236}">
                <a16:creationId xmlns:a16="http://schemas.microsoft.com/office/drawing/2014/main" id="{CA371C69-FF63-92EF-9158-86BFFBAFEDFE}"/>
              </a:ext>
            </a:extLst>
          </p:cNvPr>
          <p:cNvSpPr>
            <a:spLocks noGrp="1"/>
          </p:cNvSpPr>
          <p:nvPr>
            <p:ph type="body" idx="1"/>
          </p:nvPr>
        </p:nvSpPr>
        <p:spPr/>
        <p:txBody>
          <a:bodyPr/>
          <a:lstStyle/>
          <a:p>
            <a:r>
              <a:rPr lang="en-US" dirty="0"/>
              <a:t>Uncovering relevant features for the task at hand</a:t>
            </a:r>
          </a:p>
          <a:p>
            <a:r>
              <a:rPr lang="en-US" dirty="0"/>
              <a:t>Typically desire high variance, low correlation data</a:t>
            </a:r>
          </a:p>
        </p:txBody>
      </p:sp>
    </p:spTree>
    <p:extLst>
      <p:ext uri="{BB962C8B-B14F-4D97-AF65-F5344CB8AC3E}">
        <p14:creationId xmlns:p14="http://schemas.microsoft.com/office/powerpoint/2010/main" val="2190317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4347D-6C5A-CDAE-CCF6-F72B70D16A5A}"/>
              </a:ext>
            </a:extLst>
          </p:cNvPr>
          <p:cNvSpPr>
            <a:spLocks noGrp="1"/>
          </p:cNvSpPr>
          <p:nvPr>
            <p:ph type="title"/>
          </p:nvPr>
        </p:nvSpPr>
        <p:spPr/>
        <p:txBody>
          <a:bodyPr>
            <a:normAutofit fontScale="90000"/>
          </a:bodyPr>
          <a:lstStyle/>
          <a:p>
            <a:r>
              <a:rPr lang="en-US" dirty="0"/>
              <a:t>Structure of dataset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EBCD02-80FE-DFF4-D369-1AFA270D635E}"/>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d>
                        <m:dPr>
                          <m:ctrlPr>
                            <a:rPr lang="en-US" b="0" i="1" smtClean="0">
                              <a:latin typeface="Cambria Math" panose="02040503050406030204" pitchFamily="18" charset="0"/>
                            </a:rPr>
                          </m:ctrlPr>
                        </m:dPr>
                        <m:e>
                          <m:m>
                            <m:mPr>
                              <m:plcHide m:val="on"/>
                              <m:mcs>
                                <m:mc>
                                  <m:mcPr>
                                    <m:count m:val="5"/>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11</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𝑗</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𝑚</m:t>
                                    </m:r>
                                  </m:sub>
                                </m:sSub>
                              </m:e>
                            </m:mr>
                            <m:mr>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1</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𝑖𝑗</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𝑖𝑚</m:t>
                                    </m:r>
                                  </m:sub>
                                </m:sSub>
                              </m:e>
                            </m:mr>
                            <m:mr>
                              <m:e>
                                <m:r>
                                  <a:rPr lang="en-US" i="1">
                                    <a:latin typeface="Cambria Math" panose="02040503050406030204" pitchFamily="18" charset="0"/>
                                  </a:rPr>
                                  <m:t>⋮</m:t>
                                </m:r>
                              </m:e>
                              <m:e>
                                <m:r>
                                  <a:rPr lang="en-US" b="0" i="1" smtClean="0">
                                    <a:latin typeface="Cambria Math" panose="02040503050406030204" pitchFamily="18" charset="0"/>
                                  </a:rPr>
                                  <m:t>⋱</m:t>
                                </m:r>
                              </m:e>
                              <m:e>
                                <m:r>
                                  <a:rPr lang="en-US" i="1">
                                    <a:latin typeface="Cambria Math" panose="02040503050406030204" pitchFamily="18" charset="0"/>
                                  </a:rPr>
                                  <m:t>⋮</m:t>
                                </m:r>
                              </m:e>
                              <m:e>
                                <m:r>
                                  <a:rPr lang="en-US" b="0" i="1" smtClean="0">
                                    <a:latin typeface="Cambria Math" panose="02040503050406030204" pitchFamily="18" charset="0"/>
                                  </a:rPr>
                                  <m:t>⋱</m:t>
                                </m:r>
                              </m:e>
                              <m:e>
                                <m:r>
                                  <a:rPr lang="en-US" i="1">
                                    <a:latin typeface="Cambria Math" panose="02040503050406030204" pitchFamily="18" charset="0"/>
                                  </a:rPr>
                                  <m:t>⋮</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r>
                                      <a:rPr lang="en-US" b="0" i="1" smtClean="0">
                                        <a:latin typeface="Cambria Math" panose="02040503050406030204" pitchFamily="18" charset="0"/>
                                      </a:rPr>
                                      <m:t>1</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𝑛𝑗</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𝑛𝑚</m:t>
                                    </m:r>
                                  </m:sub>
                                </m:sSub>
                              </m:e>
                            </m:mr>
                          </m:m>
                        </m:e>
                      </m:d>
                    </m:oMath>
                  </m:oMathPara>
                </a14:m>
                <a:endParaRPr lang="en-US" dirty="0"/>
              </a:p>
            </p:txBody>
          </p:sp>
        </mc:Choice>
        <mc:Fallback xmlns="">
          <p:sp>
            <p:nvSpPr>
              <p:cNvPr id="3" name="Text Placeholder 2">
                <a:extLst>
                  <a:ext uri="{FF2B5EF4-FFF2-40B4-BE49-F238E27FC236}">
                    <a16:creationId xmlns:a16="http://schemas.microsoft.com/office/drawing/2014/main" id="{5FEBCD02-80FE-DFF4-D369-1AFA270D635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9433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F738C-3723-873E-FC4D-E7DDCA9B4A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FDCD05-C6CD-4E72-478F-008918820516}"/>
              </a:ext>
            </a:extLst>
          </p:cNvPr>
          <p:cNvSpPr>
            <a:spLocks noGrp="1"/>
          </p:cNvSpPr>
          <p:nvPr>
            <p:ph type="title"/>
          </p:nvPr>
        </p:nvSpPr>
        <p:spPr/>
        <p:txBody>
          <a:bodyPr>
            <a:normAutofit fontScale="90000"/>
          </a:bodyPr>
          <a:lstStyle/>
          <a:p>
            <a:r>
              <a:rPr lang="en-US" dirty="0"/>
              <a:t>Structure of dataset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BA0D00C-C466-031C-4B33-9C6A504FE7F3}"/>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d>
                        <m:dPr>
                          <m:ctrlPr>
                            <a:rPr lang="en-US" b="0" i="1" smtClean="0">
                              <a:latin typeface="Cambria Math" panose="02040503050406030204" pitchFamily="18" charset="0"/>
                            </a:rPr>
                          </m:ctrlPr>
                        </m:dPr>
                        <m:e>
                          <m:m>
                            <m:mPr>
                              <m:plcHide m:val="on"/>
                              <m:mcs>
                                <m:mc>
                                  <m:mcPr>
                                    <m:count m:val="5"/>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11</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𝑗</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𝑚</m:t>
                                    </m:r>
                                  </m:sub>
                                </m:sSub>
                              </m:e>
                            </m:mr>
                            <m:mr>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1</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𝑖𝑗</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𝑖𝑚</m:t>
                                    </m:r>
                                  </m:sub>
                                </m:sSub>
                              </m:e>
                            </m:mr>
                            <m:mr>
                              <m:e>
                                <m:r>
                                  <a:rPr lang="en-US" i="1">
                                    <a:latin typeface="Cambria Math" panose="02040503050406030204" pitchFamily="18" charset="0"/>
                                  </a:rPr>
                                  <m:t>⋮</m:t>
                                </m:r>
                              </m:e>
                              <m:e>
                                <m:r>
                                  <a:rPr lang="en-US" b="0" i="1" smtClean="0">
                                    <a:latin typeface="Cambria Math" panose="02040503050406030204" pitchFamily="18" charset="0"/>
                                  </a:rPr>
                                  <m:t>⋱</m:t>
                                </m:r>
                              </m:e>
                              <m:e>
                                <m:r>
                                  <a:rPr lang="en-US" i="1">
                                    <a:latin typeface="Cambria Math" panose="02040503050406030204" pitchFamily="18" charset="0"/>
                                  </a:rPr>
                                  <m:t>⋮</m:t>
                                </m:r>
                              </m:e>
                              <m:e>
                                <m:r>
                                  <a:rPr lang="en-US" b="0" i="1" smtClean="0">
                                    <a:latin typeface="Cambria Math" panose="02040503050406030204" pitchFamily="18" charset="0"/>
                                  </a:rPr>
                                  <m:t>⋱</m:t>
                                </m:r>
                              </m:e>
                              <m:e>
                                <m:r>
                                  <a:rPr lang="en-US" i="1">
                                    <a:latin typeface="Cambria Math" panose="02040503050406030204" pitchFamily="18" charset="0"/>
                                  </a:rPr>
                                  <m:t>⋮</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r>
                                      <a:rPr lang="en-US" b="0" i="1" smtClean="0">
                                        <a:latin typeface="Cambria Math" panose="02040503050406030204" pitchFamily="18" charset="0"/>
                                      </a:rPr>
                                      <m:t>1</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𝑛𝑗</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𝑛𝑚</m:t>
                                    </m:r>
                                  </m:sub>
                                </m:sSub>
                              </m:e>
                            </m:mr>
                          </m:m>
                        </m:e>
                      </m:d>
                    </m:oMath>
                  </m:oMathPara>
                </a14:m>
                <a:endParaRPr lang="en-US" dirty="0"/>
              </a:p>
            </p:txBody>
          </p:sp>
        </mc:Choice>
        <mc:Fallback xmlns="">
          <p:sp>
            <p:nvSpPr>
              <p:cNvPr id="3" name="Text Placeholder 2">
                <a:extLst>
                  <a:ext uri="{FF2B5EF4-FFF2-40B4-BE49-F238E27FC236}">
                    <a16:creationId xmlns:a16="http://schemas.microsoft.com/office/drawing/2014/main" id="{CBA0D00C-C466-031C-4B33-9C6A504FE7F3}"/>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
        <p:nvSpPr>
          <p:cNvPr id="4" name="Left Brace 3">
            <a:extLst>
              <a:ext uri="{FF2B5EF4-FFF2-40B4-BE49-F238E27FC236}">
                <a16:creationId xmlns:a16="http://schemas.microsoft.com/office/drawing/2014/main" id="{957DA592-3579-1BB6-4ED6-F5D71F786D8E}"/>
              </a:ext>
            </a:extLst>
          </p:cNvPr>
          <p:cNvSpPr/>
          <p:nvPr/>
        </p:nvSpPr>
        <p:spPr>
          <a:xfrm>
            <a:off x="3031958" y="1513991"/>
            <a:ext cx="128336" cy="1403684"/>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D7D4237-9796-1D38-A8DE-B555A865EF09}"/>
                  </a:ext>
                </a:extLst>
              </p:cNvPr>
              <p:cNvSpPr txBox="1"/>
              <p:nvPr/>
            </p:nvSpPr>
            <p:spPr>
              <a:xfrm>
                <a:off x="1796714" y="2061944"/>
                <a:ext cx="1427748" cy="307777"/>
              </a:xfrm>
              <a:prstGeom prst="rect">
                <a:avLst/>
              </a:prstGeom>
              <a:noFill/>
            </p:spPr>
            <p:txBody>
              <a:bodyPr wrap="square" rtlCol="0">
                <a:spAutoFit/>
              </a:bodyPr>
              <a:lstStyle/>
              <a:p>
                <a14:m>
                  <m:oMath xmlns:m="http://schemas.openxmlformats.org/officeDocument/2006/math">
                    <m:r>
                      <a:rPr lang="en-US" i="1" dirty="0" smtClean="0">
                        <a:solidFill>
                          <a:schemeClr val="bg2"/>
                        </a:solidFill>
                        <a:latin typeface="Cambria Math" panose="02040503050406030204" pitchFamily="18" charset="0"/>
                      </a:rPr>
                      <m:t>𝑛</m:t>
                    </m:r>
                  </m:oMath>
                </a14:m>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 data points</a:t>
                </a:r>
              </a:p>
            </p:txBody>
          </p:sp>
        </mc:Choice>
        <mc:Fallback xmlns="">
          <p:sp>
            <p:nvSpPr>
              <p:cNvPr id="5" name="TextBox 4">
                <a:extLst>
                  <a:ext uri="{FF2B5EF4-FFF2-40B4-BE49-F238E27FC236}">
                    <a16:creationId xmlns:a16="http://schemas.microsoft.com/office/drawing/2014/main" id="{4D7D4237-9796-1D38-A8DE-B555A865EF09}"/>
                  </a:ext>
                </a:extLst>
              </p:cNvPr>
              <p:cNvSpPr txBox="1">
                <a:spLocks noRot="1" noChangeAspect="1" noMove="1" noResize="1" noEditPoints="1" noAdjustHandles="1" noChangeArrowheads="1" noChangeShapeType="1" noTextEdit="1"/>
              </p:cNvSpPr>
              <p:nvPr/>
            </p:nvSpPr>
            <p:spPr>
              <a:xfrm>
                <a:off x="1796714" y="2061944"/>
                <a:ext cx="1427748" cy="307777"/>
              </a:xfrm>
              <a:prstGeom prst="rect">
                <a:avLst/>
              </a:prstGeom>
              <a:blipFill>
                <a:blip r:embed="rId3"/>
                <a:stretch>
                  <a:fillRect t="-4000" b="-20000"/>
                </a:stretch>
              </a:blipFill>
            </p:spPr>
            <p:txBody>
              <a:bodyPr/>
              <a:lstStyle/>
              <a:p>
                <a:r>
                  <a:rPr lang="en-US">
                    <a:noFill/>
                  </a:rPr>
                  <a:t> </a:t>
                </a:r>
              </a:p>
            </p:txBody>
          </p:sp>
        </mc:Fallback>
      </mc:AlternateContent>
      <p:sp>
        <p:nvSpPr>
          <p:cNvPr id="6" name="Left Brace 5">
            <a:extLst>
              <a:ext uri="{FF2B5EF4-FFF2-40B4-BE49-F238E27FC236}">
                <a16:creationId xmlns:a16="http://schemas.microsoft.com/office/drawing/2014/main" id="{7C20F541-C4E9-C076-4EC3-7A5D3FE9CD57}"/>
              </a:ext>
            </a:extLst>
          </p:cNvPr>
          <p:cNvSpPr/>
          <p:nvPr/>
        </p:nvSpPr>
        <p:spPr>
          <a:xfrm rot="16200000">
            <a:off x="4494726" y="2036416"/>
            <a:ext cx="106422" cy="2017296"/>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B383779-5F6C-1816-48D4-2B43320CE8CC}"/>
                  </a:ext>
                </a:extLst>
              </p:cNvPr>
              <p:cNvSpPr txBox="1"/>
              <p:nvPr/>
            </p:nvSpPr>
            <p:spPr>
              <a:xfrm>
                <a:off x="3906252" y="3098276"/>
                <a:ext cx="1427748" cy="307777"/>
              </a:xfrm>
              <a:prstGeom prst="rect">
                <a:avLst/>
              </a:prstGeom>
              <a:noFill/>
            </p:spPr>
            <p:txBody>
              <a:bodyPr wrap="square" rtlCol="0">
                <a:spAutoFit/>
              </a:bodyPr>
              <a:lstStyle/>
              <a:p>
                <a14:m>
                  <m:oMath xmlns:m="http://schemas.openxmlformats.org/officeDocument/2006/math">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𝑚</m:t>
                    </m:r>
                  </m:oMath>
                </a14:m>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 features</a:t>
                </a:r>
              </a:p>
            </p:txBody>
          </p:sp>
        </mc:Choice>
        <mc:Fallback xmlns="">
          <p:sp>
            <p:nvSpPr>
              <p:cNvPr id="7" name="TextBox 6">
                <a:extLst>
                  <a:ext uri="{FF2B5EF4-FFF2-40B4-BE49-F238E27FC236}">
                    <a16:creationId xmlns:a16="http://schemas.microsoft.com/office/drawing/2014/main" id="{BB383779-5F6C-1816-48D4-2B43320CE8CC}"/>
                  </a:ext>
                </a:extLst>
              </p:cNvPr>
              <p:cNvSpPr txBox="1">
                <a:spLocks noRot="1" noChangeAspect="1" noMove="1" noResize="1" noEditPoints="1" noAdjustHandles="1" noChangeArrowheads="1" noChangeShapeType="1" noTextEdit="1"/>
              </p:cNvSpPr>
              <p:nvPr/>
            </p:nvSpPr>
            <p:spPr>
              <a:xfrm>
                <a:off x="3906252" y="3098276"/>
                <a:ext cx="1427748" cy="307777"/>
              </a:xfrm>
              <a:prstGeom prst="rect">
                <a:avLst/>
              </a:prstGeom>
              <a:blipFill>
                <a:blip r:embed="rId4"/>
                <a:stretch>
                  <a:fillRect t="-3846" b="-19231"/>
                </a:stretch>
              </a:blipFill>
            </p:spPr>
            <p:txBody>
              <a:bodyPr/>
              <a:lstStyle/>
              <a:p>
                <a:r>
                  <a:rPr lang="en-US">
                    <a:noFill/>
                  </a:rPr>
                  <a:t> </a:t>
                </a:r>
              </a:p>
            </p:txBody>
          </p:sp>
        </mc:Fallback>
      </mc:AlternateContent>
    </p:spTree>
    <p:extLst>
      <p:ext uri="{BB962C8B-B14F-4D97-AF65-F5344CB8AC3E}">
        <p14:creationId xmlns:p14="http://schemas.microsoft.com/office/powerpoint/2010/main" val="3975536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A4635-0399-B14F-5A18-D9BCA97CE308}"/>
              </a:ext>
            </a:extLst>
          </p:cNvPr>
          <p:cNvSpPr>
            <a:spLocks noGrp="1"/>
          </p:cNvSpPr>
          <p:nvPr>
            <p:ph type="title"/>
          </p:nvPr>
        </p:nvSpPr>
        <p:spPr/>
        <p:txBody>
          <a:bodyPr>
            <a:normAutofit fontScale="90000"/>
          </a:bodyPr>
          <a:lstStyle/>
          <a:p>
            <a:r>
              <a:rPr lang="en-US" dirty="0"/>
              <a:t>Recall: Rank</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379774F-E026-3AC0-A3CF-696BB80ECF74}"/>
                  </a:ext>
                </a:extLst>
              </p:cNvPr>
              <p:cNvSpPr>
                <a:spLocks noGrp="1"/>
              </p:cNvSpPr>
              <p:nvPr>
                <p:ph type="body" idx="1"/>
              </p:nvPr>
            </p:nvSpPr>
            <p:spPr/>
            <p:txBody>
              <a:bodyPr/>
              <a:lstStyle/>
              <a:p>
                <a:r>
                  <a:rPr lang="en-US" dirty="0"/>
                  <a:t>The rank of a matrix </a:t>
                </a:r>
                <a14:m>
                  <m:oMath xmlns:m="http://schemas.openxmlformats.org/officeDocument/2006/math">
                    <m:r>
                      <a:rPr lang="en-US" b="0" i="1" smtClean="0">
                        <a:latin typeface="Cambria Math" panose="02040503050406030204" pitchFamily="18" charset="0"/>
                      </a:rPr>
                      <m:t>𝐴</m:t>
                    </m:r>
                  </m:oMath>
                </a14:m>
                <a:r>
                  <a:rPr lang="en-US" b="0" dirty="0"/>
                  <a:t> </a:t>
                </a:r>
                <a:r>
                  <a:rPr lang="en-US" dirty="0"/>
                  <a:t>is the maximal number of linearly independent columns/rows of </a:t>
                </a:r>
                <a14:m>
                  <m:oMath xmlns:m="http://schemas.openxmlformats.org/officeDocument/2006/math">
                    <m:r>
                      <a:rPr lang="en-US" b="0" i="1" smtClean="0">
                        <a:latin typeface="Cambria Math" panose="02040503050406030204" pitchFamily="18" charset="0"/>
                      </a:rPr>
                      <m:t>𝐴</m:t>
                    </m:r>
                  </m:oMath>
                </a14:m>
                <a:endParaRPr lang="en-US" b="0" dirty="0"/>
              </a:p>
              <a:p>
                <a14:m>
                  <m:oMath xmlns:m="http://schemas.openxmlformats.org/officeDocument/2006/math">
                    <m:r>
                      <a:rPr lang="en-US" b="0" i="1" smtClean="0">
                        <a:latin typeface="Cambria Math" panose="02040503050406030204" pitchFamily="18" charset="0"/>
                      </a:rPr>
                      <m:t>𝐴</m:t>
                    </m:r>
                  </m:oMath>
                </a14:m>
                <a:r>
                  <a:rPr lang="en-US" b="0" dirty="0"/>
                  <a:t> is full rank i.f.f.</a:t>
                </a:r>
                <a:r>
                  <a:rPr lang="en-US" dirty="0"/>
                  <a:t> </a:t>
                </a:r>
                <a14:m>
                  <m:oMath xmlns:m="http://schemas.openxmlformats.org/officeDocument/2006/math">
                    <m:r>
                      <a:rPr lang="en-US" b="0" i="1" smtClean="0">
                        <a:latin typeface="Cambria Math" panose="02040503050406030204" pitchFamily="18" charset="0"/>
                      </a:rPr>
                      <m:t>𝑟𝑎𝑛𝑘</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e>
                    </m:func>
                  </m:oMath>
                </a14:m>
                <a:r>
                  <a:rPr lang="en-US" b="0" dirty="0"/>
                  <a:t> where </a:t>
                </a:r>
                <a14:m>
                  <m:oMath xmlns:m="http://schemas.openxmlformats.org/officeDocument/2006/math">
                    <m:r>
                      <a:rPr lang="en-US" b="0" i="1" smtClean="0">
                        <a:latin typeface="Cambria Math" panose="02040503050406030204" pitchFamily="18" charset="0"/>
                      </a:rPr>
                      <m:t>𝐴</m:t>
                    </m:r>
                  </m:oMath>
                </a14:m>
                <a:r>
                  <a:rPr lang="en-US" b="0" dirty="0"/>
                  <a:t> is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 × </m:t>
                    </m:r>
                    <m:r>
                      <a:rPr lang="en-US" b="0" i="1" smtClean="0">
                        <a:latin typeface="Cambria Math" panose="02040503050406030204" pitchFamily="18" charset="0"/>
                      </a:rPr>
                      <m:t>𝑛</m:t>
                    </m:r>
                  </m:oMath>
                </a14:m>
                <a:endParaRPr lang="en-US" b="0" dirty="0"/>
              </a:p>
              <a:p>
                <a:r>
                  <a:rPr lang="en-US" b="0" dirty="0"/>
                  <a:t>To find the rank of matrix </a:t>
                </a:r>
                <a14:m>
                  <m:oMath xmlns:m="http://schemas.openxmlformats.org/officeDocument/2006/math">
                    <m:r>
                      <a:rPr lang="en-US" b="0" i="1" smtClean="0">
                        <a:latin typeface="Cambria Math" panose="02040503050406030204" pitchFamily="18" charset="0"/>
                      </a:rPr>
                      <m:t>𝐴</m:t>
                    </m:r>
                  </m:oMath>
                </a14:m>
                <a:r>
                  <a:rPr lang="en-US" b="0" dirty="0"/>
                  <a:t>, we can reduce it to R.E.F or R.R.E.F and count the number of non-zero rows (which corresponds to the number of linearly independent columns)</a:t>
                </a:r>
              </a:p>
              <a:p>
                <a:endParaRPr lang="en-US" b="0" dirty="0"/>
              </a:p>
              <a:p>
                <a:endParaRPr lang="en-US" b="0" dirty="0"/>
              </a:p>
              <a:p>
                <a:endParaRPr lang="en-US" b="0" dirty="0"/>
              </a:p>
              <a:p>
                <a:endParaRPr lang="en-US" b="0" dirty="0"/>
              </a:p>
              <a:p>
                <a:endParaRPr lang="en-US" b="0" dirty="0"/>
              </a:p>
              <a:p>
                <a:endParaRPr lang="en-US" dirty="0"/>
              </a:p>
            </p:txBody>
          </p:sp>
        </mc:Choice>
        <mc:Fallback xmlns="">
          <p:sp>
            <p:nvSpPr>
              <p:cNvPr id="3" name="Text Placeholder 2">
                <a:extLst>
                  <a:ext uri="{FF2B5EF4-FFF2-40B4-BE49-F238E27FC236}">
                    <a16:creationId xmlns:a16="http://schemas.microsoft.com/office/drawing/2014/main" id="{9379774F-E026-3AC0-A3CF-696BB80ECF74}"/>
                  </a:ext>
                </a:extLst>
              </p:cNvPr>
              <p:cNvSpPr>
                <a:spLocks noGrp="1" noRot="1" noChangeAspect="1" noMove="1" noResize="1" noEditPoints="1" noAdjustHandles="1" noChangeArrowheads="1" noChangeShapeType="1" noTextEdit="1"/>
              </p:cNvSpPr>
              <p:nvPr>
                <p:ph type="body" idx="1"/>
              </p:nvPr>
            </p:nvSpPr>
            <p:spPr>
              <a:blipFill>
                <a:blip r:embed="rId2"/>
                <a:stretch>
                  <a:fillRect r="-298"/>
                </a:stretch>
              </a:blipFill>
            </p:spPr>
            <p:txBody>
              <a:bodyPr/>
              <a:lstStyle/>
              <a:p>
                <a:r>
                  <a:rPr lang="en-US">
                    <a:noFill/>
                  </a:rPr>
                  <a:t> </a:t>
                </a:r>
              </a:p>
            </p:txBody>
          </p:sp>
        </mc:Fallback>
      </mc:AlternateContent>
    </p:spTree>
    <p:extLst>
      <p:ext uri="{BB962C8B-B14F-4D97-AF65-F5344CB8AC3E}">
        <p14:creationId xmlns:p14="http://schemas.microsoft.com/office/powerpoint/2010/main" val="2631011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B6E56-241F-18EE-278B-8B1858787A72}"/>
              </a:ext>
            </a:extLst>
          </p:cNvPr>
          <p:cNvSpPr>
            <a:spLocks noGrp="1"/>
          </p:cNvSpPr>
          <p:nvPr>
            <p:ph type="title"/>
          </p:nvPr>
        </p:nvSpPr>
        <p:spPr/>
        <p:txBody>
          <a:bodyPr>
            <a:normAutofit fontScale="90000"/>
          </a:bodyPr>
          <a:lstStyle/>
          <a:p>
            <a:r>
              <a:rPr lang="en-US" dirty="0"/>
              <a:t>Recall: Matrix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5801689-7CC1-82CF-3490-3F9AA975F8EE}"/>
                  </a:ext>
                </a:extLst>
              </p:cNvPr>
              <p:cNvSpPr>
                <a:spLocks noGrp="1"/>
              </p:cNvSpPr>
              <p:nvPr>
                <p:ph type="body" idx="1"/>
              </p:nvPr>
            </p:nvSpPr>
            <p:spPr/>
            <p:txBody>
              <a:bodyPr/>
              <a:lstStyle/>
              <a:p>
                <a:pPr marL="114300" indent="0">
                  <a:buNone/>
                </a:pPr>
                <a:r>
                  <a:rPr lang="en-US" dirty="0"/>
                  <a:t>Any matrix </a:t>
                </a:r>
                <a14:m>
                  <m:oMath xmlns:m="http://schemas.openxmlformats.org/officeDocument/2006/math">
                    <m:r>
                      <a:rPr lang="en-US" b="0" i="1" smtClean="0">
                        <a:latin typeface="Cambria Math" panose="02040503050406030204" pitchFamily="18" charset="0"/>
                      </a:rPr>
                      <m:t>𝐴</m:t>
                    </m:r>
                  </m:oMath>
                </a14:m>
                <a:r>
                  <a:rPr lang="en-US" dirty="0"/>
                  <a:t> of rank </a:t>
                </a:r>
                <a14:m>
                  <m:oMath xmlns:m="http://schemas.openxmlformats.org/officeDocument/2006/math">
                    <m:r>
                      <a:rPr lang="en-US" b="0" i="1" smtClean="0">
                        <a:latin typeface="Cambria Math" panose="02040503050406030204" pitchFamily="18" charset="0"/>
                      </a:rPr>
                      <m:t>𝑘</m:t>
                    </m:r>
                  </m:oMath>
                </a14:m>
                <a:r>
                  <a:rPr lang="en-US" b="0" dirty="0"/>
                  <a:t> can be factored as </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 = </m:t>
                      </m:r>
                      <m:r>
                        <a:rPr lang="en-US" b="0" i="1" smtClean="0">
                          <a:latin typeface="Cambria Math" panose="02040503050406030204" pitchFamily="18" charset="0"/>
                        </a:rPr>
                        <m:t>𝑈𝑉</m:t>
                      </m:r>
                    </m:oMath>
                  </m:oMathPara>
                </a14:m>
                <a:endParaRPr lang="en-US" b="0" dirty="0"/>
              </a:p>
              <a:p>
                <a:pPr marL="114300" indent="0">
                  <a:buNone/>
                </a:pPr>
                <a:r>
                  <a:rPr lang="en-US" dirty="0"/>
                  <a:t>Where </a:t>
                </a:r>
                <a14:m>
                  <m:oMath xmlns:m="http://schemas.openxmlformats.org/officeDocument/2006/math">
                    <m:r>
                      <a:rPr lang="en-US" b="0" i="1" smtClean="0">
                        <a:latin typeface="Cambria Math" panose="02040503050406030204" pitchFamily="18" charset="0"/>
                      </a:rPr>
                      <m:t>𝑈</m:t>
                    </m:r>
                  </m:oMath>
                </a14:m>
                <a:r>
                  <a:rPr lang="en-US" b="0" dirty="0"/>
                  <a:t> is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 × </m:t>
                    </m:r>
                    <m:r>
                      <a:rPr lang="en-US" b="0" i="1" smtClean="0">
                        <a:latin typeface="Cambria Math" panose="02040503050406030204" pitchFamily="18" charset="0"/>
                      </a:rPr>
                      <m:t>𝑘</m:t>
                    </m:r>
                  </m:oMath>
                </a14:m>
                <a:r>
                  <a:rPr lang="en-US" b="0" dirty="0"/>
                  <a:t> and </a:t>
                </a:r>
                <a14:m>
                  <m:oMath xmlns:m="http://schemas.openxmlformats.org/officeDocument/2006/math">
                    <m:r>
                      <a:rPr lang="en-US" b="0" i="1" smtClean="0">
                        <a:latin typeface="Cambria Math" panose="02040503050406030204" pitchFamily="18" charset="0"/>
                      </a:rPr>
                      <m:t>𝑉</m:t>
                    </m:r>
                  </m:oMath>
                </a14:m>
                <a:r>
                  <a:rPr lang="en-US" b="0" dirty="0"/>
                  <a:t> is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 × </m:t>
                    </m:r>
                    <m:r>
                      <a:rPr lang="en-US" b="0" i="1" smtClean="0">
                        <a:latin typeface="Cambria Math" panose="02040503050406030204" pitchFamily="18" charset="0"/>
                      </a:rPr>
                      <m:t>𝑚</m:t>
                    </m:r>
                  </m:oMath>
                </a14:m>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75801689-7CC1-82CF-3490-3F9AA975F8E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48110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3EEE5-6BD3-C2D6-D45E-93293AFFA0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3714A-35DE-F58C-2E80-95485F791E29}"/>
              </a:ext>
            </a:extLst>
          </p:cNvPr>
          <p:cNvSpPr>
            <a:spLocks noGrp="1"/>
          </p:cNvSpPr>
          <p:nvPr>
            <p:ph type="title"/>
          </p:nvPr>
        </p:nvSpPr>
        <p:spPr/>
        <p:txBody>
          <a:bodyPr>
            <a:normAutofit fontScale="90000"/>
          </a:bodyPr>
          <a:lstStyle/>
          <a:p>
            <a:r>
              <a:rPr lang="en-US" dirty="0"/>
              <a:t>Recall: Matrix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8ABBACC-9D06-4D48-BAE3-6ABB59C41A25}"/>
                  </a:ext>
                </a:extLst>
              </p:cNvPr>
              <p:cNvSpPr>
                <a:spLocks noGrp="1"/>
              </p:cNvSpPr>
              <p:nvPr>
                <p:ph type="body" idx="1"/>
              </p:nvPr>
            </p:nvSpPr>
            <p:spPr/>
            <p:txBody>
              <a:bodyPr/>
              <a:lstStyle/>
              <a:p>
                <a:pPr marL="114300" indent="0">
                  <a:buNone/>
                </a:pPr>
                <a:r>
                  <a:rPr lang="en-US" dirty="0"/>
                  <a:t>Any matrix </a:t>
                </a:r>
                <a14:m>
                  <m:oMath xmlns:m="http://schemas.openxmlformats.org/officeDocument/2006/math">
                    <m:r>
                      <a:rPr lang="en-US" b="0" i="1" smtClean="0">
                        <a:latin typeface="Cambria Math" panose="02040503050406030204" pitchFamily="18" charset="0"/>
                      </a:rPr>
                      <m:t>𝐴</m:t>
                    </m:r>
                  </m:oMath>
                </a14:m>
                <a:r>
                  <a:rPr lang="en-US" dirty="0"/>
                  <a:t> of rank </a:t>
                </a:r>
                <a14:m>
                  <m:oMath xmlns:m="http://schemas.openxmlformats.org/officeDocument/2006/math">
                    <m:r>
                      <a:rPr lang="en-US" b="0" i="1" smtClean="0">
                        <a:latin typeface="Cambria Math" panose="02040503050406030204" pitchFamily="18" charset="0"/>
                      </a:rPr>
                      <m:t>𝑘</m:t>
                    </m:r>
                  </m:oMath>
                </a14:m>
                <a:r>
                  <a:rPr lang="en-US" b="0" dirty="0"/>
                  <a:t> can be factored as </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 = </m:t>
                      </m:r>
                      <m:r>
                        <a:rPr lang="en-US" b="0" i="1" smtClean="0">
                          <a:latin typeface="Cambria Math" panose="02040503050406030204" pitchFamily="18" charset="0"/>
                        </a:rPr>
                        <m:t>𝑈𝑉</m:t>
                      </m:r>
                    </m:oMath>
                  </m:oMathPara>
                </a14:m>
                <a:endParaRPr lang="en-US" b="0" dirty="0"/>
              </a:p>
              <a:p>
                <a:pPr marL="114300" indent="0">
                  <a:buNone/>
                </a:pPr>
                <a:r>
                  <a:rPr lang="en-US" dirty="0"/>
                  <a:t>Where </a:t>
                </a:r>
                <a14:m>
                  <m:oMath xmlns:m="http://schemas.openxmlformats.org/officeDocument/2006/math">
                    <m:r>
                      <a:rPr lang="en-US" b="0" i="1" smtClean="0">
                        <a:latin typeface="Cambria Math" panose="02040503050406030204" pitchFamily="18" charset="0"/>
                      </a:rPr>
                      <m:t>𝑈</m:t>
                    </m:r>
                  </m:oMath>
                </a14:m>
                <a:r>
                  <a:rPr lang="en-US" b="0" dirty="0"/>
                  <a:t> is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 × </m:t>
                    </m:r>
                    <m:r>
                      <a:rPr lang="en-US" b="0" i="1" smtClean="0">
                        <a:latin typeface="Cambria Math" panose="02040503050406030204" pitchFamily="18" charset="0"/>
                      </a:rPr>
                      <m:t>𝑘</m:t>
                    </m:r>
                  </m:oMath>
                </a14:m>
                <a:r>
                  <a:rPr lang="en-US" b="0" dirty="0"/>
                  <a:t> and </a:t>
                </a:r>
                <a14:m>
                  <m:oMath xmlns:m="http://schemas.openxmlformats.org/officeDocument/2006/math">
                    <m:r>
                      <a:rPr lang="en-US" b="0" i="1" smtClean="0">
                        <a:latin typeface="Cambria Math" panose="02040503050406030204" pitchFamily="18" charset="0"/>
                      </a:rPr>
                      <m:t>𝑉</m:t>
                    </m:r>
                  </m:oMath>
                </a14:m>
                <a:r>
                  <a:rPr lang="en-US" b="0" dirty="0"/>
                  <a:t> is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 × </m:t>
                    </m:r>
                    <m:r>
                      <a:rPr lang="en-US" b="0" i="1" smtClean="0">
                        <a:latin typeface="Cambria Math" panose="02040503050406030204" pitchFamily="18" charset="0"/>
                      </a:rPr>
                      <m:t>𝑚</m:t>
                    </m:r>
                  </m:oMath>
                </a14:m>
                <a:endParaRPr lang="en-US" b="0" dirty="0"/>
              </a:p>
              <a:p>
                <a:pPr marL="114300" indent="0">
                  <a:buNone/>
                </a:pPr>
                <a:endParaRPr lang="en-US" dirty="0"/>
              </a:p>
              <a:p>
                <a:pPr marL="114300" indent="0">
                  <a:buNone/>
                </a:pPr>
                <a:r>
                  <a:rPr lang="en-US" b="0" dirty="0"/>
                  <a:t>Most datasets are full rank despite containing lots of redundant/similar information.</a:t>
                </a:r>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78ABBACC-9D06-4D48-BAE3-6ABB59C41A25}"/>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00011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4C8F8-9358-363B-A126-AC6BE1A152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14869-556B-6967-F5EF-83DE3E14CE5F}"/>
              </a:ext>
            </a:extLst>
          </p:cNvPr>
          <p:cNvSpPr>
            <a:spLocks noGrp="1"/>
          </p:cNvSpPr>
          <p:nvPr>
            <p:ph type="title"/>
          </p:nvPr>
        </p:nvSpPr>
        <p:spPr/>
        <p:txBody>
          <a:bodyPr>
            <a:normAutofit fontScale="90000"/>
          </a:bodyPr>
          <a:lstStyle/>
          <a:p>
            <a:r>
              <a:rPr lang="en-US" dirty="0"/>
              <a:t>Recall: Matrix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7C74FCA-C7EE-42B3-D4E5-946AAAAC6596}"/>
                  </a:ext>
                </a:extLst>
              </p:cNvPr>
              <p:cNvSpPr>
                <a:spLocks noGrp="1"/>
              </p:cNvSpPr>
              <p:nvPr>
                <p:ph type="body" idx="1"/>
              </p:nvPr>
            </p:nvSpPr>
            <p:spPr/>
            <p:txBody>
              <a:bodyPr/>
              <a:lstStyle/>
              <a:p>
                <a:pPr marL="114300" indent="0">
                  <a:buNone/>
                </a:pPr>
                <a:r>
                  <a:rPr lang="en-US" dirty="0"/>
                  <a:t>Any matrix </a:t>
                </a:r>
                <a14:m>
                  <m:oMath xmlns:m="http://schemas.openxmlformats.org/officeDocument/2006/math">
                    <m:r>
                      <a:rPr lang="en-US" b="0" i="1" smtClean="0">
                        <a:latin typeface="Cambria Math" panose="02040503050406030204" pitchFamily="18" charset="0"/>
                      </a:rPr>
                      <m:t>𝐴</m:t>
                    </m:r>
                  </m:oMath>
                </a14:m>
                <a:r>
                  <a:rPr lang="en-US" dirty="0"/>
                  <a:t> of rank </a:t>
                </a:r>
                <a14:m>
                  <m:oMath xmlns:m="http://schemas.openxmlformats.org/officeDocument/2006/math">
                    <m:r>
                      <a:rPr lang="en-US" b="0" i="1" smtClean="0">
                        <a:latin typeface="Cambria Math" panose="02040503050406030204" pitchFamily="18" charset="0"/>
                      </a:rPr>
                      <m:t>𝑘</m:t>
                    </m:r>
                  </m:oMath>
                </a14:m>
                <a:r>
                  <a:rPr lang="en-US" b="0" dirty="0"/>
                  <a:t> can be factored as </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 = </m:t>
                      </m:r>
                      <m:r>
                        <a:rPr lang="en-US" b="0" i="1" smtClean="0">
                          <a:latin typeface="Cambria Math" panose="02040503050406030204" pitchFamily="18" charset="0"/>
                        </a:rPr>
                        <m:t>𝑈𝑉</m:t>
                      </m:r>
                    </m:oMath>
                  </m:oMathPara>
                </a14:m>
                <a:endParaRPr lang="en-US" b="0" dirty="0"/>
              </a:p>
              <a:p>
                <a:pPr marL="114300" indent="0">
                  <a:buNone/>
                </a:pPr>
                <a:r>
                  <a:rPr lang="en-US" dirty="0"/>
                  <a:t>Where </a:t>
                </a:r>
                <a14:m>
                  <m:oMath xmlns:m="http://schemas.openxmlformats.org/officeDocument/2006/math">
                    <m:r>
                      <a:rPr lang="en-US" b="0" i="1" smtClean="0">
                        <a:latin typeface="Cambria Math" panose="02040503050406030204" pitchFamily="18" charset="0"/>
                      </a:rPr>
                      <m:t>𝑈</m:t>
                    </m:r>
                  </m:oMath>
                </a14:m>
                <a:r>
                  <a:rPr lang="en-US" b="0" dirty="0"/>
                  <a:t> is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 × </m:t>
                    </m:r>
                    <m:r>
                      <a:rPr lang="en-US" b="0" i="1" smtClean="0">
                        <a:latin typeface="Cambria Math" panose="02040503050406030204" pitchFamily="18" charset="0"/>
                      </a:rPr>
                      <m:t>𝑘</m:t>
                    </m:r>
                  </m:oMath>
                </a14:m>
                <a:r>
                  <a:rPr lang="en-US" b="0" dirty="0"/>
                  <a:t> and </a:t>
                </a:r>
                <a14:m>
                  <m:oMath xmlns:m="http://schemas.openxmlformats.org/officeDocument/2006/math">
                    <m:r>
                      <a:rPr lang="en-US" b="0" i="1" smtClean="0">
                        <a:latin typeface="Cambria Math" panose="02040503050406030204" pitchFamily="18" charset="0"/>
                      </a:rPr>
                      <m:t>𝑉</m:t>
                    </m:r>
                  </m:oMath>
                </a14:m>
                <a:r>
                  <a:rPr lang="en-US" b="0" dirty="0"/>
                  <a:t> is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 × </m:t>
                    </m:r>
                    <m:r>
                      <a:rPr lang="en-US" b="0" i="1" smtClean="0">
                        <a:latin typeface="Cambria Math" panose="02040503050406030204" pitchFamily="18" charset="0"/>
                      </a:rPr>
                      <m:t>𝑚</m:t>
                    </m:r>
                  </m:oMath>
                </a14:m>
                <a:endParaRPr lang="en-US" b="0" dirty="0"/>
              </a:p>
              <a:p>
                <a:pPr marL="114300" indent="0">
                  <a:buNone/>
                </a:pPr>
                <a:endParaRPr lang="en-US" dirty="0"/>
              </a:p>
              <a:p>
                <a:pPr marL="114300" indent="0">
                  <a:buNone/>
                </a:pPr>
                <a:r>
                  <a:rPr lang="en-US" b="0" dirty="0"/>
                  <a:t>Most datasets are full rank despite containing lots of redundant/similar information.</a:t>
                </a:r>
              </a:p>
              <a:p>
                <a:pPr marL="114300" indent="0">
                  <a:buNone/>
                </a:pPr>
                <a:endParaRPr lang="en-US" dirty="0"/>
              </a:p>
              <a:p>
                <a:pPr marL="114300" indent="0">
                  <a:buNone/>
                </a:pPr>
                <a:r>
                  <a:rPr lang="en-US" b="0" dirty="0"/>
                  <a:t>But we might be able to approximate the dataset with a lower rank matrix containing similar information</a:t>
                </a:r>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E7C74FCA-C7EE-42B3-D4E5-946AAAAC6596}"/>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56061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4920A-1759-E4E7-7D19-4E5A8CD716EE}"/>
              </a:ext>
            </a:extLst>
          </p:cNvPr>
          <p:cNvSpPr>
            <a:spLocks noGrp="1"/>
          </p:cNvSpPr>
          <p:nvPr>
            <p:ph type="title"/>
          </p:nvPr>
        </p:nvSpPr>
        <p:spPr/>
        <p:txBody>
          <a:bodyPr>
            <a:normAutofit fontScale="90000"/>
          </a:bodyPr>
          <a:lstStyle/>
          <a:p>
            <a:r>
              <a:rPr lang="en-US" dirty="0"/>
              <a:t>Goal</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F2F1303-A1D4-1763-8C32-9E00E6AEBADF}"/>
                  </a:ext>
                </a:extLst>
              </p:cNvPr>
              <p:cNvSpPr>
                <a:spLocks noGrp="1"/>
              </p:cNvSpPr>
              <p:nvPr>
                <p:ph type="body" idx="1"/>
              </p:nvPr>
            </p:nvSpPr>
            <p:spPr/>
            <p:txBody>
              <a:bodyPr/>
              <a:lstStyle/>
              <a:p>
                <a:pPr marL="114300" indent="0">
                  <a:buNone/>
                </a:pPr>
                <a:r>
                  <a:rPr lang="en-US" dirty="0"/>
                  <a:t>Examine </a:t>
                </a:r>
                <a14:m>
                  <m:oMath xmlns:m="http://schemas.openxmlformats.org/officeDocument/2006/math">
                    <m:r>
                      <a:rPr lang="en-US" b="0" i="1" smtClean="0">
                        <a:latin typeface="Cambria Math" panose="02040503050406030204" pitchFamily="18" charset="0"/>
                      </a:rPr>
                      <m:t>𝐴</m:t>
                    </m:r>
                  </m:oMath>
                </a14:m>
                <a:r>
                  <a:rPr lang="en-US" b="0" dirty="0"/>
                  <a:t> and uncover its linear algebraic properties to:</a:t>
                </a:r>
              </a:p>
              <a:p>
                <a:pPr>
                  <a:buFont typeface="+mj-lt"/>
                  <a:buAutoNum type="arabicPeriod"/>
                </a:pPr>
                <a:r>
                  <a:rPr lang="en-US" b="0" dirty="0"/>
                  <a:t>Approximate </a:t>
                </a:r>
                <a14:m>
                  <m:oMath xmlns:m="http://schemas.openxmlformats.org/officeDocument/2006/math">
                    <m:r>
                      <a:rPr lang="en-US" b="0" i="1" smtClean="0">
                        <a:latin typeface="Cambria Math" panose="02040503050406030204" pitchFamily="18" charset="0"/>
                      </a:rPr>
                      <m:t>𝐴</m:t>
                    </m:r>
                  </m:oMath>
                </a14:m>
                <a:r>
                  <a:rPr lang="en-US" b="0" dirty="0"/>
                  <a:t> with a smaller matrix that is easier to store but contains similar information as </a:t>
                </a:r>
                <a14:m>
                  <m:oMath xmlns:m="http://schemas.openxmlformats.org/officeDocument/2006/math">
                    <m:r>
                      <a:rPr lang="en-US" b="0" i="1" smtClean="0">
                        <a:latin typeface="Cambria Math" panose="02040503050406030204" pitchFamily="18" charset="0"/>
                      </a:rPr>
                      <m:t>𝐴</m:t>
                    </m:r>
                  </m:oMath>
                </a14:m>
                <a:endParaRPr lang="en-US" b="0" dirty="0"/>
              </a:p>
              <a:p>
                <a:pPr lvl="1"/>
                <a:r>
                  <a:rPr lang="en-US" dirty="0"/>
                  <a:t> "</a:t>
                </a:r>
                <a:r>
                  <a:rPr lang="en-US" b="0" dirty="0"/>
                  <a:t>Rank reduction”</a:t>
                </a:r>
              </a:p>
              <a:p>
                <a:pPr>
                  <a:buFont typeface="+mj-lt"/>
                  <a:buAutoNum type="arabicPeriod"/>
                </a:pPr>
                <a:r>
                  <a:rPr lang="en-US" dirty="0"/>
                  <a:t>Dimensionality reduction/feature extraction</a:t>
                </a:r>
              </a:p>
              <a:p>
                <a:pPr lvl="1"/>
                <a:r>
                  <a:rPr lang="en-US" b="0" dirty="0"/>
                  <a:t>Start with </a:t>
                </a:r>
                <a14:m>
                  <m:oMath xmlns:m="http://schemas.openxmlformats.org/officeDocument/2006/math">
                    <m:r>
                      <a:rPr lang="en-US" b="0" i="1" smtClean="0">
                        <a:latin typeface="Cambria Math" panose="02040503050406030204" pitchFamily="18" charset="0"/>
                      </a:rPr>
                      <m:t>𝑚</m:t>
                    </m:r>
                  </m:oMath>
                </a14:m>
                <a:r>
                  <a:rPr lang="en-US" b="0" dirty="0"/>
                  <a:t> features then extract </a:t>
                </a:r>
                <a14:m>
                  <m:oMath xmlns:m="http://schemas.openxmlformats.org/officeDocument/2006/math">
                    <m:r>
                      <a:rPr lang="en-US" b="0" i="1" smtClean="0">
                        <a:latin typeface="Cambria Math" panose="02040503050406030204" pitchFamily="18" charset="0"/>
                      </a:rPr>
                      <m:t>𝑗</m:t>
                    </m:r>
                  </m:oMath>
                </a14:m>
                <a:r>
                  <a:rPr lang="en-US" b="0" dirty="0"/>
                  <a:t> features</a:t>
                </a:r>
              </a:p>
              <a:p>
                <a:pPr>
                  <a:buFont typeface="+mj-lt"/>
                  <a:buAutoNum type="arabicPeriod"/>
                </a:pPr>
                <a:r>
                  <a:rPr lang="en-US" dirty="0"/>
                  <a:t>Anomaly detection &amp; denoising</a:t>
                </a:r>
                <a:endParaRPr lang="en-US" b="0" dirty="0"/>
              </a:p>
              <a:p>
                <a:pPr lvl="1"/>
                <a:endParaRPr lang="en-US" b="0" dirty="0"/>
              </a:p>
              <a:p>
                <a:pPr lvl="1"/>
                <a:endParaRPr lang="en-US" b="0" dirty="0"/>
              </a:p>
              <a:p>
                <a:pPr>
                  <a:buFont typeface="+mj-lt"/>
                  <a:buAutoNum type="arabicPeriod"/>
                </a:pPr>
                <a:endParaRPr lang="en-US" b="0" dirty="0"/>
              </a:p>
              <a:p>
                <a:pPr>
                  <a:buFont typeface="+mj-lt"/>
                  <a:buAutoNum type="arabicPeriod"/>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1F2F1303-A1D4-1763-8C32-9E00E6AEBADF}"/>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48901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CE6DC-D346-9B7A-A90B-BC6333857D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CCC9D4-5839-1FF8-F369-CA966824A31C}"/>
              </a:ext>
            </a:extLst>
          </p:cNvPr>
          <p:cNvSpPr>
            <a:spLocks noGrp="1"/>
          </p:cNvSpPr>
          <p:nvPr>
            <p:ph type="title"/>
          </p:nvPr>
        </p:nvSpPr>
        <p:spPr/>
        <p:txBody>
          <a:bodyPr>
            <a:normAutofit fontScale="90000"/>
          </a:bodyPr>
          <a:lstStyle/>
          <a:p>
            <a:r>
              <a:rPr lang="en-US" dirty="0"/>
              <a:t>Goal</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8FAE34E-8BD0-1FF1-84B4-2412023DDD27}"/>
                  </a:ext>
                </a:extLst>
              </p:cNvPr>
              <p:cNvSpPr>
                <a:spLocks noGrp="1"/>
              </p:cNvSpPr>
              <p:nvPr>
                <p:ph type="body" idx="1"/>
              </p:nvPr>
            </p:nvSpPr>
            <p:spPr/>
            <p:txBody>
              <a:bodyPr/>
              <a:lstStyle/>
              <a:p>
                <a:pPr marL="114300" indent="0">
                  <a:buNone/>
                </a:pPr>
                <a:r>
                  <a:rPr lang="en-US" dirty="0"/>
                  <a:t>Examine </a:t>
                </a:r>
                <a14:m>
                  <m:oMath xmlns:m="http://schemas.openxmlformats.org/officeDocument/2006/math">
                    <m:r>
                      <a:rPr lang="en-US" b="0" i="1" smtClean="0">
                        <a:latin typeface="Cambria Math" panose="02040503050406030204" pitchFamily="18" charset="0"/>
                      </a:rPr>
                      <m:t>𝐴</m:t>
                    </m:r>
                  </m:oMath>
                </a14:m>
                <a:r>
                  <a:rPr lang="en-US" b="0" dirty="0"/>
                  <a:t> and uncover its linear algebraic properties to:</a:t>
                </a:r>
              </a:p>
              <a:p>
                <a:pPr>
                  <a:buFont typeface="+mj-lt"/>
                  <a:buAutoNum type="arabicPeriod"/>
                </a:pPr>
                <a:r>
                  <a:rPr lang="en-US" b="0" dirty="0"/>
                  <a:t>Approximate </a:t>
                </a:r>
                <a14:m>
                  <m:oMath xmlns:m="http://schemas.openxmlformats.org/officeDocument/2006/math">
                    <m:r>
                      <a:rPr lang="en-US" b="0" i="1" smtClean="0">
                        <a:latin typeface="Cambria Math" panose="02040503050406030204" pitchFamily="18" charset="0"/>
                      </a:rPr>
                      <m:t>𝐴</m:t>
                    </m:r>
                  </m:oMath>
                </a14:m>
                <a:r>
                  <a:rPr lang="en-US" b="0" dirty="0"/>
                  <a:t> with a smaller matrix that is easier to store but contains similar information as </a:t>
                </a:r>
                <a14:m>
                  <m:oMath xmlns:m="http://schemas.openxmlformats.org/officeDocument/2006/math">
                    <m:r>
                      <a:rPr lang="en-US" b="0" i="1" smtClean="0">
                        <a:latin typeface="Cambria Math" panose="02040503050406030204" pitchFamily="18" charset="0"/>
                      </a:rPr>
                      <m:t>𝐴</m:t>
                    </m:r>
                  </m:oMath>
                </a14:m>
                <a:endParaRPr lang="en-US" b="0" dirty="0"/>
              </a:p>
              <a:p>
                <a:pPr lvl="1"/>
                <a:r>
                  <a:rPr lang="en-US" dirty="0"/>
                  <a:t> "</a:t>
                </a:r>
                <a:r>
                  <a:rPr lang="en-US" b="0" dirty="0"/>
                  <a:t>Rank reduction”</a:t>
                </a:r>
              </a:p>
              <a:p>
                <a:pPr>
                  <a:buFont typeface="+mj-lt"/>
                  <a:buAutoNum type="arabicPeriod"/>
                </a:pPr>
                <a:r>
                  <a:rPr lang="en-US" dirty="0"/>
                  <a:t>Dimensionality reduction/feature extraction</a:t>
                </a:r>
              </a:p>
              <a:p>
                <a:pPr lvl="1"/>
                <a:r>
                  <a:rPr lang="en-US" b="0" dirty="0"/>
                  <a:t>Start with </a:t>
                </a:r>
                <a14:m>
                  <m:oMath xmlns:m="http://schemas.openxmlformats.org/officeDocument/2006/math">
                    <m:r>
                      <a:rPr lang="en-US" b="0" i="1" smtClean="0">
                        <a:latin typeface="Cambria Math" panose="02040503050406030204" pitchFamily="18" charset="0"/>
                      </a:rPr>
                      <m:t>𝑚</m:t>
                    </m:r>
                  </m:oMath>
                </a14:m>
                <a:r>
                  <a:rPr lang="en-US" b="0" dirty="0"/>
                  <a:t> features then extract </a:t>
                </a:r>
                <a14:m>
                  <m:oMath xmlns:m="http://schemas.openxmlformats.org/officeDocument/2006/math">
                    <m:r>
                      <a:rPr lang="en-US" b="0" i="1" smtClean="0">
                        <a:latin typeface="Cambria Math" panose="02040503050406030204" pitchFamily="18" charset="0"/>
                      </a:rPr>
                      <m:t>𝑗</m:t>
                    </m:r>
                  </m:oMath>
                </a14:m>
                <a:r>
                  <a:rPr lang="en-US" b="0" dirty="0"/>
                  <a:t> features</a:t>
                </a:r>
              </a:p>
              <a:p>
                <a:pPr>
                  <a:buFont typeface="+mj-lt"/>
                  <a:buAutoNum type="arabicPeriod"/>
                </a:pPr>
                <a:r>
                  <a:rPr lang="en-US" dirty="0"/>
                  <a:t>Anomaly detection &amp; denoising</a:t>
                </a:r>
              </a:p>
              <a:p>
                <a:pPr>
                  <a:buFont typeface="+mj-lt"/>
                  <a:buAutoNum type="arabicPeriod"/>
                </a:pPr>
                <a:endParaRPr lang="en-US" b="0" dirty="0"/>
              </a:p>
              <a:p>
                <a:pPr marL="114300" indent="0">
                  <a:buNone/>
                </a:pPr>
                <a:r>
                  <a:rPr lang="en-US" dirty="0"/>
                  <a:t>We are going to look at how SVD can tackle each of these goals</a:t>
                </a:r>
                <a:endParaRPr lang="en-US" b="0" dirty="0"/>
              </a:p>
              <a:p>
                <a:pPr lvl="1"/>
                <a:endParaRPr lang="en-US" b="0" dirty="0"/>
              </a:p>
              <a:p>
                <a:pPr marL="114300" indent="0">
                  <a:buNone/>
                </a:pPr>
                <a:endParaRPr lang="en-US" b="0" dirty="0"/>
              </a:p>
              <a:p>
                <a:pPr>
                  <a:buFont typeface="+mj-lt"/>
                  <a:buAutoNum type="arabicPeriod"/>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D8FAE34E-8BD0-1FF1-84B4-2412023DDD27}"/>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35929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B16F-9AB3-57E5-DA19-051ECE9D5C5E}"/>
              </a:ext>
            </a:extLst>
          </p:cNvPr>
          <p:cNvSpPr>
            <a:spLocks noGrp="1"/>
          </p:cNvSpPr>
          <p:nvPr>
            <p:ph type="title"/>
          </p:nvPr>
        </p:nvSpPr>
        <p:spPr/>
        <p:txBody>
          <a:bodyPr>
            <a:normAutofit fontScale="90000"/>
          </a:bodyPr>
          <a:lstStyle/>
          <a:p>
            <a:r>
              <a:rPr lang="en-US" dirty="0"/>
              <a:t>Singular Value Decomposition (SVD)</a:t>
            </a:r>
          </a:p>
        </p:txBody>
      </p:sp>
      <p:sp>
        <p:nvSpPr>
          <p:cNvPr id="3" name="Text Placeholder 2">
            <a:extLst>
              <a:ext uri="{FF2B5EF4-FFF2-40B4-BE49-F238E27FC236}">
                <a16:creationId xmlns:a16="http://schemas.microsoft.com/office/drawing/2014/main" id="{B06909AE-919B-A23E-1BD5-972CE5618DAC}"/>
              </a:ext>
            </a:extLst>
          </p:cNvPr>
          <p:cNvSpPr>
            <a:spLocks noGrp="1"/>
          </p:cNvSpPr>
          <p:nvPr>
            <p:ph type="body" idx="1"/>
          </p:nvPr>
        </p:nvSpPr>
        <p:spPr/>
        <p:txBody>
          <a:bodyPr/>
          <a:lstStyle/>
          <a:p>
            <a:pPr marL="114300" indent="0">
              <a:buNone/>
            </a:pPr>
            <a:r>
              <a:rPr lang="en-US" dirty="0"/>
              <a:t>SVD is a tool for processing data to extract high variance and linearly independent features</a:t>
            </a:r>
          </a:p>
        </p:txBody>
      </p:sp>
    </p:spTree>
    <p:extLst>
      <p:ext uri="{BB962C8B-B14F-4D97-AF65-F5344CB8AC3E}">
        <p14:creationId xmlns:p14="http://schemas.microsoft.com/office/powerpoint/2010/main" val="4090139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EE233-D775-69F9-8F92-9A8B862E20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8CCCC2-E7C2-ADED-D65B-778434885EAD}"/>
              </a:ext>
            </a:extLst>
          </p:cNvPr>
          <p:cNvSpPr>
            <a:spLocks noGrp="1"/>
          </p:cNvSpPr>
          <p:nvPr>
            <p:ph type="title"/>
          </p:nvPr>
        </p:nvSpPr>
        <p:spPr/>
        <p:txBody>
          <a:bodyPr>
            <a:normAutofit fontScale="90000"/>
          </a:bodyPr>
          <a:lstStyle/>
          <a:p>
            <a:r>
              <a:rPr lang="en-US" dirty="0"/>
              <a:t>Singular Value Decomposition (SVD)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01FEA54-A406-1973-7C83-2283D73F3581}"/>
                  </a:ext>
                </a:extLst>
              </p:cNvPr>
              <p:cNvSpPr>
                <a:spLocks noGrp="1"/>
              </p:cNvSpPr>
              <p:nvPr>
                <p:ph type="body" idx="1"/>
              </p:nvPr>
            </p:nvSpPr>
            <p:spPr/>
            <p:txBody>
              <a:bodyPr/>
              <a:lstStyle/>
              <a:p>
                <a:pPr marL="114300" indent="0">
                  <a:buNone/>
                </a:pPr>
                <a:r>
                  <a:rPr lang="en-US" dirty="0"/>
                  <a:t>SVD is a tool for processing data to extract high variance and linearly independent features</a:t>
                </a:r>
              </a:p>
              <a:p>
                <a:pPr marL="114300" indent="0">
                  <a:buNone/>
                </a:pPr>
                <a:endParaRPr lang="en-US" dirty="0"/>
              </a:p>
              <a:p>
                <a:pPr marL="114300" indent="0">
                  <a:buNone/>
                </a:pPr>
                <a:r>
                  <a:rPr lang="en-US" dirty="0"/>
                  <a:t>SVD can decompose </a:t>
                </a:r>
                <a:r>
                  <a:rPr lang="en-US" b="1" dirty="0"/>
                  <a:t>any</a:t>
                </a:r>
                <a:r>
                  <a:rPr lang="en-US" dirty="0"/>
                  <a:t>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 × </m:t>
                    </m:r>
                    <m:r>
                      <a:rPr lang="en-US" b="0" i="1" smtClean="0">
                        <a:latin typeface="Cambria Math" panose="02040503050406030204" pitchFamily="18" charset="0"/>
                      </a:rPr>
                      <m:t>𝑚</m:t>
                    </m:r>
                  </m:oMath>
                </a14:m>
                <a:r>
                  <a:rPr lang="en-US" b="0" dirty="0"/>
                  <a:t> matrix </a:t>
                </a:r>
                <a14:m>
                  <m:oMath xmlns:m="http://schemas.openxmlformats.org/officeDocument/2006/math">
                    <m:r>
                      <a:rPr lang="en-US" b="0" i="1" smtClean="0">
                        <a:latin typeface="Cambria Math" panose="02040503050406030204" pitchFamily="18" charset="0"/>
                      </a:rPr>
                      <m:t>𝐴</m:t>
                    </m:r>
                  </m:oMath>
                </a14:m>
                <a:r>
                  <a:rPr lang="en-US" b="0" dirty="0"/>
                  <a:t> of rank </a:t>
                </a:r>
                <a14:m>
                  <m:oMath xmlns:m="http://schemas.openxmlformats.org/officeDocument/2006/math">
                    <m:r>
                      <a:rPr lang="en-US" b="0" i="1" smtClean="0">
                        <a:latin typeface="Cambria Math" panose="02040503050406030204" pitchFamily="18" charset="0"/>
                      </a:rPr>
                      <m:t>𝑟</m:t>
                    </m:r>
                  </m:oMath>
                </a14:m>
                <a:r>
                  <a:rPr lang="en-US" b="0" dirty="0"/>
                  <a:t> into </a:t>
                </a:r>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A01FEA54-A406-1973-7C83-2283D73F3581}"/>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2549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D5DD3-4C22-8271-AA3E-D163F6A05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6810A-4183-F34B-F564-A141EADFE8BB}"/>
              </a:ext>
            </a:extLst>
          </p:cNvPr>
          <p:cNvSpPr>
            <a:spLocks noGrp="1"/>
          </p:cNvSpPr>
          <p:nvPr>
            <p:ph type="title"/>
          </p:nvPr>
        </p:nvSpPr>
        <p:spPr/>
        <p:txBody>
          <a:bodyPr>
            <a:normAutofit fontScale="90000"/>
          </a:bodyPr>
          <a:lstStyle/>
          <a:p>
            <a:r>
              <a:rPr lang="en-US" dirty="0"/>
              <a:t>Singular Value Decomposition (SVD)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AE131D7-1159-2E42-2FF6-20203817588D}"/>
                  </a:ext>
                </a:extLst>
              </p:cNvPr>
              <p:cNvSpPr>
                <a:spLocks noGrp="1"/>
              </p:cNvSpPr>
              <p:nvPr>
                <p:ph type="body" idx="1"/>
              </p:nvPr>
            </p:nvSpPr>
            <p:spPr/>
            <p:txBody>
              <a:bodyPr/>
              <a:lstStyle/>
              <a:p>
                <a:pPr marL="114300" indent="0">
                  <a:buNone/>
                </a:pPr>
                <a:r>
                  <a:rPr lang="en-US" dirty="0"/>
                  <a:t>SVD is a tool for processing data to extract high variance and linearly independent features</a:t>
                </a:r>
              </a:p>
              <a:p>
                <a:pPr marL="114300" indent="0">
                  <a:buNone/>
                </a:pPr>
                <a:endParaRPr lang="en-US" dirty="0"/>
              </a:p>
              <a:p>
                <a:pPr marL="114300" indent="0">
                  <a:buNone/>
                </a:pPr>
                <a:r>
                  <a:rPr lang="en-US" dirty="0"/>
                  <a:t>SVD can decompose </a:t>
                </a:r>
                <a:r>
                  <a:rPr lang="en-US" b="1" dirty="0"/>
                  <a:t>any</a:t>
                </a:r>
                <a:r>
                  <a:rPr lang="en-US" dirty="0"/>
                  <a:t>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 × </m:t>
                    </m:r>
                    <m:r>
                      <a:rPr lang="en-US" b="0" i="1" smtClean="0">
                        <a:latin typeface="Cambria Math" panose="02040503050406030204" pitchFamily="18" charset="0"/>
                      </a:rPr>
                      <m:t>𝑚</m:t>
                    </m:r>
                  </m:oMath>
                </a14:m>
                <a:r>
                  <a:rPr lang="en-US" b="0" dirty="0"/>
                  <a:t> matrix </a:t>
                </a:r>
                <a14:m>
                  <m:oMath xmlns:m="http://schemas.openxmlformats.org/officeDocument/2006/math">
                    <m:r>
                      <a:rPr lang="en-US" b="0" i="1" smtClean="0">
                        <a:latin typeface="Cambria Math" panose="02040503050406030204" pitchFamily="18" charset="0"/>
                      </a:rPr>
                      <m:t>𝐴</m:t>
                    </m:r>
                  </m:oMath>
                </a14:m>
                <a:r>
                  <a:rPr lang="en-US" b="0" dirty="0"/>
                  <a:t> of rank </a:t>
                </a:r>
                <a14:m>
                  <m:oMath xmlns:m="http://schemas.openxmlformats.org/officeDocument/2006/math">
                    <m:r>
                      <a:rPr lang="en-US" b="0" i="1" smtClean="0">
                        <a:latin typeface="Cambria Math" panose="02040503050406030204" pitchFamily="18" charset="0"/>
                      </a:rPr>
                      <m:t>𝑟</m:t>
                    </m:r>
                  </m:oMath>
                </a14:m>
                <a:r>
                  <a:rPr lang="en-US" b="0" dirty="0"/>
                  <a:t> into </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𝑈</m:t>
                      </m:r>
                      <m:r>
                        <m:rPr>
                          <m:sty m:val="p"/>
                        </m:rPr>
                        <a:rPr lang="en-US" b="0" i="0" smtClean="0">
                          <a:latin typeface="Cambria Math" panose="02040503050406030204" pitchFamily="18" charset="0"/>
                        </a:rPr>
                        <m:t>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𝑇</m:t>
                          </m:r>
                        </m:sup>
                      </m:sSup>
                    </m:oMath>
                  </m:oMathPara>
                </a14:m>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4AE131D7-1159-2E42-2FF6-20203817588D}"/>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34486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7DD80-5C0C-7C88-5D8C-9AF8D00F5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46C92-0793-9394-839C-551624B0B9A4}"/>
              </a:ext>
            </a:extLst>
          </p:cNvPr>
          <p:cNvSpPr>
            <a:spLocks noGrp="1"/>
          </p:cNvSpPr>
          <p:nvPr>
            <p:ph type="title"/>
          </p:nvPr>
        </p:nvSpPr>
        <p:spPr/>
        <p:txBody>
          <a:bodyPr>
            <a:normAutofit fontScale="90000"/>
          </a:bodyPr>
          <a:lstStyle/>
          <a:p>
            <a:r>
              <a:rPr lang="en-US" dirty="0"/>
              <a:t>Singular Value Decomposition (SVD)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72DF9A3-1139-B7D4-06C0-3AD5679750AB}"/>
                  </a:ext>
                </a:extLst>
              </p:cNvPr>
              <p:cNvSpPr>
                <a:spLocks noGrp="1"/>
              </p:cNvSpPr>
              <p:nvPr>
                <p:ph type="body" idx="1"/>
              </p:nvPr>
            </p:nvSpPr>
            <p:spPr/>
            <p:txBody>
              <a:bodyPr>
                <a:normAutofit lnSpcReduction="10000"/>
              </a:bodyPr>
              <a:lstStyle/>
              <a:p>
                <a:pPr marL="114300" indent="0">
                  <a:buNone/>
                </a:pPr>
                <a:r>
                  <a:rPr lang="en-US" dirty="0"/>
                  <a:t>SVD is a tool for processing data to extract high variance and linearly independent features</a:t>
                </a:r>
              </a:p>
              <a:p>
                <a:pPr marL="114300" indent="0">
                  <a:buNone/>
                </a:pPr>
                <a:endParaRPr lang="en-US" dirty="0"/>
              </a:p>
              <a:p>
                <a:pPr marL="114300" indent="0">
                  <a:buNone/>
                </a:pPr>
                <a:r>
                  <a:rPr lang="en-US" dirty="0"/>
                  <a:t>SVD can decompose </a:t>
                </a:r>
                <a:r>
                  <a:rPr lang="en-US" b="1" dirty="0"/>
                  <a:t>any</a:t>
                </a:r>
                <a:r>
                  <a:rPr lang="en-US" dirty="0"/>
                  <a:t>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 × </m:t>
                    </m:r>
                    <m:r>
                      <a:rPr lang="en-US" b="0" i="1" smtClean="0">
                        <a:latin typeface="Cambria Math" panose="02040503050406030204" pitchFamily="18" charset="0"/>
                      </a:rPr>
                      <m:t>𝑚</m:t>
                    </m:r>
                  </m:oMath>
                </a14:m>
                <a:r>
                  <a:rPr lang="en-US" b="0" dirty="0"/>
                  <a:t> matrix </a:t>
                </a:r>
                <a14:m>
                  <m:oMath xmlns:m="http://schemas.openxmlformats.org/officeDocument/2006/math">
                    <m:r>
                      <a:rPr lang="en-US" b="0" i="1" smtClean="0">
                        <a:latin typeface="Cambria Math" panose="02040503050406030204" pitchFamily="18" charset="0"/>
                      </a:rPr>
                      <m:t>𝐴</m:t>
                    </m:r>
                  </m:oMath>
                </a14:m>
                <a:r>
                  <a:rPr lang="en-US" b="0" dirty="0"/>
                  <a:t> of rank </a:t>
                </a:r>
                <a14:m>
                  <m:oMath xmlns:m="http://schemas.openxmlformats.org/officeDocument/2006/math">
                    <m:r>
                      <a:rPr lang="en-US" b="0" i="1" smtClean="0">
                        <a:latin typeface="Cambria Math" panose="02040503050406030204" pitchFamily="18" charset="0"/>
                      </a:rPr>
                      <m:t>𝑟</m:t>
                    </m:r>
                  </m:oMath>
                </a14:m>
                <a:r>
                  <a:rPr lang="en-US" b="0" dirty="0"/>
                  <a:t> into </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𝑈</m:t>
                      </m:r>
                      <m:r>
                        <m:rPr>
                          <m:sty m:val="p"/>
                        </m:rPr>
                        <a:rPr lang="en-US" b="0" i="0" smtClean="0">
                          <a:latin typeface="Cambria Math" panose="02040503050406030204" pitchFamily="18" charset="0"/>
                        </a:rPr>
                        <m:t>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𝑇</m:t>
                          </m:r>
                        </m:sup>
                      </m:sSup>
                    </m:oMath>
                  </m:oMathPara>
                </a14:m>
                <a:endParaRPr lang="en-US" b="0" dirty="0"/>
              </a:p>
              <a:p>
                <a:pPr marL="114300" indent="0">
                  <a:buNone/>
                </a:pPr>
                <a:endParaRPr lang="en-US" b="0" dirty="0"/>
              </a:p>
              <a:p>
                <a:pPr marL="114300" indent="0">
                  <a:buNone/>
                </a:pPr>
                <a:r>
                  <a:rPr lang="en-US" b="0" dirty="0"/>
                  <a:t>Where</a:t>
                </a:r>
              </a:p>
              <a:p>
                <a14:m>
                  <m:oMath xmlns:m="http://schemas.openxmlformats.org/officeDocument/2006/math">
                    <m:r>
                      <a:rPr lang="en-US" b="0" i="1" smtClean="0">
                        <a:latin typeface="Cambria Math" panose="02040503050406030204" pitchFamily="18" charset="0"/>
                      </a:rPr>
                      <m:t>𝑈</m:t>
                    </m:r>
                  </m:oMath>
                </a14:m>
                <a:r>
                  <a:rPr lang="en-US" b="0" dirty="0"/>
                  <a:t> is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 × </m:t>
                    </m:r>
                    <m:r>
                      <a:rPr lang="en-US" b="0" i="1" smtClean="0">
                        <a:latin typeface="Cambria Math" panose="02040503050406030204" pitchFamily="18" charset="0"/>
                      </a:rPr>
                      <m:t>𝑟</m:t>
                    </m:r>
                  </m:oMath>
                </a14:m>
                <a:endParaRPr lang="en-US" b="0" dirty="0"/>
              </a:p>
              <a:p>
                <a14:m>
                  <m:oMath xmlns:m="http://schemas.openxmlformats.org/officeDocument/2006/math">
                    <m:r>
                      <m:rPr>
                        <m:sty m:val="p"/>
                      </m:rPr>
                      <a:rPr lang="en-US" b="0" i="1" smtClean="0">
                        <a:latin typeface="Cambria Math" panose="02040503050406030204" pitchFamily="18" charset="0"/>
                      </a:rPr>
                      <m:t>Σ</m:t>
                    </m:r>
                  </m:oMath>
                </a14:m>
                <a:r>
                  <a:rPr lang="en-US" b="0" dirty="0"/>
                  <a:t> is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 × </m:t>
                    </m:r>
                    <m:r>
                      <a:rPr lang="en-US" b="0" i="1" smtClean="0">
                        <a:latin typeface="Cambria Math" panose="02040503050406030204" pitchFamily="18" charset="0"/>
                      </a:rPr>
                      <m:t>𝑟</m:t>
                    </m:r>
                  </m:oMath>
                </a14:m>
                <a:r>
                  <a:rPr lang="en-US" b="0" dirty="0"/>
                  <a:t> (diagonal matrix)</a:t>
                </a:r>
              </a:p>
              <a:p>
                <a14:m>
                  <m:oMath xmlns:m="http://schemas.openxmlformats.org/officeDocument/2006/math">
                    <m:r>
                      <a:rPr lang="en-US" b="0" i="1" smtClean="0">
                        <a:latin typeface="Cambria Math" panose="02040503050406030204" pitchFamily="18" charset="0"/>
                      </a:rPr>
                      <m:t>𝑉</m:t>
                    </m:r>
                  </m:oMath>
                </a14:m>
                <a:r>
                  <a:rPr lang="en-US" b="0" dirty="0"/>
                  <a:t> is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 × </m:t>
                    </m:r>
                    <m:r>
                      <a:rPr lang="en-US" b="0" i="1" smtClean="0">
                        <a:latin typeface="Cambria Math" panose="02040503050406030204" pitchFamily="18" charset="0"/>
                      </a:rPr>
                      <m:t>𝑟</m:t>
                    </m:r>
                  </m:oMath>
                </a14:m>
                <a:endParaRPr lang="en-US" b="0" dirty="0"/>
              </a:p>
              <a:p>
                <a:endParaRPr lang="en-US" b="0" dirty="0"/>
              </a:p>
              <a:p>
                <a:endParaRPr lang="en-US" b="0" dirty="0"/>
              </a:p>
              <a:p>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C72DF9A3-1139-B7D4-06C0-3AD5679750AB}"/>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83482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1333B-9CF9-D261-4745-94D7D1B9E4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D4B16F-214A-2EA3-0E5E-F6C3F9F11E84}"/>
              </a:ext>
            </a:extLst>
          </p:cNvPr>
          <p:cNvSpPr>
            <a:spLocks noGrp="1"/>
          </p:cNvSpPr>
          <p:nvPr>
            <p:ph type="title"/>
          </p:nvPr>
        </p:nvSpPr>
        <p:spPr/>
        <p:txBody>
          <a:bodyPr>
            <a:normAutofit fontScale="90000"/>
          </a:bodyPr>
          <a:lstStyle/>
          <a:p>
            <a:r>
              <a:rPr lang="en-US" dirty="0"/>
              <a:t>SVD Matrix Decomposition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D1D54E-E9DF-7284-2260-00FD00BD00D9}"/>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𝐴</m:t>
                      </m:r>
                      <m:r>
                        <a:rPr lang="en-US" i="1" smtClean="0">
                          <a:latin typeface="Cambria Math" panose="02040503050406030204" pitchFamily="18" charset="0"/>
                        </a:rPr>
                        <m:t>=</m:t>
                      </m:r>
                      <m:r>
                        <a:rPr lang="en-US" i="1" smtClean="0">
                          <a:latin typeface="Cambria Math" panose="02040503050406030204" pitchFamily="18" charset="0"/>
                        </a:rPr>
                        <m:t>𝑈</m:t>
                      </m:r>
                      <m:r>
                        <m:rPr>
                          <m:sty m:val="p"/>
                        </m:rPr>
                        <a:rPr lang="en-US">
                          <a:latin typeface="Cambria Math" panose="02040503050406030204" pitchFamily="18" charset="0"/>
                        </a:rPr>
                        <m:t>Σ</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𝑇</m:t>
                          </m:r>
                        </m:sup>
                      </m:sSup>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𝑟</m:t>
                          </m:r>
                        </m:sup>
                      </m:sSup>
                    </m:oMath>
                  </m:oMathPara>
                </a14:m>
                <a:endParaRPr lang="en-US" b="0" dirty="0"/>
              </a:p>
              <a:p>
                <a:pPr lvl="1"/>
                <a:endParaRPr lang="en-US" b="0" dirty="0"/>
              </a:p>
              <a:p>
                <a14:m>
                  <m:oMath xmlns:m="http://schemas.openxmlformats.org/officeDocument/2006/math">
                    <m:r>
                      <a:rPr lang="en-US" b="0" i="1" smtClean="0">
                        <a:latin typeface="Cambria Math" panose="02040503050406030204" pitchFamily="18" charset="0"/>
                      </a:rPr>
                      <m:t>𝑉</m:t>
                    </m:r>
                  </m:oMath>
                </a14:m>
                <a:r>
                  <a:rPr lang="en-US" b="0" dirty="0"/>
                  <a:t> encodes the principal directions and latent patterns in the original feature space</a:t>
                </a:r>
              </a:p>
              <a:p>
                <a:endParaRPr lang="en-US" b="0" dirty="0"/>
              </a:p>
              <a:p>
                <a:endParaRPr lang="en-US" b="0" dirty="0"/>
              </a:p>
            </p:txBody>
          </p:sp>
        </mc:Choice>
        <mc:Fallback xmlns="">
          <p:sp>
            <p:nvSpPr>
              <p:cNvPr id="3" name="Text Placeholder 2">
                <a:extLst>
                  <a:ext uri="{FF2B5EF4-FFF2-40B4-BE49-F238E27FC236}">
                    <a16:creationId xmlns:a16="http://schemas.microsoft.com/office/drawing/2014/main" id="{6CD1D54E-E9DF-7284-2260-00FD00BD00D9}"/>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78404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4434A-DE66-0C86-25DE-8800FEC49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5A77AE-5225-9A23-4370-5C1D112C86C9}"/>
              </a:ext>
            </a:extLst>
          </p:cNvPr>
          <p:cNvSpPr>
            <a:spLocks noGrp="1"/>
          </p:cNvSpPr>
          <p:nvPr>
            <p:ph type="title"/>
          </p:nvPr>
        </p:nvSpPr>
        <p:spPr/>
        <p:txBody>
          <a:bodyPr>
            <a:normAutofit fontScale="90000"/>
          </a:bodyPr>
          <a:lstStyle/>
          <a:p>
            <a:r>
              <a:rPr lang="en-US" dirty="0"/>
              <a:t>SVD Matrix Decomposition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70A85B2-C0B8-647E-B06F-7A62B4893C54}"/>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𝐴</m:t>
                      </m:r>
                      <m:r>
                        <a:rPr lang="en-US" i="1" smtClean="0">
                          <a:latin typeface="Cambria Math" panose="02040503050406030204" pitchFamily="18" charset="0"/>
                        </a:rPr>
                        <m:t>=</m:t>
                      </m:r>
                      <m:r>
                        <a:rPr lang="en-US" i="1" smtClean="0">
                          <a:latin typeface="Cambria Math" panose="02040503050406030204" pitchFamily="18" charset="0"/>
                        </a:rPr>
                        <m:t>𝑈</m:t>
                      </m:r>
                      <m:r>
                        <m:rPr>
                          <m:sty m:val="p"/>
                        </m:rPr>
                        <a:rPr lang="en-US">
                          <a:latin typeface="Cambria Math" panose="02040503050406030204" pitchFamily="18" charset="0"/>
                        </a:rPr>
                        <m:t>Σ</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𝑇</m:t>
                          </m:r>
                        </m:sup>
                      </m:sSup>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𝑟</m:t>
                          </m:r>
                        </m:sup>
                      </m:sSup>
                    </m:oMath>
                  </m:oMathPara>
                </a14:m>
                <a:endParaRPr lang="en-US" b="0" dirty="0"/>
              </a:p>
              <a:p>
                <a:pPr lvl="1"/>
                <a:endParaRPr lang="en-US" b="0" dirty="0"/>
              </a:p>
              <a:p>
                <a14:m>
                  <m:oMath xmlns:m="http://schemas.openxmlformats.org/officeDocument/2006/math">
                    <m:r>
                      <a:rPr lang="en-US" b="0" i="1" smtClean="0">
                        <a:latin typeface="Cambria Math" panose="02040503050406030204" pitchFamily="18" charset="0"/>
                      </a:rPr>
                      <m:t>𝑉</m:t>
                    </m:r>
                  </m:oMath>
                </a14:m>
                <a:r>
                  <a:rPr lang="en-US" b="0" dirty="0"/>
                  <a:t> encodes the principal directions and latent patterns in the original feature space</a:t>
                </a:r>
              </a:p>
              <a:p>
                <a:pPr lvl="1"/>
                <a:r>
                  <a:rPr lang="en-US" dirty="0"/>
                  <a:t>i.e., directions along which the data varies</a:t>
                </a:r>
                <a:endParaRPr lang="en-US" b="0" dirty="0"/>
              </a:p>
              <a:p>
                <a:endParaRPr lang="en-US" b="0" dirty="0"/>
              </a:p>
              <a:p>
                <a:endParaRPr lang="en-US" b="0" dirty="0"/>
              </a:p>
            </p:txBody>
          </p:sp>
        </mc:Choice>
        <mc:Fallback xmlns="">
          <p:sp>
            <p:nvSpPr>
              <p:cNvPr id="3" name="Text Placeholder 2">
                <a:extLst>
                  <a:ext uri="{FF2B5EF4-FFF2-40B4-BE49-F238E27FC236}">
                    <a16:creationId xmlns:a16="http://schemas.microsoft.com/office/drawing/2014/main" id="{370A85B2-C0B8-647E-B06F-7A62B4893C54}"/>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42187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20947-462D-68AE-8416-BA477A531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EF8FD-757F-4BF0-BF80-3033CF42511E}"/>
              </a:ext>
            </a:extLst>
          </p:cNvPr>
          <p:cNvSpPr>
            <a:spLocks noGrp="1"/>
          </p:cNvSpPr>
          <p:nvPr>
            <p:ph type="title"/>
          </p:nvPr>
        </p:nvSpPr>
        <p:spPr/>
        <p:txBody>
          <a:bodyPr>
            <a:normAutofit fontScale="90000"/>
          </a:bodyPr>
          <a:lstStyle/>
          <a:p>
            <a:r>
              <a:rPr lang="en-US" dirty="0"/>
              <a:t>SVD Matrix Decomposition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0262D81-E11D-6A55-D655-B1366722A9E1}"/>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𝐴</m:t>
                      </m:r>
                      <m:r>
                        <a:rPr lang="en-US" i="1" smtClean="0">
                          <a:latin typeface="Cambria Math" panose="02040503050406030204" pitchFamily="18" charset="0"/>
                        </a:rPr>
                        <m:t>=</m:t>
                      </m:r>
                      <m:r>
                        <a:rPr lang="en-US" i="1" smtClean="0">
                          <a:latin typeface="Cambria Math" panose="02040503050406030204" pitchFamily="18" charset="0"/>
                        </a:rPr>
                        <m:t>𝑈</m:t>
                      </m:r>
                      <m:r>
                        <m:rPr>
                          <m:sty m:val="p"/>
                        </m:rPr>
                        <a:rPr lang="en-US">
                          <a:latin typeface="Cambria Math" panose="02040503050406030204" pitchFamily="18" charset="0"/>
                        </a:rPr>
                        <m:t>Σ</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𝑇</m:t>
                          </m:r>
                        </m:sup>
                      </m:sSup>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𝑟</m:t>
                          </m:r>
                        </m:sup>
                      </m:sSup>
                    </m:oMath>
                  </m:oMathPara>
                </a14:m>
                <a:endParaRPr lang="en-US" b="0" dirty="0"/>
              </a:p>
              <a:p>
                <a:pPr lvl="1"/>
                <a:endParaRPr lang="en-US" b="0" dirty="0"/>
              </a:p>
              <a:p>
                <a14:m>
                  <m:oMath xmlns:m="http://schemas.openxmlformats.org/officeDocument/2006/math">
                    <m:r>
                      <a:rPr lang="en-US" b="0" i="1" smtClean="0">
                        <a:latin typeface="Cambria Math" panose="02040503050406030204" pitchFamily="18" charset="0"/>
                      </a:rPr>
                      <m:t>𝑉</m:t>
                    </m:r>
                  </m:oMath>
                </a14:m>
                <a:r>
                  <a:rPr lang="en-US" b="0" dirty="0"/>
                  <a:t> encodes the principal directions and latent patterns in the original feature space</a:t>
                </a:r>
              </a:p>
              <a:p>
                <a:r>
                  <a:rPr lang="en-US" dirty="0"/>
                  <a:t>Mathematically, columns of </a:t>
                </a:r>
                <a14:m>
                  <m:oMath xmlns:m="http://schemas.openxmlformats.org/officeDocument/2006/math">
                    <m:r>
                      <a:rPr lang="en-US" i="1">
                        <a:latin typeface="Cambria Math" panose="02040503050406030204" pitchFamily="18" charset="0"/>
                      </a:rPr>
                      <m:t>𝑉</m:t>
                    </m:r>
                  </m:oMath>
                </a14:m>
                <a:r>
                  <a:rPr lang="en-US" dirty="0"/>
                  <a:t> are orthonormal eigenvectors of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𝑇</m:t>
                        </m:r>
                      </m:sup>
                    </m:sSup>
                    <m:r>
                      <a:rPr lang="en-US" i="1">
                        <a:latin typeface="Cambria Math" panose="02040503050406030204" pitchFamily="18" charset="0"/>
                      </a:rPr>
                      <m:t>𝐴</m:t>
                    </m:r>
                  </m:oMath>
                </a14:m>
                <a:endParaRPr lang="en-US" dirty="0"/>
              </a:p>
              <a:p>
                <a:pPr marL="114300" indent="0">
                  <a:buNone/>
                </a:pPr>
                <a:endParaRPr lang="en-US" b="0" dirty="0"/>
              </a:p>
              <a:p>
                <a:endParaRPr lang="en-US" b="0" dirty="0"/>
              </a:p>
              <a:p>
                <a:endParaRPr lang="en-US" b="0" dirty="0"/>
              </a:p>
            </p:txBody>
          </p:sp>
        </mc:Choice>
        <mc:Fallback xmlns="">
          <p:sp>
            <p:nvSpPr>
              <p:cNvPr id="3" name="Text Placeholder 2">
                <a:extLst>
                  <a:ext uri="{FF2B5EF4-FFF2-40B4-BE49-F238E27FC236}">
                    <a16:creationId xmlns:a16="http://schemas.microsoft.com/office/drawing/2014/main" id="{90262D81-E11D-6A55-D655-B1366722A9E1}"/>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49060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D1001-EC50-320B-1D9A-761F06C600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2EE409-C410-B17A-82BB-8F4CDA8AD3AF}"/>
              </a:ext>
            </a:extLst>
          </p:cNvPr>
          <p:cNvSpPr>
            <a:spLocks noGrp="1"/>
          </p:cNvSpPr>
          <p:nvPr>
            <p:ph type="title"/>
          </p:nvPr>
        </p:nvSpPr>
        <p:spPr/>
        <p:txBody>
          <a:bodyPr>
            <a:normAutofit fontScale="90000"/>
          </a:bodyPr>
          <a:lstStyle/>
          <a:p>
            <a:r>
              <a:rPr lang="en-US" dirty="0"/>
              <a:t>SVD Matrix Decomposition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1D93598-3018-99C0-96D8-08558B184D50}"/>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𝐴</m:t>
                      </m:r>
                      <m:r>
                        <a:rPr lang="en-US" i="1" smtClean="0">
                          <a:latin typeface="Cambria Math" panose="02040503050406030204" pitchFamily="18" charset="0"/>
                        </a:rPr>
                        <m:t>=</m:t>
                      </m:r>
                      <m:r>
                        <a:rPr lang="en-US" i="1" smtClean="0">
                          <a:latin typeface="Cambria Math" panose="02040503050406030204" pitchFamily="18" charset="0"/>
                        </a:rPr>
                        <m:t>𝑈</m:t>
                      </m:r>
                      <m:r>
                        <m:rPr>
                          <m:sty m:val="p"/>
                        </m:rPr>
                        <a:rPr lang="en-US">
                          <a:latin typeface="Cambria Math" panose="02040503050406030204" pitchFamily="18" charset="0"/>
                        </a:rPr>
                        <m:t>Σ</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𝑇</m:t>
                          </m:r>
                        </m:sup>
                      </m:sSup>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𝑟</m:t>
                          </m:r>
                        </m:sup>
                      </m:sSup>
                    </m:oMath>
                  </m:oMathPara>
                </a14:m>
                <a:endParaRPr lang="en-US" b="0" dirty="0"/>
              </a:p>
              <a:p>
                <a:pPr lvl="1"/>
                <a:endParaRPr lang="en-US" b="0" dirty="0"/>
              </a:p>
              <a:p>
                <a14:m>
                  <m:oMath xmlns:m="http://schemas.openxmlformats.org/officeDocument/2006/math">
                    <m:r>
                      <a:rPr lang="en-US" b="0" i="1" smtClean="0">
                        <a:latin typeface="Cambria Math" panose="02040503050406030204" pitchFamily="18" charset="0"/>
                      </a:rPr>
                      <m:t>𝑉</m:t>
                    </m:r>
                  </m:oMath>
                </a14:m>
                <a:r>
                  <a:rPr lang="en-US" b="0" dirty="0"/>
                  <a:t> encodes the principal directions and latent patterns in the original feature space</a:t>
                </a:r>
              </a:p>
              <a:p>
                <a:r>
                  <a:rPr lang="en-US" dirty="0"/>
                  <a:t>Mathematically, columns of </a:t>
                </a:r>
                <a14:m>
                  <m:oMath xmlns:m="http://schemas.openxmlformats.org/officeDocument/2006/math">
                    <m:r>
                      <a:rPr lang="en-US" i="1">
                        <a:latin typeface="Cambria Math" panose="02040503050406030204" pitchFamily="18" charset="0"/>
                      </a:rPr>
                      <m:t>𝑉</m:t>
                    </m:r>
                  </m:oMath>
                </a14:m>
                <a:r>
                  <a:rPr lang="en-US" dirty="0"/>
                  <a:t> are orthonormal eigenvectors of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𝑇</m:t>
                        </m:r>
                      </m:sup>
                    </m:sSup>
                    <m:r>
                      <a:rPr lang="en-US" i="1">
                        <a:latin typeface="Cambria Math" panose="02040503050406030204" pitchFamily="18" charset="0"/>
                      </a:rPr>
                      <m:t>𝐴</m:t>
                    </m:r>
                  </m:oMath>
                </a14:m>
                <a:endParaRPr lang="en-US" dirty="0"/>
              </a:p>
              <a:p>
                <a:r>
                  <a:rPr lang="en-US" b="0" dirty="0"/>
                  <a:t>Columns of </a:t>
                </a:r>
                <a14:m>
                  <m:oMath xmlns:m="http://schemas.openxmlformats.org/officeDocument/2006/math">
                    <m:r>
                      <a:rPr lang="en-US" b="0" i="1" smtClean="0">
                        <a:latin typeface="Cambria Math" panose="02040503050406030204" pitchFamily="18" charset="0"/>
                      </a:rPr>
                      <m:t>𝑉</m:t>
                    </m:r>
                  </m:oMath>
                </a14:m>
                <a:r>
                  <a:rPr lang="en-US" b="0" dirty="0"/>
                  <a:t> are referred to as the right singular vectors</a:t>
                </a:r>
              </a:p>
              <a:p>
                <a:endParaRPr lang="en-US" b="0" dirty="0"/>
              </a:p>
              <a:p>
                <a:endParaRPr lang="en-US" b="0" dirty="0"/>
              </a:p>
              <a:p>
                <a:endParaRPr lang="en-US" b="0" dirty="0"/>
              </a:p>
            </p:txBody>
          </p:sp>
        </mc:Choice>
        <mc:Fallback xmlns="">
          <p:sp>
            <p:nvSpPr>
              <p:cNvPr id="3" name="Text Placeholder 2">
                <a:extLst>
                  <a:ext uri="{FF2B5EF4-FFF2-40B4-BE49-F238E27FC236}">
                    <a16:creationId xmlns:a16="http://schemas.microsoft.com/office/drawing/2014/main" id="{31D93598-3018-99C0-96D8-08558B184D50}"/>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70315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BA7FB-5711-6724-AA85-4D6045D87A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D1C07-BEA7-A0DA-EACB-78D4C2D32D0D}"/>
              </a:ext>
            </a:extLst>
          </p:cNvPr>
          <p:cNvSpPr>
            <a:spLocks noGrp="1"/>
          </p:cNvSpPr>
          <p:nvPr>
            <p:ph type="title"/>
          </p:nvPr>
        </p:nvSpPr>
        <p:spPr/>
        <p:txBody>
          <a:bodyPr>
            <a:normAutofit fontScale="90000"/>
          </a:bodyPr>
          <a:lstStyle/>
          <a:p>
            <a:r>
              <a:rPr lang="en-US" dirty="0"/>
              <a:t>SVD Matrix Decomposition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056EC15-C7CE-69D2-E633-A687A8D3A43E}"/>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𝐴</m:t>
                      </m:r>
                      <m:r>
                        <a:rPr lang="en-US" i="1" smtClean="0">
                          <a:latin typeface="Cambria Math" panose="02040503050406030204" pitchFamily="18" charset="0"/>
                        </a:rPr>
                        <m:t>=</m:t>
                      </m:r>
                      <m:r>
                        <a:rPr lang="en-US" i="1" smtClean="0">
                          <a:latin typeface="Cambria Math" panose="02040503050406030204" pitchFamily="18" charset="0"/>
                        </a:rPr>
                        <m:t>𝑈</m:t>
                      </m:r>
                      <m:r>
                        <m:rPr>
                          <m:sty m:val="p"/>
                        </m:rPr>
                        <a:rPr lang="en-US">
                          <a:latin typeface="Cambria Math" panose="02040503050406030204" pitchFamily="18" charset="0"/>
                        </a:rPr>
                        <m:t>Σ</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𝑇</m:t>
                          </m:r>
                        </m:sup>
                      </m:sSup>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𝑟</m:t>
                          </m:r>
                        </m:sup>
                      </m:sSup>
                    </m:oMath>
                  </m:oMathPara>
                </a14:m>
                <a:endParaRPr lang="en-US" b="0" dirty="0"/>
              </a:p>
              <a:p>
                <a:r>
                  <a:rPr lang="en-US" dirty="0"/>
                  <a:t>Diagonal entries of </a:t>
                </a:r>
                <a14:m>
                  <m:oMath xmlns:m="http://schemas.openxmlformats.org/officeDocument/2006/math">
                    <m:r>
                      <m:rPr>
                        <m:sty m:val="p"/>
                      </m:rPr>
                      <a:rPr lang="en-US" i="1">
                        <a:latin typeface="Cambria Math" panose="02040503050406030204" pitchFamily="18" charset="0"/>
                      </a:rPr>
                      <m:t>Σ</m:t>
                    </m:r>
                  </m:oMath>
                </a14:m>
                <a:r>
                  <a:rPr lang="en-US" dirty="0"/>
                  <a:t> are referred to as </a:t>
                </a:r>
                <a:r>
                  <a:rPr lang="en-US" b="1" dirty="0"/>
                  <a:t>singular values </a:t>
                </a:r>
                <a:r>
                  <a:rPr lang="en-US" dirty="0"/>
                  <a:t>and correspond to how much of the variance in the data is explained by corresponding right singular vectors (or columns) of </a:t>
                </a:r>
                <a14:m>
                  <m:oMath xmlns:m="http://schemas.openxmlformats.org/officeDocument/2006/math">
                    <m:r>
                      <a:rPr lang="en-US" i="1">
                        <a:latin typeface="Cambria Math" panose="02040503050406030204" pitchFamily="18" charset="0"/>
                      </a:rPr>
                      <m:t>𝑉</m:t>
                    </m:r>
                  </m:oMath>
                </a14:m>
                <a:endParaRPr lang="en-US" dirty="0"/>
              </a:p>
              <a:p>
                <a:pPr lvl="1"/>
                <a:r>
                  <a:rPr lang="en-US" dirty="0"/>
                  <a:t>Also ordered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𝑟</m:t>
                        </m:r>
                      </m:sub>
                    </m:sSub>
                  </m:oMath>
                </a14:m>
                <a:endParaRPr lang="en-US" b="0" dirty="0"/>
              </a:p>
              <a:p>
                <a:pPr lvl="1"/>
                <a:endParaRPr lang="en-US" b="0" dirty="0"/>
              </a:p>
              <a:p>
                <a:endParaRPr lang="en-US" b="0" dirty="0"/>
              </a:p>
            </p:txBody>
          </p:sp>
        </mc:Choice>
        <mc:Fallback xmlns="">
          <p:sp>
            <p:nvSpPr>
              <p:cNvPr id="3" name="Text Placeholder 2">
                <a:extLst>
                  <a:ext uri="{FF2B5EF4-FFF2-40B4-BE49-F238E27FC236}">
                    <a16:creationId xmlns:a16="http://schemas.microsoft.com/office/drawing/2014/main" id="{7056EC15-C7CE-69D2-E633-A687A8D3A43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62629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2382D-7E4D-5A8B-5661-AE38F4EA45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DFA96-2C8F-CBDE-57AB-34A7BD1E87B4}"/>
              </a:ext>
            </a:extLst>
          </p:cNvPr>
          <p:cNvSpPr>
            <a:spLocks noGrp="1"/>
          </p:cNvSpPr>
          <p:nvPr>
            <p:ph type="title"/>
          </p:nvPr>
        </p:nvSpPr>
        <p:spPr/>
        <p:txBody>
          <a:bodyPr>
            <a:normAutofit fontScale="90000"/>
          </a:bodyPr>
          <a:lstStyle/>
          <a:p>
            <a:r>
              <a:rPr lang="en-US" dirty="0"/>
              <a:t>SVD Matrix Decomposition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70677D9-77BE-733D-5E65-DCE722405FDC}"/>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𝐴</m:t>
                      </m:r>
                      <m:r>
                        <a:rPr lang="en-US" i="1" smtClean="0">
                          <a:latin typeface="Cambria Math" panose="02040503050406030204" pitchFamily="18" charset="0"/>
                        </a:rPr>
                        <m:t>=</m:t>
                      </m:r>
                      <m:r>
                        <a:rPr lang="en-US" i="1" smtClean="0">
                          <a:latin typeface="Cambria Math" panose="02040503050406030204" pitchFamily="18" charset="0"/>
                        </a:rPr>
                        <m:t>𝑈</m:t>
                      </m:r>
                      <m:r>
                        <m:rPr>
                          <m:sty m:val="p"/>
                        </m:rPr>
                        <a:rPr lang="en-US">
                          <a:latin typeface="Cambria Math" panose="02040503050406030204" pitchFamily="18" charset="0"/>
                        </a:rPr>
                        <m:t>Σ</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𝑇</m:t>
                          </m:r>
                        </m:sup>
                      </m:sSup>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𝑟</m:t>
                          </m:r>
                        </m:sup>
                      </m:sSup>
                    </m:oMath>
                  </m:oMathPara>
                </a14:m>
                <a:endParaRPr lang="en-US" b="0" dirty="0"/>
              </a:p>
              <a:p>
                <a:r>
                  <a:rPr lang="en-US" dirty="0"/>
                  <a:t>Diagonal entries of </a:t>
                </a:r>
                <a14:m>
                  <m:oMath xmlns:m="http://schemas.openxmlformats.org/officeDocument/2006/math">
                    <m:r>
                      <m:rPr>
                        <m:sty m:val="p"/>
                      </m:rPr>
                      <a:rPr lang="en-US" i="1">
                        <a:latin typeface="Cambria Math" panose="02040503050406030204" pitchFamily="18" charset="0"/>
                      </a:rPr>
                      <m:t>Σ</m:t>
                    </m:r>
                  </m:oMath>
                </a14:m>
                <a:r>
                  <a:rPr lang="en-US" dirty="0"/>
                  <a:t> are referred to as </a:t>
                </a:r>
                <a:r>
                  <a:rPr lang="en-US" b="1" dirty="0"/>
                  <a:t>singular values </a:t>
                </a:r>
                <a:r>
                  <a:rPr lang="en-US" dirty="0"/>
                  <a:t>and correspond to how much of the variance in the data is explained by corresponding right singular vectors (or columns) of </a:t>
                </a:r>
                <a14:m>
                  <m:oMath xmlns:m="http://schemas.openxmlformats.org/officeDocument/2006/math">
                    <m:r>
                      <a:rPr lang="en-US" i="1">
                        <a:latin typeface="Cambria Math" panose="02040503050406030204" pitchFamily="18" charset="0"/>
                      </a:rPr>
                      <m:t>𝑉</m:t>
                    </m:r>
                  </m:oMath>
                </a14:m>
                <a:endParaRPr lang="en-US" dirty="0"/>
              </a:p>
              <a:p>
                <a:pPr lvl="1"/>
                <a:r>
                  <a:rPr lang="en-US" dirty="0"/>
                  <a:t>Also ordered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𝑟</m:t>
                        </m:r>
                      </m:sub>
                    </m:sSub>
                  </m:oMath>
                </a14:m>
                <a:endParaRPr lang="en-US" b="0" i="1" dirty="0">
                  <a:latin typeface="Cambria Math" panose="02040503050406030204" pitchFamily="18" charset="0"/>
                </a:endParaRPr>
              </a:p>
              <a:p>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𝜎</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oMath>
                </a14:m>
                <a:r>
                  <a:rPr lang="en-US" b="0" dirty="0"/>
                  <a:t> tells us how much variance is captured along direction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oMath>
                </a14:m>
                <a:endParaRPr lang="en-US" b="0" dirty="0"/>
              </a:p>
              <a:p>
                <a:pPr lvl="1"/>
                <a:endParaRPr lang="en-US" b="0" dirty="0"/>
              </a:p>
              <a:p>
                <a:endParaRPr lang="en-US" b="0" dirty="0"/>
              </a:p>
              <a:p>
                <a:endParaRPr lang="en-US" b="0" dirty="0"/>
              </a:p>
              <a:p>
                <a:endParaRPr lang="en-US" b="0" dirty="0"/>
              </a:p>
              <a:p>
                <a:pPr lvl="1"/>
                <a:endParaRPr lang="en-US" b="0" dirty="0"/>
              </a:p>
              <a:p>
                <a:endParaRPr lang="en-US" b="0" dirty="0"/>
              </a:p>
            </p:txBody>
          </p:sp>
        </mc:Choice>
        <mc:Fallback xmlns="">
          <p:sp>
            <p:nvSpPr>
              <p:cNvPr id="3" name="Text Placeholder 2">
                <a:extLst>
                  <a:ext uri="{FF2B5EF4-FFF2-40B4-BE49-F238E27FC236}">
                    <a16:creationId xmlns:a16="http://schemas.microsoft.com/office/drawing/2014/main" id="{B70677D9-77BE-733D-5E65-DCE722405FDC}"/>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35512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D5487-0E59-779C-9760-320FC575E3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0579F2-0889-AE26-02D1-899A5EAA40DC}"/>
              </a:ext>
            </a:extLst>
          </p:cNvPr>
          <p:cNvSpPr>
            <a:spLocks noGrp="1"/>
          </p:cNvSpPr>
          <p:nvPr>
            <p:ph type="title"/>
          </p:nvPr>
        </p:nvSpPr>
        <p:spPr/>
        <p:txBody>
          <a:bodyPr>
            <a:normAutofit fontScale="90000"/>
          </a:bodyPr>
          <a:lstStyle/>
          <a:p>
            <a:r>
              <a:rPr lang="en-US" dirty="0"/>
              <a:t>SVD Matrix Decomposition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8097F90-E875-A95D-124F-561BB46F914E}"/>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𝐴</m:t>
                      </m:r>
                      <m:r>
                        <a:rPr lang="en-US" i="1" smtClean="0">
                          <a:latin typeface="Cambria Math" panose="02040503050406030204" pitchFamily="18" charset="0"/>
                        </a:rPr>
                        <m:t>=</m:t>
                      </m:r>
                      <m:r>
                        <a:rPr lang="en-US" i="1" smtClean="0">
                          <a:latin typeface="Cambria Math" panose="02040503050406030204" pitchFamily="18" charset="0"/>
                        </a:rPr>
                        <m:t>𝑈</m:t>
                      </m:r>
                      <m:r>
                        <m:rPr>
                          <m:sty m:val="p"/>
                        </m:rPr>
                        <a:rPr lang="en-US">
                          <a:latin typeface="Cambria Math" panose="02040503050406030204" pitchFamily="18" charset="0"/>
                        </a:rPr>
                        <m:t>Σ</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𝑇</m:t>
                          </m:r>
                        </m:sup>
                      </m:sSup>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𝑟</m:t>
                          </m:r>
                        </m:sup>
                      </m:sSup>
                    </m:oMath>
                  </m:oMathPara>
                </a14:m>
                <a:endParaRPr lang="en-US" b="0" dirty="0"/>
              </a:p>
              <a:p>
                <a:r>
                  <a:rPr lang="en-US" dirty="0"/>
                  <a:t>Diagonal entries of </a:t>
                </a:r>
                <a14:m>
                  <m:oMath xmlns:m="http://schemas.openxmlformats.org/officeDocument/2006/math">
                    <m:r>
                      <m:rPr>
                        <m:sty m:val="p"/>
                      </m:rPr>
                      <a:rPr lang="en-US" b="0" i="1" smtClean="0">
                        <a:latin typeface="Cambria Math" panose="02040503050406030204" pitchFamily="18" charset="0"/>
                      </a:rPr>
                      <m:t>Σ</m:t>
                    </m:r>
                  </m:oMath>
                </a14:m>
                <a:r>
                  <a:rPr lang="en-US" dirty="0"/>
                  <a:t> are referred to as </a:t>
                </a:r>
                <a:r>
                  <a:rPr lang="en-US" b="1" dirty="0"/>
                  <a:t>singular values </a:t>
                </a:r>
                <a:r>
                  <a:rPr lang="en-US" dirty="0"/>
                  <a:t>and correspond to how much of the variance in the data is explained by corresponding right singular vectors (or columns) of </a:t>
                </a:r>
                <a14:m>
                  <m:oMath xmlns:m="http://schemas.openxmlformats.org/officeDocument/2006/math">
                    <m:r>
                      <a:rPr lang="en-US" b="0" i="1" smtClean="0">
                        <a:latin typeface="Cambria Math" panose="02040503050406030204" pitchFamily="18" charset="0"/>
                      </a:rPr>
                      <m:t>𝑉</m:t>
                    </m:r>
                  </m:oMath>
                </a14:m>
                <a:endParaRPr lang="en-US" b="0" dirty="0"/>
              </a:p>
              <a:p>
                <a:pPr lvl="1"/>
                <a:r>
                  <a:rPr lang="en-US" dirty="0"/>
                  <a:t>Also ordered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𝑟</m:t>
                        </m:r>
                      </m:sub>
                    </m:sSub>
                  </m:oMath>
                </a14:m>
                <a:endParaRPr lang="en-US" dirty="0"/>
              </a:p>
              <a:p>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𝑖</m:t>
                        </m:r>
                      </m:sub>
                      <m:sup>
                        <m:r>
                          <a:rPr lang="en-US" i="1">
                            <a:latin typeface="Cambria Math" panose="02040503050406030204" pitchFamily="18" charset="0"/>
                          </a:rPr>
                          <m:t>2</m:t>
                        </m:r>
                      </m:sup>
                    </m:sSubSup>
                  </m:oMath>
                </a14:m>
                <a:r>
                  <a:rPr lang="en-US" dirty="0"/>
                  <a:t> tells us how much variance is captured along direction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𝑖</m:t>
                        </m:r>
                      </m:sub>
                    </m:sSub>
                  </m:oMath>
                </a14:m>
                <a:endParaRPr lang="en-US" dirty="0"/>
              </a:p>
              <a:p>
                <a:pPr lvl="1"/>
                <a:r>
                  <a:rPr lang="en-US" dirty="0"/>
                  <a:t>The most variance is always captured by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a14:m>
                <a:r>
                  <a:rPr lang="en-US" b="0" dirty="0"/>
                  <a:t>!</a:t>
                </a:r>
              </a:p>
              <a:p>
                <a:pPr marL="596900" lvl="1" indent="0">
                  <a:buNone/>
                </a:pPr>
                <a:endParaRPr lang="en-US" b="0" dirty="0"/>
              </a:p>
              <a:p>
                <a:endParaRPr lang="en-US" b="0" dirty="0"/>
              </a:p>
              <a:p>
                <a:endParaRPr lang="en-US" b="0" dirty="0"/>
              </a:p>
              <a:p>
                <a:pPr lvl="1"/>
                <a:endParaRPr lang="en-US" b="0" dirty="0"/>
              </a:p>
              <a:p>
                <a:endParaRPr lang="en-US" b="0" dirty="0"/>
              </a:p>
            </p:txBody>
          </p:sp>
        </mc:Choice>
        <mc:Fallback xmlns="">
          <p:sp>
            <p:nvSpPr>
              <p:cNvPr id="3" name="Text Placeholder 2">
                <a:extLst>
                  <a:ext uri="{FF2B5EF4-FFF2-40B4-BE49-F238E27FC236}">
                    <a16:creationId xmlns:a16="http://schemas.microsoft.com/office/drawing/2014/main" id="{38097F90-E875-A95D-124F-561BB46F914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72974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1F1D7-B216-7818-4958-550D7CD45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68F1A2-88EF-287B-0918-1D86CACA4170}"/>
              </a:ext>
            </a:extLst>
          </p:cNvPr>
          <p:cNvSpPr>
            <a:spLocks noGrp="1"/>
          </p:cNvSpPr>
          <p:nvPr>
            <p:ph type="title"/>
          </p:nvPr>
        </p:nvSpPr>
        <p:spPr/>
        <p:txBody>
          <a:bodyPr>
            <a:normAutofit fontScale="90000"/>
          </a:bodyPr>
          <a:lstStyle/>
          <a:p>
            <a:r>
              <a:rPr lang="en-US" dirty="0"/>
              <a:t>SVD Matrix Decomposition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8279BB2-396F-081E-7211-83685A8294A1}"/>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𝐴</m:t>
                      </m:r>
                      <m:r>
                        <a:rPr lang="en-US" i="1" smtClean="0">
                          <a:latin typeface="Cambria Math" panose="02040503050406030204" pitchFamily="18" charset="0"/>
                        </a:rPr>
                        <m:t>=</m:t>
                      </m:r>
                      <m:r>
                        <a:rPr lang="en-US" i="1" smtClean="0">
                          <a:latin typeface="Cambria Math" panose="02040503050406030204" pitchFamily="18" charset="0"/>
                        </a:rPr>
                        <m:t>𝑈</m:t>
                      </m:r>
                      <m:r>
                        <m:rPr>
                          <m:sty m:val="p"/>
                        </m:rPr>
                        <a:rPr lang="en-US">
                          <a:latin typeface="Cambria Math" panose="02040503050406030204" pitchFamily="18" charset="0"/>
                        </a:rPr>
                        <m:t>Σ</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𝑇</m:t>
                          </m:r>
                        </m:sup>
                      </m:sSup>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𝑟</m:t>
                          </m:r>
                        </m:sup>
                      </m:sSup>
                    </m:oMath>
                  </m:oMathPara>
                </a14:m>
                <a:endParaRPr lang="en-US" b="0" dirty="0"/>
              </a:p>
              <a:p>
                <a14:m>
                  <m:oMath xmlns:m="http://schemas.openxmlformats.org/officeDocument/2006/math">
                    <m:r>
                      <a:rPr lang="en-US" b="0" i="1" smtClean="0">
                        <a:latin typeface="Cambria Math" panose="02040503050406030204" pitchFamily="18" charset="0"/>
                      </a:rPr>
                      <m:t>𝑈</m:t>
                    </m:r>
                  </m:oMath>
                </a14:m>
                <a:r>
                  <a:rPr lang="en-US" b="0" dirty="0"/>
                  <a:t> contains the normalized coordinates of samples with respect to the component directions in </a:t>
                </a:r>
                <a14:m>
                  <m:oMath xmlns:m="http://schemas.openxmlformats.org/officeDocument/2006/math">
                    <m:r>
                      <a:rPr lang="en-US" b="0" i="1" smtClean="0">
                        <a:latin typeface="Cambria Math" panose="02040503050406030204" pitchFamily="18" charset="0"/>
                      </a:rPr>
                      <m:t>𝑉</m:t>
                    </m:r>
                  </m:oMath>
                </a14:m>
                <a:endParaRPr lang="en-US" b="0" dirty="0"/>
              </a:p>
            </p:txBody>
          </p:sp>
        </mc:Choice>
        <mc:Fallback xmlns="">
          <p:sp>
            <p:nvSpPr>
              <p:cNvPr id="3" name="Text Placeholder 2">
                <a:extLst>
                  <a:ext uri="{FF2B5EF4-FFF2-40B4-BE49-F238E27FC236}">
                    <a16:creationId xmlns:a16="http://schemas.microsoft.com/office/drawing/2014/main" id="{A8279BB2-396F-081E-7211-83685A8294A1}"/>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56045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9F9F6-0633-2BC2-AAD2-6F8CF946D0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632621-9421-5692-EAD1-6C5C3906B38A}"/>
              </a:ext>
            </a:extLst>
          </p:cNvPr>
          <p:cNvSpPr>
            <a:spLocks noGrp="1"/>
          </p:cNvSpPr>
          <p:nvPr>
            <p:ph type="title"/>
          </p:nvPr>
        </p:nvSpPr>
        <p:spPr/>
        <p:txBody>
          <a:bodyPr>
            <a:normAutofit fontScale="90000"/>
          </a:bodyPr>
          <a:lstStyle/>
          <a:p>
            <a:r>
              <a:rPr lang="en-US" dirty="0"/>
              <a:t>SVD Matrix Decomposition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CAB7F74-367A-D2A9-507F-6A14C15669BE}"/>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𝐴</m:t>
                      </m:r>
                      <m:r>
                        <a:rPr lang="en-US" i="1" smtClean="0">
                          <a:latin typeface="Cambria Math" panose="02040503050406030204" pitchFamily="18" charset="0"/>
                        </a:rPr>
                        <m:t>=</m:t>
                      </m:r>
                      <m:r>
                        <a:rPr lang="en-US" i="1" smtClean="0">
                          <a:latin typeface="Cambria Math" panose="02040503050406030204" pitchFamily="18" charset="0"/>
                        </a:rPr>
                        <m:t>𝑈</m:t>
                      </m:r>
                      <m:r>
                        <m:rPr>
                          <m:sty m:val="p"/>
                        </m:rPr>
                        <a:rPr lang="en-US">
                          <a:latin typeface="Cambria Math" panose="02040503050406030204" pitchFamily="18" charset="0"/>
                        </a:rPr>
                        <m:t>Σ</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𝑇</m:t>
                          </m:r>
                        </m:sup>
                      </m:sSup>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𝑟</m:t>
                          </m:r>
                        </m:sup>
                      </m:sSup>
                    </m:oMath>
                  </m:oMathPara>
                </a14:m>
                <a:endParaRPr lang="en-US" b="0" dirty="0"/>
              </a:p>
              <a:p>
                <a14:m>
                  <m:oMath xmlns:m="http://schemas.openxmlformats.org/officeDocument/2006/math">
                    <m:r>
                      <a:rPr lang="en-US" b="0" i="1" smtClean="0">
                        <a:latin typeface="Cambria Math" panose="02040503050406030204" pitchFamily="18" charset="0"/>
                      </a:rPr>
                      <m:t>𝑈</m:t>
                    </m:r>
                  </m:oMath>
                </a14:m>
                <a:r>
                  <a:rPr lang="en-US" b="0" dirty="0"/>
                  <a:t> contains the normalized coordinates of samples with respect to the component directions in </a:t>
                </a:r>
                <a14:m>
                  <m:oMath xmlns:m="http://schemas.openxmlformats.org/officeDocument/2006/math">
                    <m:r>
                      <a:rPr lang="en-US" b="0" i="1" smtClean="0">
                        <a:latin typeface="Cambria Math" panose="02040503050406030204" pitchFamily="18" charset="0"/>
                      </a:rPr>
                      <m:t>𝑉</m:t>
                    </m:r>
                  </m:oMath>
                </a14:m>
                <a:endParaRPr lang="en-US" b="0"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a14:m>
                <a:r>
                  <a:rPr lang="en-US" b="0" dirty="0"/>
                  <a:t>= normalized coordinat</a:t>
                </a:r>
                <a:r>
                  <a:rPr lang="en-US" dirty="0"/>
                  <a:t>e </a:t>
                </a:r>
                <a:r>
                  <a:rPr lang="en-US" b="0" dirty="0"/>
                  <a:t>of data point </a:t>
                </a:r>
                <a14:m>
                  <m:oMath xmlns:m="http://schemas.openxmlformats.org/officeDocument/2006/math">
                    <m:r>
                      <a:rPr lang="en-US" b="0" i="1" smtClean="0">
                        <a:latin typeface="Cambria Math" panose="02040503050406030204" pitchFamily="18" charset="0"/>
                      </a:rPr>
                      <m:t>𝑖</m:t>
                    </m:r>
                  </m:oMath>
                </a14:m>
                <a:r>
                  <a:rPr lang="en-US" b="0" dirty="0"/>
                  <a:t> to component </a:t>
                </a:r>
                <a14:m>
                  <m:oMath xmlns:m="http://schemas.openxmlformats.org/officeDocument/2006/math">
                    <m:r>
                      <a:rPr lang="en-US" b="0" i="1" smtClean="0">
                        <a:latin typeface="Cambria Math" panose="02040503050406030204" pitchFamily="18" charset="0"/>
                      </a:rPr>
                      <m:t>𝑗</m:t>
                    </m:r>
                  </m:oMath>
                </a14:m>
                <a:endParaRPr lang="en-US" b="0" dirty="0"/>
              </a:p>
              <a:p>
                <a:endParaRPr lang="en-US" b="0" dirty="0"/>
              </a:p>
              <a:p>
                <a:pPr marL="114300" indent="0">
                  <a:buNone/>
                </a:pPr>
                <a:endParaRPr lang="en-US" b="0" dirty="0"/>
              </a:p>
              <a:p>
                <a:endParaRPr lang="en-US" b="0" dirty="0"/>
              </a:p>
              <a:p>
                <a:endParaRPr lang="en-US" b="0" dirty="0"/>
              </a:p>
              <a:p>
                <a:endParaRPr lang="en-US" b="0" dirty="0"/>
              </a:p>
              <a:p>
                <a:endParaRPr lang="en-US" b="0" dirty="0"/>
              </a:p>
              <a:p>
                <a:endParaRPr lang="en-US" b="0" dirty="0"/>
              </a:p>
            </p:txBody>
          </p:sp>
        </mc:Choice>
        <mc:Fallback xmlns="">
          <p:sp>
            <p:nvSpPr>
              <p:cNvPr id="3" name="Text Placeholder 2">
                <a:extLst>
                  <a:ext uri="{FF2B5EF4-FFF2-40B4-BE49-F238E27FC236}">
                    <a16:creationId xmlns:a16="http://schemas.microsoft.com/office/drawing/2014/main" id="{ACAB7F74-367A-D2A9-507F-6A14C15669B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6422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18E18-082D-C2E4-2FC6-296512659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723ED3-FC4B-8EA4-3CFB-563CB57E87B8}"/>
              </a:ext>
            </a:extLst>
          </p:cNvPr>
          <p:cNvSpPr>
            <a:spLocks noGrp="1"/>
          </p:cNvSpPr>
          <p:nvPr>
            <p:ph type="title"/>
          </p:nvPr>
        </p:nvSpPr>
        <p:spPr/>
        <p:txBody>
          <a:bodyPr>
            <a:normAutofit fontScale="90000"/>
          </a:bodyPr>
          <a:lstStyle/>
          <a:p>
            <a:r>
              <a:rPr lang="en-US" dirty="0"/>
              <a:t>SVD Matrix Decomposition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15AFF39-14D3-C956-1147-3369B4681752}"/>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𝐴</m:t>
                      </m:r>
                      <m:r>
                        <a:rPr lang="en-US" i="1" smtClean="0">
                          <a:latin typeface="Cambria Math" panose="02040503050406030204" pitchFamily="18" charset="0"/>
                        </a:rPr>
                        <m:t>=</m:t>
                      </m:r>
                      <m:r>
                        <a:rPr lang="en-US" i="1" smtClean="0">
                          <a:latin typeface="Cambria Math" panose="02040503050406030204" pitchFamily="18" charset="0"/>
                        </a:rPr>
                        <m:t>𝑈</m:t>
                      </m:r>
                      <m:r>
                        <m:rPr>
                          <m:sty m:val="p"/>
                        </m:rPr>
                        <a:rPr lang="en-US">
                          <a:latin typeface="Cambria Math" panose="02040503050406030204" pitchFamily="18" charset="0"/>
                        </a:rPr>
                        <m:t>Σ</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𝑇</m:t>
                          </m:r>
                        </m:sup>
                      </m:sSup>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𝑟</m:t>
                          </m:r>
                        </m:sup>
                      </m:sSup>
                    </m:oMath>
                  </m:oMathPara>
                </a14:m>
                <a:endParaRPr lang="en-US" b="0" dirty="0"/>
              </a:p>
              <a:p>
                <a14:m>
                  <m:oMath xmlns:m="http://schemas.openxmlformats.org/officeDocument/2006/math">
                    <m:r>
                      <a:rPr lang="en-US" b="0" i="1" smtClean="0">
                        <a:latin typeface="Cambria Math" panose="02040503050406030204" pitchFamily="18" charset="0"/>
                      </a:rPr>
                      <m:t>𝑈</m:t>
                    </m:r>
                  </m:oMath>
                </a14:m>
                <a:r>
                  <a:rPr lang="en-US" b="0" dirty="0"/>
                  <a:t> contains the normalized coordinates of samples with respect to the component directions in </a:t>
                </a:r>
                <a14:m>
                  <m:oMath xmlns:m="http://schemas.openxmlformats.org/officeDocument/2006/math">
                    <m:r>
                      <a:rPr lang="en-US" b="0" i="1" smtClean="0">
                        <a:latin typeface="Cambria Math" panose="02040503050406030204" pitchFamily="18" charset="0"/>
                      </a:rPr>
                      <m:t>𝑉</m:t>
                    </m:r>
                  </m:oMath>
                </a14:m>
                <a:endParaRPr lang="en-US" b="0"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a14:m>
                <a:r>
                  <a:rPr lang="en-US" b="0" dirty="0"/>
                  <a:t>= normalized coordinat</a:t>
                </a:r>
                <a:r>
                  <a:rPr lang="en-US" dirty="0"/>
                  <a:t>e </a:t>
                </a:r>
                <a:r>
                  <a:rPr lang="en-US" b="0" dirty="0"/>
                  <a:t>of data point </a:t>
                </a:r>
                <a14:m>
                  <m:oMath xmlns:m="http://schemas.openxmlformats.org/officeDocument/2006/math">
                    <m:r>
                      <a:rPr lang="en-US" b="0" i="1" smtClean="0">
                        <a:latin typeface="Cambria Math" panose="02040503050406030204" pitchFamily="18" charset="0"/>
                      </a:rPr>
                      <m:t>𝑖</m:t>
                    </m:r>
                  </m:oMath>
                </a14:m>
                <a:r>
                  <a:rPr lang="en-US" b="0" dirty="0"/>
                  <a:t> to component </a:t>
                </a:r>
                <a14:m>
                  <m:oMath xmlns:m="http://schemas.openxmlformats.org/officeDocument/2006/math">
                    <m:r>
                      <a:rPr lang="en-US" b="0" i="1" smtClean="0">
                        <a:latin typeface="Cambria Math" panose="02040503050406030204" pitchFamily="18" charset="0"/>
                      </a:rPr>
                      <m:t>𝑗</m:t>
                    </m:r>
                  </m:oMath>
                </a14:m>
                <a:endParaRPr lang="en-US" b="0"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𝑗</m:t>
                        </m:r>
                      </m:sub>
                    </m:sSub>
                  </m:oMath>
                </a14:m>
                <a:r>
                  <a:rPr lang="en-US" b="0" dirty="0"/>
                  <a:t> = actual score/position of sample </a:t>
                </a:r>
                <a14:m>
                  <m:oMath xmlns:m="http://schemas.openxmlformats.org/officeDocument/2006/math">
                    <m:r>
                      <a:rPr lang="en-US" b="0" i="1" smtClean="0">
                        <a:latin typeface="Cambria Math" panose="02040503050406030204" pitchFamily="18" charset="0"/>
                      </a:rPr>
                      <m:t>𝑖</m:t>
                    </m:r>
                  </m:oMath>
                </a14:m>
                <a:r>
                  <a:rPr lang="en-US" b="0" dirty="0"/>
                  <a:t> along direction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𝑗</m:t>
                        </m:r>
                      </m:sub>
                    </m:sSub>
                  </m:oMath>
                </a14:m>
                <a:endParaRPr lang="en-US" b="0" dirty="0"/>
              </a:p>
              <a:p>
                <a:endParaRPr lang="en-US" b="0" dirty="0"/>
              </a:p>
              <a:p>
                <a:pPr marL="114300" indent="0">
                  <a:buNone/>
                </a:pPr>
                <a:endParaRPr lang="en-US" b="0" dirty="0"/>
              </a:p>
              <a:p>
                <a:endParaRPr lang="en-US" b="0" dirty="0"/>
              </a:p>
              <a:p>
                <a:endParaRPr lang="en-US" b="0" dirty="0"/>
              </a:p>
              <a:p>
                <a:endParaRPr lang="en-US" b="0" dirty="0"/>
              </a:p>
              <a:p>
                <a:endParaRPr lang="en-US" b="0" dirty="0"/>
              </a:p>
              <a:p>
                <a:endParaRPr lang="en-US" b="0" dirty="0"/>
              </a:p>
            </p:txBody>
          </p:sp>
        </mc:Choice>
        <mc:Fallback xmlns="">
          <p:sp>
            <p:nvSpPr>
              <p:cNvPr id="3" name="Text Placeholder 2">
                <a:extLst>
                  <a:ext uri="{FF2B5EF4-FFF2-40B4-BE49-F238E27FC236}">
                    <a16:creationId xmlns:a16="http://schemas.microsoft.com/office/drawing/2014/main" id="{A15AFF39-14D3-C956-1147-3369B4681752}"/>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66637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00C23-CC00-98FD-83C3-3ADE1E284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5D0C00-C9E1-29B1-71F5-73A44F3A537D}"/>
              </a:ext>
            </a:extLst>
          </p:cNvPr>
          <p:cNvSpPr>
            <a:spLocks noGrp="1"/>
          </p:cNvSpPr>
          <p:nvPr>
            <p:ph type="title"/>
          </p:nvPr>
        </p:nvSpPr>
        <p:spPr/>
        <p:txBody>
          <a:bodyPr>
            <a:normAutofit fontScale="90000"/>
          </a:bodyPr>
          <a:lstStyle/>
          <a:p>
            <a:r>
              <a:rPr lang="en-US" dirty="0"/>
              <a:t>SVD Matrix Decomposition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037D0E4-2FE9-FF3E-6C17-5916DA322D3A}"/>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𝐴</m:t>
                      </m:r>
                      <m:r>
                        <a:rPr lang="en-US" i="1" smtClean="0">
                          <a:latin typeface="Cambria Math" panose="02040503050406030204" pitchFamily="18" charset="0"/>
                        </a:rPr>
                        <m:t>=</m:t>
                      </m:r>
                      <m:r>
                        <a:rPr lang="en-US" i="1" smtClean="0">
                          <a:latin typeface="Cambria Math" panose="02040503050406030204" pitchFamily="18" charset="0"/>
                        </a:rPr>
                        <m:t>𝑈</m:t>
                      </m:r>
                      <m:r>
                        <m:rPr>
                          <m:sty m:val="p"/>
                        </m:rPr>
                        <a:rPr lang="en-US">
                          <a:latin typeface="Cambria Math" panose="02040503050406030204" pitchFamily="18" charset="0"/>
                        </a:rPr>
                        <m:t>Σ</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𝑇</m:t>
                          </m:r>
                        </m:sup>
                      </m:sSup>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𝑟</m:t>
                          </m:r>
                        </m:sup>
                      </m:sSup>
                    </m:oMath>
                  </m:oMathPara>
                </a14:m>
                <a:endParaRPr lang="en-US" b="0" dirty="0"/>
              </a:p>
              <a:p>
                <a14:m>
                  <m:oMath xmlns:m="http://schemas.openxmlformats.org/officeDocument/2006/math">
                    <m:r>
                      <a:rPr lang="en-US" b="0" i="1" smtClean="0">
                        <a:latin typeface="Cambria Math" panose="02040503050406030204" pitchFamily="18" charset="0"/>
                      </a:rPr>
                      <m:t>𝑈</m:t>
                    </m:r>
                  </m:oMath>
                </a14:m>
                <a:r>
                  <a:rPr lang="en-US" b="0" dirty="0"/>
                  <a:t> contains the normalized coordinates of samples with respect to the component directions in </a:t>
                </a:r>
                <a14:m>
                  <m:oMath xmlns:m="http://schemas.openxmlformats.org/officeDocument/2006/math">
                    <m:r>
                      <a:rPr lang="en-US" b="0" i="1" smtClean="0">
                        <a:latin typeface="Cambria Math" panose="02040503050406030204" pitchFamily="18" charset="0"/>
                      </a:rPr>
                      <m:t>𝑉</m:t>
                    </m:r>
                  </m:oMath>
                </a14:m>
                <a:endParaRPr lang="en-US" b="0"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a14:m>
                <a:r>
                  <a:rPr lang="en-US" b="0" dirty="0"/>
                  <a:t>= normalized coordinat</a:t>
                </a:r>
                <a:r>
                  <a:rPr lang="en-US" dirty="0"/>
                  <a:t>e </a:t>
                </a:r>
                <a:r>
                  <a:rPr lang="en-US" b="0" dirty="0"/>
                  <a:t>of data point </a:t>
                </a:r>
                <a14:m>
                  <m:oMath xmlns:m="http://schemas.openxmlformats.org/officeDocument/2006/math">
                    <m:r>
                      <a:rPr lang="en-US" b="0" i="1" smtClean="0">
                        <a:latin typeface="Cambria Math" panose="02040503050406030204" pitchFamily="18" charset="0"/>
                      </a:rPr>
                      <m:t>𝑖</m:t>
                    </m:r>
                  </m:oMath>
                </a14:m>
                <a:r>
                  <a:rPr lang="en-US" b="0" dirty="0"/>
                  <a:t> to component </a:t>
                </a:r>
                <a14:m>
                  <m:oMath xmlns:m="http://schemas.openxmlformats.org/officeDocument/2006/math">
                    <m:r>
                      <a:rPr lang="en-US" b="0" i="1" smtClean="0">
                        <a:latin typeface="Cambria Math" panose="02040503050406030204" pitchFamily="18" charset="0"/>
                      </a:rPr>
                      <m:t>𝑗</m:t>
                    </m:r>
                  </m:oMath>
                </a14:m>
                <a:endParaRPr lang="en-US" b="0"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𝑗</m:t>
                        </m:r>
                      </m:sub>
                    </m:sSub>
                  </m:oMath>
                </a14:m>
                <a:r>
                  <a:rPr lang="en-US" b="0" dirty="0"/>
                  <a:t> = actual score/position of sample </a:t>
                </a:r>
                <a14:m>
                  <m:oMath xmlns:m="http://schemas.openxmlformats.org/officeDocument/2006/math">
                    <m:r>
                      <a:rPr lang="en-US" b="0" i="1" smtClean="0">
                        <a:latin typeface="Cambria Math" panose="02040503050406030204" pitchFamily="18" charset="0"/>
                      </a:rPr>
                      <m:t>𝑖</m:t>
                    </m:r>
                  </m:oMath>
                </a14:m>
                <a:r>
                  <a:rPr lang="en-US" b="0" dirty="0"/>
                  <a:t> along direction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𝑗</m:t>
                        </m:r>
                      </m:sub>
                    </m:sSub>
                  </m:oMath>
                </a14:m>
                <a:endParaRPr lang="en-US" b="0" dirty="0"/>
              </a:p>
              <a:p>
                <a:r>
                  <a:rPr lang="en-US" b="0" dirty="0"/>
                  <a:t>Columns </a:t>
                </a:r>
                <a:r>
                  <a:rPr lang="en-US" dirty="0"/>
                  <a:t>of </a:t>
                </a:r>
                <a14:m>
                  <m:oMath xmlns:m="http://schemas.openxmlformats.org/officeDocument/2006/math">
                    <m:r>
                      <a:rPr lang="en-US" b="0" i="1" smtClean="0">
                        <a:latin typeface="Cambria Math" panose="02040503050406030204" pitchFamily="18" charset="0"/>
                      </a:rPr>
                      <m:t>𝑈</m:t>
                    </m:r>
                  </m:oMath>
                </a14:m>
                <a:r>
                  <a:rPr lang="en-US" b="0" dirty="0"/>
                  <a:t> </a:t>
                </a:r>
                <a:r>
                  <a:rPr lang="en-US" dirty="0"/>
                  <a:t>are orthonormal eigenvectors of </a:t>
                </a:r>
                <a14:m>
                  <m:oMath xmlns:m="http://schemas.openxmlformats.org/officeDocument/2006/math">
                    <m:r>
                      <a:rPr lang="en-US" i="1">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𝑇</m:t>
                        </m:r>
                      </m:sup>
                    </m:sSup>
                  </m:oMath>
                </a14:m>
                <a:r>
                  <a:rPr lang="en-US" b="0" dirty="0"/>
                  <a:t>and are referred to as left singular vectors</a:t>
                </a:r>
              </a:p>
              <a:p>
                <a:pPr lvl="1"/>
                <a:endParaRPr lang="en-US" b="0" dirty="0"/>
              </a:p>
              <a:p>
                <a:endParaRPr lang="en-US" b="0" dirty="0"/>
              </a:p>
              <a:p>
                <a:endParaRPr lang="en-US" b="0" dirty="0"/>
              </a:p>
              <a:p>
                <a:pPr marL="114300" indent="0">
                  <a:buNone/>
                </a:pPr>
                <a:endParaRPr lang="en-US" b="0" dirty="0"/>
              </a:p>
              <a:p>
                <a:endParaRPr lang="en-US" b="0" dirty="0"/>
              </a:p>
              <a:p>
                <a:endParaRPr lang="en-US" b="0" dirty="0"/>
              </a:p>
              <a:p>
                <a:endParaRPr lang="en-US" b="0" dirty="0"/>
              </a:p>
              <a:p>
                <a:endParaRPr lang="en-US" b="0" dirty="0"/>
              </a:p>
              <a:p>
                <a:endParaRPr lang="en-US" b="0" dirty="0"/>
              </a:p>
            </p:txBody>
          </p:sp>
        </mc:Choice>
        <mc:Fallback xmlns="">
          <p:sp>
            <p:nvSpPr>
              <p:cNvPr id="3" name="Text Placeholder 2">
                <a:extLst>
                  <a:ext uri="{FF2B5EF4-FFF2-40B4-BE49-F238E27FC236}">
                    <a16:creationId xmlns:a16="http://schemas.microsoft.com/office/drawing/2014/main" id="{C037D0E4-2FE9-FF3E-6C17-5916DA322D3A}"/>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367880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4B790-A557-D5E3-FD07-6251EB62A0E2}"/>
              </a:ext>
            </a:extLst>
          </p:cNvPr>
          <p:cNvSpPr>
            <a:spLocks noGrp="1"/>
          </p:cNvSpPr>
          <p:nvPr>
            <p:ph type="title"/>
          </p:nvPr>
        </p:nvSpPr>
        <p:spPr>
          <a:xfrm>
            <a:off x="311700" y="2218050"/>
            <a:ext cx="8520600" cy="707400"/>
          </a:xfrm>
        </p:spPr>
        <p:txBody>
          <a:bodyPr>
            <a:normAutofit fontScale="90000"/>
          </a:bodyPr>
          <a:lstStyle/>
          <a:p>
            <a:pPr algn="ctr"/>
            <a:r>
              <a:rPr lang="en-US" dirty="0"/>
              <a:t>SVD for Rank Reduction</a:t>
            </a:r>
          </a:p>
        </p:txBody>
      </p:sp>
    </p:spTree>
    <p:extLst>
      <p:ext uri="{BB962C8B-B14F-4D97-AF65-F5344CB8AC3E}">
        <p14:creationId xmlns:p14="http://schemas.microsoft.com/office/powerpoint/2010/main" val="3634180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DDBC7-77C3-3678-F1DA-BF98A09D1E72}"/>
              </a:ext>
            </a:extLst>
          </p:cNvPr>
          <p:cNvSpPr>
            <a:spLocks noGrp="1"/>
          </p:cNvSpPr>
          <p:nvPr>
            <p:ph type="title"/>
          </p:nvPr>
        </p:nvSpPr>
        <p:spPr/>
        <p:txBody>
          <a:bodyPr>
            <a:normAutofit fontScale="90000"/>
          </a:bodyPr>
          <a:lstStyle/>
          <a:p>
            <a:r>
              <a:rPr lang="en-US" dirty="0"/>
              <a:t>Approximation for 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ED91C53-D9BB-DB55-A503-5DFD17382D64}"/>
                  </a:ext>
                </a:extLst>
              </p:cNvPr>
              <p:cNvSpPr>
                <a:spLocks noGrp="1"/>
              </p:cNvSpPr>
              <p:nvPr>
                <p:ph type="body" idx="1"/>
              </p:nvPr>
            </p:nvSpPr>
            <p:spPr/>
            <p:txBody>
              <a:bodyPr/>
              <a:lstStyle/>
              <a:p>
                <a:pPr marL="114300" indent="0">
                  <a:buNone/>
                </a:pPr>
                <a:r>
                  <a:rPr lang="en-US" dirty="0"/>
                  <a:t>Goal: Approximate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 × </m:t>
                    </m:r>
                    <m:r>
                      <a:rPr lang="en-US" b="0" i="1" smtClean="0">
                        <a:latin typeface="Cambria Math" panose="02040503050406030204" pitchFamily="18" charset="0"/>
                      </a:rPr>
                      <m:t>𝑛</m:t>
                    </m:r>
                  </m:oMath>
                </a14:m>
                <a:r>
                  <a:rPr lang="en-US" b="0" dirty="0"/>
                  <a:t> matrix </a:t>
                </a:r>
                <a14:m>
                  <m:oMath xmlns:m="http://schemas.openxmlformats.org/officeDocument/2006/math">
                    <m:r>
                      <a:rPr lang="en-US" b="0" i="1" smtClean="0">
                        <a:latin typeface="Cambria Math" panose="02040503050406030204" pitchFamily="18" charset="0"/>
                      </a:rPr>
                      <m:t>𝐴</m:t>
                    </m:r>
                  </m:oMath>
                </a14:m>
                <a:r>
                  <a:rPr lang="en-US" b="0" dirty="0"/>
                  <a:t> with rank-k matrix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oMath>
                </a14:m>
                <a:r>
                  <a:rPr lang="en-US" b="0" dirty="0"/>
                  <a:t> such that</a:t>
                </a:r>
              </a:p>
              <a:p>
                <a:pPr>
                  <a:buFont typeface="+mj-lt"/>
                  <a:buAutoNum type="arabicPeriod"/>
                </a:pP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𝐹</m:t>
                        </m:r>
                      </m:sub>
                    </m:sSub>
                    <m:d>
                      <m:dPr>
                        <m:ctrlPr>
                          <a:rPr lang="en-US" i="1">
                            <a:latin typeface="Cambria Math" panose="02040503050406030204" pitchFamily="18" charset="0"/>
                          </a:rPr>
                        </m:ctrlPr>
                      </m:dPr>
                      <m:e>
                        <m:r>
                          <a:rPr lang="en-US" i="1">
                            <a:latin typeface="Cambria Math" panose="02040503050406030204" pitchFamily="18" charset="0"/>
                          </a:rPr>
                          <m:t>𝐴</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𝐴</m:t>
                            </m:r>
                          </m:e>
                          <m:sup>
                            <m:d>
                              <m:dPr>
                                <m:ctrlPr>
                                  <a:rPr lang="en-US" i="1">
                                    <a:latin typeface="Cambria Math" panose="02040503050406030204" pitchFamily="18" charset="0"/>
                                  </a:rPr>
                                </m:ctrlPr>
                              </m:dPr>
                              <m:e>
                                <m:r>
                                  <a:rPr lang="en-US" i="1">
                                    <a:latin typeface="Cambria Math" panose="02040503050406030204" pitchFamily="18" charset="0"/>
                                  </a:rPr>
                                  <m:t>𝑘</m:t>
                                </m:r>
                              </m:e>
                            </m:d>
                          </m:sup>
                        </m:sSup>
                      </m:e>
                    </m:d>
                  </m:oMath>
                </a14:m>
                <a:r>
                  <a:rPr lang="en-US" dirty="0"/>
                  <a:t> small</a:t>
                </a:r>
              </a:p>
              <a:p>
                <a:pPr>
                  <a:buFont typeface="+mj-lt"/>
                  <a:buAutoNum type="arabicPeriod"/>
                </a:pPr>
                <a:r>
                  <a:rPr lang="en-US" b="0" dirty="0"/>
                  <a:t> </a:t>
                </a:r>
                <a14:m>
                  <m:oMath xmlns:m="http://schemas.openxmlformats.org/officeDocument/2006/math">
                    <m:r>
                      <a:rPr lang="en-US" b="0" i="1" smtClean="0">
                        <a:latin typeface="Cambria Math" panose="02040503050406030204" pitchFamily="18" charset="0"/>
                      </a:rPr>
                      <m:t>𝑘</m:t>
                    </m:r>
                  </m:oMath>
                </a14:m>
                <a:r>
                  <a:rPr lang="en-US" b="0" dirty="0"/>
                  <a:t> small compared to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 &amp; </m:t>
                    </m:r>
                    <m:r>
                      <a:rPr lang="en-US" b="0" i="1" smtClean="0">
                        <a:latin typeface="Cambria Math" panose="02040503050406030204" pitchFamily="18" charset="0"/>
                      </a:rPr>
                      <m:t>𝑛</m:t>
                    </m:r>
                  </m:oMath>
                </a14:m>
                <a:endParaRPr lang="en-US" b="0" dirty="0"/>
              </a:p>
              <a:p>
                <a:pPr>
                  <a:buFont typeface="+mj-lt"/>
                  <a:buAutoNum type="arabicPeriod"/>
                </a:pPr>
                <a:endParaRPr lang="en-US" b="0" dirty="0"/>
              </a:p>
              <a:p>
                <a:pPr>
                  <a:buFont typeface="+mj-lt"/>
                  <a:buAutoNum type="arabicPeriod"/>
                </a:pPr>
                <a:endParaRPr lang="en-US" b="0" dirty="0"/>
              </a:p>
              <a:p>
                <a:pPr>
                  <a:buFont typeface="+mj-lt"/>
                  <a:buAutoNum type="arabicPeriod"/>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6ED91C53-D9BB-DB55-A503-5DFD17382D64}"/>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735807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FCC24-3455-1979-84EF-CC1D2D4ECE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ED7224-BA27-CBBF-518F-73D5231D3F8F}"/>
              </a:ext>
            </a:extLst>
          </p:cNvPr>
          <p:cNvSpPr>
            <a:spLocks noGrp="1"/>
          </p:cNvSpPr>
          <p:nvPr>
            <p:ph type="title"/>
          </p:nvPr>
        </p:nvSpPr>
        <p:spPr/>
        <p:txBody>
          <a:bodyPr>
            <a:normAutofit fontScale="90000"/>
          </a:bodyPr>
          <a:lstStyle/>
          <a:p>
            <a:r>
              <a:rPr lang="en-US" dirty="0"/>
              <a:t>Approximation for 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5B55923-A917-03FA-ABFE-9B06FCD21B08}"/>
                  </a:ext>
                </a:extLst>
              </p:cNvPr>
              <p:cNvSpPr>
                <a:spLocks noGrp="1"/>
              </p:cNvSpPr>
              <p:nvPr>
                <p:ph type="body" idx="1"/>
              </p:nvPr>
            </p:nvSpPr>
            <p:spPr/>
            <p:txBody>
              <a:bodyPr/>
              <a:lstStyle/>
              <a:p>
                <a:pPr marL="114300" indent="0">
                  <a:buNone/>
                </a:pPr>
                <a:r>
                  <a:rPr lang="en-US" dirty="0"/>
                  <a:t>Goal: Approximate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 × </m:t>
                    </m:r>
                    <m:r>
                      <a:rPr lang="en-US" b="0" i="1" smtClean="0">
                        <a:latin typeface="Cambria Math" panose="02040503050406030204" pitchFamily="18" charset="0"/>
                      </a:rPr>
                      <m:t>𝑛</m:t>
                    </m:r>
                  </m:oMath>
                </a14:m>
                <a:r>
                  <a:rPr lang="en-US" b="0" dirty="0"/>
                  <a:t> matrix </a:t>
                </a:r>
                <a14:m>
                  <m:oMath xmlns:m="http://schemas.openxmlformats.org/officeDocument/2006/math">
                    <m:r>
                      <a:rPr lang="en-US" b="0" i="1" smtClean="0">
                        <a:latin typeface="Cambria Math" panose="02040503050406030204" pitchFamily="18" charset="0"/>
                      </a:rPr>
                      <m:t>𝐴</m:t>
                    </m:r>
                  </m:oMath>
                </a14:m>
                <a:r>
                  <a:rPr lang="en-US" b="0" dirty="0"/>
                  <a:t> with rank-k matrix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oMath>
                </a14:m>
                <a:r>
                  <a:rPr lang="en-US" b="0" dirty="0"/>
                  <a:t> such that</a:t>
                </a:r>
              </a:p>
              <a:p>
                <a:pPr>
                  <a:buFont typeface="+mj-lt"/>
                  <a:buAutoNum type="arabicPeriod"/>
                </a:pP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𝐹</m:t>
                        </m:r>
                      </m:sub>
                    </m:sSub>
                    <m:d>
                      <m:dPr>
                        <m:ctrlPr>
                          <a:rPr lang="en-US" i="1">
                            <a:latin typeface="Cambria Math" panose="02040503050406030204" pitchFamily="18" charset="0"/>
                          </a:rPr>
                        </m:ctrlPr>
                      </m:dPr>
                      <m:e>
                        <m:r>
                          <a:rPr lang="en-US" i="1">
                            <a:latin typeface="Cambria Math" panose="02040503050406030204" pitchFamily="18" charset="0"/>
                          </a:rPr>
                          <m:t>𝐴</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𝐴</m:t>
                            </m:r>
                          </m:e>
                          <m:sup>
                            <m:d>
                              <m:dPr>
                                <m:ctrlPr>
                                  <a:rPr lang="en-US" i="1">
                                    <a:latin typeface="Cambria Math" panose="02040503050406030204" pitchFamily="18" charset="0"/>
                                  </a:rPr>
                                </m:ctrlPr>
                              </m:dPr>
                              <m:e>
                                <m:r>
                                  <a:rPr lang="en-US" i="1">
                                    <a:latin typeface="Cambria Math" panose="02040503050406030204" pitchFamily="18" charset="0"/>
                                  </a:rPr>
                                  <m:t>𝑘</m:t>
                                </m:r>
                              </m:e>
                            </m:d>
                          </m:sup>
                        </m:sSup>
                      </m:e>
                    </m:d>
                  </m:oMath>
                </a14:m>
                <a:r>
                  <a:rPr lang="en-US" dirty="0"/>
                  <a:t> small</a:t>
                </a:r>
              </a:p>
              <a:p>
                <a:pPr>
                  <a:buFont typeface="+mj-lt"/>
                  <a:buAutoNum type="arabicPeriod"/>
                </a:pPr>
                <a:r>
                  <a:rPr lang="en-US" b="0" dirty="0"/>
                  <a:t> </a:t>
                </a:r>
                <a14:m>
                  <m:oMath xmlns:m="http://schemas.openxmlformats.org/officeDocument/2006/math">
                    <m:r>
                      <a:rPr lang="en-US" b="0" i="1" smtClean="0">
                        <a:latin typeface="Cambria Math" panose="02040503050406030204" pitchFamily="18" charset="0"/>
                      </a:rPr>
                      <m:t>𝑘</m:t>
                    </m:r>
                  </m:oMath>
                </a14:m>
                <a:r>
                  <a:rPr lang="en-US" b="0" dirty="0"/>
                  <a:t> small compared to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 &amp; </m:t>
                    </m:r>
                    <m:r>
                      <a:rPr lang="en-US" b="0" i="1" smtClean="0">
                        <a:latin typeface="Cambria Math" panose="02040503050406030204" pitchFamily="18" charset="0"/>
                      </a:rPr>
                      <m:t>𝑛</m:t>
                    </m:r>
                  </m:oMath>
                </a14:m>
                <a:endParaRPr lang="en-US" b="0" dirty="0"/>
              </a:p>
              <a:p>
                <a:pPr marL="114300" indent="0">
                  <a:buNone/>
                </a:pPr>
                <a:endParaRPr lang="en-US" dirty="0"/>
              </a:p>
              <a:p>
                <a:pPr marL="114300" indent="0">
                  <a:buNone/>
                </a:pPr>
                <a:r>
                  <a:rPr lang="en-US" b="0" dirty="0"/>
                  <a:t>When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&lt;</m:t>
                    </m:r>
                    <m:r>
                      <a:rPr lang="en-US" b="0" i="1" smtClean="0">
                        <a:latin typeface="Cambria Math" panose="02040503050406030204" pitchFamily="18" charset="0"/>
                      </a:rPr>
                      <m:t>𝑟𝑎𝑛𝑘</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oMath>
                </a14:m>
                <a:r>
                  <a:rPr lang="en-US" b="0" dirty="0"/>
                  <a:t>, the rank </a:t>
                </a:r>
                <a14:m>
                  <m:oMath xmlns:m="http://schemas.openxmlformats.org/officeDocument/2006/math">
                    <m:r>
                      <a:rPr lang="en-US" b="0" i="1" smtClean="0">
                        <a:latin typeface="Cambria Math" panose="02040503050406030204" pitchFamily="18" charset="0"/>
                      </a:rPr>
                      <m:t>𝑘</m:t>
                    </m:r>
                  </m:oMath>
                </a14:m>
                <a:r>
                  <a:rPr lang="en-US" b="0" dirty="0"/>
                  <a:t> approximation of A is </a:t>
                </a:r>
                <a:r>
                  <a:rPr lang="en-US" dirty="0"/>
                  <a:t>given by</a:t>
                </a:r>
              </a:p>
              <a:p>
                <a:pPr marL="114300" indent="0">
                  <a:buNone/>
                </a:pPr>
                <a:endParaRPr lang="en-US" b="0" dirty="0"/>
              </a:p>
              <a:p>
                <a:pPr marL="114300" indent="0">
                  <a:buNone/>
                </a:pPr>
                <a:endParaRPr lang="en-US" b="0" dirty="0"/>
              </a:p>
              <a:p>
                <a:pPr marL="114300" indent="0">
                  <a:buNone/>
                </a:pPr>
                <a:endParaRPr lang="en-US" b="0" dirty="0"/>
              </a:p>
              <a:p>
                <a:pPr>
                  <a:buFont typeface="+mj-lt"/>
                  <a:buAutoNum type="arabicPeriod"/>
                </a:pPr>
                <a:endParaRPr lang="en-US" b="0" dirty="0"/>
              </a:p>
              <a:p>
                <a:pPr>
                  <a:buFont typeface="+mj-lt"/>
                  <a:buAutoNum type="arabicPeriod"/>
                </a:pPr>
                <a:endParaRPr lang="en-US" b="0" dirty="0"/>
              </a:p>
              <a:p>
                <a:pPr>
                  <a:buFont typeface="+mj-lt"/>
                  <a:buAutoNum type="arabicPeriod"/>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C5B55923-A917-03FA-ABFE-9B06FCD21B08}"/>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5" name="Picture 4" descr="A math equations on a white background&#10;&#10;AI-generated content may be incorrect.">
            <a:extLst>
              <a:ext uri="{FF2B5EF4-FFF2-40B4-BE49-F238E27FC236}">
                <a16:creationId xmlns:a16="http://schemas.microsoft.com/office/drawing/2014/main" id="{0A6B6723-725B-5C09-6D2C-A12972A2F4D9}"/>
              </a:ext>
            </a:extLst>
          </p:cNvPr>
          <p:cNvPicPr>
            <a:picLocks noChangeAspect="1"/>
          </p:cNvPicPr>
          <p:nvPr/>
        </p:nvPicPr>
        <p:blipFill>
          <a:blip r:embed="rId3"/>
          <a:stretch>
            <a:fillRect/>
          </a:stretch>
        </p:blipFill>
        <p:spPr>
          <a:xfrm>
            <a:off x="3199964" y="3106694"/>
            <a:ext cx="2744072" cy="663202"/>
          </a:xfrm>
          <a:prstGeom prst="rect">
            <a:avLst/>
          </a:prstGeom>
        </p:spPr>
      </p:pic>
    </p:spTree>
    <p:extLst>
      <p:ext uri="{BB962C8B-B14F-4D97-AF65-F5344CB8AC3E}">
        <p14:creationId xmlns:p14="http://schemas.microsoft.com/office/powerpoint/2010/main" val="28994708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746F3-9B56-F70B-ED19-ECCD28085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38C38F-9493-1A64-A1F8-658FC6635274}"/>
              </a:ext>
            </a:extLst>
          </p:cNvPr>
          <p:cNvSpPr>
            <a:spLocks noGrp="1"/>
          </p:cNvSpPr>
          <p:nvPr>
            <p:ph type="title"/>
          </p:nvPr>
        </p:nvSpPr>
        <p:spPr/>
        <p:txBody>
          <a:bodyPr>
            <a:normAutofit fontScale="90000"/>
          </a:bodyPr>
          <a:lstStyle/>
          <a:p>
            <a:r>
              <a:rPr lang="en-US" dirty="0"/>
              <a:t>Approximation for 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387E3F2-F46F-C118-6936-014943F5F619}"/>
                  </a:ext>
                </a:extLst>
              </p:cNvPr>
              <p:cNvSpPr>
                <a:spLocks noGrp="1"/>
              </p:cNvSpPr>
              <p:nvPr>
                <p:ph type="body" idx="1"/>
              </p:nvPr>
            </p:nvSpPr>
            <p:spPr/>
            <p:txBody>
              <a:bodyPr/>
              <a:lstStyle/>
              <a:p>
                <a:pPr marL="114300" indent="0">
                  <a:buNone/>
                </a:pPr>
                <a:r>
                  <a:rPr lang="en-US" dirty="0"/>
                  <a:t>Goal: Approximate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 × </m:t>
                    </m:r>
                    <m:r>
                      <a:rPr lang="en-US" b="0" i="1" smtClean="0">
                        <a:latin typeface="Cambria Math" panose="02040503050406030204" pitchFamily="18" charset="0"/>
                      </a:rPr>
                      <m:t>𝑛</m:t>
                    </m:r>
                  </m:oMath>
                </a14:m>
                <a:r>
                  <a:rPr lang="en-US" b="0" dirty="0"/>
                  <a:t> matrix </a:t>
                </a:r>
                <a14:m>
                  <m:oMath xmlns:m="http://schemas.openxmlformats.org/officeDocument/2006/math">
                    <m:r>
                      <a:rPr lang="en-US" b="0" i="1" smtClean="0">
                        <a:latin typeface="Cambria Math" panose="02040503050406030204" pitchFamily="18" charset="0"/>
                      </a:rPr>
                      <m:t>𝐴</m:t>
                    </m:r>
                  </m:oMath>
                </a14:m>
                <a:r>
                  <a:rPr lang="en-US" b="0" dirty="0"/>
                  <a:t> with rank-k matrix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oMath>
                </a14:m>
                <a:r>
                  <a:rPr lang="en-US" b="0" dirty="0"/>
                  <a:t> such that</a:t>
                </a:r>
              </a:p>
              <a:p>
                <a:pPr>
                  <a:buFont typeface="+mj-lt"/>
                  <a:buAutoNum type="arabicPeriod"/>
                </a:pP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𝐹</m:t>
                        </m:r>
                      </m:sub>
                    </m:sSub>
                    <m:d>
                      <m:dPr>
                        <m:ctrlPr>
                          <a:rPr lang="en-US" i="1">
                            <a:latin typeface="Cambria Math" panose="02040503050406030204" pitchFamily="18" charset="0"/>
                          </a:rPr>
                        </m:ctrlPr>
                      </m:dPr>
                      <m:e>
                        <m:r>
                          <a:rPr lang="en-US" i="1">
                            <a:latin typeface="Cambria Math" panose="02040503050406030204" pitchFamily="18" charset="0"/>
                          </a:rPr>
                          <m:t>𝐴</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𝐴</m:t>
                            </m:r>
                          </m:e>
                          <m:sup>
                            <m:d>
                              <m:dPr>
                                <m:ctrlPr>
                                  <a:rPr lang="en-US" i="1">
                                    <a:latin typeface="Cambria Math" panose="02040503050406030204" pitchFamily="18" charset="0"/>
                                  </a:rPr>
                                </m:ctrlPr>
                              </m:dPr>
                              <m:e>
                                <m:r>
                                  <a:rPr lang="en-US" i="1">
                                    <a:latin typeface="Cambria Math" panose="02040503050406030204" pitchFamily="18" charset="0"/>
                                  </a:rPr>
                                  <m:t>𝑘</m:t>
                                </m:r>
                              </m:e>
                            </m:d>
                          </m:sup>
                        </m:sSup>
                      </m:e>
                    </m:d>
                  </m:oMath>
                </a14:m>
                <a:r>
                  <a:rPr lang="en-US" dirty="0"/>
                  <a:t> small</a:t>
                </a:r>
              </a:p>
              <a:p>
                <a:pPr>
                  <a:buFont typeface="+mj-lt"/>
                  <a:buAutoNum type="arabicPeriod"/>
                </a:pPr>
                <a:r>
                  <a:rPr lang="en-US" b="0" dirty="0"/>
                  <a:t> </a:t>
                </a:r>
                <a14:m>
                  <m:oMath xmlns:m="http://schemas.openxmlformats.org/officeDocument/2006/math">
                    <m:r>
                      <a:rPr lang="en-US" b="0" i="1" smtClean="0">
                        <a:latin typeface="Cambria Math" panose="02040503050406030204" pitchFamily="18" charset="0"/>
                      </a:rPr>
                      <m:t>𝑘</m:t>
                    </m:r>
                  </m:oMath>
                </a14:m>
                <a:r>
                  <a:rPr lang="en-US" b="0" dirty="0"/>
                  <a:t> small compared to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 &amp; </m:t>
                    </m:r>
                    <m:r>
                      <a:rPr lang="en-US" b="0" i="1" smtClean="0">
                        <a:latin typeface="Cambria Math" panose="02040503050406030204" pitchFamily="18" charset="0"/>
                      </a:rPr>
                      <m:t>𝑛</m:t>
                    </m:r>
                  </m:oMath>
                </a14:m>
                <a:endParaRPr lang="en-US" b="0" dirty="0"/>
              </a:p>
              <a:p>
                <a:pPr marL="114300" indent="0">
                  <a:buNone/>
                </a:pPr>
                <a:endParaRPr lang="en-US" dirty="0"/>
              </a:p>
              <a:p>
                <a:pPr marL="114300" indent="0">
                  <a:buNone/>
                </a:pPr>
                <a:r>
                  <a:rPr lang="en-US" b="0" dirty="0"/>
                  <a:t>When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&lt;</m:t>
                    </m:r>
                    <m:r>
                      <a:rPr lang="en-US" b="0" i="1" smtClean="0">
                        <a:latin typeface="Cambria Math" panose="02040503050406030204" pitchFamily="18" charset="0"/>
                      </a:rPr>
                      <m:t>𝑟𝑎𝑛𝑘</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oMath>
                </a14:m>
                <a:r>
                  <a:rPr lang="en-US" b="0" dirty="0"/>
                  <a:t>, the rank </a:t>
                </a:r>
                <a14:m>
                  <m:oMath xmlns:m="http://schemas.openxmlformats.org/officeDocument/2006/math">
                    <m:r>
                      <a:rPr lang="en-US" b="0" i="1" smtClean="0">
                        <a:latin typeface="Cambria Math" panose="02040503050406030204" pitchFamily="18" charset="0"/>
                      </a:rPr>
                      <m:t>𝑘</m:t>
                    </m:r>
                  </m:oMath>
                </a14:m>
                <a:r>
                  <a:rPr lang="en-US" b="0" dirty="0"/>
                  <a:t> approximation of A is </a:t>
                </a:r>
                <a:r>
                  <a:rPr lang="en-US" dirty="0"/>
                  <a:t>given by</a:t>
                </a:r>
              </a:p>
              <a:p>
                <a:pPr marL="114300" indent="0">
                  <a:buNone/>
                </a:pPr>
                <a:endParaRPr lang="en-US" b="0" dirty="0"/>
              </a:p>
              <a:p>
                <a:pPr marL="114300" indent="0">
                  <a:buNone/>
                </a:pPr>
                <a:endParaRPr lang="en-US" b="0" dirty="0"/>
              </a:p>
              <a:p>
                <a:pPr marL="114300" indent="0">
                  <a:buNone/>
                </a:pPr>
                <a:endParaRPr lang="en-US" b="0" dirty="0"/>
              </a:p>
              <a:p>
                <a:pPr>
                  <a:buFont typeface="+mj-lt"/>
                  <a:buAutoNum type="arabicPeriod"/>
                </a:pPr>
                <a:endParaRPr lang="en-US" b="0" dirty="0"/>
              </a:p>
              <a:p>
                <a:pPr>
                  <a:buFont typeface="+mj-lt"/>
                  <a:buAutoNum type="arabicPeriod"/>
                </a:pPr>
                <a:endParaRPr lang="en-US" b="0" dirty="0"/>
              </a:p>
              <a:p>
                <a:pPr>
                  <a:buFont typeface="+mj-lt"/>
                  <a:buAutoNum type="arabicPeriod"/>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1387E3F2-F46F-C118-6936-014943F5F619}"/>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5" name="Picture 4" descr="A math equations on a white background&#10;&#10;AI-generated content may be incorrect.">
            <a:extLst>
              <a:ext uri="{FF2B5EF4-FFF2-40B4-BE49-F238E27FC236}">
                <a16:creationId xmlns:a16="http://schemas.microsoft.com/office/drawing/2014/main" id="{CB6B558A-2290-13C8-3E27-CB13667E36BE}"/>
              </a:ext>
            </a:extLst>
          </p:cNvPr>
          <p:cNvPicPr>
            <a:picLocks noChangeAspect="1"/>
          </p:cNvPicPr>
          <p:nvPr/>
        </p:nvPicPr>
        <p:blipFill>
          <a:blip r:embed="rId3"/>
          <a:stretch>
            <a:fillRect/>
          </a:stretch>
        </p:blipFill>
        <p:spPr>
          <a:xfrm>
            <a:off x="3199964" y="3106694"/>
            <a:ext cx="2744072" cy="663202"/>
          </a:xfrm>
          <a:prstGeom prst="rect">
            <a:avLst/>
          </a:prstGeom>
        </p:spPr>
      </p:pic>
      <p:sp>
        <p:nvSpPr>
          <p:cNvPr id="4" name="TextBox 3">
            <a:extLst>
              <a:ext uri="{FF2B5EF4-FFF2-40B4-BE49-F238E27FC236}">
                <a16:creationId xmlns:a16="http://schemas.microsoft.com/office/drawing/2014/main" id="{133F717E-3E13-35D1-D475-6A17A6154FE7}"/>
              </a:ext>
            </a:extLst>
          </p:cNvPr>
          <p:cNvSpPr txBox="1"/>
          <p:nvPr/>
        </p:nvSpPr>
        <p:spPr>
          <a:xfrm>
            <a:off x="4705350" y="3149600"/>
            <a:ext cx="342900" cy="342900"/>
          </a:xfrm>
          <a:prstGeom prst="rect">
            <a:avLst/>
          </a:prstGeom>
          <a:noFill/>
          <a:ln>
            <a:solidFill>
              <a:schemeClr val="accent1"/>
            </a:solidFill>
          </a:ln>
        </p:spPr>
        <p:txBody>
          <a:bodyPr wrap="square" rtlCol="0">
            <a:spAutoFit/>
          </a:bodyPr>
          <a:lstStyle/>
          <a:p>
            <a:endParaRPr lang="en-US" dirty="0"/>
          </a:p>
        </p:txBody>
      </p:sp>
      <p:cxnSp>
        <p:nvCxnSpPr>
          <p:cNvPr id="7" name="Straight Arrow Connector 6">
            <a:extLst>
              <a:ext uri="{FF2B5EF4-FFF2-40B4-BE49-F238E27FC236}">
                <a16:creationId xmlns:a16="http://schemas.microsoft.com/office/drawing/2014/main" id="{B443C969-33F2-756C-1F44-FFE09BC405AA}"/>
              </a:ext>
            </a:extLst>
          </p:cNvPr>
          <p:cNvCxnSpPr>
            <a:cxnSpLocks/>
          </p:cNvCxnSpPr>
          <p:nvPr/>
        </p:nvCxnSpPr>
        <p:spPr>
          <a:xfrm flipH="1" flipV="1">
            <a:off x="5048250" y="3543300"/>
            <a:ext cx="895786" cy="508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4BB50A1-A267-F983-F92A-CA84D332D2D2}"/>
              </a:ext>
            </a:extLst>
          </p:cNvPr>
          <p:cNvSpPr txBox="1"/>
          <p:nvPr/>
        </p:nvSpPr>
        <p:spPr>
          <a:xfrm>
            <a:off x="5944036" y="4051300"/>
            <a:ext cx="1848286" cy="307777"/>
          </a:xfrm>
          <a:prstGeom prst="rect">
            <a:avLst/>
          </a:prstGeom>
          <a:noFill/>
          <a:ln>
            <a:solidFill>
              <a:schemeClr val="accent1"/>
            </a:solidFill>
          </a:ln>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Frobenius distance</a:t>
            </a:r>
          </a:p>
        </p:txBody>
      </p:sp>
    </p:spTree>
    <p:extLst>
      <p:ext uri="{BB962C8B-B14F-4D97-AF65-F5344CB8AC3E}">
        <p14:creationId xmlns:p14="http://schemas.microsoft.com/office/powerpoint/2010/main" val="14482152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8E68F-6C91-C7B1-3A78-B2B140C6C5BA}"/>
              </a:ext>
            </a:extLst>
          </p:cNvPr>
          <p:cNvSpPr>
            <a:spLocks noGrp="1"/>
          </p:cNvSpPr>
          <p:nvPr>
            <p:ph type="title"/>
          </p:nvPr>
        </p:nvSpPr>
        <p:spPr/>
        <p:txBody>
          <a:bodyPr>
            <a:normAutofit fontScale="90000"/>
          </a:bodyPr>
          <a:lstStyle/>
          <a:p>
            <a:r>
              <a:rPr lang="en-US" dirty="0"/>
              <a:t>Rank-k approximation using SVD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EF53CA2-5207-09D1-3E3A-05AD6C0DBE7B}"/>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𝐴</m:t>
                      </m:r>
                      <m:r>
                        <a:rPr lang="en-US" i="1" smtClean="0">
                          <a:latin typeface="Cambria Math" panose="02040503050406030204" pitchFamily="18" charset="0"/>
                        </a:rPr>
                        <m:t>=</m:t>
                      </m:r>
                      <m:r>
                        <a:rPr lang="en-US" i="1" smtClean="0">
                          <a:latin typeface="Cambria Math" panose="02040503050406030204" pitchFamily="18" charset="0"/>
                        </a:rPr>
                        <m:t>𝑈</m:t>
                      </m:r>
                      <m:r>
                        <m:rPr>
                          <m:sty m:val="p"/>
                        </m:rPr>
                        <a:rPr lang="en-US">
                          <a:latin typeface="Cambria Math" panose="02040503050406030204" pitchFamily="18" charset="0"/>
                        </a:rPr>
                        <m:t>Σ</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𝑇</m:t>
                          </m:r>
                        </m:sup>
                      </m:sSup>
                      <m:r>
                        <a:rPr lang="en-US" i="1">
                          <a:latin typeface="Cambria Math" panose="02040503050406030204" pitchFamily="18" charset="0"/>
                        </a:rPr>
                        <m:t>,</m:t>
                      </m:r>
                      <m:r>
                        <a:rPr lang="en-US" i="1">
                          <a:latin typeface="Cambria Math" panose="02040503050406030204" pitchFamily="18" charset="0"/>
                        </a:rPr>
                        <m:t>𝑈</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𝑟</m:t>
                          </m:r>
                        </m:sup>
                      </m:sSup>
                      <m:r>
                        <a:rPr lang="en-US" i="1">
                          <a:latin typeface="Cambria Math" panose="02040503050406030204" pitchFamily="18" charset="0"/>
                        </a:rPr>
                        <m:t>,</m:t>
                      </m:r>
                      <m:r>
                        <m:rPr>
                          <m:sty m:val="p"/>
                        </m:rPr>
                        <a:rPr lang="en-US">
                          <a:latin typeface="Cambria Math" panose="02040503050406030204" pitchFamily="18" charset="0"/>
                        </a:rPr>
                        <m:t>Σ</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𝑟</m:t>
                          </m:r>
                        </m:sup>
                      </m:sSup>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𝑟</m:t>
                          </m:r>
                        </m:sup>
                      </m:sSup>
                    </m:oMath>
                  </m:oMathPara>
                </a14:m>
                <a:endParaRPr lang="en-US" dirty="0"/>
              </a:p>
              <a:p>
                <a:pPr marL="114300" indent="0">
                  <a:buNone/>
                </a:pPr>
                <a:r>
                  <a:rPr lang="en-US" dirty="0"/>
                  <a:t>To get a rank-</a:t>
                </a:r>
                <a14:m>
                  <m:oMath xmlns:m="http://schemas.openxmlformats.org/officeDocument/2006/math">
                    <m:r>
                      <a:rPr lang="en-US" b="0" i="1" smtClean="0">
                        <a:latin typeface="Cambria Math" panose="02040503050406030204" pitchFamily="18" charset="0"/>
                      </a:rPr>
                      <m:t>𝑘</m:t>
                    </m:r>
                  </m:oMath>
                </a14:m>
                <a:r>
                  <a:rPr lang="en-US" b="0" dirty="0"/>
                  <a:t> approximation of </a:t>
                </a:r>
                <a14:m>
                  <m:oMath xmlns:m="http://schemas.openxmlformats.org/officeDocument/2006/math">
                    <m:r>
                      <a:rPr lang="en-US" b="0" i="1" smtClean="0">
                        <a:latin typeface="Cambria Math" panose="02040503050406030204" pitchFamily="18" charset="0"/>
                      </a:rPr>
                      <m:t>𝐴</m:t>
                    </m:r>
                  </m:oMath>
                </a14:m>
                <a:r>
                  <a:rPr lang="en-US" b="0" dirty="0"/>
                  <a:t> (</a:t>
                </a:r>
                <a14:m>
                  <m:oMath xmlns:m="http://schemas.openxmlformats.org/officeDocument/2006/math">
                    <m:r>
                      <a:rPr lang="en-US" b="0" i="1" dirty="0" smtClean="0">
                        <a:latin typeface="Cambria Math" panose="02040503050406030204" pitchFamily="18" charset="0"/>
                      </a:rPr>
                      <m:t>𝑘</m:t>
                    </m:r>
                    <m:r>
                      <a:rPr lang="en-US" b="0" i="1" dirty="0" smtClean="0">
                        <a:latin typeface="Cambria Math" panose="02040503050406030204" pitchFamily="18" charset="0"/>
                      </a:rPr>
                      <m:t> &lt; </m:t>
                    </m:r>
                    <m:r>
                      <a:rPr lang="en-US" b="0" i="1" dirty="0" smtClean="0">
                        <a:latin typeface="Cambria Math" panose="02040503050406030204" pitchFamily="18" charset="0"/>
                      </a:rPr>
                      <m:t>𝑟</m:t>
                    </m:r>
                  </m:oMath>
                </a14:m>
                <a:r>
                  <a:rPr lang="en-US" b="0" dirty="0"/>
                  <a:t>) using the SVD decomposition, we compute the following</a:t>
                </a:r>
                <a:endParaRPr lang="en-US" dirty="0"/>
              </a:p>
              <a:p>
                <a:pPr marL="11430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sup>
                      </m:sSup>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1</m:t>
                          </m:r>
                        </m:sub>
                      </m:sSub>
                      <m:sSub>
                        <m:sSubPr>
                          <m:ctrlPr>
                            <a:rPr lang="en-US" b="1" i="1" smtClean="0">
                              <a:latin typeface="Cambria Math" panose="02040503050406030204" pitchFamily="18" charset="0"/>
                            </a:rPr>
                          </m:ctrlPr>
                        </m:sSubPr>
                        <m:e>
                          <m:r>
                            <a:rPr lang="en-US" b="1" i="1" smtClean="0">
                              <a:latin typeface="Cambria Math" panose="02040503050406030204" pitchFamily="18" charset="0"/>
                            </a:rPr>
                            <m:t>𝒖</m:t>
                          </m:r>
                        </m:e>
                        <m:sub>
                          <m:r>
                            <a:rPr lang="en-US" b="1" i="1" smtClean="0">
                              <a:latin typeface="Cambria Math" panose="02040503050406030204" pitchFamily="18" charset="0"/>
                            </a:rPr>
                            <m:t>𝟏</m:t>
                          </m:r>
                        </m:sub>
                      </m:sSub>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𝒗</m:t>
                          </m:r>
                        </m:e>
                        <m:sub>
                          <m:r>
                            <a:rPr lang="en-US" b="1" i="1" smtClean="0">
                              <a:latin typeface="Cambria Math" panose="02040503050406030204" pitchFamily="18" charset="0"/>
                            </a:rPr>
                            <m:t>𝟏</m:t>
                          </m:r>
                        </m:sub>
                        <m:sup>
                          <m:r>
                            <a:rPr lang="en-US" b="0" i="1" smtClean="0">
                              <a:latin typeface="Cambria Math" panose="02040503050406030204" pitchFamily="18" charset="0"/>
                            </a:rPr>
                            <m:t>𝑇</m:t>
                          </m:r>
                        </m:sup>
                      </m:sSubSup>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b="0" i="1" smtClean="0">
                              <a:latin typeface="Cambria Math" panose="02040503050406030204" pitchFamily="18" charset="0"/>
                            </a:rPr>
                            <m:t>2</m:t>
                          </m:r>
                        </m:sub>
                      </m:sSub>
                      <m:sSub>
                        <m:sSubPr>
                          <m:ctrlPr>
                            <a:rPr lang="en-US" b="1" i="1">
                              <a:latin typeface="Cambria Math" panose="02040503050406030204" pitchFamily="18" charset="0"/>
                            </a:rPr>
                          </m:ctrlPr>
                        </m:sSubPr>
                        <m:e>
                          <m:r>
                            <a:rPr lang="en-US" b="1" i="1">
                              <a:latin typeface="Cambria Math" panose="02040503050406030204" pitchFamily="18" charset="0"/>
                            </a:rPr>
                            <m:t>𝒖</m:t>
                          </m:r>
                        </m:e>
                        <m:sub>
                          <m:r>
                            <a:rPr lang="en-US" b="1" i="1" smtClean="0">
                              <a:latin typeface="Cambria Math" panose="02040503050406030204" pitchFamily="18" charset="0"/>
                            </a:rPr>
                            <m:t>𝟐</m:t>
                          </m:r>
                        </m:sub>
                      </m:sSub>
                      <m:sSubSup>
                        <m:sSubSupPr>
                          <m:ctrlPr>
                            <a:rPr lang="en-US" i="1">
                              <a:latin typeface="Cambria Math" panose="02040503050406030204" pitchFamily="18" charset="0"/>
                            </a:rPr>
                          </m:ctrlPr>
                        </m:sSubSupPr>
                        <m:e>
                          <m:r>
                            <a:rPr lang="en-US" b="1" i="1">
                              <a:latin typeface="Cambria Math" panose="02040503050406030204" pitchFamily="18" charset="0"/>
                            </a:rPr>
                            <m:t>𝒗</m:t>
                          </m:r>
                        </m:e>
                        <m:sub>
                          <m:r>
                            <a:rPr lang="en-US" b="1" i="1" smtClean="0">
                              <a:latin typeface="Cambria Math" panose="02040503050406030204" pitchFamily="18" charset="0"/>
                            </a:rPr>
                            <m:t>𝟐</m:t>
                          </m:r>
                        </m:sub>
                        <m:sup>
                          <m:r>
                            <a:rPr lang="en-US" i="1">
                              <a:latin typeface="Cambria Math" panose="02040503050406030204" pitchFamily="18" charset="0"/>
                            </a:rPr>
                            <m:t>𝑇</m:t>
                          </m:r>
                        </m:sup>
                      </m:sSubSup>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b="0" i="1" smtClean="0">
                              <a:latin typeface="Cambria Math" panose="02040503050406030204" pitchFamily="18" charset="0"/>
                            </a:rPr>
                            <m:t>𝑘</m:t>
                          </m:r>
                        </m:sub>
                      </m:sSub>
                      <m:sSub>
                        <m:sSubPr>
                          <m:ctrlPr>
                            <a:rPr lang="en-US" b="1" i="1">
                              <a:latin typeface="Cambria Math" panose="02040503050406030204" pitchFamily="18" charset="0"/>
                            </a:rPr>
                          </m:ctrlPr>
                        </m:sSubPr>
                        <m:e>
                          <m:r>
                            <a:rPr lang="en-US" b="1" i="1">
                              <a:latin typeface="Cambria Math" panose="02040503050406030204" pitchFamily="18" charset="0"/>
                            </a:rPr>
                            <m:t>𝒖</m:t>
                          </m:r>
                        </m:e>
                        <m:sub>
                          <m:r>
                            <a:rPr lang="en-US" b="1" i="1" smtClean="0">
                              <a:latin typeface="Cambria Math" panose="02040503050406030204" pitchFamily="18" charset="0"/>
                            </a:rPr>
                            <m:t>𝒌</m:t>
                          </m:r>
                        </m:sub>
                      </m:sSub>
                      <m:sSubSup>
                        <m:sSubSupPr>
                          <m:ctrlPr>
                            <a:rPr lang="en-US" i="1">
                              <a:latin typeface="Cambria Math" panose="02040503050406030204" pitchFamily="18" charset="0"/>
                            </a:rPr>
                          </m:ctrlPr>
                        </m:sSubSupPr>
                        <m:e>
                          <m:r>
                            <a:rPr lang="en-US" b="1" i="1">
                              <a:latin typeface="Cambria Math" panose="02040503050406030204" pitchFamily="18" charset="0"/>
                            </a:rPr>
                            <m:t>𝒗</m:t>
                          </m:r>
                        </m:e>
                        <m:sub>
                          <m:r>
                            <a:rPr lang="en-US" b="1" i="1" smtClean="0">
                              <a:latin typeface="Cambria Math" panose="02040503050406030204" pitchFamily="18" charset="0"/>
                            </a:rPr>
                            <m:t>𝒌</m:t>
                          </m:r>
                        </m:sub>
                        <m:sup>
                          <m:r>
                            <a:rPr lang="en-US" i="1">
                              <a:latin typeface="Cambria Math" panose="02040503050406030204" pitchFamily="18" charset="0"/>
                            </a:rPr>
                            <m:t>𝑇</m:t>
                          </m:r>
                        </m:sup>
                      </m:sSubSup>
                    </m:oMath>
                  </m:oMathPara>
                </a14:m>
                <a:endParaRPr lang="en-US"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4EF53CA2-5207-09D1-3E3A-05AD6C0DBE7B}"/>
                  </a:ext>
                </a:extLst>
              </p:cNvPr>
              <p:cNvSpPr>
                <a:spLocks noGrp="1" noRot="1" noChangeAspect="1" noMove="1" noResize="1" noEditPoints="1" noAdjustHandles="1" noChangeArrowheads="1" noChangeShapeType="1" noTextEdit="1"/>
              </p:cNvSpPr>
              <p:nvPr>
                <p:ph type="body" idx="1"/>
              </p:nvPr>
            </p:nvSpPr>
            <p:spPr>
              <a:blipFill>
                <a:blip r:embed="rId2"/>
                <a:stretch>
                  <a:fillRect r="-149"/>
                </a:stretch>
              </a:blipFill>
            </p:spPr>
            <p:txBody>
              <a:bodyPr/>
              <a:lstStyle/>
              <a:p>
                <a:r>
                  <a:rPr lang="en-US">
                    <a:noFill/>
                  </a:rPr>
                  <a:t> </a:t>
                </a:r>
              </a:p>
            </p:txBody>
          </p:sp>
        </mc:Fallback>
      </mc:AlternateContent>
    </p:spTree>
    <p:extLst>
      <p:ext uri="{BB962C8B-B14F-4D97-AF65-F5344CB8AC3E}">
        <p14:creationId xmlns:p14="http://schemas.microsoft.com/office/powerpoint/2010/main" val="37279575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8248E-0785-94E4-19FD-756EBBB798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4D54DE-F263-BE62-3D55-7DD9B070D886}"/>
              </a:ext>
            </a:extLst>
          </p:cNvPr>
          <p:cNvSpPr>
            <a:spLocks noGrp="1"/>
          </p:cNvSpPr>
          <p:nvPr>
            <p:ph type="title"/>
          </p:nvPr>
        </p:nvSpPr>
        <p:spPr/>
        <p:txBody>
          <a:bodyPr>
            <a:normAutofit fontScale="90000"/>
          </a:bodyPr>
          <a:lstStyle/>
          <a:p>
            <a:r>
              <a:rPr lang="en-US" dirty="0"/>
              <a:t>Rank-k approximation using SVD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7510D0D-16FC-11F1-993E-27AD2EAD6A54}"/>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𝐴</m:t>
                      </m:r>
                      <m:r>
                        <a:rPr lang="en-US" i="1" smtClean="0">
                          <a:latin typeface="Cambria Math" panose="02040503050406030204" pitchFamily="18" charset="0"/>
                        </a:rPr>
                        <m:t>=</m:t>
                      </m:r>
                      <m:r>
                        <a:rPr lang="en-US" i="1" smtClean="0">
                          <a:latin typeface="Cambria Math" panose="02040503050406030204" pitchFamily="18" charset="0"/>
                        </a:rPr>
                        <m:t>𝑈</m:t>
                      </m:r>
                      <m:r>
                        <m:rPr>
                          <m:sty m:val="p"/>
                        </m:rPr>
                        <a:rPr lang="en-US">
                          <a:latin typeface="Cambria Math" panose="02040503050406030204" pitchFamily="18" charset="0"/>
                        </a:rPr>
                        <m:t>Σ</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𝑇</m:t>
                          </m:r>
                        </m:sup>
                      </m:sSup>
                      <m:r>
                        <a:rPr lang="en-US" i="1">
                          <a:latin typeface="Cambria Math" panose="02040503050406030204" pitchFamily="18" charset="0"/>
                        </a:rPr>
                        <m:t>,</m:t>
                      </m:r>
                      <m:r>
                        <a:rPr lang="en-US" i="1">
                          <a:latin typeface="Cambria Math" panose="02040503050406030204" pitchFamily="18" charset="0"/>
                        </a:rPr>
                        <m:t>𝑈</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𝑟</m:t>
                          </m:r>
                        </m:sup>
                      </m:sSup>
                      <m:r>
                        <a:rPr lang="en-US" i="1">
                          <a:latin typeface="Cambria Math" panose="02040503050406030204" pitchFamily="18" charset="0"/>
                        </a:rPr>
                        <m:t>,</m:t>
                      </m:r>
                      <m:r>
                        <m:rPr>
                          <m:sty m:val="p"/>
                        </m:rPr>
                        <a:rPr lang="en-US">
                          <a:latin typeface="Cambria Math" panose="02040503050406030204" pitchFamily="18" charset="0"/>
                        </a:rPr>
                        <m:t>Σ</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𝑟</m:t>
                          </m:r>
                        </m:sup>
                      </m:sSup>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𝑟</m:t>
                          </m:r>
                        </m:sup>
                      </m:sSup>
                    </m:oMath>
                  </m:oMathPara>
                </a14:m>
                <a:endParaRPr lang="en-US" dirty="0"/>
              </a:p>
              <a:p>
                <a:pPr marL="114300" indent="0">
                  <a:buNone/>
                </a:pPr>
                <a:r>
                  <a:rPr lang="en-US" dirty="0"/>
                  <a:t>To get a rank-</a:t>
                </a:r>
                <a14:m>
                  <m:oMath xmlns:m="http://schemas.openxmlformats.org/officeDocument/2006/math">
                    <m:r>
                      <a:rPr lang="en-US" b="0" i="1" smtClean="0">
                        <a:latin typeface="Cambria Math" panose="02040503050406030204" pitchFamily="18" charset="0"/>
                      </a:rPr>
                      <m:t>𝑘</m:t>
                    </m:r>
                  </m:oMath>
                </a14:m>
                <a:r>
                  <a:rPr lang="en-US" b="0" dirty="0"/>
                  <a:t> approximation of </a:t>
                </a:r>
                <a14:m>
                  <m:oMath xmlns:m="http://schemas.openxmlformats.org/officeDocument/2006/math">
                    <m:r>
                      <a:rPr lang="en-US" b="0" i="1" smtClean="0">
                        <a:latin typeface="Cambria Math" panose="02040503050406030204" pitchFamily="18" charset="0"/>
                      </a:rPr>
                      <m:t>𝐴</m:t>
                    </m:r>
                  </m:oMath>
                </a14:m>
                <a:r>
                  <a:rPr lang="en-US" b="0" dirty="0"/>
                  <a:t> (</a:t>
                </a:r>
                <a14:m>
                  <m:oMath xmlns:m="http://schemas.openxmlformats.org/officeDocument/2006/math">
                    <m:r>
                      <a:rPr lang="en-US" b="0" i="1" dirty="0" smtClean="0">
                        <a:latin typeface="Cambria Math" panose="02040503050406030204" pitchFamily="18" charset="0"/>
                      </a:rPr>
                      <m:t>𝑘</m:t>
                    </m:r>
                    <m:r>
                      <a:rPr lang="en-US" b="0" i="1" dirty="0" smtClean="0">
                        <a:latin typeface="Cambria Math" panose="02040503050406030204" pitchFamily="18" charset="0"/>
                      </a:rPr>
                      <m:t> &lt; </m:t>
                    </m:r>
                    <m:r>
                      <a:rPr lang="en-US" b="0" i="1" dirty="0" smtClean="0">
                        <a:latin typeface="Cambria Math" panose="02040503050406030204" pitchFamily="18" charset="0"/>
                      </a:rPr>
                      <m:t>𝑟</m:t>
                    </m:r>
                  </m:oMath>
                </a14:m>
                <a:r>
                  <a:rPr lang="en-US" b="0" dirty="0"/>
                  <a:t>) using the SVD decomposition, we compute the following</a:t>
                </a:r>
                <a:endParaRPr lang="en-US" dirty="0"/>
              </a:p>
              <a:p>
                <a:pPr marL="11430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sup>
                      </m:sSup>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1</m:t>
                          </m:r>
                        </m:sub>
                      </m:sSub>
                      <m:sSub>
                        <m:sSubPr>
                          <m:ctrlPr>
                            <a:rPr lang="en-US" b="1" i="1" smtClean="0">
                              <a:latin typeface="Cambria Math" panose="02040503050406030204" pitchFamily="18" charset="0"/>
                            </a:rPr>
                          </m:ctrlPr>
                        </m:sSubPr>
                        <m:e>
                          <m:r>
                            <a:rPr lang="en-US" b="1" i="1" smtClean="0">
                              <a:latin typeface="Cambria Math" panose="02040503050406030204" pitchFamily="18" charset="0"/>
                            </a:rPr>
                            <m:t>𝒖</m:t>
                          </m:r>
                        </m:e>
                        <m:sub>
                          <m:r>
                            <a:rPr lang="en-US" b="1" i="1" smtClean="0">
                              <a:latin typeface="Cambria Math" panose="02040503050406030204" pitchFamily="18" charset="0"/>
                            </a:rPr>
                            <m:t>𝟏</m:t>
                          </m:r>
                        </m:sub>
                      </m:sSub>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𝒗</m:t>
                          </m:r>
                        </m:e>
                        <m:sub>
                          <m:r>
                            <a:rPr lang="en-US" b="1" i="1" smtClean="0">
                              <a:latin typeface="Cambria Math" panose="02040503050406030204" pitchFamily="18" charset="0"/>
                            </a:rPr>
                            <m:t>𝟏</m:t>
                          </m:r>
                        </m:sub>
                        <m:sup>
                          <m:r>
                            <a:rPr lang="en-US" b="0" i="1" smtClean="0">
                              <a:latin typeface="Cambria Math" panose="02040503050406030204" pitchFamily="18" charset="0"/>
                            </a:rPr>
                            <m:t>𝑇</m:t>
                          </m:r>
                        </m:sup>
                      </m:sSubSup>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b="0" i="1" smtClean="0">
                              <a:latin typeface="Cambria Math" panose="02040503050406030204" pitchFamily="18" charset="0"/>
                            </a:rPr>
                            <m:t>2</m:t>
                          </m:r>
                        </m:sub>
                      </m:sSub>
                      <m:sSub>
                        <m:sSubPr>
                          <m:ctrlPr>
                            <a:rPr lang="en-US" b="1" i="1">
                              <a:latin typeface="Cambria Math" panose="02040503050406030204" pitchFamily="18" charset="0"/>
                            </a:rPr>
                          </m:ctrlPr>
                        </m:sSubPr>
                        <m:e>
                          <m:r>
                            <a:rPr lang="en-US" b="1" i="1">
                              <a:latin typeface="Cambria Math" panose="02040503050406030204" pitchFamily="18" charset="0"/>
                            </a:rPr>
                            <m:t>𝒖</m:t>
                          </m:r>
                        </m:e>
                        <m:sub>
                          <m:r>
                            <a:rPr lang="en-US" b="1" i="1" smtClean="0">
                              <a:latin typeface="Cambria Math" panose="02040503050406030204" pitchFamily="18" charset="0"/>
                            </a:rPr>
                            <m:t>𝟐</m:t>
                          </m:r>
                        </m:sub>
                      </m:sSub>
                      <m:sSubSup>
                        <m:sSubSupPr>
                          <m:ctrlPr>
                            <a:rPr lang="en-US" i="1">
                              <a:latin typeface="Cambria Math" panose="02040503050406030204" pitchFamily="18" charset="0"/>
                            </a:rPr>
                          </m:ctrlPr>
                        </m:sSubSupPr>
                        <m:e>
                          <m:r>
                            <a:rPr lang="en-US" b="1" i="1">
                              <a:latin typeface="Cambria Math" panose="02040503050406030204" pitchFamily="18" charset="0"/>
                            </a:rPr>
                            <m:t>𝒗</m:t>
                          </m:r>
                        </m:e>
                        <m:sub>
                          <m:r>
                            <a:rPr lang="en-US" b="1" i="1" smtClean="0">
                              <a:latin typeface="Cambria Math" panose="02040503050406030204" pitchFamily="18" charset="0"/>
                            </a:rPr>
                            <m:t>𝟐</m:t>
                          </m:r>
                        </m:sub>
                        <m:sup>
                          <m:r>
                            <a:rPr lang="en-US" i="1">
                              <a:latin typeface="Cambria Math" panose="02040503050406030204" pitchFamily="18" charset="0"/>
                            </a:rPr>
                            <m:t>𝑇</m:t>
                          </m:r>
                        </m:sup>
                      </m:sSubSup>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b="0" i="1" smtClean="0">
                              <a:latin typeface="Cambria Math" panose="02040503050406030204" pitchFamily="18" charset="0"/>
                            </a:rPr>
                            <m:t>𝑘</m:t>
                          </m:r>
                        </m:sub>
                      </m:sSub>
                      <m:sSub>
                        <m:sSubPr>
                          <m:ctrlPr>
                            <a:rPr lang="en-US" b="1" i="1">
                              <a:latin typeface="Cambria Math" panose="02040503050406030204" pitchFamily="18" charset="0"/>
                            </a:rPr>
                          </m:ctrlPr>
                        </m:sSubPr>
                        <m:e>
                          <m:r>
                            <a:rPr lang="en-US" b="1" i="1">
                              <a:latin typeface="Cambria Math" panose="02040503050406030204" pitchFamily="18" charset="0"/>
                            </a:rPr>
                            <m:t>𝒖</m:t>
                          </m:r>
                        </m:e>
                        <m:sub>
                          <m:r>
                            <a:rPr lang="en-US" b="1" i="1" smtClean="0">
                              <a:latin typeface="Cambria Math" panose="02040503050406030204" pitchFamily="18" charset="0"/>
                            </a:rPr>
                            <m:t>𝒌</m:t>
                          </m:r>
                        </m:sub>
                      </m:sSub>
                      <m:sSubSup>
                        <m:sSubSupPr>
                          <m:ctrlPr>
                            <a:rPr lang="en-US" i="1">
                              <a:latin typeface="Cambria Math" panose="02040503050406030204" pitchFamily="18" charset="0"/>
                            </a:rPr>
                          </m:ctrlPr>
                        </m:sSubSupPr>
                        <m:e>
                          <m:r>
                            <a:rPr lang="en-US" b="1" i="1">
                              <a:latin typeface="Cambria Math" panose="02040503050406030204" pitchFamily="18" charset="0"/>
                            </a:rPr>
                            <m:t>𝒗</m:t>
                          </m:r>
                        </m:e>
                        <m:sub>
                          <m:r>
                            <a:rPr lang="en-US" b="1" i="1" smtClean="0">
                              <a:latin typeface="Cambria Math" panose="02040503050406030204" pitchFamily="18" charset="0"/>
                            </a:rPr>
                            <m:t>𝒌</m:t>
                          </m:r>
                        </m:sub>
                        <m:sup>
                          <m:r>
                            <a:rPr lang="en-US" i="1">
                              <a:latin typeface="Cambria Math" panose="02040503050406030204" pitchFamily="18" charset="0"/>
                            </a:rPr>
                            <m:t>𝑇</m:t>
                          </m:r>
                        </m:sup>
                      </m:sSubSup>
                    </m:oMath>
                  </m:oMathPara>
                </a14:m>
                <a:endParaRPr lang="en-US" dirty="0"/>
              </a:p>
              <a:p>
                <a:pPr marL="114300" indent="0">
                  <a:buNone/>
                </a:pPr>
                <a:endParaRPr lang="en-US" dirty="0"/>
              </a:p>
              <a:p>
                <a:pPr marL="114300" indent="0">
                  <a:buNone/>
                </a:pPr>
                <a:r>
                  <a:rPr lang="en-US" dirty="0"/>
                  <a:t>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𝑘</m:t>
                        </m:r>
                      </m:sub>
                    </m:sSub>
                  </m:oMath>
                </a14:m>
                <a:r>
                  <a:rPr lang="en-US" b="0" dirty="0"/>
                  <a:t> is the </a:t>
                </a:r>
                <a14:m>
                  <m:oMath xmlns:m="http://schemas.openxmlformats.org/officeDocument/2006/math">
                    <m:r>
                      <a:rPr lang="en-US" b="0" i="1" smtClean="0">
                        <a:latin typeface="Cambria Math" panose="02040503050406030204" pitchFamily="18" charset="0"/>
                      </a:rPr>
                      <m:t>𝑘</m:t>
                    </m:r>
                  </m:oMath>
                </a14:m>
                <a:r>
                  <a:rPr lang="en-US" b="0" dirty="0" err="1"/>
                  <a:t>th</a:t>
                </a:r>
                <a:r>
                  <a:rPr lang="en-US" b="0" dirty="0"/>
                  <a:t> column of </a:t>
                </a:r>
                <a14:m>
                  <m:oMath xmlns:m="http://schemas.openxmlformats.org/officeDocument/2006/math">
                    <m:r>
                      <a:rPr lang="en-US" b="0" i="1" smtClean="0">
                        <a:latin typeface="Cambria Math" panose="02040503050406030204" pitchFamily="18" charset="0"/>
                      </a:rPr>
                      <m:t>𝑈</m:t>
                    </m:r>
                  </m:oMath>
                </a14:m>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𝑘</m:t>
                        </m:r>
                      </m:sub>
                    </m:sSub>
                  </m:oMath>
                </a14:m>
                <a:r>
                  <a:rPr lang="en-US" b="0" dirty="0"/>
                  <a:t> is the </a:t>
                </a:r>
                <a14:m>
                  <m:oMath xmlns:m="http://schemas.openxmlformats.org/officeDocument/2006/math">
                    <m:r>
                      <a:rPr lang="en-US" b="0" i="1" smtClean="0">
                        <a:latin typeface="Cambria Math" panose="02040503050406030204" pitchFamily="18" charset="0"/>
                      </a:rPr>
                      <m:t>𝑘</m:t>
                    </m:r>
                  </m:oMath>
                </a14:m>
                <a:r>
                  <a:rPr lang="en-US" b="0" dirty="0" err="1"/>
                  <a:t>th</a:t>
                </a:r>
                <a:r>
                  <a:rPr lang="en-US" b="0" dirty="0"/>
                  <a:t> singular value, and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a14:m>
                <a:r>
                  <a:rPr lang="en-US" b="0" dirty="0"/>
                  <a:t> is the transpose of the </a:t>
                </a:r>
                <a14:m>
                  <m:oMath xmlns:m="http://schemas.openxmlformats.org/officeDocument/2006/math">
                    <m:r>
                      <a:rPr lang="en-US" b="0" i="1" smtClean="0">
                        <a:latin typeface="Cambria Math" panose="02040503050406030204" pitchFamily="18" charset="0"/>
                      </a:rPr>
                      <m:t>𝑘</m:t>
                    </m:r>
                  </m:oMath>
                </a14:m>
                <a:r>
                  <a:rPr lang="en-US" b="0" dirty="0" err="1"/>
                  <a:t>th</a:t>
                </a:r>
                <a:r>
                  <a:rPr lang="en-US" b="0" dirty="0"/>
                  <a:t> column of </a:t>
                </a:r>
                <a14:m>
                  <m:oMath xmlns:m="http://schemas.openxmlformats.org/officeDocument/2006/math">
                    <m:r>
                      <a:rPr lang="en-US" b="0" i="1" smtClean="0">
                        <a:latin typeface="Cambria Math" panose="02040503050406030204" pitchFamily="18" charset="0"/>
                      </a:rPr>
                      <m:t>𝑉</m:t>
                    </m:r>
                  </m:oMath>
                </a14:m>
                <a:r>
                  <a:rPr lang="en-US" b="0" dirty="0"/>
                  <a:t> </a:t>
                </a:r>
              </a:p>
              <a:p>
                <a:pPr marL="114300" indent="0">
                  <a:buNone/>
                </a:pPr>
                <a:r>
                  <a:rPr lang="en-US" b="0" dirty="0"/>
                  <a:t> </a:t>
                </a:r>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77510D0D-16FC-11F1-993E-27AD2EAD6A54}"/>
                  </a:ext>
                </a:extLst>
              </p:cNvPr>
              <p:cNvSpPr>
                <a:spLocks noGrp="1" noRot="1" noChangeAspect="1" noMove="1" noResize="1" noEditPoints="1" noAdjustHandles="1" noChangeArrowheads="1" noChangeShapeType="1" noTextEdit="1"/>
              </p:cNvSpPr>
              <p:nvPr>
                <p:ph type="body" idx="1"/>
              </p:nvPr>
            </p:nvSpPr>
            <p:spPr>
              <a:blipFill>
                <a:blip r:embed="rId2"/>
                <a:stretch>
                  <a:fillRect r="-149"/>
                </a:stretch>
              </a:blipFill>
            </p:spPr>
            <p:txBody>
              <a:bodyPr/>
              <a:lstStyle/>
              <a:p>
                <a:r>
                  <a:rPr lang="en-US">
                    <a:noFill/>
                  </a:rPr>
                  <a:t> </a:t>
                </a:r>
              </a:p>
            </p:txBody>
          </p:sp>
        </mc:Fallback>
      </mc:AlternateContent>
    </p:spTree>
    <p:extLst>
      <p:ext uri="{BB962C8B-B14F-4D97-AF65-F5344CB8AC3E}">
        <p14:creationId xmlns:p14="http://schemas.microsoft.com/office/powerpoint/2010/main" val="35441247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05DCC5-5E1B-05E0-190B-C4EFFA92DBBA}"/>
              </a:ext>
            </a:extLst>
          </p:cNvPr>
          <p:cNvSpPr/>
          <p:nvPr>
            <p:custDataLst>
              <p:tags r:id="rId2"/>
            </p:custDataLst>
          </p:nvPr>
        </p:nvSpPr>
        <p:spPr>
          <a:xfrm>
            <a:off x="333520" y="1307028"/>
            <a:ext cx="1778772" cy="1778772"/>
          </a:xfrm>
          <a:prstGeom prst="rect">
            <a:avLst/>
          </a:prstGeom>
          <a:blipFill>
            <a:blip>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926EF39-3034-6F5F-D008-7DACA21E4174}"/>
              </a:ext>
            </a:extLst>
          </p:cNvPr>
          <p:cNvSpPr/>
          <p:nvPr>
            <p:custDataLst>
              <p:tags r:id="rId3"/>
            </p:custDataLst>
          </p:nvPr>
        </p:nvSpPr>
        <p:spPr>
          <a:xfrm>
            <a:off x="2334638" y="750673"/>
            <a:ext cx="6364669" cy="2891481"/>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300" b="1">
                <a:solidFill>
                  <a:srgbClr val="000000"/>
                </a:solidFill>
              </a:rPr>
              <a:t>As k increases, the frobenius distance between a matrix and its rank-k approximation decreases</a:t>
            </a:r>
          </a:p>
        </p:txBody>
      </p:sp>
      <p:sp>
        <p:nvSpPr>
          <p:cNvPr id="4" name="Rectangle 3">
            <a:extLst>
              <a:ext uri="{FF2B5EF4-FFF2-40B4-BE49-F238E27FC236}">
                <a16:creationId xmlns:a16="http://schemas.microsoft.com/office/drawing/2014/main" id="{615EB5D0-6CD2-4687-73C1-74E7C560642C}"/>
              </a:ext>
            </a:extLst>
          </p:cNvPr>
          <p:cNvSpPr/>
          <p:nvPr/>
        </p:nvSpPr>
        <p:spPr>
          <a:xfrm>
            <a:off x="0" y="4365024"/>
            <a:ext cx="9144000" cy="778476"/>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55866" tIns="194619" rIns="1389666" bIns="152915" rtlCol="0" anchor="ctr">
            <a:normAutofit fontScale="62500" lnSpcReduction="200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980D6638-D528-3133-FD39-F9EB6FC854D3}"/>
              </a:ext>
            </a:extLst>
          </p:cNvPr>
          <p:cNvPicPr>
            <a:picLocks/>
          </p:cNvPicPr>
          <p:nvPr/>
        </p:nvPicPr>
        <p:blipFill>
          <a:blip>
            <a:extLst>
              <a:ext uri="{96DAC541-7B7A-43D3-8B79-37D633B846F1}">
                <asvg:svgBlip xmlns:asvg="http://schemas.microsoft.com/office/drawing/2016/SVG/main" r:embed="rId8"/>
              </a:ext>
            </a:extLst>
          </a:blip>
          <a:stretch>
            <a:fillRect/>
          </a:stretch>
        </p:blipFill>
        <p:spPr>
          <a:xfrm>
            <a:off x="222347" y="4643089"/>
            <a:ext cx="222347" cy="222347"/>
          </a:xfrm>
          <a:prstGeom prst="rect">
            <a:avLst/>
          </a:prstGeom>
        </p:spPr>
      </p:pic>
      <p:sp>
        <p:nvSpPr>
          <p:cNvPr id="7" name="Trapezoid 6">
            <a:extLst>
              <a:ext uri="{FF2B5EF4-FFF2-40B4-BE49-F238E27FC236}">
                <a16:creationId xmlns:a16="http://schemas.microsoft.com/office/drawing/2014/main" id="{FF39E689-AE11-985B-7032-63B19291958E}"/>
              </a:ext>
            </a:extLst>
          </p:cNvPr>
          <p:cNvSpPr/>
          <p:nvPr/>
        </p:nvSpPr>
        <p:spPr>
          <a:xfrm rot="2700000">
            <a:off x="7215278" y="386193"/>
            <a:ext cx="2501399" cy="58366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55000" lnSpcReduction="20000"/>
          </a:bodyPr>
          <a:lstStyle/>
          <a:p>
            <a:pPr algn="ctr"/>
            <a:r>
              <a:rPr lang="en-US" sz="2600" b="1">
                <a:solidFill>
                  <a:srgbClr val="198038"/>
                </a:solidFill>
              </a:rPr>
              <a:t>Do not edit
</a:t>
            </a:r>
            <a:r>
              <a:rPr lang="en-US" sz="2200">
                <a:solidFill>
                  <a:srgbClr val="198038"/>
                </a:solidFill>
                <a:hlinkClick r:id="rId9">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4F1D3CC8-8C1C-5EC1-3B66-4EDEAC478EC9}"/>
              </a:ext>
            </a:extLst>
          </p:cNvPr>
          <p:cNvPicPr>
            <a:picLocks/>
          </p:cNvPicPr>
          <p:nvPr/>
        </p:nvPicPr>
        <p:blipFill>
          <a:blip>
            <a:extLst>
              <a:ext uri="{96DAC541-7B7A-43D3-8B79-37D633B846F1}">
                <asvg:svgBlip xmlns:asvg="http://schemas.microsoft.com/office/drawing/2016/SVG/main" r:embed="rId10"/>
              </a:ext>
            </a:extLst>
          </a:blip>
          <a:stretch>
            <a:fillRect/>
          </a:stretch>
        </p:blipFill>
        <p:spPr>
          <a:xfrm>
            <a:off x="8060062" y="4615295"/>
            <a:ext cx="833799" cy="277933"/>
          </a:xfrm>
          <a:prstGeom prst="rect">
            <a:avLst/>
          </a:prstGeom>
        </p:spPr>
      </p:pic>
    </p:spTree>
    <p:custDataLst>
      <p:tags r:id="rId1"/>
    </p:custDataLst>
    <p:extLst>
      <p:ext uri="{BB962C8B-B14F-4D97-AF65-F5344CB8AC3E}">
        <p14:creationId xmlns:p14="http://schemas.microsoft.com/office/powerpoint/2010/main" val="2038076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2A838-BEB0-9232-EB87-51F2ADC9F945}"/>
              </a:ext>
            </a:extLst>
          </p:cNvPr>
          <p:cNvSpPr>
            <a:spLocks noGrp="1"/>
          </p:cNvSpPr>
          <p:nvPr>
            <p:ph type="title"/>
          </p:nvPr>
        </p:nvSpPr>
        <p:spPr/>
        <p:txBody>
          <a:bodyPr>
            <a:normAutofit fontScale="90000"/>
          </a:bodyPr>
          <a:lstStyle/>
          <a:p>
            <a:r>
              <a:rPr lang="en-US" dirty="0"/>
              <a:t>Solution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246B577-9BFF-0001-88C1-23914E07C3EC}"/>
                  </a:ext>
                </a:extLst>
              </p:cNvPr>
              <p:cNvSpPr>
                <a:spLocks noGrp="1"/>
              </p:cNvSpPr>
              <p:nvPr>
                <p:ph type="body" idx="1"/>
              </p:nvPr>
            </p:nvSpPr>
            <p:spPr/>
            <p:txBody>
              <a:bodyPr/>
              <a:lstStyle/>
              <a:p>
                <a:pPr marL="114300" indent="0">
                  <a:buNone/>
                </a:pPr>
                <a:r>
                  <a:rPr lang="en-US" dirty="0"/>
                  <a:t>What happens if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 = </m:t>
                    </m:r>
                    <m:r>
                      <a:rPr lang="en-US" b="0" i="1" smtClean="0">
                        <a:latin typeface="Cambria Math" panose="02040503050406030204" pitchFamily="18" charset="0"/>
                      </a:rPr>
                      <m:t>𝑟</m:t>
                    </m:r>
                  </m:oMath>
                </a14:m>
                <a:r>
                  <a:rPr lang="en-US" b="0" dirty="0"/>
                  <a:t> (where </a:t>
                </a:r>
                <a14:m>
                  <m:oMath xmlns:m="http://schemas.openxmlformats.org/officeDocument/2006/math">
                    <m:r>
                      <a:rPr lang="en-US" b="0" i="1" smtClean="0">
                        <a:latin typeface="Cambria Math" panose="02040503050406030204" pitchFamily="18" charset="0"/>
                      </a:rPr>
                      <m:t>𝑟</m:t>
                    </m:r>
                  </m:oMath>
                </a14:m>
                <a:r>
                  <a:rPr lang="en-US" b="0" dirty="0"/>
                  <a:t> is the rank of </a:t>
                </a:r>
                <a14:m>
                  <m:oMath xmlns:m="http://schemas.openxmlformats.org/officeDocument/2006/math">
                    <m:r>
                      <m:rPr>
                        <m:sty m:val="p"/>
                      </m:rPr>
                      <a:rPr lang="en-US" b="0" i="1" smtClean="0">
                        <a:latin typeface="Cambria Math" panose="02040503050406030204" pitchFamily="18" charset="0"/>
                      </a:rPr>
                      <m:t>A</m:t>
                    </m:r>
                  </m:oMath>
                </a14:m>
                <a:r>
                  <a:rPr lang="en-US" b="0" dirty="0"/>
                  <a:t>)?</a:t>
                </a:r>
              </a:p>
              <a:p>
                <a:pPr marL="114300" indent="0">
                  <a:buNone/>
                </a:pPr>
                <a:endParaRPr lang="en-US" dirty="0"/>
              </a:p>
              <a:p>
                <a:pPr marL="114300"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1</m:t>
                          </m:r>
                        </m:sub>
                      </m:sSub>
                      <m:sSub>
                        <m:sSubPr>
                          <m:ctrlPr>
                            <a:rPr lang="en-US" b="1" i="1">
                              <a:latin typeface="Cambria Math" panose="02040503050406030204" pitchFamily="18" charset="0"/>
                            </a:rPr>
                          </m:ctrlPr>
                        </m:sSubPr>
                        <m:e>
                          <m:r>
                            <a:rPr lang="en-US" b="1" i="1">
                              <a:latin typeface="Cambria Math" panose="02040503050406030204" pitchFamily="18" charset="0"/>
                            </a:rPr>
                            <m:t>𝒖</m:t>
                          </m:r>
                        </m:e>
                        <m:sub>
                          <m:r>
                            <a:rPr lang="en-US" b="1" i="1">
                              <a:latin typeface="Cambria Math" panose="02040503050406030204" pitchFamily="18" charset="0"/>
                            </a:rPr>
                            <m:t>𝟏</m:t>
                          </m:r>
                        </m:sub>
                      </m:sSub>
                      <m:sSubSup>
                        <m:sSubSupPr>
                          <m:ctrlPr>
                            <a:rPr lang="en-US" i="1">
                              <a:latin typeface="Cambria Math" panose="02040503050406030204" pitchFamily="18" charset="0"/>
                            </a:rPr>
                          </m:ctrlPr>
                        </m:sSubSupPr>
                        <m:e>
                          <m:r>
                            <a:rPr lang="en-US" b="1" i="1">
                              <a:latin typeface="Cambria Math" panose="02040503050406030204" pitchFamily="18" charset="0"/>
                            </a:rPr>
                            <m:t>𝒗</m:t>
                          </m:r>
                        </m:e>
                        <m:sub>
                          <m:r>
                            <a:rPr lang="en-US" b="1" i="1">
                              <a:latin typeface="Cambria Math" panose="02040503050406030204" pitchFamily="18" charset="0"/>
                            </a:rPr>
                            <m:t>𝟏</m:t>
                          </m:r>
                        </m:sub>
                        <m:sup>
                          <m:r>
                            <a:rPr lang="en-US" i="1">
                              <a:latin typeface="Cambria Math" panose="02040503050406030204" pitchFamily="18" charset="0"/>
                            </a:rPr>
                            <m:t>𝑇</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2</m:t>
                          </m:r>
                        </m:sub>
                      </m:sSub>
                      <m:sSub>
                        <m:sSubPr>
                          <m:ctrlPr>
                            <a:rPr lang="en-US" b="1" i="1">
                              <a:latin typeface="Cambria Math" panose="02040503050406030204" pitchFamily="18" charset="0"/>
                            </a:rPr>
                          </m:ctrlPr>
                        </m:sSubPr>
                        <m:e>
                          <m:r>
                            <a:rPr lang="en-US" b="1" i="1">
                              <a:latin typeface="Cambria Math" panose="02040503050406030204" pitchFamily="18" charset="0"/>
                            </a:rPr>
                            <m:t>𝒖</m:t>
                          </m:r>
                        </m:e>
                        <m:sub>
                          <m:r>
                            <a:rPr lang="en-US" b="1" i="1">
                              <a:latin typeface="Cambria Math" panose="02040503050406030204" pitchFamily="18" charset="0"/>
                            </a:rPr>
                            <m:t>𝟐</m:t>
                          </m:r>
                        </m:sub>
                      </m:sSub>
                      <m:sSubSup>
                        <m:sSubSupPr>
                          <m:ctrlPr>
                            <a:rPr lang="en-US" i="1">
                              <a:latin typeface="Cambria Math" panose="02040503050406030204" pitchFamily="18" charset="0"/>
                            </a:rPr>
                          </m:ctrlPr>
                        </m:sSubSupPr>
                        <m:e>
                          <m:r>
                            <a:rPr lang="en-US" b="1" i="1">
                              <a:latin typeface="Cambria Math" panose="02040503050406030204" pitchFamily="18" charset="0"/>
                            </a:rPr>
                            <m:t>𝒗</m:t>
                          </m:r>
                        </m:e>
                        <m:sub>
                          <m:r>
                            <a:rPr lang="en-US" b="1" i="1">
                              <a:latin typeface="Cambria Math" panose="02040503050406030204" pitchFamily="18" charset="0"/>
                            </a:rPr>
                            <m:t>𝟐</m:t>
                          </m:r>
                        </m:sub>
                        <m:sup>
                          <m:r>
                            <a:rPr lang="en-US" i="1">
                              <a:latin typeface="Cambria Math" panose="02040503050406030204" pitchFamily="18" charset="0"/>
                            </a:rPr>
                            <m:t>𝑇</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𝑘</m:t>
                          </m:r>
                        </m:sub>
                      </m:sSub>
                      <m:sSub>
                        <m:sSubPr>
                          <m:ctrlPr>
                            <a:rPr lang="en-US" b="1" i="1">
                              <a:latin typeface="Cambria Math" panose="02040503050406030204" pitchFamily="18" charset="0"/>
                            </a:rPr>
                          </m:ctrlPr>
                        </m:sSubPr>
                        <m:e>
                          <m:r>
                            <a:rPr lang="en-US" b="1" i="1">
                              <a:latin typeface="Cambria Math" panose="02040503050406030204" pitchFamily="18" charset="0"/>
                            </a:rPr>
                            <m:t>𝒖</m:t>
                          </m:r>
                        </m:e>
                        <m:sub>
                          <m:r>
                            <a:rPr lang="en-US" b="1" i="1">
                              <a:latin typeface="Cambria Math" panose="02040503050406030204" pitchFamily="18" charset="0"/>
                            </a:rPr>
                            <m:t>𝒌</m:t>
                          </m:r>
                        </m:sub>
                      </m:sSub>
                      <m:sSubSup>
                        <m:sSubSupPr>
                          <m:ctrlPr>
                            <a:rPr lang="en-US" i="1">
                              <a:latin typeface="Cambria Math" panose="02040503050406030204" pitchFamily="18" charset="0"/>
                            </a:rPr>
                          </m:ctrlPr>
                        </m:sSubSupPr>
                        <m:e>
                          <m:r>
                            <a:rPr lang="en-US" b="1" i="1">
                              <a:latin typeface="Cambria Math" panose="02040503050406030204" pitchFamily="18" charset="0"/>
                            </a:rPr>
                            <m:t>𝒗</m:t>
                          </m:r>
                        </m:e>
                        <m:sub>
                          <m:r>
                            <a:rPr lang="en-US" b="1" i="1">
                              <a:latin typeface="Cambria Math" panose="02040503050406030204" pitchFamily="18" charset="0"/>
                            </a:rPr>
                            <m:t>𝒌</m:t>
                          </m:r>
                        </m:sub>
                        <m:sup>
                          <m:r>
                            <a:rPr lang="en-US" i="1">
                              <a:latin typeface="Cambria Math" panose="02040503050406030204" pitchFamily="18" charset="0"/>
                            </a:rPr>
                            <m:t>𝑇</m:t>
                          </m:r>
                        </m:sup>
                      </m:sSubSup>
                    </m:oMath>
                  </m:oMathPara>
                </a14:m>
                <a:endParaRPr lang="en-US" dirty="0"/>
              </a:p>
              <a:p>
                <a:pPr marL="114300" indent="0">
                  <a:buNone/>
                </a:pPr>
                <a:endParaRPr lang="en-US" b="0" dirty="0"/>
              </a:p>
              <a:p>
                <a:pPr marL="114300" indent="0">
                  <a:buNone/>
                </a:pPr>
                <a:endParaRPr lang="en-US"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B246B577-9BFF-0001-88C1-23914E07C3EC}"/>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817434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41CD2E4-5B3A-28A2-C94E-B343D3B53E97}"/>
              </a:ext>
            </a:extLst>
          </p:cNvPr>
          <p:cNvSpPr/>
          <p:nvPr>
            <p:custDataLst>
              <p:tags r:id="rId2"/>
            </p:custDataLst>
          </p:nvPr>
        </p:nvSpPr>
        <p:spPr>
          <a:xfrm>
            <a:off x="333520" y="1307028"/>
            <a:ext cx="1778772" cy="1778772"/>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AF678A1-C6FA-0F56-E27A-3D7E2661C236}"/>
              </a:ext>
            </a:extLst>
          </p:cNvPr>
          <p:cNvSpPr/>
          <p:nvPr>
            <p:custDataLst>
              <p:tags r:id="rId3"/>
            </p:custDataLst>
          </p:nvPr>
        </p:nvSpPr>
        <p:spPr>
          <a:xfrm>
            <a:off x="2334638" y="750673"/>
            <a:ext cx="6364669" cy="2891481"/>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The rank-k approximation of an (nxm) matrix also has dimension (nxm)</a:t>
            </a:r>
          </a:p>
        </p:txBody>
      </p:sp>
      <p:sp>
        <p:nvSpPr>
          <p:cNvPr id="4" name="Rectangle 3">
            <a:extLst>
              <a:ext uri="{FF2B5EF4-FFF2-40B4-BE49-F238E27FC236}">
                <a16:creationId xmlns:a16="http://schemas.microsoft.com/office/drawing/2014/main" id="{DC3A0C59-272D-294E-B076-859A42875DE6}"/>
              </a:ext>
            </a:extLst>
          </p:cNvPr>
          <p:cNvSpPr/>
          <p:nvPr/>
        </p:nvSpPr>
        <p:spPr>
          <a:xfrm>
            <a:off x="0" y="4365024"/>
            <a:ext cx="9144000" cy="778476"/>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55866" tIns="194619" rIns="1389666" bIns="152915" rtlCol="0" anchor="ctr">
            <a:normAutofit fontScale="62500" lnSpcReduction="200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A66AC1A4-ED66-0D7C-A048-058502DC6E7C}"/>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22347" y="4643089"/>
            <a:ext cx="222347" cy="222347"/>
          </a:xfrm>
          <a:prstGeom prst="rect">
            <a:avLst/>
          </a:prstGeom>
        </p:spPr>
      </p:pic>
      <p:sp>
        <p:nvSpPr>
          <p:cNvPr id="7" name="Trapezoid 6">
            <a:extLst>
              <a:ext uri="{FF2B5EF4-FFF2-40B4-BE49-F238E27FC236}">
                <a16:creationId xmlns:a16="http://schemas.microsoft.com/office/drawing/2014/main" id="{6DE09F61-2C68-7FCA-51AA-F3E2C44625D4}"/>
              </a:ext>
            </a:extLst>
          </p:cNvPr>
          <p:cNvSpPr/>
          <p:nvPr/>
        </p:nvSpPr>
        <p:spPr>
          <a:xfrm rot="2700000">
            <a:off x="7215278" y="386193"/>
            <a:ext cx="2501399" cy="58366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55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380F221E-8EAF-6BF1-7843-F2EB1F30428E}"/>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8060062" y="4615295"/>
            <a:ext cx="833799" cy="277933"/>
          </a:xfrm>
          <a:prstGeom prst="rect">
            <a:avLst/>
          </a:prstGeom>
        </p:spPr>
      </p:pic>
    </p:spTree>
    <p:custDataLst>
      <p:tags r:id="rId1"/>
    </p:custDataLst>
    <p:extLst>
      <p:ext uri="{BB962C8B-B14F-4D97-AF65-F5344CB8AC3E}">
        <p14:creationId xmlns:p14="http://schemas.microsoft.com/office/powerpoint/2010/main" val="480063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A36B7-DD05-D725-4958-3343433C31AE}"/>
              </a:ext>
            </a:extLst>
          </p:cNvPr>
          <p:cNvSpPr>
            <a:spLocks noGrp="1"/>
          </p:cNvSpPr>
          <p:nvPr>
            <p:ph type="title"/>
          </p:nvPr>
        </p:nvSpPr>
        <p:spPr/>
        <p:txBody>
          <a:bodyPr>
            <a:normAutofit fontScale="90000"/>
          </a:bodyPr>
          <a:lstStyle/>
          <a:p>
            <a:r>
              <a:rPr lang="en-US" dirty="0"/>
              <a:t>Solution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18830BE-56EB-8614-9152-4C5A4F308EAA}"/>
                  </a:ext>
                </a:extLst>
              </p:cNvPr>
              <p:cNvSpPr>
                <a:spLocks noGrp="1"/>
              </p:cNvSpPr>
              <p:nvPr>
                <p:ph type="body" idx="1"/>
              </p:nvPr>
            </p:nvSpPr>
            <p:spPr/>
            <p:txBody>
              <a:bodyPr/>
              <a:lstStyle/>
              <a:p>
                <a:pPr marL="114300" indent="0">
                  <a:buNone/>
                </a:pPr>
                <a:r>
                  <a:rPr lang="en-US" dirty="0"/>
                  <a:t>Assume rank-2 approximation</a:t>
                </a:r>
              </a:p>
              <a:p>
                <a:pPr marL="114300" indent="0">
                  <a:buNone/>
                </a:pPr>
                <a:endParaRPr lang="en-US" dirty="0"/>
              </a:p>
              <a:p>
                <a:pPr marL="114300"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1</m:t>
                          </m:r>
                        </m:sub>
                      </m:sSub>
                      <m:sSub>
                        <m:sSubPr>
                          <m:ctrlPr>
                            <a:rPr lang="en-US" b="1" i="1">
                              <a:latin typeface="Cambria Math" panose="02040503050406030204" pitchFamily="18" charset="0"/>
                            </a:rPr>
                          </m:ctrlPr>
                        </m:sSubPr>
                        <m:e>
                          <m:r>
                            <a:rPr lang="en-US" b="1" i="1">
                              <a:latin typeface="Cambria Math" panose="02040503050406030204" pitchFamily="18" charset="0"/>
                            </a:rPr>
                            <m:t>𝒖</m:t>
                          </m:r>
                        </m:e>
                        <m:sub>
                          <m:r>
                            <a:rPr lang="en-US" b="1" i="1">
                              <a:latin typeface="Cambria Math" panose="02040503050406030204" pitchFamily="18" charset="0"/>
                            </a:rPr>
                            <m:t>𝟏</m:t>
                          </m:r>
                        </m:sub>
                      </m:sSub>
                      <m:sSubSup>
                        <m:sSubSupPr>
                          <m:ctrlPr>
                            <a:rPr lang="en-US" i="1">
                              <a:latin typeface="Cambria Math" panose="02040503050406030204" pitchFamily="18" charset="0"/>
                            </a:rPr>
                          </m:ctrlPr>
                        </m:sSubSupPr>
                        <m:e>
                          <m:r>
                            <a:rPr lang="en-US" b="1" i="1">
                              <a:latin typeface="Cambria Math" panose="02040503050406030204" pitchFamily="18" charset="0"/>
                            </a:rPr>
                            <m:t>𝒗</m:t>
                          </m:r>
                        </m:e>
                        <m:sub>
                          <m:r>
                            <a:rPr lang="en-US" b="1" i="1">
                              <a:latin typeface="Cambria Math" panose="02040503050406030204" pitchFamily="18" charset="0"/>
                            </a:rPr>
                            <m:t>𝟏</m:t>
                          </m:r>
                        </m:sub>
                        <m:sup>
                          <m:r>
                            <a:rPr lang="en-US" i="1">
                              <a:latin typeface="Cambria Math" panose="02040503050406030204" pitchFamily="18" charset="0"/>
                            </a:rPr>
                            <m:t>𝑇</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2</m:t>
                          </m:r>
                        </m:sub>
                      </m:sSub>
                      <m:sSub>
                        <m:sSubPr>
                          <m:ctrlPr>
                            <a:rPr lang="en-US" b="1" i="1">
                              <a:latin typeface="Cambria Math" panose="02040503050406030204" pitchFamily="18" charset="0"/>
                            </a:rPr>
                          </m:ctrlPr>
                        </m:sSubPr>
                        <m:e>
                          <m:r>
                            <a:rPr lang="en-US" b="1" i="1">
                              <a:latin typeface="Cambria Math" panose="02040503050406030204" pitchFamily="18" charset="0"/>
                            </a:rPr>
                            <m:t>𝒖</m:t>
                          </m:r>
                        </m:e>
                        <m:sub>
                          <m:r>
                            <a:rPr lang="en-US" b="1" i="1">
                              <a:latin typeface="Cambria Math" panose="02040503050406030204" pitchFamily="18" charset="0"/>
                            </a:rPr>
                            <m:t>𝟐</m:t>
                          </m:r>
                        </m:sub>
                      </m:sSub>
                      <m:sSubSup>
                        <m:sSubSupPr>
                          <m:ctrlPr>
                            <a:rPr lang="en-US" i="1">
                              <a:latin typeface="Cambria Math" panose="02040503050406030204" pitchFamily="18" charset="0"/>
                            </a:rPr>
                          </m:ctrlPr>
                        </m:sSubSupPr>
                        <m:e>
                          <m:r>
                            <a:rPr lang="en-US" b="1" i="1">
                              <a:latin typeface="Cambria Math" panose="02040503050406030204" pitchFamily="18" charset="0"/>
                            </a:rPr>
                            <m:t>𝒗</m:t>
                          </m:r>
                        </m:e>
                        <m:sub>
                          <m:r>
                            <a:rPr lang="en-US" b="1" i="1">
                              <a:latin typeface="Cambria Math" panose="02040503050406030204" pitchFamily="18" charset="0"/>
                            </a:rPr>
                            <m:t>𝟐</m:t>
                          </m:r>
                        </m:sub>
                        <m:sup>
                          <m:r>
                            <a:rPr lang="en-US" i="1">
                              <a:latin typeface="Cambria Math" panose="02040503050406030204" pitchFamily="18" charset="0"/>
                            </a:rPr>
                            <m:t>𝑇</m:t>
                          </m:r>
                        </m:sup>
                      </m:sSubSup>
                    </m:oMath>
                  </m:oMathPara>
                </a14:m>
                <a:endParaRPr lang="en-US" dirty="0"/>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𝑚</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𝑚</m:t>
                          </m:r>
                        </m:e>
                      </m:d>
                    </m:oMath>
                  </m:oMathPara>
                </a14:m>
                <a:endParaRPr lang="en-US" b="0" dirty="0"/>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𝑚</m:t>
                          </m:r>
                        </m:e>
                      </m:d>
                    </m:oMath>
                  </m:oMathPara>
                </a14:m>
                <a:endParaRPr lang="en-US" b="0" dirty="0"/>
              </a:p>
              <a:p>
                <a:pPr marL="114300" indent="0">
                  <a:buNone/>
                </a:pPr>
                <a:endParaRPr lang="en-US" b="0" dirty="0"/>
              </a:p>
            </p:txBody>
          </p:sp>
        </mc:Choice>
        <mc:Fallback xmlns="">
          <p:sp>
            <p:nvSpPr>
              <p:cNvPr id="3" name="Text Placeholder 2">
                <a:extLst>
                  <a:ext uri="{FF2B5EF4-FFF2-40B4-BE49-F238E27FC236}">
                    <a16:creationId xmlns:a16="http://schemas.microsoft.com/office/drawing/2014/main" id="{518830BE-56EB-8614-9152-4C5A4F308EAA}"/>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751182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501A0E-1E8D-10C4-DF55-6BFC610B3E52}"/>
              </a:ext>
            </a:extLst>
          </p:cNvPr>
          <p:cNvSpPr/>
          <p:nvPr>
            <p:custDataLst>
              <p:tags r:id="rId2"/>
            </p:custDataLst>
          </p:nvPr>
        </p:nvSpPr>
        <p:spPr>
          <a:xfrm>
            <a:off x="333520" y="1307028"/>
            <a:ext cx="1778772" cy="1778772"/>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470555A-F3D4-1352-B41F-646F6576195D}"/>
              </a:ext>
            </a:extLst>
          </p:cNvPr>
          <p:cNvSpPr/>
          <p:nvPr>
            <p:custDataLst>
              <p:tags r:id="rId3"/>
            </p:custDataLst>
          </p:nvPr>
        </p:nvSpPr>
        <p:spPr>
          <a:xfrm>
            <a:off x="2334638" y="750673"/>
            <a:ext cx="6364669" cy="2891481"/>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What is the rank of the following dataset?</a:t>
            </a:r>
          </a:p>
        </p:txBody>
      </p:sp>
      <p:sp>
        <p:nvSpPr>
          <p:cNvPr id="4" name="Rectangle 3">
            <a:extLst>
              <a:ext uri="{FF2B5EF4-FFF2-40B4-BE49-F238E27FC236}">
                <a16:creationId xmlns:a16="http://schemas.microsoft.com/office/drawing/2014/main" id="{59D1ADBB-A831-A74D-293E-16B565DEF2FB}"/>
              </a:ext>
            </a:extLst>
          </p:cNvPr>
          <p:cNvSpPr/>
          <p:nvPr/>
        </p:nvSpPr>
        <p:spPr>
          <a:xfrm>
            <a:off x="0" y="4365024"/>
            <a:ext cx="9144000" cy="778476"/>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55866" tIns="194619" rIns="1389666" bIns="152915" rtlCol="0" anchor="ctr">
            <a:normAutofit fontScale="62500" lnSpcReduction="200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E803591A-C883-57BA-3546-0A6D6D030999}"/>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22347" y="4643089"/>
            <a:ext cx="222347" cy="222347"/>
          </a:xfrm>
          <a:prstGeom prst="rect">
            <a:avLst/>
          </a:prstGeom>
        </p:spPr>
      </p:pic>
      <p:sp>
        <p:nvSpPr>
          <p:cNvPr id="7" name="Trapezoid 6">
            <a:extLst>
              <a:ext uri="{FF2B5EF4-FFF2-40B4-BE49-F238E27FC236}">
                <a16:creationId xmlns:a16="http://schemas.microsoft.com/office/drawing/2014/main" id="{0F528DB9-0F68-F601-D010-616DFE69D631}"/>
              </a:ext>
            </a:extLst>
          </p:cNvPr>
          <p:cNvSpPr/>
          <p:nvPr/>
        </p:nvSpPr>
        <p:spPr>
          <a:xfrm rot="2700000">
            <a:off x="7215278" y="386193"/>
            <a:ext cx="2501399" cy="58366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55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06D9BC6C-DF15-389A-9FA1-484A13557C03}"/>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8060062" y="4615295"/>
            <a:ext cx="833799" cy="277933"/>
          </a:xfrm>
          <a:prstGeom prst="rect">
            <a:avLst/>
          </a:prstGeom>
        </p:spPr>
      </p:pic>
    </p:spTree>
    <p:custDataLst>
      <p:tags r:id="rId1"/>
    </p:custDataLst>
    <p:extLst>
      <p:ext uri="{BB962C8B-B14F-4D97-AF65-F5344CB8AC3E}">
        <p14:creationId xmlns:p14="http://schemas.microsoft.com/office/powerpoint/2010/main" val="816127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7B272-5A66-D01F-FFAF-3289A54F25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5D8AAC-4D85-EE22-1A47-68CA52C33488}"/>
              </a:ext>
            </a:extLst>
          </p:cNvPr>
          <p:cNvSpPr>
            <a:spLocks noGrp="1"/>
          </p:cNvSpPr>
          <p:nvPr>
            <p:ph type="title"/>
          </p:nvPr>
        </p:nvSpPr>
        <p:spPr>
          <a:xfrm>
            <a:off x="311700" y="2218050"/>
            <a:ext cx="8520600" cy="707400"/>
          </a:xfrm>
        </p:spPr>
        <p:txBody>
          <a:bodyPr>
            <a:normAutofit fontScale="90000"/>
          </a:bodyPr>
          <a:lstStyle/>
          <a:p>
            <a:pPr algn="ctr"/>
            <a:r>
              <a:rPr lang="en-US" dirty="0"/>
              <a:t>SVD for Feature Extraction</a:t>
            </a:r>
          </a:p>
        </p:txBody>
      </p:sp>
    </p:spTree>
    <p:extLst>
      <p:ext uri="{BB962C8B-B14F-4D97-AF65-F5344CB8AC3E}">
        <p14:creationId xmlns:p14="http://schemas.microsoft.com/office/powerpoint/2010/main" val="2239474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75DFA-BD03-FA78-6AD2-C985BF1C20F6}"/>
              </a:ext>
            </a:extLst>
          </p:cNvPr>
          <p:cNvSpPr>
            <a:spLocks noGrp="1"/>
          </p:cNvSpPr>
          <p:nvPr>
            <p:ph type="title"/>
          </p:nvPr>
        </p:nvSpPr>
        <p:spPr/>
        <p:txBody>
          <a:bodyPr>
            <a:normAutofit fontScale="90000"/>
          </a:bodyPr>
          <a:lstStyle/>
          <a:p>
            <a:r>
              <a:rPr lang="en-US" dirty="0"/>
              <a:t>Feature Extraction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31E9FCA-ECE9-C473-102D-2B8976A7E7B2}"/>
                  </a:ext>
                </a:extLst>
              </p:cNvPr>
              <p:cNvSpPr>
                <a:spLocks noGrp="1"/>
              </p:cNvSpPr>
              <p:nvPr>
                <p:ph type="body" idx="1"/>
              </p:nvPr>
            </p:nvSpPr>
            <p:spPr/>
            <p:txBody>
              <a:bodyPr/>
              <a:lstStyle/>
              <a:p>
                <a:pPr marL="114300" indent="0">
                  <a:buNone/>
                </a:pPr>
                <a:r>
                  <a:rPr lang="en-US" dirty="0"/>
                  <a:t>Goal: pick number of latent features </a:t>
                </a:r>
                <a14:m>
                  <m:oMath xmlns:m="http://schemas.openxmlformats.org/officeDocument/2006/math">
                    <m:r>
                      <a:rPr lang="en-US" b="0" i="1" smtClean="0">
                        <a:latin typeface="Cambria Math" panose="02040503050406030204" pitchFamily="18" charset="0"/>
                      </a:rPr>
                      <m:t>𝑘</m:t>
                    </m:r>
                  </m:oMath>
                </a14:m>
                <a:r>
                  <a:rPr lang="en-US" b="0" dirty="0"/>
                  <a:t> using our SVD </a:t>
                </a:r>
              </a:p>
              <a:p>
                <a:pPr marL="114300" indent="0">
                  <a:buNone/>
                </a:pPr>
                <a:endParaRPr lang="en-US" dirty="0"/>
              </a:p>
            </p:txBody>
          </p:sp>
        </mc:Choice>
        <mc:Fallback xmlns="">
          <p:sp>
            <p:nvSpPr>
              <p:cNvPr id="3" name="Text Placeholder 2">
                <a:extLst>
                  <a:ext uri="{FF2B5EF4-FFF2-40B4-BE49-F238E27FC236}">
                    <a16:creationId xmlns:a16="http://schemas.microsoft.com/office/drawing/2014/main" id="{131E9FCA-ECE9-C473-102D-2B8976A7E7B2}"/>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288706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FBA57-E2CF-866F-71A3-AE4D10313A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2238D-84C6-7733-01B4-01BCD61419AD}"/>
              </a:ext>
            </a:extLst>
          </p:cNvPr>
          <p:cNvSpPr>
            <a:spLocks noGrp="1"/>
          </p:cNvSpPr>
          <p:nvPr>
            <p:ph type="title"/>
          </p:nvPr>
        </p:nvSpPr>
        <p:spPr/>
        <p:txBody>
          <a:bodyPr>
            <a:normAutofit fontScale="90000"/>
          </a:bodyPr>
          <a:lstStyle/>
          <a:p>
            <a:r>
              <a:rPr lang="en-US" dirty="0"/>
              <a:t>Feature Extraction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65414AA-B8CF-9C11-6577-F0EC70AE34E5}"/>
                  </a:ext>
                </a:extLst>
              </p:cNvPr>
              <p:cNvSpPr>
                <a:spLocks noGrp="1"/>
              </p:cNvSpPr>
              <p:nvPr>
                <p:ph type="body" idx="1"/>
              </p:nvPr>
            </p:nvSpPr>
            <p:spPr/>
            <p:txBody>
              <a:bodyPr/>
              <a:lstStyle/>
              <a:p>
                <a:pPr marL="114300" indent="0">
                  <a:buNone/>
                </a:pPr>
                <a:r>
                  <a:rPr lang="en-US" dirty="0"/>
                  <a:t>Goal: pick number of latent features </a:t>
                </a:r>
                <a14:m>
                  <m:oMath xmlns:m="http://schemas.openxmlformats.org/officeDocument/2006/math">
                    <m:r>
                      <a:rPr lang="en-US" b="0" i="1" smtClean="0">
                        <a:latin typeface="Cambria Math" panose="02040503050406030204" pitchFamily="18" charset="0"/>
                      </a:rPr>
                      <m:t>𝑘</m:t>
                    </m:r>
                  </m:oMath>
                </a14:m>
                <a:r>
                  <a:rPr lang="en-US" b="0" dirty="0"/>
                  <a:t> using our SVD </a:t>
                </a:r>
                <a:r>
                  <a:rPr lang="en-US" b="0" dirty="0">
                    <a:sym typeface="Wingdings" pitchFamily="2" charset="2"/>
                  </a:rPr>
                  <a:t> pick </a:t>
                </a:r>
                <a14:m>
                  <m:oMath xmlns:m="http://schemas.openxmlformats.org/officeDocument/2006/math">
                    <m:r>
                      <a:rPr lang="en-US" b="0" i="1" smtClean="0">
                        <a:latin typeface="Cambria Math" panose="02040503050406030204" pitchFamily="18" charset="0"/>
                        <a:sym typeface="Wingdings" pitchFamily="2" charset="2"/>
                      </a:rPr>
                      <m:t>𝑘</m:t>
                    </m:r>
                  </m:oMath>
                </a14:m>
                <a:r>
                  <a:rPr lang="en-US" b="0" dirty="0">
                    <a:sym typeface="Wingdings" pitchFamily="2" charset="2"/>
                  </a:rPr>
                  <a:t> using explained variance </a:t>
                </a:r>
              </a:p>
              <a:p>
                <a:pPr marL="114300" indent="0">
                  <a:buNone/>
                </a:pPr>
                <a:r>
                  <a:rPr lang="en-US" b="0" dirty="0"/>
                  <a:t> </a:t>
                </a:r>
              </a:p>
              <a:p>
                <a:pPr marL="114300" indent="0">
                  <a:buNone/>
                </a:pPr>
                <a:endParaRPr lang="en-US" dirty="0"/>
              </a:p>
            </p:txBody>
          </p:sp>
        </mc:Choice>
        <mc:Fallback xmlns="">
          <p:sp>
            <p:nvSpPr>
              <p:cNvPr id="3" name="Text Placeholder 2">
                <a:extLst>
                  <a:ext uri="{FF2B5EF4-FFF2-40B4-BE49-F238E27FC236}">
                    <a16:creationId xmlns:a16="http://schemas.microsoft.com/office/drawing/2014/main" id="{265414AA-B8CF-9C11-6577-F0EC70AE34E5}"/>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614695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04E45-FD51-620C-9B78-898AFAA3B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6BBCC-C5EA-01BD-8A24-BCCA23B7CED2}"/>
              </a:ext>
            </a:extLst>
          </p:cNvPr>
          <p:cNvSpPr>
            <a:spLocks noGrp="1"/>
          </p:cNvSpPr>
          <p:nvPr>
            <p:ph type="title"/>
          </p:nvPr>
        </p:nvSpPr>
        <p:spPr/>
        <p:txBody>
          <a:bodyPr>
            <a:normAutofit fontScale="90000"/>
          </a:bodyPr>
          <a:lstStyle/>
          <a:p>
            <a:r>
              <a:rPr lang="en-US" dirty="0"/>
              <a:t>Feature Extraction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1500D71-894B-6107-417C-5EAEC4A4396B}"/>
                  </a:ext>
                </a:extLst>
              </p:cNvPr>
              <p:cNvSpPr>
                <a:spLocks noGrp="1"/>
              </p:cNvSpPr>
              <p:nvPr>
                <p:ph type="body" idx="1"/>
              </p:nvPr>
            </p:nvSpPr>
            <p:spPr/>
            <p:txBody>
              <a:bodyPr/>
              <a:lstStyle/>
              <a:p>
                <a:pPr marL="114300" indent="0">
                  <a:buNone/>
                </a:pPr>
                <a:r>
                  <a:rPr lang="en-US" dirty="0"/>
                  <a:t>Goal: pick number of latent features </a:t>
                </a:r>
                <a14:m>
                  <m:oMath xmlns:m="http://schemas.openxmlformats.org/officeDocument/2006/math">
                    <m:r>
                      <a:rPr lang="en-US" b="0" i="1" smtClean="0">
                        <a:latin typeface="Cambria Math" panose="02040503050406030204" pitchFamily="18" charset="0"/>
                      </a:rPr>
                      <m:t>𝑘</m:t>
                    </m:r>
                  </m:oMath>
                </a14:m>
                <a:r>
                  <a:rPr lang="en-US" b="0" dirty="0"/>
                  <a:t> using our SVD </a:t>
                </a:r>
                <a:r>
                  <a:rPr lang="en-US" b="0" dirty="0">
                    <a:sym typeface="Wingdings" pitchFamily="2" charset="2"/>
                  </a:rPr>
                  <a:t> pick </a:t>
                </a:r>
                <a14:m>
                  <m:oMath xmlns:m="http://schemas.openxmlformats.org/officeDocument/2006/math">
                    <m:r>
                      <a:rPr lang="en-US" b="0" i="1" smtClean="0">
                        <a:latin typeface="Cambria Math" panose="02040503050406030204" pitchFamily="18" charset="0"/>
                        <a:sym typeface="Wingdings" pitchFamily="2" charset="2"/>
                      </a:rPr>
                      <m:t>𝑘</m:t>
                    </m:r>
                  </m:oMath>
                </a14:m>
                <a:r>
                  <a:rPr lang="en-US" b="0" dirty="0">
                    <a:sym typeface="Wingdings" pitchFamily="2" charset="2"/>
                  </a:rPr>
                  <a:t> using explained variance </a:t>
                </a:r>
                <a:endParaRPr lang="en-US" dirty="0">
                  <a:sym typeface="Wingdings" pitchFamily="2" charset="2"/>
                </a:endParaRPr>
              </a:p>
              <a:p>
                <a:pPr marL="114300" indent="0" algn="ctr">
                  <a:buNone/>
                </a:pPr>
                <a14:m>
                  <m:oMathPara xmlns:m="http://schemas.openxmlformats.org/officeDocument/2006/math">
                    <m:oMathParaPr>
                      <m:jc m:val="centerGroup"/>
                    </m:oMathParaPr>
                    <m:oMath xmlns:m="http://schemas.openxmlformats.org/officeDocument/2006/math">
                      <m:r>
                        <m:rPr>
                          <m:nor/>
                        </m:rPr>
                        <a:rPr lang="en-US" b="0" i="0" smtClean="0">
                          <a:latin typeface="Cambria Math" panose="02040503050406030204" pitchFamily="18" charset="0"/>
                          <a:sym typeface="Wingdings" pitchFamily="2" charset="2"/>
                        </a:rPr>
                        <m:t>variance</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explained</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by</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component</m:t>
                      </m:r>
                      <m:r>
                        <m:rPr>
                          <m:nor/>
                        </m:rPr>
                        <a:rPr lang="en-US" b="0" i="0" smtClean="0">
                          <a:latin typeface="Cambria Math" panose="02040503050406030204" pitchFamily="18" charset="0"/>
                          <a:sym typeface="Wingdings" pitchFamily="2" charset="2"/>
                        </a:rPr>
                        <m:t> </m:t>
                      </m:r>
                      <m:r>
                        <a:rPr lang="en-US" b="0" i="1" smtClean="0">
                          <a:latin typeface="Cambria Math" panose="02040503050406030204" pitchFamily="18" charset="0"/>
                          <a:sym typeface="Wingdings" pitchFamily="2" charset="2"/>
                        </a:rPr>
                        <m:t>𝑖</m:t>
                      </m:r>
                      <m:r>
                        <a:rPr lang="en-US" b="0" i="1" smtClean="0">
                          <a:latin typeface="Cambria Math" panose="02040503050406030204" pitchFamily="18" charset="0"/>
                          <a:sym typeface="Wingdings" pitchFamily="2" charset="2"/>
                        </a:rPr>
                        <m:t>=</m:t>
                      </m:r>
                      <m:f>
                        <m:fPr>
                          <m:ctrlPr>
                            <a:rPr lang="en-US" b="0" i="1" smtClean="0">
                              <a:latin typeface="Cambria Math" panose="02040503050406030204" pitchFamily="18" charset="0"/>
                              <a:sym typeface="Wingdings" pitchFamily="2" charset="2"/>
                            </a:rPr>
                          </m:ctrlPr>
                        </m:fPr>
                        <m:num>
                          <m:sSubSup>
                            <m:sSubSupPr>
                              <m:ctrlPr>
                                <a:rPr lang="en-US" b="0" i="1" smtClean="0">
                                  <a:latin typeface="Cambria Math" panose="02040503050406030204" pitchFamily="18" charset="0"/>
                                  <a:sym typeface="Wingdings" pitchFamily="2" charset="2"/>
                                </a:rPr>
                              </m:ctrlPr>
                            </m:sSubSupPr>
                            <m:e>
                              <m:r>
                                <a:rPr lang="en-US" b="0" i="1" smtClean="0">
                                  <a:latin typeface="Cambria Math" panose="02040503050406030204" pitchFamily="18" charset="0"/>
                                  <a:sym typeface="Wingdings" pitchFamily="2" charset="2"/>
                                </a:rPr>
                                <m:t>𝜎</m:t>
                              </m:r>
                            </m:e>
                            <m:sub>
                              <m:r>
                                <a:rPr lang="en-US" b="0" i="1" smtClean="0">
                                  <a:latin typeface="Cambria Math" panose="02040503050406030204" pitchFamily="18" charset="0"/>
                                  <a:sym typeface="Wingdings" pitchFamily="2" charset="2"/>
                                </a:rPr>
                                <m:t>𝑖</m:t>
                              </m:r>
                            </m:sub>
                            <m:sup>
                              <m:r>
                                <a:rPr lang="en-US" b="0" i="1" smtClean="0">
                                  <a:latin typeface="Cambria Math" panose="02040503050406030204" pitchFamily="18" charset="0"/>
                                  <a:sym typeface="Wingdings" pitchFamily="2" charset="2"/>
                                </a:rPr>
                                <m:t>2</m:t>
                              </m:r>
                            </m:sup>
                          </m:sSubSup>
                        </m:num>
                        <m:den>
                          <m:nary>
                            <m:naryPr>
                              <m:chr m:val="∑"/>
                              <m:supHide m:val="on"/>
                              <m:ctrlPr>
                                <a:rPr lang="en-US" b="0" i="1" smtClean="0">
                                  <a:latin typeface="Cambria Math" panose="02040503050406030204" pitchFamily="18" charset="0"/>
                                  <a:sym typeface="Wingdings" pitchFamily="2" charset="2"/>
                                </a:rPr>
                              </m:ctrlPr>
                            </m:naryPr>
                            <m:sub>
                              <m:r>
                                <a:rPr lang="en-US" b="0" i="1" smtClean="0">
                                  <a:latin typeface="Cambria Math" panose="02040503050406030204" pitchFamily="18" charset="0"/>
                                  <a:sym typeface="Wingdings" pitchFamily="2" charset="2"/>
                                </a:rPr>
                                <m:t>𝑗</m:t>
                              </m:r>
                            </m:sub>
                            <m:sup/>
                            <m:e>
                              <m:sSubSup>
                                <m:sSubSupPr>
                                  <m:ctrlPr>
                                    <a:rPr lang="en-US" b="0" i="1" smtClean="0">
                                      <a:latin typeface="Cambria Math" panose="02040503050406030204" pitchFamily="18" charset="0"/>
                                      <a:sym typeface="Wingdings" pitchFamily="2" charset="2"/>
                                    </a:rPr>
                                  </m:ctrlPr>
                                </m:sSubSupPr>
                                <m:e>
                                  <m:r>
                                    <a:rPr lang="en-US" b="0" i="1" smtClean="0">
                                      <a:latin typeface="Cambria Math" panose="02040503050406030204" pitchFamily="18" charset="0"/>
                                      <a:sym typeface="Wingdings" pitchFamily="2" charset="2"/>
                                    </a:rPr>
                                    <m:t>𝜎</m:t>
                                  </m:r>
                                </m:e>
                                <m:sub>
                                  <m:r>
                                    <a:rPr lang="en-US" b="0" i="1" smtClean="0">
                                      <a:latin typeface="Cambria Math" panose="02040503050406030204" pitchFamily="18" charset="0"/>
                                      <a:sym typeface="Wingdings" pitchFamily="2" charset="2"/>
                                    </a:rPr>
                                    <m:t>𝑗</m:t>
                                  </m:r>
                                </m:sub>
                                <m:sup>
                                  <m:r>
                                    <a:rPr lang="en-US" b="0" i="1" smtClean="0">
                                      <a:latin typeface="Cambria Math" panose="02040503050406030204" pitchFamily="18" charset="0"/>
                                      <a:sym typeface="Wingdings" pitchFamily="2" charset="2"/>
                                    </a:rPr>
                                    <m:t>2</m:t>
                                  </m:r>
                                </m:sup>
                              </m:sSubSup>
                            </m:e>
                          </m:nary>
                        </m:den>
                      </m:f>
                    </m:oMath>
                  </m:oMathPara>
                </a14:m>
                <a:endParaRPr lang="en-US" b="0" dirty="0">
                  <a:sym typeface="Wingdings" pitchFamily="2" charset="2"/>
                </a:endParaRPr>
              </a:p>
              <a:p>
                <a:pPr marL="114300" indent="0" algn="ctr">
                  <a:buNone/>
                </a:pPr>
                <a:endParaRPr lang="en-US" b="0" dirty="0">
                  <a:sym typeface="Wingdings" pitchFamily="2" charset="2"/>
                </a:endParaRPr>
              </a:p>
              <a:p>
                <a:pPr marL="114300" indent="0">
                  <a:buNone/>
                </a:pPr>
                <a:r>
                  <a:rPr lang="en-US" b="0" dirty="0"/>
                  <a:t> </a:t>
                </a:r>
              </a:p>
              <a:p>
                <a:pPr marL="114300" indent="0">
                  <a:buNone/>
                </a:pPr>
                <a:endParaRPr lang="en-US" dirty="0"/>
              </a:p>
            </p:txBody>
          </p:sp>
        </mc:Choice>
        <mc:Fallback xmlns="">
          <p:sp>
            <p:nvSpPr>
              <p:cNvPr id="3" name="Text Placeholder 2">
                <a:extLst>
                  <a:ext uri="{FF2B5EF4-FFF2-40B4-BE49-F238E27FC236}">
                    <a16:creationId xmlns:a16="http://schemas.microsoft.com/office/drawing/2014/main" id="{71500D71-894B-6107-417C-5EAEC4A4396B}"/>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594033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06C47-E112-7905-392A-64C0149DA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152A-5AC6-AB46-5151-B2C93B7FFD8C}"/>
              </a:ext>
            </a:extLst>
          </p:cNvPr>
          <p:cNvSpPr>
            <a:spLocks noGrp="1"/>
          </p:cNvSpPr>
          <p:nvPr>
            <p:ph type="title"/>
          </p:nvPr>
        </p:nvSpPr>
        <p:spPr/>
        <p:txBody>
          <a:bodyPr>
            <a:normAutofit fontScale="90000"/>
          </a:bodyPr>
          <a:lstStyle/>
          <a:p>
            <a:r>
              <a:rPr lang="en-US" dirty="0"/>
              <a:t>Feature Extraction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2952BCE-3A51-12CC-3659-B6643FA2FA6D}"/>
                  </a:ext>
                </a:extLst>
              </p:cNvPr>
              <p:cNvSpPr>
                <a:spLocks noGrp="1"/>
              </p:cNvSpPr>
              <p:nvPr>
                <p:ph type="body" idx="1"/>
              </p:nvPr>
            </p:nvSpPr>
            <p:spPr/>
            <p:txBody>
              <a:bodyPr/>
              <a:lstStyle/>
              <a:p>
                <a:pPr marL="114300" indent="0">
                  <a:buNone/>
                </a:pPr>
                <a:r>
                  <a:rPr lang="en-US" dirty="0"/>
                  <a:t>Goal: pick number of latent features </a:t>
                </a:r>
                <a14:m>
                  <m:oMath xmlns:m="http://schemas.openxmlformats.org/officeDocument/2006/math">
                    <m:r>
                      <a:rPr lang="en-US" b="0" i="1" smtClean="0">
                        <a:latin typeface="Cambria Math" panose="02040503050406030204" pitchFamily="18" charset="0"/>
                      </a:rPr>
                      <m:t>𝑘</m:t>
                    </m:r>
                  </m:oMath>
                </a14:m>
                <a:r>
                  <a:rPr lang="en-US" b="0" dirty="0"/>
                  <a:t> using our SVD </a:t>
                </a:r>
                <a:r>
                  <a:rPr lang="en-US" b="0" dirty="0">
                    <a:sym typeface="Wingdings" pitchFamily="2" charset="2"/>
                  </a:rPr>
                  <a:t> pick </a:t>
                </a:r>
                <a14:m>
                  <m:oMath xmlns:m="http://schemas.openxmlformats.org/officeDocument/2006/math">
                    <m:r>
                      <a:rPr lang="en-US" b="0" i="1" smtClean="0">
                        <a:latin typeface="Cambria Math" panose="02040503050406030204" pitchFamily="18" charset="0"/>
                        <a:sym typeface="Wingdings" pitchFamily="2" charset="2"/>
                      </a:rPr>
                      <m:t>𝑘</m:t>
                    </m:r>
                  </m:oMath>
                </a14:m>
                <a:r>
                  <a:rPr lang="en-US" b="0" dirty="0">
                    <a:sym typeface="Wingdings" pitchFamily="2" charset="2"/>
                  </a:rPr>
                  <a:t> using explained variance </a:t>
                </a:r>
                <a:endParaRPr lang="en-US" dirty="0">
                  <a:sym typeface="Wingdings" pitchFamily="2" charset="2"/>
                </a:endParaRPr>
              </a:p>
              <a:p>
                <a:pPr marL="114300" indent="0" algn="ctr">
                  <a:buNone/>
                </a:pPr>
                <a14:m>
                  <m:oMathPara xmlns:m="http://schemas.openxmlformats.org/officeDocument/2006/math">
                    <m:oMathParaPr>
                      <m:jc m:val="centerGroup"/>
                    </m:oMathParaPr>
                    <m:oMath xmlns:m="http://schemas.openxmlformats.org/officeDocument/2006/math">
                      <m:r>
                        <m:rPr>
                          <m:nor/>
                        </m:rPr>
                        <a:rPr lang="en-US" b="0" i="0" smtClean="0">
                          <a:latin typeface="Cambria Math" panose="02040503050406030204" pitchFamily="18" charset="0"/>
                          <a:sym typeface="Wingdings" pitchFamily="2" charset="2"/>
                        </a:rPr>
                        <m:t>variance</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explained</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by</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component</m:t>
                      </m:r>
                      <m:r>
                        <m:rPr>
                          <m:nor/>
                        </m:rPr>
                        <a:rPr lang="en-US" b="0" i="0" smtClean="0">
                          <a:latin typeface="Cambria Math" panose="02040503050406030204" pitchFamily="18" charset="0"/>
                          <a:sym typeface="Wingdings" pitchFamily="2" charset="2"/>
                        </a:rPr>
                        <m:t> </m:t>
                      </m:r>
                      <m:r>
                        <a:rPr lang="en-US" b="0" i="1" smtClean="0">
                          <a:latin typeface="Cambria Math" panose="02040503050406030204" pitchFamily="18" charset="0"/>
                          <a:sym typeface="Wingdings" pitchFamily="2" charset="2"/>
                        </a:rPr>
                        <m:t>𝑖</m:t>
                      </m:r>
                      <m:r>
                        <a:rPr lang="en-US" b="0" i="1" smtClean="0">
                          <a:latin typeface="Cambria Math" panose="02040503050406030204" pitchFamily="18" charset="0"/>
                          <a:sym typeface="Wingdings" pitchFamily="2" charset="2"/>
                        </a:rPr>
                        <m:t>=</m:t>
                      </m:r>
                      <m:f>
                        <m:fPr>
                          <m:ctrlPr>
                            <a:rPr lang="en-US" b="0" i="1" smtClean="0">
                              <a:latin typeface="Cambria Math" panose="02040503050406030204" pitchFamily="18" charset="0"/>
                              <a:sym typeface="Wingdings" pitchFamily="2" charset="2"/>
                            </a:rPr>
                          </m:ctrlPr>
                        </m:fPr>
                        <m:num>
                          <m:sSubSup>
                            <m:sSubSupPr>
                              <m:ctrlPr>
                                <a:rPr lang="en-US" b="0" i="1" smtClean="0">
                                  <a:latin typeface="Cambria Math" panose="02040503050406030204" pitchFamily="18" charset="0"/>
                                  <a:sym typeface="Wingdings" pitchFamily="2" charset="2"/>
                                </a:rPr>
                              </m:ctrlPr>
                            </m:sSubSupPr>
                            <m:e>
                              <m:r>
                                <a:rPr lang="en-US" b="0" i="1" smtClean="0">
                                  <a:latin typeface="Cambria Math" panose="02040503050406030204" pitchFamily="18" charset="0"/>
                                  <a:sym typeface="Wingdings" pitchFamily="2" charset="2"/>
                                </a:rPr>
                                <m:t>𝜎</m:t>
                              </m:r>
                            </m:e>
                            <m:sub>
                              <m:r>
                                <a:rPr lang="en-US" b="0" i="1" smtClean="0">
                                  <a:latin typeface="Cambria Math" panose="02040503050406030204" pitchFamily="18" charset="0"/>
                                  <a:sym typeface="Wingdings" pitchFamily="2" charset="2"/>
                                </a:rPr>
                                <m:t>𝑖</m:t>
                              </m:r>
                            </m:sub>
                            <m:sup>
                              <m:r>
                                <a:rPr lang="en-US" b="0" i="1" smtClean="0">
                                  <a:latin typeface="Cambria Math" panose="02040503050406030204" pitchFamily="18" charset="0"/>
                                  <a:sym typeface="Wingdings" pitchFamily="2" charset="2"/>
                                </a:rPr>
                                <m:t>2</m:t>
                              </m:r>
                            </m:sup>
                          </m:sSubSup>
                        </m:num>
                        <m:den>
                          <m:nary>
                            <m:naryPr>
                              <m:chr m:val="∑"/>
                              <m:supHide m:val="on"/>
                              <m:ctrlPr>
                                <a:rPr lang="en-US" b="0" i="1" smtClean="0">
                                  <a:latin typeface="Cambria Math" panose="02040503050406030204" pitchFamily="18" charset="0"/>
                                  <a:sym typeface="Wingdings" pitchFamily="2" charset="2"/>
                                </a:rPr>
                              </m:ctrlPr>
                            </m:naryPr>
                            <m:sub>
                              <m:r>
                                <a:rPr lang="en-US" b="0" i="1" smtClean="0">
                                  <a:latin typeface="Cambria Math" panose="02040503050406030204" pitchFamily="18" charset="0"/>
                                  <a:sym typeface="Wingdings" pitchFamily="2" charset="2"/>
                                </a:rPr>
                                <m:t>𝑗</m:t>
                              </m:r>
                            </m:sub>
                            <m:sup/>
                            <m:e>
                              <m:sSubSup>
                                <m:sSubSupPr>
                                  <m:ctrlPr>
                                    <a:rPr lang="en-US" b="0" i="1" smtClean="0">
                                      <a:latin typeface="Cambria Math" panose="02040503050406030204" pitchFamily="18" charset="0"/>
                                      <a:sym typeface="Wingdings" pitchFamily="2" charset="2"/>
                                    </a:rPr>
                                  </m:ctrlPr>
                                </m:sSubSupPr>
                                <m:e>
                                  <m:r>
                                    <a:rPr lang="en-US" b="0" i="1" smtClean="0">
                                      <a:latin typeface="Cambria Math" panose="02040503050406030204" pitchFamily="18" charset="0"/>
                                      <a:sym typeface="Wingdings" pitchFamily="2" charset="2"/>
                                    </a:rPr>
                                    <m:t>𝜎</m:t>
                                  </m:r>
                                </m:e>
                                <m:sub>
                                  <m:r>
                                    <a:rPr lang="en-US" b="0" i="1" smtClean="0">
                                      <a:latin typeface="Cambria Math" panose="02040503050406030204" pitchFamily="18" charset="0"/>
                                      <a:sym typeface="Wingdings" pitchFamily="2" charset="2"/>
                                    </a:rPr>
                                    <m:t>𝑗</m:t>
                                  </m:r>
                                </m:sub>
                                <m:sup>
                                  <m:r>
                                    <a:rPr lang="en-US" b="0" i="1" smtClean="0">
                                      <a:latin typeface="Cambria Math" panose="02040503050406030204" pitchFamily="18" charset="0"/>
                                      <a:sym typeface="Wingdings" pitchFamily="2" charset="2"/>
                                    </a:rPr>
                                    <m:t>2</m:t>
                                  </m:r>
                                </m:sup>
                              </m:sSubSup>
                            </m:e>
                          </m:nary>
                        </m:den>
                      </m:f>
                    </m:oMath>
                  </m:oMathPara>
                </a14:m>
                <a:endParaRPr lang="en-US" b="0" dirty="0">
                  <a:sym typeface="Wingdings" pitchFamily="2" charset="2"/>
                </a:endParaRPr>
              </a:p>
              <a:p>
                <a:pPr marL="114300" indent="0" algn="ctr">
                  <a:buNone/>
                </a:pPr>
                <a:endParaRPr lang="en-US" b="0" dirty="0">
                  <a:sym typeface="Wingdings" pitchFamily="2" charset="2"/>
                </a:endParaRPr>
              </a:p>
              <a:p>
                <a:pPr marL="114300" indent="0">
                  <a:buNone/>
                </a:pPr>
                <a:r>
                  <a:rPr lang="en-US" b="0" dirty="0"/>
                  <a:t>Need to decide how much </a:t>
                </a:r>
                <a:r>
                  <a:rPr lang="en-US" dirty="0"/>
                  <a:t>variance we want to keep (90%? 95%?)</a:t>
                </a:r>
                <a:endParaRPr lang="en-US" b="0" dirty="0"/>
              </a:p>
            </p:txBody>
          </p:sp>
        </mc:Choice>
        <mc:Fallback xmlns="">
          <p:sp>
            <p:nvSpPr>
              <p:cNvPr id="3" name="Text Placeholder 2">
                <a:extLst>
                  <a:ext uri="{FF2B5EF4-FFF2-40B4-BE49-F238E27FC236}">
                    <a16:creationId xmlns:a16="http://schemas.microsoft.com/office/drawing/2014/main" id="{52952BCE-3A51-12CC-3659-B6643FA2FA6D}"/>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673913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52A38-96FF-DEA0-07FB-35BB29A1B2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3CAD9-C593-9379-6395-DFF823F9B1BC}"/>
              </a:ext>
            </a:extLst>
          </p:cNvPr>
          <p:cNvSpPr>
            <a:spLocks noGrp="1"/>
          </p:cNvSpPr>
          <p:nvPr>
            <p:ph type="title"/>
          </p:nvPr>
        </p:nvSpPr>
        <p:spPr/>
        <p:txBody>
          <a:bodyPr>
            <a:normAutofit fontScale="90000"/>
          </a:bodyPr>
          <a:lstStyle/>
          <a:p>
            <a:r>
              <a:rPr lang="en-US" dirty="0"/>
              <a:t>Feature Extraction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9465A24-A3FF-1E69-AB5B-1F6EE95F80ED}"/>
                  </a:ext>
                </a:extLst>
              </p:cNvPr>
              <p:cNvSpPr>
                <a:spLocks noGrp="1"/>
              </p:cNvSpPr>
              <p:nvPr>
                <p:ph type="body" idx="1"/>
              </p:nvPr>
            </p:nvSpPr>
            <p:spPr/>
            <p:txBody>
              <a:bodyPr/>
              <a:lstStyle/>
              <a:p>
                <a:pPr marL="114300" indent="0">
                  <a:buNone/>
                </a:pPr>
                <a:r>
                  <a:rPr lang="en-US" dirty="0"/>
                  <a:t>Goal: pick number of latent features </a:t>
                </a:r>
                <a14:m>
                  <m:oMath xmlns:m="http://schemas.openxmlformats.org/officeDocument/2006/math">
                    <m:r>
                      <a:rPr lang="en-US" b="0" i="1" smtClean="0">
                        <a:latin typeface="Cambria Math" panose="02040503050406030204" pitchFamily="18" charset="0"/>
                      </a:rPr>
                      <m:t>𝑘</m:t>
                    </m:r>
                  </m:oMath>
                </a14:m>
                <a:r>
                  <a:rPr lang="en-US" b="0" dirty="0"/>
                  <a:t> using our SVD </a:t>
                </a:r>
                <a:r>
                  <a:rPr lang="en-US" b="0" dirty="0">
                    <a:sym typeface="Wingdings" pitchFamily="2" charset="2"/>
                  </a:rPr>
                  <a:t> pick </a:t>
                </a:r>
                <a14:m>
                  <m:oMath xmlns:m="http://schemas.openxmlformats.org/officeDocument/2006/math">
                    <m:r>
                      <a:rPr lang="en-US" b="0" i="1" smtClean="0">
                        <a:latin typeface="Cambria Math" panose="02040503050406030204" pitchFamily="18" charset="0"/>
                        <a:sym typeface="Wingdings" pitchFamily="2" charset="2"/>
                      </a:rPr>
                      <m:t>𝑘</m:t>
                    </m:r>
                  </m:oMath>
                </a14:m>
                <a:r>
                  <a:rPr lang="en-US" b="0" dirty="0">
                    <a:sym typeface="Wingdings" pitchFamily="2" charset="2"/>
                  </a:rPr>
                  <a:t> using explained variance </a:t>
                </a:r>
                <a:endParaRPr lang="en-US" dirty="0">
                  <a:sym typeface="Wingdings" pitchFamily="2" charset="2"/>
                </a:endParaRPr>
              </a:p>
              <a:p>
                <a:pPr marL="114300" indent="0" algn="ctr">
                  <a:buNone/>
                </a:pPr>
                <a14:m>
                  <m:oMathPara xmlns:m="http://schemas.openxmlformats.org/officeDocument/2006/math">
                    <m:oMathParaPr>
                      <m:jc m:val="centerGroup"/>
                    </m:oMathParaPr>
                    <m:oMath xmlns:m="http://schemas.openxmlformats.org/officeDocument/2006/math">
                      <m:r>
                        <m:rPr>
                          <m:nor/>
                        </m:rPr>
                        <a:rPr lang="en-US" b="0" i="0" smtClean="0">
                          <a:latin typeface="Cambria Math" panose="02040503050406030204" pitchFamily="18" charset="0"/>
                          <a:sym typeface="Wingdings" pitchFamily="2" charset="2"/>
                        </a:rPr>
                        <m:t>variance</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explained</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by</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component</m:t>
                      </m:r>
                      <m:r>
                        <m:rPr>
                          <m:nor/>
                        </m:rPr>
                        <a:rPr lang="en-US" b="0" i="0" smtClean="0">
                          <a:latin typeface="Cambria Math" panose="02040503050406030204" pitchFamily="18" charset="0"/>
                          <a:sym typeface="Wingdings" pitchFamily="2" charset="2"/>
                        </a:rPr>
                        <m:t> </m:t>
                      </m:r>
                      <m:r>
                        <a:rPr lang="en-US" b="0" i="1" smtClean="0">
                          <a:latin typeface="Cambria Math" panose="02040503050406030204" pitchFamily="18" charset="0"/>
                          <a:sym typeface="Wingdings" pitchFamily="2" charset="2"/>
                        </a:rPr>
                        <m:t>𝑖</m:t>
                      </m:r>
                      <m:r>
                        <a:rPr lang="en-US" b="0" i="1" smtClean="0">
                          <a:latin typeface="Cambria Math" panose="02040503050406030204" pitchFamily="18" charset="0"/>
                          <a:sym typeface="Wingdings" pitchFamily="2" charset="2"/>
                        </a:rPr>
                        <m:t>=</m:t>
                      </m:r>
                      <m:f>
                        <m:fPr>
                          <m:ctrlPr>
                            <a:rPr lang="en-US" b="0" i="1" smtClean="0">
                              <a:latin typeface="Cambria Math" panose="02040503050406030204" pitchFamily="18" charset="0"/>
                              <a:sym typeface="Wingdings" pitchFamily="2" charset="2"/>
                            </a:rPr>
                          </m:ctrlPr>
                        </m:fPr>
                        <m:num>
                          <m:sSubSup>
                            <m:sSubSupPr>
                              <m:ctrlPr>
                                <a:rPr lang="en-US" b="0" i="1" smtClean="0">
                                  <a:latin typeface="Cambria Math" panose="02040503050406030204" pitchFamily="18" charset="0"/>
                                  <a:sym typeface="Wingdings" pitchFamily="2" charset="2"/>
                                </a:rPr>
                              </m:ctrlPr>
                            </m:sSubSupPr>
                            <m:e>
                              <m:r>
                                <a:rPr lang="en-US" b="0" i="1" smtClean="0">
                                  <a:latin typeface="Cambria Math" panose="02040503050406030204" pitchFamily="18" charset="0"/>
                                  <a:sym typeface="Wingdings" pitchFamily="2" charset="2"/>
                                </a:rPr>
                                <m:t>𝜎</m:t>
                              </m:r>
                            </m:e>
                            <m:sub>
                              <m:r>
                                <a:rPr lang="en-US" b="0" i="1" smtClean="0">
                                  <a:latin typeface="Cambria Math" panose="02040503050406030204" pitchFamily="18" charset="0"/>
                                  <a:sym typeface="Wingdings" pitchFamily="2" charset="2"/>
                                </a:rPr>
                                <m:t>𝑖</m:t>
                              </m:r>
                            </m:sub>
                            <m:sup>
                              <m:r>
                                <a:rPr lang="en-US" b="0" i="1" smtClean="0">
                                  <a:latin typeface="Cambria Math" panose="02040503050406030204" pitchFamily="18" charset="0"/>
                                  <a:sym typeface="Wingdings" pitchFamily="2" charset="2"/>
                                </a:rPr>
                                <m:t>2</m:t>
                              </m:r>
                            </m:sup>
                          </m:sSubSup>
                        </m:num>
                        <m:den>
                          <m:nary>
                            <m:naryPr>
                              <m:chr m:val="∑"/>
                              <m:supHide m:val="on"/>
                              <m:ctrlPr>
                                <a:rPr lang="en-US" b="0" i="1" smtClean="0">
                                  <a:latin typeface="Cambria Math" panose="02040503050406030204" pitchFamily="18" charset="0"/>
                                  <a:sym typeface="Wingdings" pitchFamily="2" charset="2"/>
                                </a:rPr>
                              </m:ctrlPr>
                            </m:naryPr>
                            <m:sub>
                              <m:r>
                                <a:rPr lang="en-US" b="0" i="1" smtClean="0">
                                  <a:latin typeface="Cambria Math" panose="02040503050406030204" pitchFamily="18" charset="0"/>
                                  <a:sym typeface="Wingdings" pitchFamily="2" charset="2"/>
                                </a:rPr>
                                <m:t>𝑗</m:t>
                              </m:r>
                            </m:sub>
                            <m:sup/>
                            <m:e>
                              <m:sSubSup>
                                <m:sSubSupPr>
                                  <m:ctrlPr>
                                    <a:rPr lang="en-US" b="0" i="1" smtClean="0">
                                      <a:latin typeface="Cambria Math" panose="02040503050406030204" pitchFamily="18" charset="0"/>
                                      <a:sym typeface="Wingdings" pitchFamily="2" charset="2"/>
                                    </a:rPr>
                                  </m:ctrlPr>
                                </m:sSubSupPr>
                                <m:e>
                                  <m:r>
                                    <a:rPr lang="en-US" b="0" i="1" smtClean="0">
                                      <a:latin typeface="Cambria Math" panose="02040503050406030204" pitchFamily="18" charset="0"/>
                                      <a:sym typeface="Wingdings" pitchFamily="2" charset="2"/>
                                    </a:rPr>
                                    <m:t>𝜎</m:t>
                                  </m:r>
                                </m:e>
                                <m:sub>
                                  <m:r>
                                    <a:rPr lang="en-US" b="0" i="1" smtClean="0">
                                      <a:latin typeface="Cambria Math" panose="02040503050406030204" pitchFamily="18" charset="0"/>
                                      <a:sym typeface="Wingdings" pitchFamily="2" charset="2"/>
                                    </a:rPr>
                                    <m:t>𝑗</m:t>
                                  </m:r>
                                </m:sub>
                                <m:sup>
                                  <m:r>
                                    <a:rPr lang="en-US" b="0" i="1" smtClean="0">
                                      <a:latin typeface="Cambria Math" panose="02040503050406030204" pitchFamily="18" charset="0"/>
                                      <a:sym typeface="Wingdings" pitchFamily="2" charset="2"/>
                                    </a:rPr>
                                    <m:t>2</m:t>
                                  </m:r>
                                </m:sup>
                              </m:sSubSup>
                            </m:e>
                          </m:nary>
                        </m:den>
                      </m:f>
                    </m:oMath>
                  </m:oMathPara>
                </a14:m>
                <a:endParaRPr lang="en-US" b="0" dirty="0">
                  <a:sym typeface="Wingdings" pitchFamily="2" charset="2"/>
                </a:endParaRPr>
              </a:p>
              <a:p>
                <a:pPr marL="114300" indent="0">
                  <a:buNone/>
                </a:pPr>
                <a:endParaRPr lang="en-US" dirty="0">
                  <a:sym typeface="Wingdings" pitchFamily="2" charset="2"/>
                </a:endParaRPr>
              </a:p>
              <a:p>
                <a:pPr marL="114300" indent="0">
                  <a:buNone/>
                </a:pPr>
                <a:r>
                  <a:rPr lang="en-US" b="0" dirty="0"/>
                  <a:t>Need to decide how much </a:t>
                </a:r>
                <a:r>
                  <a:rPr lang="en-US" dirty="0"/>
                  <a:t>variance we want to keep (90%? 95%?)</a:t>
                </a:r>
              </a:p>
              <a:p>
                <a:r>
                  <a:rPr lang="en-US" dirty="0"/>
                  <a:t>Once we decide which </a:t>
                </a:r>
                <a14:m>
                  <m:oMath xmlns:m="http://schemas.openxmlformats.org/officeDocument/2006/math">
                    <m:r>
                      <a:rPr lang="en-US" b="0" i="1" smtClean="0">
                        <a:latin typeface="Cambria Math" panose="02040503050406030204" pitchFamily="18" charset="0"/>
                      </a:rPr>
                      <m:t>𝑘</m:t>
                    </m:r>
                  </m:oMath>
                </a14:m>
                <a:r>
                  <a:rPr lang="en-US" b="0" dirty="0"/>
                  <a:t> components to keep, we will keep the first </a:t>
                </a:r>
                <a14:m>
                  <m:oMath xmlns:m="http://schemas.openxmlformats.org/officeDocument/2006/math">
                    <m:r>
                      <a:rPr lang="en-US" b="0" i="1" smtClean="0">
                        <a:latin typeface="Cambria Math" panose="02040503050406030204" pitchFamily="18" charset="0"/>
                      </a:rPr>
                      <m:t>𝑘</m:t>
                    </m:r>
                  </m:oMath>
                </a14:m>
                <a:r>
                  <a:rPr lang="en-US" b="0" dirty="0"/>
                  <a:t> columns of </a:t>
                </a: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 </m:t>
                    </m:r>
                    <m:r>
                      <m:rPr>
                        <m:sty m:val="p"/>
                      </m:rPr>
                      <a:rPr lang="en-US" b="0" i="0" smtClean="0">
                        <a:latin typeface="Cambria Math" panose="02040503050406030204" pitchFamily="18" charset="0"/>
                      </a:rPr>
                      <m:t>Σ</m:t>
                    </m:r>
                    <m:r>
                      <a:rPr lang="en-US" b="0" i="1" smtClean="0">
                        <a:latin typeface="Cambria Math" panose="02040503050406030204" pitchFamily="18" charset="0"/>
                      </a:rPr>
                      <m:t>, </m:t>
                    </m:r>
                    <m:r>
                      <a:rPr lang="en-US" b="0" i="1" smtClean="0">
                        <a:latin typeface="Cambria Math" panose="02040503050406030204" pitchFamily="18" charset="0"/>
                      </a:rPr>
                      <m:t>𝑉</m:t>
                    </m:r>
                  </m:oMath>
                </a14:m>
                <a:endParaRPr lang="en-US" b="0" dirty="0"/>
              </a:p>
              <a:p>
                <a:endParaRPr lang="en-US" b="0" dirty="0"/>
              </a:p>
              <a:p>
                <a:endParaRPr lang="en-US" b="0" dirty="0"/>
              </a:p>
              <a:p>
                <a:endParaRPr lang="en-US" dirty="0"/>
              </a:p>
              <a:p>
                <a:pPr marL="114300" indent="0">
                  <a:buNone/>
                </a:pPr>
                <a:endParaRPr lang="en-US" b="0" dirty="0"/>
              </a:p>
              <a:p>
                <a:pPr marL="114300" indent="0">
                  <a:buNone/>
                </a:pPr>
                <a:endParaRPr lang="en-US" b="0" dirty="0"/>
              </a:p>
            </p:txBody>
          </p:sp>
        </mc:Choice>
        <mc:Fallback xmlns="">
          <p:sp>
            <p:nvSpPr>
              <p:cNvPr id="3" name="Text Placeholder 2">
                <a:extLst>
                  <a:ext uri="{FF2B5EF4-FFF2-40B4-BE49-F238E27FC236}">
                    <a16:creationId xmlns:a16="http://schemas.microsoft.com/office/drawing/2014/main" id="{19465A24-A3FF-1E69-AB5B-1F6EE95F80ED}"/>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339940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F8C4B-CA3D-900A-55F1-B43255DA2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56DCF9-418A-35C1-4A93-8FB9E763C635}"/>
              </a:ext>
            </a:extLst>
          </p:cNvPr>
          <p:cNvSpPr>
            <a:spLocks noGrp="1"/>
          </p:cNvSpPr>
          <p:nvPr>
            <p:ph type="title"/>
          </p:nvPr>
        </p:nvSpPr>
        <p:spPr/>
        <p:txBody>
          <a:bodyPr>
            <a:normAutofit fontScale="90000"/>
          </a:bodyPr>
          <a:lstStyle/>
          <a:p>
            <a:r>
              <a:rPr lang="en-US" dirty="0"/>
              <a:t>Feature Extraction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11D2822-002D-7E59-F4FF-464D2C3549E7}"/>
                  </a:ext>
                </a:extLst>
              </p:cNvPr>
              <p:cNvSpPr>
                <a:spLocks noGrp="1"/>
              </p:cNvSpPr>
              <p:nvPr>
                <p:ph type="body" idx="1"/>
              </p:nvPr>
            </p:nvSpPr>
            <p:spPr/>
            <p:txBody>
              <a:bodyPr/>
              <a:lstStyle/>
              <a:p>
                <a:pPr marL="114300" indent="0">
                  <a:buNone/>
                </a:pPr>
                <a:r>
                  <a:rPr lang="en-US" dirty="0"/>
                  <a:t>Once we decide which </a:t>
                </a:r>
                <a14:m>
                  <m:oMath xmlns:m="http://schemas.openxmlformats.org/officeDocument/2006/math">
                    <m:r>
                      <a:rPr lang="en-US" b="0" i="1" smtClean="0">
                        <a:latin typeface="Cambria Math" panose="02040503050406030204" pitchFamily="18" charset="0"/>
                      </a:rPr>
                      <m:t>𝑘</m:t>
                    </m:r>
                  </m:oMath>
                </a14:m>
                <a:r>
                  <a:rPr lang="en-US" b="0" dirty="0"/>
                  <a:t> components to keep, we will keep the first </a:t>
                </a:r>
                <a14:m>
                  <m:oMath xmlns:m="http://schemas.openxmlformats.org/officeDocument/2006/math">
                    <m:r>
                      <a:rPr lang="en-US" b="0" i="1" smtClean="0">
                        <a:latin typeface="Cambria Math" panose="02040503050406030204" pitchFamily="18" charset="0"/>
                      </a:rPr>
                      <m:t>𝑘</m:t>
                    </m:r>
                  </m:oMath>
                </a14:m>
                <a:r>
                  <a:rPr lang="en-US" b="0" dirty="0"/>
                  <a:t> columns of </a:t>
                </a: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 </m:t>
                    </m:r>
                    <m:r>
                      <m:rPr>
                        <m:sty m:val="p"/>
                      </m:rPr>
                      <a:rPr lang="en-US" b="0" i="0" smtClean="0">
                        <a:latin typeface="Cambria Math" panose="02040503050406030204" pitchFamily="18" charset="0"/>
                      </a:rPr>
                      <m:t>Σ</m:t>
                    </m:r>
                    <m:r>
                      <a:rPr lang="en-US" b="0" i="1" smtClean="0">
                        <a:latin typeface="Cambria Math" panose="02040503050406030204" pitchFamily="18" charset="0"/>
                      </a:rPr>
                      <m:t>, </m:t>
                    </m:r>
                    <m:r>
                      <a:rPr lang="en-US" b="0" i="1" smtClean="0">
                        <a:latin typeface="Cambria Math" panose="02040503050406030204" pitchFamily="18" charset="0"/>
                      </a:rPr>
                      <m:t>𝑉</m:t>
                    </m:r>
                  </m:oMath>
                </a14:m>
                <a:endParaRPr lang="en-US" b="0" dirty="0"/>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𝑘</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𝑘</m:t>
                          </m:r>
                        </m:sup>
                      </m:sSup>
                    </m:oMath>
                  </m:oMathPara>
                </a14:m>
                <a:endParaRPr lang="en-US" dirty="0"/>
              </a:p>
              <a:p>
                <a:pPr marL="114300" indent="0">
                  <a:buNone/>
                </a:pPr>
                <a:endParaRPr lang="en-US" dirty="0"/>
              </a:p>
              <a:p>
                <a:pPr marL="114300" indent="0">
                  <a:buNone/>
                </a:pPr>
                <a:endParaRPr lang="en-US" b="0" dirty="0"/>
              </a:p>
              <a:p>
                <a:endParaRPr lang="en-US" dirty="0"/>
              </a:p>
              <a:p>
                <a:pPr marL="114300" indent="0">
                  <a:buNone/>
                </a:pPr>
                <a:endParaRPr lang="en-US" b="0" dirty="0"/>
              </a:p>
              <a:p>
                <a:pPr marL="114300" indent="0">
                  <a:buNone/>
                </a:pPr>
                <a:endParaRPr lang="en-US" b="0" dirty="0"/>
              </a:p>
            </p:txBody>
          </p:sp>
        </mc:Choice>
        <mc:Fallback xmlns="">
          <p:sp>
            <p:nvSpPr>
              <p:cNvPr id="3" name="Text Placeholder 2">
                <a:extLst>
                  <a:ext uri="{FF2B5EF4-FFF2-40B4-BE49-F238E27FC236}">
                    <a16:creationId xmlns:a16="http://schemas.microsoft.com/office/drawing/2014/main" id="{C11D2822-002D-7E59-F4FF-464D2C3549E7}"/>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2382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10F72-ED4C-3797-E6A8-157876A00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DB1DD-FC0B-26C5-649A-54F8C55428EA}"/>
              </a:ext>
            </a:extLst>
          </p:cNvPr>
          <p:cNvSpPr>
            <a:spLocks noGrp="1"/>
          </p:cNvSpPr>
          <p:nvPr>
            <p:ph type="title"/>
          </p:nvPr>
        </p:nvSpPr>
        <p:spPr/>
        <p:txBody>
          <a:bodyPr>
            <a:normAutofit fontScale="90000"/>
          </a:bodyPr>
          <a:lstStyle/>
          <a:p>
            <a:r>
              <a:rPr lang="en-US" dirty="0"/>
              <a:t>Feature Extraction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8802B77-98E8-AD3B-92D9-C71D95A4A12A}"/>
                  </a:ext>
                </a:extLst>
              </p:cNvPr>
              <p:cNvSpPr>
                <a:spLocks noGrp="1"/>
              </p:cNvSpPr>
              <p:nvPr>
                <p:ph type="body" idx="1"/>
              </p:nvPr>
            </p:nvSpPr>
            <p:spPr/>
            <p:txBody>
              <a:bodyPr/>
              <a:lstStyle/>
              <a:p>
                <a:pPr marL="114300" indent="0">
                  <a:buNone/>
                </a:pPr>
                <a:r>
                  <a:rPr lang="en-US" dirty="0"/>
                  <a:t>Once we decide which </a:t>
                </a:r>
                <a14:m>
                  <m:oMath xmlns:m="http://schemas.openxmlformats.org/officeDocument/2006/math">
                    <m:r>
                      <a:rPr lang="en-US" b="0" i="1" smtClean="0">
                        <a:latin typeface="Cambria Math" panose="02040503050406030204" pitchFamily="18" charset="0"/>
                      </a:rPr>
                      <m:t>𝑘</m:t>
                    </m:r>
                  </m:oMath>
                </a14:m>
                <a:r>
                  <a:rPr lang="en-US" b="0" dirty="0"/>
                  <a:t> components to keep, we will keep the first </a:t>
                </a:r>
                <a14:m>
                  <m:oMath xmlns:m="http://schemas.openxmlformats.org/officeDocument/2006/math">
                    <m:r>
                      <a:rPr lang="en-US" b="0" i="1" smtClean="0">
                        <a:latin typeface="Cambria Math" panose="02040503050406030204" pitchFamily="18" charset="0"/>
                      </a:rPr>
                      <m:t>𝑘</m:t>
                    </m:r>
                  </m:oMath>
                </a14:m>
                <a:r>
                  <a:rPr lang="en-US" b="0" dirty="0"/>
                  <a:t> columns of </a:t>
                </a: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 </m:t>
                    </m:r>
                    <m:r>
                      <m:rPr>
                        <m:sty m:val="p"/>
                      </m:rPr>
                      <a:rPr lang="en-US" b="0" i="0" smtClean="0">
                        <a:latin typeface="Cambria Math" panose="02040503050406030204" pitchFamily="18" charset="0"/>
                      </a:rPr>
                      <m:t>Σ</m:t>
                    </m:r>
                    <m:r>
                      <a:rPr lang="en-US" b="0" i="1" smtClean="0">
                        <a:latin typeface="Cambria Math" panose="02040503050406030204" pitchFamily="18" charset="0"/>
                      </a:rPr>
                      <m:t>, </m:t>
                    </m:r>
                    <m:r>
                      <a:rPr lang="en-US" b="0" i="1" smtClean="0">
                        <a:latin typeface="Cambria Math" panose="02040503050406030204" pitchFamily="18" charset="0"/>
                      </a:rPr>
                      <m:t>𝑉</m:t>
                    </m:r>
                  </m:oMath>
                </a14:m>
                <a:endParaRPr lang="en-US" b="0" dirty="0"/>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𝑘</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𝑘</m:t>
                          </m:r>
                        </m:sup>
                      </m:sSup>
                    </m:oMath>
                  </m:oMathPara>
                </a14:m>
                <a:endParaRPr lang="en-US" dirty="0"/>
              </a:p>
              <a:p>
                <a:pPr marL="114300" indent="0">
                  <a:buNone/>
                </a:pPr>
                <a:endParaRPr lang="en-US" dirty="0"/>
              </a:p>
              <a:p>
                <a:pPr marL="114300" indent="0">
                  <a:buNone/>
                </a:pPr>
                <a:r>
                  <a:rPr lang="en-US" dirty="0"/>
                  <a:t>Find the coordinates of each sample in the new feature space by calculating</a:t>
                </a:r>
              </a:p>
              <a:p>
                <a:pPr marL="114300" indent="0">
                  <a:buNone/>
                </a:pPr>
                <a:endParaRPr lang="en-US" dirty="0"/>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oMath>
                  </m:oMathPara>
                </a14:m>
                <a:endParaRPr lang="en-US" b="0" dirty="0"/>
              </a:p>
              <a:p>
                <a:pPr marL="114300" indent="0">
                  <a:buNone/>
                </a:pPr>
                <a:endParaRPr lang="en-US" dirty="0"/>
              </a:p>
              <a:p>
                <a:pPr marL="114300" indent="0">
                  <a:buNone/>
                </a:pPr>
                <a:endParaRPr lang="en-US" b="0" dirty="0"/>
              </a:p>
              <a:p>
                <a:pPr marL="114300" indent="0">
                  <a:buNone/>
                </a:pPr>
                <a:endParaRPr lang="en-US" b="0" dirty="0"/>
              </a:p>
            </p:txBody>
          </p:sp>
        </mc:Choice>
        <mc:Fallback xmlns="">
          <p:sp>
            <p:nvSpPr>
              <p:cNvPr id="3" name="Text Placeholder 2">
                <a:extLst>
                  <a:ext uri="{FF2B5EF4-FFF2-40B4-BE49-F238E27FC236}">
                    <a16:creationId xmlns:a16="http://schemas.microsoft.com/office/drawing/2014/main" id="{C8802B77-98E8-AD3B-92D9-C71D95A4A12A}"/>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797994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0E2420-A795-F79D-929E-43196CE39345}"/>
              </a:ext>
            </a:extLst>
          </p:cNvPr>
          <p:cNvSpPr/>
          <p:nvPr>
            <p:custDataLst>
              <p:tags r:id="rId2"/>
            </p:custDataLst>
          </p:nvPr>
        </p:nvSpPr>
        <p:spPr>
          <a:xfrm>
            <a:off x="333520" y="1307028"/>
            <a:ext cx="1778772" cy="1778772"/>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14442CB-914C-37A3-CF20-8EFF89B94CDB}"/>
              </a:ext>
            </a:extLst>
          </p:cNvPr>
          <p:cNvSpPr/>
          <p:nvPr>
            <p:custDataLst>
              <p:tags r:id="rId3"/>
            </p:custDataLst>
          </p:nvPr>
        </p:nvSpPr>
        <p:spPr>
          <a:xfrm>
            <a:off x="2334638" y="750673"/>
            <a:ext cx="6364669" cy="2891481"/>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500" b="1">
                <a:solidFill>
                  <a:srgbClr val="000000"/>
                </a:solidFill>
              </a:rPr>
              <a:t>Let A be an m x n matrix of rank r. After using SVD for feature extraction, we will still have an m x n matrix</a:t>
            </a:r>
          </a:p>
        </p:txBody>
      </p:sp>
      <p:sp>
        <p:nvSpPr>
          <p:cNvPr id="4" name="Rectangle 3">
            <a:extLst>
              <a:ext uri="{FF2B5EF4-FFF2-40B4-BE49-F238E27FC236}">
                <a16:creationId xmlns:a16="http://schemas.microsoft.com/office/drawing/2014/main" id="{883732A6-A345-261A-E7FB-DF98023C9328}"/>
              </a:ext>
            </a:extLst>
          </p:cNvPr>
          <p:cNvSpPr/>
          <p:nvPr/>
        </p:nvSpPr>
        <p:spPr>
          <a:xfrm>
            <a:off x="0" y="4365024"/>
            <a:ext cx="9144000" cy="778476"/>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55866" tIns="194619" rIns="1389666" bIns="152915" rtlCol="0" anchor="ctr">
            <a:normAutofit fontScale="62500" lnSpcReduction="200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AE6E0D7D-D319-BB4F-45FD-B3D49F684875}"/>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22347" y="4643089"/>
            <a:ext cx="222347" cy="222347"/>
          </a:xfrm>
          <a:prstGeom prst="rect">
            <a:avLst/>
          </a:prstGeom>
        </p:spPr>
      </p:pic>
      <p:sp>
        <p:nvSpPr>
          <p:cNvPr id="7" name="Trapezoid 6">
            <a:extLst>
              <a:ext uri="{FF2B5EF4-FFF2-40B4-BE49-F238E27FC236}">
                <a16:creationId xmlns:a16="http://schemas.microsoft.com/office/drawing/2014/main" id="{1233B61F-6E41-6B5C-C5CF-5BD6B93FBA83}"/>
              </a:ext>
            </a:extLst>
          </p:cNvPr>
          <p:cNvSpPr/>
          <p:nvPr/>
        </p:nvSpPr>
        <p:spPr>
          <a:xfrm rot="2700000">
            <a:off x="7215278" y="386193"/>
            <a:ext cx="2501399" cy="58366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55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B626822F-EE61-9649-2891-ED330824BD9B}"/>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8060062" y="4615295"/>
            <a:ext cx="833799" cy="277933"/>
          </a:xfrm>
          <a:prstGeom prst="rect">
            <a:avLst/>
          </a:prstGeom>
        </p:spPr>
      </p:pic>
    </p:spTree>
    <p:custDataLst>
      <p:tags r:id="rId1"/>
    </p:custDataLst>
    <p:extLst>
      <p:ext uri="{BB962C8B-B14F-4D97-AF65-F5344CB8AC3E}">
        <p14:creationId xmlns:p14="http://schemas.microsoft.com/office/powerpoint/2010/main" val="2847124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05B4D-54CE-1F64-5580-C81EF3E657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CE49DB-0703-9BE3-DF14-592E4BB36AC0}"/>
              </a:ext>
            </a:extLst>
          </p:cNvPr>
          <p:cNvSpPr>
            <a:spLocks noGrp="1"/>
          </p:cNvSpPr>
          <p:nvPr>
            <p:ph type="title"/>
          </p:nvPr>
        </p:nvSpPr>
        <p:spPr>
          <a:xfrm>
            <a:off x="311700" y="2218050"/>
            <a:ext cx="8520600" cy="707400"/>
          </a:xfrm>
        </p:spPr>
        <p:txBody>
          <a:bodyPr>
            <a:normAutofit fontScale="90000"/>
          </a:bodyPr>
          <a:lstStyle/>
          <a:p>
            <a:pPr algn="ctr"/>
            <a:r>
              <a:rPr lang="en-US" dirty="0"/>
              <a:t>SVD for Anomaly Detection</a:t>
            </a:r>
          </a:p>
        </p:txBody>
      </p:sp>
    </p:spTree>
    <p:extLst>
      <p:ext uri="{BB962C8B-B14F-4D97-AF65-F5344CB8AC3E}">
        <p14:creationId xmlns:p14="http://schemas.microsoft.com/office/powerpoint/2010/main" val="15704478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B52E5-99FD-8A64-3FC4-7C96D6420EEA}"/>
              </a:ext>
            </a:extLst>
          </p:cNvPr>
          <p:cNvSpPr>
            <a:spLocks noGrp="1"/>
          </p:cNvSpPr>
          <p:nvPr>
            <p:ph type="title"/>
          </p:nvPr>
        </p:nvSpPr>
        <p:spPr/>
        <p:txBody>
          <a:bodyPr>
            <a:normAutofit fontScale="90000"/>
          </a:bodyPr>
          <a:lstStyle/>
          <a:p>
            <a:r>
              <a:rPr lang="en-US" dirty="0"/>
              <a:t>What is an anomaly in data science?</a:t>
            </a:r>
          </a:p>
        </p:txBody>
      </p:sp>
      <p:sp>
        <p:nvSpPr>
          <p:cNvPr id="3" name="Text Placeholder 2">
            <a:extLst>
              <a:ext uri="{FF2B5EF4-FFF2-40B4-BE49-F238E27FC236}">
                <a16:creationId xmlns:a16="http://schemas.microsoft.com/office/drawing/2014/main" id="{EA3457D0-2AEC-DF6B-99CF-D762DE3947EF}"/>
              </a:ext>
            </a:extLst>
          </p:cNvPr>
          <p:cNvSpPr>
            <a:spLocks noGrp="1"/>
          </p:cNvSpPr>
          <p:nvPr>
            <p:ph type="body" idx="1"/>
          </p:nvPr>
        </p:nvSpPr>
        <p:spPr/>
        <p:txBody>
          <a:bodyPr/>
          <a:lstStyle/>
          <a:p>
            <a:pPr marL="114300" indent="0">
              <a:buNone/>
            </a:pPr>
            <a:r>
              <a:rPr lang="en-US" dirty="0"/>
              <a:t>Anomaly detection, or outlier detection, is the identification of observations, events, or data points that deviate from what is usual, standard, or expected, making them inconsistent with the rest of the data set</a:t>
            </a:r>
            <a:r>
              <a:rPr lang="en-US" baseline="30000" dirty="0"/>
              <a:t>1</a:t>
            </a:r>
            <a:r>
              <a:rPr lang="en-US" dirty="0"/>
              <a:t>.</a:t>
            </a:r>
          </a:p>
        </p:txBody>
      </p:sp>
      <p:sp>
        <p:nvSpPr>
          <p:cNvPr id="4" name="TextBox 3">
            <a:extLst>
              <a:ext uri="{FF2B5EF4-FFF2-40B4-BE49-F238E27FC236}">
                <a16:creationId xmlns:a16="http://schemas.microsoft.com/office/drawing/2014/main" id="{4E2DA87C-D752-B29A-2F32-B3939C138703}"/>
              </a:ext>
            </a:extLst>
          </p:cNvPr>
          <p:cNvSpPr txBox="1"/>
          <p:nvPr/>
        </p:nvSpPr>
        <p:spPr>
          <a:xfrm>
            <a:off x="431800" y="4768850"/>
            <a:ext cx="8515350" cy="215444"/>
          </a:xfrm>
          <a:prstGeom prst="rect">
            <a:avLst/>
          </a:prstGeom>
          <a:noFill/>
        </p:spPr>
        <p:txBody>
          <a:bodyPr wrap="square" rtlCol="0">
            <a:spAutoFit/>
          </a:bodyPr>
          <a:lstStyle/>
          <a:p>
            <a:r>
              <a:rPr lang="en-US" sz="800" baseline="30000" dirty="0">
                <a:solidFill>
                  <a:schemeClr val="bg2"/>
                </a:solidFill>
                <a:latin typeface="Open Sans" panose="020B0606030504020204" pitchFamily="34" charset="0"/>
                <a:ea typeface="Open Sans" panose="020B0606030504020204" pitchFamily="34" charset="0"/>
                <a:cs typeface="Open Sans" panose="020B0606030504020204" pitchFamily="34" charset="0"/>
              </a:rPr>
              <a:t>1</a:t>
            </a:r>
            <a:r>
              <a:rPr lang="en-US" sz="800" dirty="0">
                <a:solidFill>
                  <a:schemeClr val="bg2"/>
                </a:solidFill>
                <a:latin typeface="Open Sans" panose="020B0606030504020204" pitchFamily="34" charset="0"/>
                <a:ea typeface="Open Sans" panose="020B0606030504020204" pitchFamily="34" charset="0"/>
                <a:cs typeface="Open Sans" panose="020B0606030504020204" pitchFamily="34" charset="0"/>
              </a:rPr>
              <a:t>IBM - What is Anomaly Detection</a:t>
            </a:r>
          </a:p>
        </p:txBody>
      </p:sp>
    </p:spTree>
    <p:extLst>
      <p:ext uri="{BB962C8B-B14F-4D97-AF65-F5344CB8AC3E}">
        <p14:creationId xmlns:p14="http://schemas.microsoft.com/office/powerpoint/2010/main" val="3334245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7B191-CAB2-2D17-9403-23269CC78C7A}"/>
              </a:ext>
            </a:extLst>
          </p:cNvPr>
          <p:cNvSpPr>
            <a:spLocks noGrp="1"/>
          </p:cNvSpPr>
          <p:nvPr>
            <p:ph type="title"/>
          </p:nvPr>
        </p:nvSpPr>
        <p:spPr/>
        <p:txBody>
          <a:bodyPr>
            <a:normAutofit fontScale="90000"/>
          </a:bodyPr>
          <a:lstStyle/>
          <a:p>
            <a:r>
              <a:rPr lang="en-US" dirty="0"/>
              <a:t>Anomaly Detection in SVD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320AF7A-97E1-F100-4914-39C2C3C47C01}"/>
                  </a:ext>
                </a:extLst>
              </p:cNvPr>
              <p:cNvSpPr>
                <a:spLocks noGrp="1"/>
              </p:cNvSpPr>
              <p:nvPr>
                <p:ph type="body" idx="1"/>
              </p:nvPr>
            </p:nvSpPr>
            <p:spPr/>
            <p:txBody>
              <a:bodyPr/>
              <a:lstStyle/>
              <a:p>
                <a:pPr marL="114300" indent="0">
                  <a:buNone/>
                </a:pPr>
                <a:r>
                  <a:rPr lang="en-US" dirty="0"/>
                  <a:t>Let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oMath>
                </a14:m>
                <a:r>
                  <a:rPr lang="en-US" b="0" dirty="0"/>
                  <a:t> where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oMath>
                </a14:m>
                <a:r>
                  <a:rPr lang="en-US" b="0" dirty="0"/>
                  <a:t> is the rank-k approximation of </a:t>
                </a:r>
                <a14:m>
                  <m:oMath xmlns:m="http://schemas.openxmlformats.org/officeDocument/2006/math">
                    <m:r>
                      <a:rPr lang="en-US" b="0" i="1" smtClean="0">
                        <a:latin typeface="Cambria Math" panose="02040503050406030204" pitchFamily="18" charset="0"/>
                      </a:rPr>
                      <m:t>𝐴</m:t>
                    </m:r>
                  </m:oMath>
                </a14:m>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C320AF7A-97E1-F100-4914-39C2C3C47C01}"/>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769971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FB6F4-1D8A-3969-2C82-2C9562017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55E48-A3EA-CB25-F35E-FEA1B9A89393}"/>
              </a:ext>
            </a:extLst>
          </p:cNvPr>
          <p:cNvSpPr>
            <a:spLocks noGrp="1"/>
          </p:cNvSpPr>
          <p:nvPr>
            <p:ph type="title"/>
          </p:nvPr>
        </p:nvSpPr>
        <p:spPr/>
        <p:txBody>
          <a:bodyPr>
            <a:normAutofit fontScale="90000"/>
          </a:bodyPr>
          <a:lstStyle/>
          <a:p>
            <a:r>
              <a:rPr lang="en-US" dirty="0"/>
              <a:t>Anomaly Detection in SVD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2591157-239D-813F-1AAD-BCF841B3E762}"/>
                  </a:ext>
                </a:extLst>
              </p:cNvPr>
              <p:cNvSpPr>
                <a:spLocks noGrp="1"/>
              </p:cNvSpPr>
              <p:nvPr>
                <p:ph type="body" idx="1"/>
              </p:nvPr>
            </p:nvSpPr>
            <p:spPr/>
            <p:txBody>
              <a:bodyPr/>
              <a:lstStyle/>
              <a:p>
                <a:pPr marL="114300" indent="0">
                  <a:buNone/>
                </a:pPr>
                <a:r>
                  <a:rPr lang="en-US" dirty="0"/>
                  <a:t>Let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oMath>
                </a14:m>
                <a:r>
                  <a:rPr lang="en-US" b="0" dirty="0"/>
                  <a:t> where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oMath>
                </a14:m>
                <a:r>
                  <a:rPr lang="en-US" b="0" dirty="0"/>
                  <a:t> is the rank-k approximation of </a:t>
                </a:r>
                <a14:m>
                  <m:oMath xmlns:m="http://schemas.openxmlformats.org/officeDocument/2006/math">
                    <m:r>
                      <a:rPr lang="en-US" b="0" i="1" smtClean="0">
                        <a:latin typeface="Cambria Math" panose="02040503050406030204" pitchFamily="18" charset="0"/>
                      </a:rPr>
                      <m:t>𝐴</m:t>
                    </m:r>
                  </m:oMath>
                </a14:m>
                <a:endParaRPr lang="en-US" b="0" dirty="0"/>
              </a:p>
              <a:p>
                <a:pPr marL="114300" indent="0">
                  <a:buNone/>
                </a:pPr>
                <a:endParaRPr lang="en-US" dirty="0"/>
              </a:p>
              <a:p>
                <a:pPr marL="114300" indent="0">
                  <a:buNone/>
                </a:pPr>
                <a14:m>
                  <m:oMath xmlns:m="http://schemas.openxmlformats.org/officeDocument/2006/math">
                    <m:r>
                      <a:rPr lang="en-US" b="0" i="1" smtClean="0">
                        <a:latin typeface="Cambria Math" panose="02040503050406030204" pitchFamily="18" charset="0"/>
                      </a:rPr>
                      <m:t>𝑂</m:t>
                    </m:r>
                  </m:oMath>
                </a14:m>
                <a:r>
                  <a:rPr lang="en-US" b="0" dirty="0"/>
                  <a:t> is the residual matrix containing the part of the data tha</a:t>
                </a:r>
                <a:r>
                  <a:rPr lang="en-US" dirty="0"/>
                  <a:t>t the top </a:t>
                </a:r>
                <a14:m>
                  <m:oMath xmlns:m="http://schemas.openxmlformats.org/officeDocument/2006/math">
                    <m:r>
                      <a:rPr lang="en-US" b="0" i="1" smtClean="0">
                        <a:latin typeface="Cambria Math" panose="02040503050406030204" pitchFamily="18" charset="0"/>
                      </a:rPr>
                      <m:t>𝑘</m:t>
                    </m:r>
                  </m:oMath>
                </a14:m>
                <a:r>
                  <a:rPr lang="en-US" b="0" dirty="0"/>
                  <a:t> latent components failed to explain</a:t>
                </a:r>
              </a:p>
              <a:p>
                <a:pPr marL="114300" indent="0">
                  <a:buNone/>
                </a:pPr>
                <a:endParaRPr lang="en-US"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E2591157-239D-813F-1AAD-BCF841B3E762}"/>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912157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A188F-720A-ED91-F149-977A34383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E8960D-A1C7-3D57-D0F0-D6BF868418CF}"/>
              </a:ext>
            </a:extLst>
          </p:cNvPr>
          <p:cNvSpPr>
            <a:spLocks noGrp="1"/>
          </p:cNvSpPr>
          <p:nvPr>
            <p:ph type="title"/>
          </p:nvPr>
        </p:nvSpPr>
        <p:spPr/>
        <p:txBody>
          <a:bodyPr>
            <a:normAutofit fontScale="90000"/>
          </a:bodyPr>
          <a:lstStyle/>
          <a:p>
            <a:r>
              <a:rPr lang="en-US" dirty="0"/>
              <a:t>Anomaly Detection in SVD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0484074-F4EF-7C69-CE7F-B620B069FE0C}"/>
                  </a:ext>
                </a:extLst>
              </p:cNvPr>
              <p:cNvSpPr>
                <a:spLocks noGrp="1"/>
              </p:cNvSpPr>
              <p:nvPr>
                <p:ph type="body" idx="1"/>
              </p:nvPr>
            </p:nvSpPr>
            <p:spPr/>
            <p:txBody>
              <a:bodyPr/>
              <a:lstStyle/>
              <a:p>
                <a:pPr marL="114300" indent="0">
                  <a:buNone/>
                </a:pPr>
                <a:r>
                  <a:rPr lang="en-US" dirty="0"/>
                  <a:t>Let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oMath>
                </a14:m>
                <a:r>
                  <a:rPr lang="en-US" b="0" dirty="0"/>
                  <a:t> where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oMath>
                </a14:m>
                <a:r>
                  <a:rPr lang="en-US" b="0" dirty="0"/>
                  <a:t> is the rank-k approximation of </a:t>
                </a:r>
                <a14:m>
                  <m:oMath xmlns:m="http://schemas.openxmlformats.org/officeDocument/2006/math">
                    <m:r>
                      <a:rPr lang="en-US" b="0" i="1" smtClean="0">
                        <a:latin typeface="Cambria Math" panose="02040503050406030204" pitchFamily="18" charset="0"/>
                      </a:rPr>
                      <m:t>𝐴</m:t>
                    </m:r>
                  </m:oMath>
                </a14:m>
                <a:endParaRPr lang="en-US" b="0" dirty="0"/>
              </a:p>
              <a:p>
                <a:pPr marL="114300" indent="0">
                  <a:buNone/>
                </a:pPr>
                <a:endParaRPr lang="en-US" dirty="0"/>
              </a:p>
              <a:p>
                <a:pPr marL="114300" indent="0">
                  <a:buNone/>
                </a:pPr>
                <a14:m>
                  <m:oMath xmlns:m="http://schemas.openxmlformats.org/officeDocument/2006/math">
                    <m:r>
                      <a:rPr lang="en-US" b="0" i="1" smtClean="0">
                        <a:latin typeface="Cambria Math" panose="02040503050406030204" pitchFamily="18" charset="0"/>
                      </a:rPr>
                      <m:t>𝑂</m:t>
                    </m:r>
                  </m:oMath>
                </a14:m>
                <a:r>
                  <a:rPr lang="en-US" b="0" dirty="0"/>
                  <a:t> is the residual matrix containing the part of the data tha</a:t>
                </a:r>
                <a:r>
                  <a:rPr lang="en-US" dirty="0"/>
                  <a:t>t the top </a:t>
                </a:r>
                <a14:m>
                  <m:oMath xmlns:m="http://schemas.openxmlformats.org/officeDocument/2006/math">
                    <m:r>
                      <a:rPr lang="en-US" b="0" i="1" smtClean="0">
                        <a:latin typeface="Cambria Math" panose="02040503050406030204" pitchFamily="18" charset="0"/>
                      </a:rPr>
                      <m:t>𝑘</m:t>
                    </m:r>
                  </m:oMath>
                </a14:m>
                <a:r>
                  <a:rPr lang="en-US" b="0" dirty="0"/>
                  <a:t> latent components failed to explain</a:t>
                </a:r>
              </a:p>
              <a:p>
                <a:pPr marL="114300" indent="0">
                  <a:buNone/>
                </a:pPr>
                <a:endParaRPr lang="en-US" dirty="0"/>
              </a:p>
              <a:p>
                <a:pPr marL="114300" indent="0">
                  <a:buNone/>
                </a:pPr>
                <a:r>
                  <a:rPr lang="en-US" dirty="0"/>
                  <a:t>The largest rows of </a:t>
                </a:r>
                <a14:m>
                  <m:oMath xmlns:m="http://schemas.openxmlformats.org/officeDocument/2006/math">
                    <m:r>
                      <a:rPr lang="en-US" i="1">
                        <a:latin typeface="Cambria Math" panose="02040503050406030204" pitchFamily="18" charset="0"/>
                      </a:rPr>
                      <m:t>𝑂</m:t>
                    </m:r>
                  </m:oMath>
                </a14:m>
                <a:r>
                  <a:rPr lang="en-US" dirty="0"/>
                  <a:t> could be considered anomalies in our dataset </a:t>
                </a:r>
              </a:p>
              <a:p>
                <a:pPr marL="114300" indent="0">
                  <a:buNone/>
                </a:pPr>
                <a:endParaRPr lang="en-US"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60484074-F4EF-7C69-CE7F-B620B069FE0C}"/>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111564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27C49-9015-88F1-159A-A900DF544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25942-FF98-022F-B99C-9EE87C873226}"/>
              </a:ext>
            </a:extLst>
          </p:cNvPr>
          <p:cNvSpPr>
            <a:spLocks noGrp="1"/>
          </p:cNvSpPr>
          <p:nvPr>
            <p:ph type="title"/>
          </p:nvPr>
        </p:nvSpPr>
        <p:spPr/>
        <p:txBody>
          <a:bodyPr>
            <a:normAutofit fontScale="90000"/>
          </a:bodyPr>
          <a:lstStyle/>
          <a:p>
            <a:r>
              <a:rPr lang="en-US" dirty="0"/>
              <a:t>Anomaly Detection in SVD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B43CE6C-2949-BE31-720A-2854DFFD5738}"/>
                  </a:ext>
                </a:extLst>
              </p:cNvPr>
              <p:cNvSpPr>
                <a:spLocks noGrp="1"/>
              </p:cNvSpPr>
              <p:nvPr>
                <p:ph type="body" idx="1"/>
              </p:nvPr>
            </p:nvSpPr>
            <p:spPr/>
            <p:txBody>
              <a:bodyPr/>
              <a:lstStyle/>
              <a:p>
                <a:pPr marL="114300" indent="0">
                  <a:buNone/>
                </a:pPr>
                <a:r>
                  <a:rPr lang="en-US" dirty="0"/>
                  <a:t>Let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oMath>
                </a14:m>
                <a:r>
                  <a:rPr lang="en-US" b="0" dirty="0"/>
                  <a:t> where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oMath>
                </a14:m>
                <a:r>
                  <a:rPr lang="en-US" b="0" dirty="0"/>
                  <a:t> is the rank-k approximation of </a:t>
                </a:r>
                <a14:m>
                  <m:oMath xmlns:m="http://schemas.openxmlformats.org/officeDocument/2006/math">
                    <m:r>
                      <a:rPr lang="en-US" b="0" i="1" smtClean="0">
                        <a:latin typeface="Cambria Math" panose="02040503050406030204" pitchFamily="18" charset="0"/>
                      </a:rPr>
                      <m:t>𝐴</m:t>
                    </m:r>
                  </m:oMath>
                </a14:m>
                <a:endParaRPr lang="en-US" b="0" dirty="0"/>
              </a:p>
              <a:p>
                <a:pPr marL="114300" indent="0">
                  <a:buNone/>
                </a:pPr>
                <a:endParaRPr lang="en-US" dirty="0"/>
              </a:p>
              <a:p>
                <a:pPr marL="114300" indent="0">
                  <a:buNone/>
                </a:pPr>
                <a14:m>
                  <m:oMath xmlns:m="http://schemas.openxmlformats.org/officeDocument/2006/math">
                    <m:r>
                      <a:rPr lang="en-US" b="0" i="1" smtClean="0">
                        <a:latin typeface="Cambria Math" panose="02040503050406030204" pitchFamily="18" charset="0"/>
                      </a:rPr>
                      <m:t>𝑂</m:t>
                    </m:r>
                  </m:oMath>
                </a14:m>
                <a:r>
                  <a:rPr lang="en-US" b="0" dirty="0"/>
                  <a:t> is the residual matrix containing the part of the data tha</a:t>
                </a:r>
                <a:r>
                  <a:rPr lang="en-US" dirty="0"/>
                  <a:t>t the top </a:t>
                </a:r>
                <a14:m>
                  <m:oMath xmlns:m="http://schemas.openxmlformats.org/officeDocument/2006/math">
                    <m:r>
                      <a:rPr lang="en-US" b="0" i="1" smtClean="0">
                        <a:latin typeface="Cambria Math" panose="02040503050406030204" pitchFamily="18" charset="0"/>
                      </a:rPr>
                      <m:t>𝑘</m:t>
                    </m:r>
                  </m:oMath>
                </a14:m>
                <a:r>
                  <a:rPr lang="en-US" b="0" dirty="0"/>
                  <a:t> latent components failed to explain</a:t>
                </a:r>
              </a:p>
              <a:p>
                <a:pPr marL="114300" indent="0">
                  <a:buNone/>
                </a:pPr>
                <a:endParaRPr lang="en-US" dirty="0"/>
              </a:p>
              <a:p>
                <a:pPr marL="114300" indent="0">
                  <a:buNone/>
                </a:pPr>
                <a:r>
                  <a:rPr lang="en-US" dirty="0"/>
                  <a:t>The largest rows of </a:t>
                </a:r>
                <a14:m>
                  <m:oMath xmlns:m="http://schemas.openxmlformats.org/officeDocument/2006/math">
                    <m:r>
                      <a:rPr lang="en-US" i="1">
                        <a:latin typeface="Cambria Math" panose="02040503050406030204" pitchFamily="18" charset="0"/>
                      </a:rPr>
                      <m:t>𝑂</m:t>
                    </m:r>
                  </m:oMath>
                </a14:m>
                <a:r>
                  <a:rPr lang="en-US" dirty="0"/>
                  <a:t> could be considered anomalies in our dataset </a:t>
                </a:r>
              </a:p>
              <a:p>
                <a:pPr marL="114300" indent="0">
                  <a:buNone/>
                </a:pPr>
                <a:endParaRPr lang="en-US" dirty="0"/>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𝑂</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bSup>
                    </m:oMath>
                  </m:oMathPara>
                </a14:m>
                <a:endParaRPr lang="en-US" b="0" dirty="0"/>
              </a:p>
              <a:p>
                <a:pPr marL="114300" indent="0">
                  <a:buNone/>
                </a:pPr>
                <a:r>
                  <a:rPr lang="en-US" b="0" dirty="0"/>
                  <a:t> </a:t>
                </a:r>
              </a:p>
              <a:p>
                <a:pPr marL="114300" indent="0">
                  <a:buNone/>
                </a:pPr>
                <a:endParaRPr lang="en-US" dirty="0"/>
              </a:p>
              <a:p>
                <a:pPr marL="114300" indent="0">
                  <a:buNone/>
                </a:pPr>
                <a:endParaRPr lang="en-US"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BB43CE6C-2949-BE31-720A-2854DFFD5738}"/>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838124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C0013-5C22-69B3-D2D7-C2FC18D4A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47EEB4-E2A4-5257-B741-43D5B770C62F}"/>
              </a:ext>
            </a:extLst>
          </p:cNvPr>
          <p:cNvSpPr>
            <a:spLocks noGrp="1"/>
          </p:cNvSpPr>
          <p:nvPr>
            <p:ph type="title"/>
          </p:nvPr>
        </p:nvSpPr>
        <p:spPr/>
        <p:txBody>
          <a:bodyPr>
            <a:normAutofit fontScale="90000"/>
          </a:bodyPr>
          <a:lstStyle/>
          <a:p>
            <a:r>
              <a:rPr lang="en-US" dirty="0"/>
              <a:t>Anomaly Detection in SVD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D9B16ED-6018-0B84-3D06-64DB8F10FA3A}"/>
                  </a:ext>
                </a:extLst>
              </p:cNvPr>
              <p:cNvSpPr>
                <a:spLocks noGrp="1"/>
              </p:cNvSpPr>
              <p:nvPr>
                <p:ph type="body" idx="1"/>
              </p:nvPr>
            </p:nvSpPr>
            <p:spPr/>
            <p:txBody>
              <a:bodyPr/>
              <a:lstStyle/>
              <a:p>
                <a:pPr marL="114300" indent="0">
                  <a:buNone/>
                </a:pPr>
                <a:r>
                  <a:rPr lang="en-US" dirty="0"/>
                  <a:t>Let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oMath>
                </a14:m>
                <a:r>
                  <a:rPr lang="en-US" b="0" dirty="0"/>
                  <a:t> where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oMath>
                </a14:m>
                <a:r>
                  <a:rPr lang="en-US" b="0" dirty="0"/>
                  <a:t> is the rank-k approximation of </a:t>
                </a:r>
                <a14:m>
                  <m:oMath xmlns:m="http://schemas.openxmlformats.org/officeDocument/2006/math">
                    <m:r>
                      <a:rPr lang="en-US" b="0" i="1" smtClean="0">
                        <a:latin typeface="Cambria Math" panose="02040503050406030204" pitchFamily="18" charset="0"/>
                      </a:rPr>
                      <m:t>𝐴</m:t>
                    </m:r>
                  </m:oMath>
                </a14:m>
                <a:endParaRPr lang="en-US" b="0" dirty="0"/>
              </a:p>
              <a:p>
                <a:pPr marL="114300" indent="0">
                  <a:buNone/>
                </a:pPr>
                <a:endParaRPr lang="en-US" dirty="0"/>
              </a:p>
              <a:p>
                <a:pPr marL="114300" indent="0">
                  <a:buNone/>
                </a:pPr>
                <a:r>
                  <a:rPr lang="en-US" dirty="0"/>
                  <a:t>The largest rows of </a:t>
                </a:r>
                <a14:m>
                  <m:oMath xmlns:m="http://schemas.openxmlformats.org/officeDocument/2006/math">
                    <m:r>
                      <a:rPr lang="en-US" i="1">
                        <a:latin typeface="Cambria Math" panose="02040503050406030204" pitchFamily="18" charset="0"/>
                      </a:rPr>
                      <m:t>𝑂</m:t>
                    </m:r>
                  </m:oMath>
                </a14:m>
                <a:r>
                  <a:rPr lang="en-US" dirty="0"/>
                  <a:t> could be considered anomalies in our dataset </a:t>
                </a:r>
              </a:p>
              <a:p>
                <a:pPr marL="114300" indent="0">
                  <a:buNone/>
                </a:pPr>
                <a:endParaRPr lang="en-US" dirty="0"/>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𝑂</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bSup>
                    </m:oMath>
                  </m:oMathPara>
                </a14:m>
                <a:endParaRPr lang="en-US" b="0" dirty="0"/>
              </a:p>
              <a:p>
                <a:pPr marL="114300" indent="0">
                  <a:buNone/>
                </a:pPr>
                <a:r>
                  <a:rPr lang="en-US" b="0" dirty="0"/>
                  <a:t> 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𝑂</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a14:m>
                <a:r>
                  <a:rPr lang="en-US" b="0" dirty="0"/>
                  <a:t> small </a:t>
                </a:r>
                <a:r>
                  <a:rPr lang="en-US" b="0" dirty="0">
                    <a:sym typeface="Wingdings" pitchFamily="2" charset="2"/>
                  </a:rPr>
                  <a:t> entry is well explained by our approximation</a:t>
                </a:r>
              </a:p>
              <a:p>
                <a:pPr marL="114300" indent="0">
                  <a:buNone/>
                </a:pPr>
                <a:endParaRPr lang="en-US" b="0" dirty="0"/>
              </a:p>
              <a:p>
                <a:pPr marL="114300" indent="0">
                  <a:buNone/>
                </a:pPr>
                <a:endParaRPr lang="en-US" dirty="0"/>
              </a:p>
              <a:p>
                <a:pPr marL="114300" indent="0">
                  <a:buNone/>
                </a:pPr>
                <a:endParaRPr lang="en-US"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CD9B16ED-6018-0B84-3D06-64DB8F10FA3A}"/>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727376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682AF-8B36-C5CF-A500-5E16DF26A9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85584-BEDB-9833-3E3C-EADA47819270}"/>
              </a:ext>
            </a:extLst>
          </p:cNvPr>
          <p:cNvSpPr>
            <a:spLocks noGrp="1"/>
          </p:cNvSpPr>
          <p:nvPr>
            <p:ph type="title"/>
          </p:nvPr>
        </p:nvSpPr>
        <p:spPr/>
        <p:txBody>
          <a:bodyPr>
            <a:normAutofit fontScale="90000"/>
          </a:bodyPr>
          <a:lstStyle/>
          <a:p>
            <a:r>
              <a:rPr lang="en-US" dirty="0"/>
              <a:t>Anomaly Detection in SVD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97D4CAF-1827-49C3-6594-13ABAB0685E5}"/>
                  </a:ext>
                </a:extLst>
              </p:cNvPr>
              <p:cNvSpPr>
                <a:spLocks noGrp="1"/>
              </p:cNvSpPr>
              <p:nvPr>
                <p:ph type="body" idx="1"/>
              </p:nvPr>
            </p:nvSpPr>
            <p:spPr/>
            <p:txBody>
              <a:bodyPr/>
              <a:lstStyle/>
              <a:p>
                <a:pPr marL="114300" indent="0">
                  <a:buNone/>
                </a:pPr>
                <a:r>
                  <a:rPr lang="en-US" dirty="0"/>
                  <a:t>Let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oMath>
                </a14:m>
                <a:r>
                  <a:rPr lang="en-US" b="0" dirty="0"/>
                  <a:t> where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oMath>
                </a14:m>
                <a:r>
                  <a:rPr lang="en-US" b="0" dirty="0"/>
                  <a:t> is the rank-k approximation of </a:t>
                </a:r>
                <a14:m>
                  <m:oMath xmlns:m="http://schemas.openxmlformats.org/officeDocument/2006/math">
                    <m:r>
                      <a:rPr lang="en-US" b="0" i="1" smtClean="0">
                        <a:latin typeface="Cambria Math" panose="02040503050406030204" pitchFamily="18" charset="0"/>
                      </a:rPr>
                      <m:t>𝐴</m:t>
                    </m:r>
                  </m:oMath>
                </a14:m>
                <a:endParaRPr lang="en-US" b="0" dirty="0"/>
              </a:p>
              <a:p>
                <a:pPr marL="114300" indent="0">
                  <a:buNone/>
                </a:pPr>
                <a:endParaRPr lang="en-US" dirty="0"/>
              </a:p>
              <a:p>
                <a:pPr marL="114300" indent="0">
                  <a:buNone/>
                </a:pPr>
                <a:r>
                  <a:rPr lang="en-US" dirty="0"/>
                  <a:t>The largest rows of </a:t>
                </a:r>
                <a14:m>
                  <m:oMath xmlns:m="http://schemas.openxmlformats.org/officeDocument/2006/math">
                    <m:r>
                      <a:rPr lang="en-US" i="1">
                        <a:latin typeface="Cambria Math" panose="02040503050406030204" pitchFamily="18" charset="0"/>
                      </a:rPr>
                      <m:t>𝑂</m:t>
                    </m:r>
                  </m:oMath>
                </a14:m>
                <a:r>
                  <a:rPr lang="en-US" dirty="0"/>
                  <a:t> could be considered anomalies in our dataset </a:t>
                </a:r>
              </a:p>
              <a:p>
                <a:pPr marL="114300" indent="0">
                  <a:buNone/>
                </a:pPr>
                <a:endParaRPr lang="en-US" dirty="0"/>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𝑂</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bSup>
                    </m:oMath>
                  </m:oMathPara>
                </a14:m>
                <a:endParaRPr lang="en-US" b="0" dirty="0"/>
              </a:p>
              <a:p>
                <a:pPr marL="114300" indent="0">
                  <a:buNone/>
                </a:pPr>
                <a:r>
                  <a:rPr lang="en-US" b="0" dirty="0"/>
                  <a:t> 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𝑂</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a14:m>
                <a:r>
                  <a:rPr lang="en-US" b="0" dirty="0"/>
                  <a:t> small </a:t>
                </a:r>
                <a:r>
                  <a:rPr lang="en-US" b="0" dirty="0">
                    <a:sym typeface="Wingdings" pitchFamily="2" charset="2"/>
                  </a:rPr>
                  <a:t> entry is well explained by our approximation</a:t>
                </a:r>
              </a:p>
              <a:p>
                <a:pPr marL="114300" indent="0">
                  <a:buNone/>
                </a:pPr>
                <a:r>
                  <a:rPr lang="en-US" dirty="0"/>
                  <a:t> 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oMath>
                </a14:m>
                <a:r>
                  <a:rPr lang="en-US" dirty="0"/>
                  <a:t> large </a:t>
                </a:r>
                <a:r>
                  <a:rPr lang="en-US" dirty="0">
                    <a:sym typeface="Wingdings" pitchFamily="2" charset="2"/>
                  </a:rPr>
                  <a:t> entry is unusual relative to the dominant structure expressed by our approximation</a:t>
                </a:r>
              </a:p>
              <a:p>
                <a:pPr marL="114300" indent="0">
                  <a:buNone/>
                </a:pPr>
                <a:endParaRPr lang="en-US" b="0" dirty="0">
                  <a:sym typeface="Wingdings" pitchFamily="2" charset="2"/>
                </a:endParaRPr>
              </a:p>
              <a:p>
                <a:pPr marL="114300" indent="0">
                  <a:buNone/>
                </a:pPr>
                <a:endParaRPr lang="en-US" b="0" dirty="0"/>
              </a:p>
              <a:p>
                <a:pPr marL="114300" indent="0">
                  <a:buNone/>
                </a:pPr>
                <a:endParaRPr lang="en-US" dirty="0"/>
              </a:p>
              <a:p>
                <a:pPr marL="114300" indent="0">
                  <a:buNone/>
                </a:pPr>
                <a:endParaRPr lang="en-US"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E97D4CAF-1827-49C3-6594-13ABAB0685E5}"/>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332511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A5AD8-19F1-8225-AE47-5090AF31B5FA}"/>
              </a:ext>
            </a:extLst>
          </p:cNvPr>
          <p:cNvSpPr>
            <a:spLocks noGrp="1"/>
          </p:cNvSpPr>
          <p:nvPr>
            <p:ph type="title"/>
          </p:nvPr>
        </p:nvSpPr>
        <p:spPr>
          <a:xfrm>
            <a:off x="311700" y="2218050"/>
            <a:ext cx="8520600" cy="707400"/>
          </a:xfrm>
        </p:spPr>
        <p:txBody>
          <a:bodyPr>
            <a:normAutofit fontScale="90000"/>
          </a:bodyPr>
          <a:lstStyle/>
          <a:p>
            <a:pPr algn="ctr"/>
            <a:r>
              <a:rPr lang="en-US" dirty="0"/>
              <a:t>Latent Semantic Similarity (LSA)</a:t>
            </a:r>
          </a:p>
        </p:txBody>
      </p:sp>
    </p:spTree>
    <p:extLst>
      <p:ext uri="{BB962C8B-B14F-4D97-AF65-F5344CB8AC3E}">
        <p14:creationId xmlns:p14="http://schemas.microsoft.com/office/powerpoint/2010/main" val="42183538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41114-FCA0-BB0F-E493-9536DD9067EF}"/>
              </a:ext>
            </a:extLst>
          </p:cNvPr>
          <p:cNvSpPr>
            <a:spLocks noGrp="1"/>
          </p:cNvSpPr>
          <p:nvPr>
            <p:ph type="title"/>
          </p:nvPr>
        </p:nvSpPr>
        <p:spPr/>
        <p:txBody>
          <a:bodyPr>
            <a:normAutofit fontScale="90000"/>
          </a:bodyPr>
          <a:lstStyle/>
          <a:p>
            <a:r>
              <a:rPr lang="en-US" dirty="0"/>
              <a:t>Recall: LSA</a:t>
            </a:r>
          </a:p>
        </p:txBody>
      </p:sp>
      <p:sp>
        <p:nvSpPr>
          <p:cNvPr id="3" name="Text Placeholder 2">
            <a:extLst>
              <a:ext uri="{FF2B5EF4-FFF2-40B4-BE49-F238E27FC236}">
                <a16:creationId xmlns:a16="http://schemas.microsoft.com/office/drawing/2014/main" id="{567ABDEE-7FF7-4AE6-4835-44A9A9A5A675}"/>
              </a:ext>
            </a:extLst>
          </p:cNvPr>
          <p:cNvSpPr>
            <a:spLocks noGrp="1"/>
          </p:cNvSpPr>
          <p:nvPr>
            <p:ph type="body" idx="1"/>
          </p:nvPr>
        </p:nvSpPr>
        <p:spPr/>
        <p:txBody>
          <a:bodyPr/>
          <a:lstStyle/>
          <a:p>
            <a:r>
              <a:rPr lang="en-US" dirty="0"/>
              <a:t>The goal of LSA is to uncover hidden relationships between words and documents. </a:t>
            </a:r>
          </a:p>
          <a:p>
            <a:pPr lvl="1"/>
            <a:r>
              <a:rPr lang="en-US" dirty="0"/>
              <a:t>i.e., group together words that are associated with a similar topic</a:t>
            </a:r>
          </a:p>
          <a:p>
            <a:r>
              <a:rPr lang="en-US" dirty="0"/>
              <a:t>Words that never appear together </a:t>
            </a:r>
            <a:r>
              <a:rPr lang="en-US" i="1" dirty="0"/>
              <a:t>can </a:t>
            </a:r>
            <a:r>
              <a:rPr lang="en-US" dirty="0"/>
              <a:t>end up close in reduced space</a:t>
            </a:r>
          </a:p>
          <a:p>
            <a:r>
              <a:rPr lang="en-US" dirty="0"/>
              <a:t>LSA is linear, deterministic, fast, and less expensive than using linear models</a:t>
            </a:r>
          </a:p>
        </p:txBody>
      </p:sp>
    </p:spTree>
    <p:extLst>
      <p:ext uri="{BB962C8B-B14F-4D97-AF65-F5344CB8AC3E}">
        <p14:creationId xmlns:p14="http://schemas.microsoft.com/office/powerpoint/2010/main" val="14201425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4A0AF-726D-ABD6-3462-ADE4AA44A532}"/>
              </a:ext>
            </a:extLst>
          </p:cNvPr>
          <p:cNvSpPr>
            <a:spLocks noGrp="1"/>
          </p:cNvSpPr>
          <p:nvPr>
            <p:ph type="title"/>
          </p:nvPr>
        </p:nvSpPr>
        <p:spPr/>
        <p:txBody>
          <a:bodyPr>
            <a:normAutofit fontScale="90000"/>
          </a:bodyPr>
          <a:lstStyle/>
          <a:p>
            <a:r>
              <a:rPr lang="en-US" dirty="0"/>
              <a:t>Recall: Dataset</a:t>
            </a:r>
          </a:p>
        </p:txBody>
      </p:sp>
      <p:graphicFrame>
        <p:nvGraphicFramePr>
          <p:cNvPr id="4" name="Table 3">
            <a:extLst>
              <a:ext uri="{FF2B5EF4-FFF2-40B4-BE49-F238E27FC236}">
                <a16:creationId xmlns:a16="http://schemas.microsoft.com/office/drawing/2014/main" id="{6397DAA3-8560-A31E-5ACF-C02802A432C2}"/>
              </a:ext>
            </a:extLst>
          </p:cNvPr>
          <p:cNvGraphicFramePr>
            <a:graphicFrameLocks noGrp="1"/>
          </p:cNvGraphicFramePr>
          <p:nvPr>
            <p:extLst>
              <p:ext uri="{D42A27DB-BD31-4B8C-83A1-F6EECF244321}">
                <p14:modId xmlns:p14="http://schemas.microsoft.com/office/powerpoint/2010/main" val="1534819439"/>
              </p:ext>
            </p:extLst>
          </p:nvPr>
        </p:nvGraphicFramePr>
        <p:xfrm>
          <a:off x="854195" y="1302385"/>
          <a:ext cx="7241062" cy="3230880"/>
        </p:xfrm>
        <a:graphic>
          <a:graphicData uri="http://schemas.openxmlformats.org/drawingml/2006/table">
            <a:tbl>
              <a:tblPr/>
              <a:tblGrid>
                <a:gridCol w="1323975">
                  <a:extLst>
                    <a:ext uri="{9D8B030D-6E8A-4147-A177-3AD203B41FA5}">
                      <a16:colId xmlns:a16="http://schemas.microsoft.com/office/drawing/2014/main" val="1135465833"/>
                    </a:ext>
                  </a:extLst>
                </a:gridCol>
                <a:gridCol w="1095375">
                  <a:extLst>
                    <a:ext uri="{9D8B030D-6E8A-4147-A177-3AD203B41FA5}">
                      <a16:colId xmlns:a16="http://schemas.microsoft.com/office/drawing/2014/main" val="1920302602"/>
                    </a:ext>
                  </a:extLst>
                </a:gridCol>
                <a:gridCol w="1308100">
                  <a:extLst>
                    <a:ext uri="{9D8B030D-6E8A-4147-A177-3AD203B41FA5}">
                      <a16:colId xmlns:a16="http://schemas.microsoft.com/office/drawing/2014/main" val="454054158"/>
                    </a:ext>
                  </a:extLst>
                </a:gridCol>
                <a:gridCol w="1094262">
                  <a:extLst>
                    <a:ext uri="{9D8B030D-6E8A-4147-A177-3AD203B41FA5}">
                      <a16:colId xmlns:a16="http://schemas.microsoft.com/office/drawing/2014/main" val="2386738274"/>
                    </a:ext>
                  </a:extLst>
                </a:gridCol>
                <a:gridCol w="1209675">
                  <a:extLst>
                    <a:ext uri="{9D8B030D-6E8A-4147-A177-3AD203B41FA5}">
                      <a16:colId xmlns:a16="http://schemas.microsoft.com/office/drawing/2014/main" val="2601106830"/>
                    </a:ext>
                  </a:extLst>
                </a:gridCol>
                <a:gridCol w="1209675">
                  <a:extLst>
                    <a:ext uri="{9D8B030D-6E8A-4147-A177-3AD203B41FA5}">
                      <a16:colId xmlns:a16="http://schemas.microsoft.com/office/drawing/2014/main" val="2112890552"/>
                    </a:ext>
                  </a:extLst>
                </a:gridCol>
              </a:tblGrid>
              <a:tr h="381000">
                <a:tc>
                  <a:txBody>
                    <a:bodyPr/>
                    <a:lstStyle/>
                    <a:p>
                      <a:pPr fontAlgn="t">
                        <a:buNone/>
                      </a:pPr>
                      <a:r>
                        <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rPr>
                        <a:t> </a:t>
                      </a: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data</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information</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1" i="0" u="none" strike="noStrike" dirty="0">
                          <a:solidFill>
                            <a:schemeClr val="bg2"/>
                          </a:solidFill>
                          <a:effectLst/>
                          <a:latin typeface="Open Sans" panose="020B0606030504020204" pitchFamily="34" charset="0"/>
                          <a:ea typeface="Open Sans" panose="020B0606030504020204" pitchFamily="34" charset="0"/>
                          <a:cs typeface="Open Sans" panose="020B0606030504020204" pitchFamily="34" charset="0"/>
                        </a:rPr>
                        <a:t>retrieval</a:t>
                      </a:r>
                      <a:endParaRPr lang="en-US" dirty="0">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brain</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lung</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184945465"/>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CS-paper-1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583848479"/>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CS-paper-2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96969309"/>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CS-paper-3</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526569222"/>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CS-paper-4</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5</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5</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5</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891846752"/>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Med-paper-1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125681328"/>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Med-paper-2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3</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3</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946563019"/>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Med-paper-3</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dirty="0">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417170162"/>
                  </a:ext>
                </a:extLst>
              </a:tr>
            </a:tbl>
          </a:graphicData>
        </a:graphic>
      </p:graphicFrame>
    </p:spTree>
    <p:extLst>
      <p:ext uri="{BB962C8B-B14F-4D97-AF65-F5344CB8AC3E}">
        <p14:creationId xmlns:p14="http://schemas.microsoft.com/office/powerpoint/2010/main" val="23368736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D1F1-133E-D25F-073A-9BE7C004051B}"/>
              </a:ext>
            </a:extLst>
          </p:cNvPr>
          <p:cNvSpPr>
            <a:spLocks noGrp="1"/>
          </p:cNvSpPr>
          <p:nvPr>
            <p:ph type="title"/>
          </p:nvPr>
        </p:nvSpPr>
        <p:spPr/>
        <p:txBody>
          <a:bodyPr>
            <a:normAutofit fontScale="90000"/>
          </a:bodyPr>
          <a:lstStyle/>
          <a:p>
            <a:r>
              <a:rPr lang="en-US" dirty="0"/>
              <a:t>Recall: Embeddings</a:t>
            </a:r>
          </a:p>
        </p:txBody>
      </p:sp>
      <p:sp>
        <p:nvSpPr>
          <p:cNvPr id="5" name="Text Placeholder 4">
            <a:extLst>
              <a:ext uri="{FF2B5EF4-FFF2-40B4-BE49-F238E27FC236}">
                <a16:creationId xmlns:a16="http://schemas.microsoft.com/office/drawing/2014/main" id="{07B60A1C-B21C-D9C2-9D5F-7B49A34BC44F}"/>
              </a:ext>
            </a:extLst>
          </p:cNvPr>
          <p:cNvSpPr>
            <a:spLocks noGrp="1"/>
          </p:cNvSpPr>
          <p:nvPr>
            <p:ph type="body" idx="1"/>
          </p:nvPr>
        </p:nvSpPr>
        <p:spPr/>
        <p:txBody>
          <a:bodyPr/>
          <a:lstStyle/>
          <a:p>
            <a:pPr marL="114300" indent="0">
              <a:buNone/>
            </a:pPr>
            <a:r>
              <a:rPr lang="en-US" dirty="0"/>
              <a:t>The goal of embeddings is to map words (in this case) onto a relatively small dimensional space where similar words are close to one another</a:t>
            </a:r>
          </a:p>
        </p:txBody>
      </p:sp>
    </p:spTree>
    <p:extLst>
      <p:ext uri="{BB962C8B-B14F-4D97-AF65-F5344CB8AC3E}">
        <p14:creationId xmlns:p14="http://schemas.microsoft.com/office/powerpoint/2010/main" val="16806419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20BC0-11EF-A9E2-B16F-D03091950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96AB55-D728-0F38-25AA-153BA41FAB50}"/>
              </a:ext>
            </a:extLst>
          </p:cNvPr>
          <p:cNvSpPr>
            <a:spLocks noGrp="1"/>
          </p:cNvSpPr>
          <p:nvPr>
            <p:ph type="title"/>
          </p:nvPr>
        </p:nvSpPr>
        <p:spPr/>
        <p:txBody>
          <a:bodyPr>
            <a:normAutofit fontScale="90000"/>
          </a:bodyPr>
          <a:lstStyle/>
          <a:p>
            <a:r>
              <a:rPr lang="en-US" dirty="0"/>
              <a:t>Recall: Embeddings</a:t>
            </a:r>
          </a:p>
        </p:txBody>
      </p:sp>
      <p:sp>
        <p:nvSpPr>
          <p:cNvPr id="5" name="Text Placeholder 4">
            <a:extLst>
              <a:ext uri="{FF2B5EF4-FFF2-40B4-BE49-F238E27FC236}">
                <a16:creationId xmlns:a16="http://schemas.microsoft.com/office/drawing/2014/main" id="{DF74CA92-92A6-9AC9-D7F0-24631310C4CC}"/>
              </a:ext>
            </a:extLst>
          </p:cNvPr>
          <p:cNvSpPr>
            <a:spLocks noGrp="1"/>
          </p:cNvSpPr>
          <p:nvPr>
            <p:ph type="body" idx="1"/>
          </p:nvPr>
        </p:nvSpPr>
        <p:spPr/>
        <p:txBody>
          <a:bodyPr/>
          <a:lstStyle/>
          <a:p>
            <a:pPr marL="114300" indent="0">
              <a:buNone/>
            </a:pPr>
            <a:r>
              <a:rPr lang="en-US" dirty="0"/>
              <a:t>The goal of embeddings is to map words (in this case) onto a relatively small dimensional space where similar words are close to one another</a:t>
            </a:r>
          </a:p>
          <a:p>
            <a:pPr marL="114300" indent="0">
              <a:buNone/>
            </a:pPr>
            <a:endParaRPr lang="en-US" dirty="0"/>
          </a:p>
          <a:p>
            <a:pPr marL="114300" indent="0">
              <a:buNone/>
            </a:pPr>
            <a:r>
              <a:rPr lang="en-US" dirty="0"/>
              <a:t>The idea is that we take representations of words that we have mapped to a high-dimensional space (using a term-document matrix) and project them into a lower-dimensional space.</a:t>
            </a:r>
          </a:p>
          <a:p>
            <a:pPr marL="114300" indent="0">
              <a:buNone/>
            </a:pPr>
            <a:endParaRPr lang="en-US" dirty="0"/>
          </a:p>
          <a:p>
            <a:pPr marL="114300" indent="0">
              <a:buNone/>
            </a:pPr>
            <a:endParaRPr lang="en-US" dirty="0"/>
          </a:p>
        </p:txBody>
      </p:sp>
    </p:spTree>
    <p:extLst>
      <p:ext uri="{BB962C8B-B14F-4D97-AF65-F5344CB8AC3E}">
        <p14:creationId xmlns:p14="http://schemas.microsoft.com/office/powerpoint/2010/main" val="29225365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6DE00-2BA8-6437-FEA3-02922EAB7A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1C600-03EF-5AD2-FCD7-AC553A5EC390}"/>
              </a:ext>
            </a:extLst>
          </p:cNvPr>
          <p:cNvSpPr>
            <a:spLocks noGrp="1"/>
          </p:cNvSpPr>
          <p:nvPr>
            <p:ph type="title"/>
          </p:nvPr>
        </p:nvSpPr>
        <p:spPr/>
        <p:txBody>
          <a:bodyPr>
            <a:normAutofit fontScale="90000"/>
          </a:bodyPr>
          <a:lstStyle/>
          <a:p>
            <a:r>
              <a:rPr lang="en-US" dirty="0"/>
              <a:t>Recall: Embeddings</a:t>
            </a:r>
          </a:p>
        </p:txBody>
      </p:sp>
      <p:sp>
        <p:nvSpPr>
          <p:cNvPr id="5" name="Text Placeholder 4">
            <a:extLst>
              <a:ext uri="{FF2B5EF4-FFF2-40B4-BE49-F238E27FC236}">
                <a16:creationId xmlns:a16="http://schemas.microsoft.com/office/drawing/2014/main" id="{1FDB7F92-D867-AD41-28ED-EEAC1FF783DE}"/>
              </a:ext>
            </a:extLst>
          </p:cNvPr>
          <p:cNvSpPr>
            <a:spLocks noGrp="1"/>
          </p:cNvSpPr>
          <p:nvPr>
            <p:ph type="body" idx="1"/>
          </p:nvPr>
        </p:nvSpPr>
        <p:spPr/>
        <p:txBody>
          <a:bodyPr/>
          <a:lstStyle/>
          <a:p>
            <a:pPr marL="114300" indent="0">
              <a:buNone/>
            </a:pPr>
            <a:r>
              <a:rPr lang="en-US" dirty="0"/>
              <a:t>The goal of embeddings is to map words (in this case) onto a relatively small dimensional space where similar words are close to one another</a:t>
            </a:r>
          </a:p>
          <a:p>
            <a:pPr marL="114300" indent="0">
              <a:buNone/>
            </a:pPr>
            <a:endParaRPr lang="en-US" dirty="0"/>
          </a:p>
          <a:p>
            <a:pPr marL="114300" indent="0">
              <a:buNone/>
            </a:pPr>
            <a:r>
              <a:rPr lang="en-US" dirty="0"/>
              <a:t>The idea is that we take representations of words that we have mapped to a high-dimensional space (using a term-document matrix) and project them into a lower-dimensional space.</a:t>
            </a:r>
          </a:p>
          <a:p>
            <a:pPr marL="114300" indent="0">
              <a:buNone/>
            </a:pPr>
            <a:endParaRPr lang="en-US" dirty="0"/>
          </a:p>
          <a:p>
            <a:pPr marL="114300" indent="0">
              <a:buNone/>
            </a:pPr>
            <a:r>
              <a:rPr lang="en-US" dirty="0"/>
              <a:t>We accomplish this using SVD!</a:t>
            </a:r>
          </a:p>
          <a:p>
            <a:pPr marL="114300" indent="0">
              <a:buNone/>
            </a:pPr>
            <a:endParaRPr lang="en-US" dirty="0"/>
          </a:p>
          <a:p>
            <a:pPr marL="114300" indent="0">
              <a:buNone/>
            </a:pPr>
            <a:endParaRPr lang="en-US" dirty="0"/>
          </a:p>
        </p:txBody>
      </p:sp>
    </p:spTree>
    <p:extLst>
      <p:ext uri="{BB962C8B-B14F-4D97-AF65-F5344CB8AC3E}">
        <p14:creationId xmlns:p14="http://schemas.microsoft.com/office/powerpoint/2010/main" val="18166423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B640A-4B30-8BA1-DB25-306EDD130476}"/>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D9EED88-40B5-779F-3AE1-7BF7A8C4469D}"/>
              </a:ext>
            </a:extLst>
          </p:cNvPr>
          <p:cNvGraphicFramePr>
            <a:graphicFrameLocks noGrp="1"/>
          </p:cNvGraphicFramePr>
          <p:nvPr/>
        </p:nvGraphicFramePr>
        <p:xfrm>
          <a:off x="854195" y="1302385"/>
          <a:ext cx="7241062" cy="3230880"/>
        </p:xfrm>
        <a:graphic>
          <a:graphicData uri="http://schemas.openxmlformats.org/drawingml/2006/table">
            <a:tbl>
              <a:tblPr/>
              <a:tblGrid>
                <a:gridCol w="1323975">
                  <a:extLst>
                    <a:ext uri="{9D8B030D-6E8A-4147-A177-3AD203B41FA5}">
                      <a16:colId xmlns:a16="http://schemas.microsoft.com/office/drawing/2014/main" val="1135465833"/>
                    </a:ext>
                  </a:extLst>
                </a:gridCol>
                <a:gridCol w="1095375">
                  <a:extLst>
                    <a:ext uri="{9D8B030D-6E8A-4147-A177-3AD203B41FA5}">
                      <a16:colId xmlns:a16="http://schemas.microsoft.com/office/drawing/2014/main" val="1920302602"/>
                    </a:ext>
                  </a:extLst>
                </a:gridCol>
                <a:gridCol w="1308100">
                  <a:extLst>
                    <a:ext uri="{9D8B030D-6E8A-4147-A177-3AD203B41FA5}">
                      <a16:colId xmlns:a16="http://schemas.microsoft.com/office/drawing/2014/main" val="454054158"/>
                    </a:ext>
                  </a:extLst>
                </a:gridCol>
                <a:gridCol w="1094262">
                  <a:extLst>
                    <a:ext uri="{9D8B030D-6E8A-4147-A177-3AD203B41FA5}">
                      <a16:colId xmlns:a16="http://schemas.microsoft.com/office/drawing/2014/main" val="2386738274"/>
                    </a:ext>
                  </a:extLst>
                </a:gridCol>
                <a:gridCol w="1209675">
                  <a:extLst>
                    <a:ext uri="{9D8B030D-6E8A-4147-A177-3AD203B41FA5}">
                      <a16:colId xmlns:a16="http://schemas.microsoft.com/office/drawing/2014/main" val="2601106830"/>
                    </a:ext>
                  </a:extLst>
                </a:gridCol>
                <a:gridCol w="1209675">
                  <a:extLst>
                    <a:ext uri="{9D8B030D-6E8A-4147-A177-3AD203B41FA5}">
                      <a16:colId xmlns:a16="http://schemas.microsoft.com/office/drawing/2014/main" val="2112890552"/>
                    </a:ext>
                  </a:extLst>
                </a:gridCol>
              </a:tblGrid>
              <a:tr h="381000">
                <a:tc>
                  <a:txBody>
                    <a:bodyPr/>
                    <a:lstStyle/>
                    <a:p>
                      <a:pPr fontAlgn="t">
                        <a:buNone/>
                      </a:pPr>
                      <a:r>
                        <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rPr>
                        <a:t> </a:t>
                      </a: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data</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information</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1" i="0" u="none" strike="noStrike" dirty="0">
                          <a:solidFill>
                            <a:schemeClr val="bg2"/>
                          </a:solidFill>
                          <a:effectLst/>
                          <a:latin typeface="Open Sans" panose="020B0606030504020204" pitchFamily="34" charset="0"/>
                          <a:ea typeface="Open Sans" panose="020B0606030504020204" pitchFamily="34" charset="0"/>
                          <a:cs typeface="Open Sans" panose="020B0606030504020204" pitchFamily="34" charset="0"/>
                        </a:rPr>
                        <a:t>retrieval</a:t>
                      </a:r>
                      <a:endParaRPr lang="en-US" dirty="0">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brain</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lung</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184945465"/>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CS-paper-1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583848479"/>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CS-paper-2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96969309"/>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CS-paper-3</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526569222"/>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CS-paper-4</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5</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5</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5</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891846752"/>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Med-paper-1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125681328"/>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Med-paper-2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3</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3</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946563019"/>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Med-paper-3</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dirty="0">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417170162"/>
                  </a:ext>
                </a:extLst>
              </a:tr>
            </a:tbl>
          </a:graphicData>
        </a:graphic>
      </p:graphicFrame>
    </p:spTree>
    <p:extLst>
      <p:ext uri="{BB962C8B-B14F-4D97-AF65-F5344CB8AC3E}">
        <p14:creationId xmlns:p14="http://schemas.microsoft.com/office/powerpoint/2010/main" val="41372307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8DD0363C-C619-AACC-0C7E-A39C209186BF}"/>
              </a:ext>
            </a:extLst>
          </p:cNvPr>
          <p:cNvGraphicFramePr>
            <a:graphicFrameLocks noGrp="1"/>
          </p:cNvGraphicFramePr>
          <p:nvPr>
            <p:extLst>
              <p:ext uri="{D42A27DB-BD31-4B8C-83A1-F6EECF244321}">
                <p14:modId xmlns:p14="http://schemas.microsoft.com/office/powerpoint/2010/main" val="2207646470"/>
              </p:ext>
            </p:extLst>
          </p:nvPr>
        </p:nvGraphicFramePr>
        <p:xfrm>
          <a:off x="872092" y="1820108"/>
          <a:ext cx="1114425" cy="2827020"/>
        </p:xfrm>
        <a:graphic>
          <a:graphicData uri="http://schemas.openxmlformats.org/drawingml/2006/table">
            <a:tbl>
              <a:tblPr/>
              <a:tblGrid>
                <a:gridCol w="561975">
                  <a:extLst>
                    <a:ext uri="{9D8B030D-6E8A-4147-A177-3AD203B41FA5}">
                      <a16:colId xmlns:a16="http://schemas.microsoft.com/office/drawing/2014/main" val="2272479392"/>
                    </a:ext>
                  </a:extLst>
                </a:gridCol>
                <a:gridCol w="552450">
                  <a:extLst>
                    <a:ext uri="{9D8B030D-6E8A-4147-A177-3AD203B41FA5}">
                      <a16:colId xmlns:a16="http://schemas.microsoft.com/office/drawing/2014/main" val="2539191863"/>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2520062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0.36</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104249073"/>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5297141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0.90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3396926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0.53</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35701321"/>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0.80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3703547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0.27</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250486402"/>
                  </a:ext>
                </a:extLst>
              </a:tr>
            </a:tbl>
          </a:graphicData>
        </a:graphic>
      </p:graphicFrame>
      <p:graphicFrame>
        <p:nvGraphicFramePr>
          <p:cNvPr id="10" name="Table 9">
            <a:extLst>
              <a:ext uri="{FF2B5EF4-FFF2-40B4-BE49-F238E27FC236}">
                <a16:creationId xmlns:a16="http://schemas.microsoft.com/office/drawing/2014/main" id="{79EA3585-8E5D-1BA9-C8EA-018082F4B699}"/>
              </a:ext>
            </a:extLst>
          </p:cNvPr>
          <p:cNvGraphicFramePr>
            <a:graphicFrameLocks noGrp="1"/>
          </p:cNvGraphicFramePr>
          <p:nvPr>
            <p:extLst>
              <p:ext uri="{D42A27DB-BD31-4B8C-83A1-F6EECF244321}">
                <p14:modId xmlns:p14="http://schemas.microsoft.com/office/powerpoint/2010/main" val="894711561"/>
              </p:ext>
            </p:extLst>
          </p:nvPr>
        </p:nvGraphicFramePr>
        <p:xfrm>
          <a:off x="3127020" y="2753662"/>
          <a:ext cx="1114425" cy="807720"/>
        </p:xfrm>
        <a:graphic>
          <a:graphicData uri="http://schemas.openxmlformats.org/drawingml/2006/table">
            <a:tbl>
              <a:tblPr/>
              <a:tblGrid>
                <a:gridCol w="561975">
                  <a:extLst>
                    <a:ext uri="{9D8B030D-6E8A-4147-A177-3AD203B41FA5}">
                      <a16:colId xmlns:a16="http://schemas.microsoft.com/office/drawing/2014/main" val="4243659018"/>
                    </a:ext>
                  </a:extLst>
                </a:gridCol>
                <a:gridCol w="552450">
                  <a:extLst>
                    <a:ext uri="{9D8B030D-6E8A-4147-A177-3AD203B41FA5}">
                      <a16:colId xmlns:a16="http://schemas.microsoft.com/office/drawing/2014/main" val="1089689707"/>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9.64</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15513639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5.29</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508559091"/>
                  </a:ext>
                </a:extLst>
              </a:tr>
            </a:tbl>
          </a:graphicData>
        </a:graphic>
      </p:graphicFrame>
      <p:graphicFrame>
        <p:nvGraphicFramePr>
          <p:cNvPr id="16" name="Table 15">
            <a:extLst>
              <a:ext uri="{FF2B5EF4-FFF2-40B4-BE49-F238E27FC236}">
                <a16:creationId xmlns:a16="http://schemas.microsoft.com/office/drawing/2014/main" id="{B1C514D4-F8C9-D80B-4C49-BF0B041DB5FE}"/>
              </a:ext>
            </a:extLst>
          </p:cNvPr>
          <p:cNvGraphicFramePr>
            <a:graphicFrameLocks noGrp="1"/>
          </p:cNvGraphicFramePr>
          <p:nvPr>
            <p:extLst>
              <p:ext uri="{D42A27DB-BD31-4B8C-83A1-F6EECF244321}">
                <p14:modId xmlns:p14="http://schemas.microsoft.com/office/powerpoint/2010/main" val="3527673178"/>
              </p:ext>
            </p:extLst>
          </p:nvPr>
        </p:nvGraphicFramePr>
        <p:xfrm>
          <a:off x="5517423" y="2753662"/>
          <a:ext cx="2905125" cy="807720"/>
        </p:xfrm>
        <a:graphic>
          <a:graphicData uri="http://schemas.openxmlformats.org/drawingml/2006/table">
            <a:tbl>
              <a:tblPr/>
              <a:tblGrid>
                <a:gridCol w="581025">
                  <a:extLst>
                    <a:ext uri="{9D8B030D-6E8A-4147-A177-3AD203B41FA5}">
                      <a16:colId xmlns:a16="http://schemas.microsoft.com/office/drawing/2014/main" val="3366053481"/>
                    </a:ext>
                  </a:extLst>
                </a:gridCol>
                <a:gridCol w="581025">
                  <a:extLst>
                    <a:ext uri="{9D8B030D-6E8A-4147-A177-3AD203B41FA5}">
                      <a16:colId xmlns:a16="http://schemas.microsoft.com/office/drawing/2014/main" val="1886804556"/>
                    </a:ext>
                  </a:extLst>
                </a:gridCol>
                <a:gridCol w="581025">
                  <a:extLst>
                    <a:ext uri="{9D8B030D-6E8A-4147-A177-3AD203B41FA5}">
                      <a16:colId xmlns:a16="http://schemas.microsoft.com/office/drawing/2014/main" val="333373658"/>
                    </a:ext>
                  </a:extLst>
                </a:gridCol>
                <a:gridCol w="581025">
                  <a:extLst>
                    <a:ext uri="{9D8B030D-6E8A-4147-A177-3AD203B41FA5}">
                      <a16:colId xmlns:a16="http://schemas.microsoft.com/office/drawing/2014/main" val="134857957"/>
                    </a:ext>
                  </a:extLst>
                </a:gridCol>
                <a:gridCol w="581025">
                  <a:extLst>
                    <a:ext uri="{9D8B030D-6E8A-4147-A177-3AD203B41FA5}">
                      <a16:colId xmlns:a16="http://schemas.microsoft.com/office/drawing/2014/main" val="89821631"/>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847509535"/>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0.71</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0.71</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41670811"/>
                  </a:ext>
                </a:extLst>
              </a:tr>
            </a:tbl>
          </a:graphicData>
        </a:graphic>
      </p:graphicFrame>
      <p:sp>
        <p:nvSpPr>
          <p:cNvPr id="18" name="Equal 17">
            <a:extLst>
              <a:ext uri="{FF2B5EF4-FFF2-40B4-BE49-F238E27FC236}">
                <a16:creationId xmlns:a16="http://schemas.microsoft.com/office/drawing/2014/main" id="{12C890A8-AA9C-47F5-CBE7-5FDF6B65B052}"/>
              </a:ext>
            </a:extLst>
          </p:cNvPr>
          <p:cNvSpPr/>
          <p:nvPr/>
        </p:nvSpPr>
        <p:spPr>
          <a:xfrm>
            <a:off x="272807" y="2854274"/>
            <a:ext cx="469535" cy="442299"/>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Multiply 18">
            <a:extLst>
              <a:ext uri="{FF2B5EF4-FFF2-40B4-BE49-F238E27FC236}">
                <a16:creationId xmlns:a16="http://schemas.microsoft.com/office/drawing/2014/main" id="{BDBC49F1-74DB-5C60-5E4B-F0256DE1B985}"/>
              </a:ext>
            </a:extLst>
          </p:cNvPr>
          <p:cNvSpPr/>
          <p:nvPr/>
        </p:nvSpPr>
        <p:spPr>
          <a:xfrm>
            <a:off x="2397985" y="2940085"/>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Multiply 19">
            <a:extLst>
              <a:ext uri="{FF2B5EF4-FFF2-40B4-BE49-F238E27FC236}">
                <a16:creationId xmlns:a16="http://schemas.microsoft.com/office/drawing/2014/main" id="{56AC50F4-4902-A6CB-1014-6BA853B620EF}"/>
              </a:ext>
            </a:extLst>
          </p:cNvPr>
          <p:cNvSpPr/>
          <p:nvPr/>
        </p:nvSpPr>
        <p:spPr>
          <a:xfrm>
            <a:off x="4784556" y="2895371"/>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07242A1-ECF8-046B-9387-D3E9BD4998B3}"/>
                  </a:ext>
                </a:extLst>
              </p:cNvPr>
              <p:cNvSpPr txBox="1"/>
              <p:nvPr/>
            </p:nvSpPr>
            <p:spPr>
              <a:xfrm>
                <a:off x="872092" y="1031477"/>
                <a:ext cx="1114425" cy="369332"/>
              </a:xfrm>
              <a:prstGeom prst="rect">
                <a:avLst/>
              </a:prstGeom>
              <a:noFill/>
              <a:ln>
                <a:solidFill>
                  <a:schemeClr val="accent1"/>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𝑈</m:t>
                      </m:r>
                    </m:oMath>
                  </m:oMathPara>
                </a14:m>
                <a:endParaRPr lang="en-US" sz="18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26" name="TextBox 25">
                <a:extLst>
                  <a:ext uri="{FF2B5EF4-FFF2-40B4-BE49-F238E27FC236}">
                    <a16:creationId xmlns:a16="http://schemas.microsoft.com/office/drawing/2014/main" id="{007242A1-ECF8-046B-9387-D3E9BD4998B3}"/>
                  </a:ext>
                </a:extLst>
              </p:cNvPr>
              <p:cNvSpPr txBox="1">
                <a:spLocks noRot="1" noChangeAspect="1" noMove="1" noResize="1" noEditPoints="1" noAdjustHandles="1" noChangeArrowheads="1" noChangeShapeType="1" noTextEdit="1"/>
              </p:cNvSpPr>
              <p:nvPr/>
            </p:nvSpPr>
            <p:spPr>
              <a:xfrm>
                <a:off x="872092" y="1031477"/>
                <a:ext cx="1114425" cy="369332"/>
              </a:xfrm>
              <a:prstGeom prst="rect">
                <a:avLst/>
              </a:prstGeom>
              <a:blipFill>
                <a:blip r:embed="rId3"/>
                <a:stretch>
                  <a:fillRect/>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39AC9A6-6848-9F78-67FC-9808DA7F637E}"/>
                  </a:ext>
                </a:extLst>
              </p:cNvPr>
              <p:cNvSpPr txBox="1"/>
              <p:nvPr/>
            </p:nvSpPr>
            <p:spPr>
              <a:xfrm>
                <a:off x="3127020" y="2066837"/>
                <a:ext cx="1114425" cy="369332"/>
              </a:xfrm>
              <a:prstGeom prst="rect">
                <a:avLst/>
              </a:prstGeom>
              <a:noFill/>
              <a:ln>
                <a:solidFill>
                  <a:schemeClr val="accent1"/>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m:rPr>
                          <m:sty m:val="p"/>
                        </m:rPr>
                        <a:rPr lang="en-US" sz="1800"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Σ</m:t>
                      </m:r>
                    </m:oMath>
                  </m:oMathPara>
                </a14:m>
                <a:endParaRPr lang="en-US" sz="18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27" name="TextBox 26">
                <a:extLst>
                  <a:ext uri="{FF2B5EF4-FFF2-40B4-BE49-F238E27FC236}">
                    <a16:creationId xmlns:a16="http://schemas.microsoft.com/office/drawing/2014/main" id="{939AC9A6-6848-9F78-67FC-9808DA7F637E}"/>
                  </a:ext>
                </a:extLst>
              </p:cNvPr>
              <p:cNvSpPr txBox="1">
                <a:spLocks noRot="1" noChangeAspect="1" noMove="1" noResize="1" noEditPoints="1" noAdjustHandles="1" noChangeArrowheads="1" noChangeShapeType="1" noTextEdit="1"/>
              </p:cNvSpPr>
              <p:nvPr/>
            </p:nvSpPr>
            <p:spPr>
              <a:xfrm>
                <a:off x="3127020" y="2066837"/>
                <a:ext cx="1114425" cy="369332"/>
              </a:xfrm>
              <a:prstGeom prst="rect">
                <a:avLst/>
              </a:prstGeom>
              <a:blipFill>
                <a:blip r:embed="rId4"/>
                <a:stretch>
                  <a:fillRect/>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040310A-70BD-B656-566C-39FFDC9AC0E8}"/>
                  </a:ext>
                </a:extLst>
              </p:cNvPr>
              <p:cNvSpPr txBox="1"/>
              <p:nvPr/>
            </p:nvSpPr>
            <p:spPr>
              <a:xfrm>
                <a:off x="6412771" y="2039839"/>
                <a:ext cx="1114425" cy="369332"/>
              </a:xfrm>
              <a:prstGeom prst="rect">
                <a:avLst/>
              </a:prstGeom>
              <a:noFill/>
              <a:ln>
                <a:solidFill>
                  <a:schemeClr val="accent1"/>
                </a:solidFill>
              </a:ln>
            </p:spPr>
            <p:txBody>
              <a:bodyPr wrap="square" rtlCol="0">
                <a:spAutoFit/>
              </a:bodyPr>
              <a:lstStyle/>
              <a:p>
                <a:pPr algn="ctr"/>
                <a14:m>
                  <m:oMathPara xmlns:m="http://schemas.openxmlformats.org/officeDocument/2006/math">
                    <m:oMathParaPr>
                      <m:jc m:val="center"/>
                    </m:oMathParaPr>
                    <m:oMath xmlns:m="http://schemas.openxmlformats.org/officeDocument/2006/math">
                      <m:sSup>
                        <m:sSupPr>
                          <m:ctrlPr>
                            <a:rPr lang="en-US" sz="1800"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pPr>
                        <m:e>
                          <m:r>
                            <a:rPr lang="en-US" sz="1800"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𝑉</m:t>
                          </m:r>
                        </m:e>
                        <m:sup>
                          <m:r>
                            <a:rPr lang="en-US" sz="1800"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𝑇</m:t>
                          </m:r>
                        </m:sup>
                      </m:sSup>
                    </m:oMath>
                  </m:oMathPara>
                </a14:m>
                <a:endParaRPr lang="en-US" sz="1800"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28" name="TextBox 27">
                <a:extLst>
                  <a:ext uri="{FF2B5EF4-FFF2-40B4-BE49-F238E27FC236}">
                    <a16:creationId xmlns:a16="http://schemas.microsoft.com/office/drawing/2014/main" id="{5040310A-70BD-B656-566C-39FFDC9AC0E8}"/>
                  </a:ext>
                </a:extLst>
              </p:cNvPr>
              <p:cNvSpPr txBox="1">
                <a:spLocks noRot="1" noChangeAspect="1" noMove="1" noResize="1" noEditPoints="1" noAdjustHandles="1" noChangeArrowheads="1" noChangeShapeType="1" noTextEdit="1"/>
              </p:cNvSpPr>
              <p:nvPr/>
            </p:nvSpPr>
            <p:spPr>
              <a:xfrm>
                <a:off x="6412771" y="2039839"/>
                <a:ext cx="1114425" cy="369332"/>
              </a:xfrm>
              <a:prstGeom prst="rect">
                <a:avLst/>
              </a:prstGeom>
              <a:blipFill>
                <a:blip r:embed="rId5"/>
                <a:stretch>
                  <a:fillRect/>
                </a:stretch>
              </a:blipFill>
              <a:ln>
                <a:solidFill>
                  <a:schemeClr val="accent1"/>
                </a:solidFill>
              </a:ln>
            </p:spPr>
            <p:txBody>
              <a:bodyPr/>
              <a:lstStyle/>
              <a:p>
                <a:r>
                  <a:rPr lang="en-US">
                    <a:noFill/>
                  </a:rPr>
                  <a:t> </a:t>
                </a:r>
              </a:p>
            </p:txBody>
          </p:sp>
        </mc:Fallback>
      </mc:AlternateContent>
    </p:spTree>
    <p:extLst>
      <p:ext uri="{BB962C8B-B14F-4D97-AF65-F5344CB8AC3E}">
        <p14:creationId xmlns:p14="http://schemas.microsoft.com/office/powerpoint/2010/main" val="13149504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41836-90EE-E670-4887-D821AC219583}"/>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A6A1B58D-7195-7F0D-55F6-4451F5F01BBE}"/>
              </a:ext>
            </a:extLst>
          </p:cNvPr>
          <p:cNvGraphicFramePr>
            <a:graphicFrameLocks noGrp="1"/>
          </p:cNvGraphicFramePr>
          <p:nvPr/>
        </p:nvGraphicFramePr>
        <p:xfrm>
          <a:off x="872092" y="1820108"/>
          <a:ext cx="1114425" cy="2827020"/>
        </p:xfrm>
        <a:graphic>
          <a:graphicData uri="http://schemas.openxmlformats.org/drawingml/2006/table">
            <a:tbl>
              <a:tblPr/>
              <a:tblGrid>
                <a:gridCol w="561975">
                  <a:extLst>
                    <a:ext uri="{9D8B030D-6E8A-4147-A177-3AD203B41FA5}">
                      <a16:colId xmlns:a16="http://schemas.microsoft.com/office/drawing/2014/main" val="2272479392"/>
                    </a:ext>
                  </a:extLst>
                </a:gridCol>
                <a:gridCol w="552450">
                  <a:extLst>
                    <a:ext uri="{9D8B030D-6E8A-4147-A177-3AD203B41FA5}">
                      <a16:colId xmlns:a16="http://schemas.microsoft.com/office/drawing/2014/main" val="2539191863"/>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2520062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0.36</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104249073"/>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5297141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0.90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3396926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0.53</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35701321"/>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0.80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3703547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0.27</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250486402"/>
                  </a:ext>
                </a:extLst>
              </a:tr>
            </a:tbl>
          </a:graphicData>
        </a:graphic>
      </p:graphicFrame>
      <p:sp>
        <p:nvSpPr>
          <p:cNvPr id="9" name="Rectangle 2">
            <a:extLst>
              <a:ext uri="{FF2B5EF4-FFF2-40B4-BE49-F238E27FC236}">
                <a16:creationId xmlns:a16="http://schemas.microsoft.com/office/drawing/2014/main" id="{57D7E3EF-3FE7-5783-A3FA-7E24B78B35D2}"/>
              </a:ext>
            </a:extLst>
          </p:cNvPr>
          <p:cNvSpPr>
            <a:spLocks noChangeArrowheads="1"/>
          </p:cNvSpPr>
          <p:nvPr/>
        </p:nvSpPr>
        <p:spPr bwMode="auto">
          <a:xfrm>
            <a:off x="302455" y="1481797"/>
            <a:ext cx="264848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doc-to-concept similarity matrix</a:t>
            </a: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0" name="Table 9">
            <a:extLst>
              <a:ext uri="{FF2B5EF4-FFF2-40B4-BE49-F238E27FC236}">
                <a16:creationId xmlns:a16="http://schemas.microsoft.com/office/drawing/2014/main" id="{2F93349C-9407-A1F0-A116-E9E0F303F83F}"/>
              </a:ext>
            </a:extLst>
          </p:cNvPr>
          <p:cNvGraphicFramePr>
            <a:graphicFrameLocks noGrp="1"/>
          </p:cNvGraphicFramePr>
          <p:nvPr/>
        </p:nvGraphicFramePr>
        <p:xfrm>
          <a:off x="3127020" y="2753662"/>
          <a:ext cx="1114425" cy="807720"/>
        </p:xfrm>
        <a:graphic>
          <a:graphicData uri="http://schemas.openxmlformats.org/drawingml/2006/table">
            <a:tbl>
              <a:tblPr/>
              <a:tblGrid>
                <a:gridCol w="561975">
                  <a:extLst>
                    <a:ext uri="{9D8B030D-6E8A-4147-A177-3AD203B41FA5}">
                      <a16:colId xmlns:a16="http://schemas.microsoft.com/office/drawing/2014/main" val="4243659018"/>
                    </a:ext>
                  </a:extLst>
                </a:gridCol>
                <a:gridCol w="552450">
                  <a:extLst>
                    <a:ext uri="{9D8B030D-6E8A-4147-A177-3AD203B41FA5}">
                      <a16:colId xmlns:a16="http://schemas.microsoft.com/office/drawing/2014/main" val="1089689707"/>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9.64</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15513639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5.29</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508559091"/>
                  </a:ext>
                </a:extLst>
              </a:tr>
            </a:tbl>
          </a:graphicData>
        </a:graphic>
      </p:graphicFrame>
      <p:sp>
        <p:nvSpPr>
          <p:cNvPr id="11" name="Rectangle 3">
            <a:extLst>
              <a:ext uri="{FF2B5EF4-FFF2-40B4-BE49-F238E27FC236}">
                <a16:creationId xmlns:a16="http://schemas.microsoft.com/office/drawing/2014/main" id="{06F59F7B-DFDA-F726-FFC0-9B0B77BEBEB6}"/>
              </a:ext>
            </a:extLst>
          </p:cNvPr>
          <p:cNvSpPr>
            <a:spLocks noChangeArrowheads="1"/>
          </p:cNvSpPr>
          <p:nvPr/>
        </p:nvSpPr>
        <p:spPr bwMode="auto">
          <a:xfrm>
            <a:off x="2106415" y="2039839"/>
            <a:ext cx="2836033" cy="180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3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“strength” of each concept</a:t>
            </a:r>
            <a:endParaRPr kumimoji="0" lang="en-US" altLang="en-US" sz="6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6" name="Table 15">
            <a:extLst>
              <a:ext uri="{FF2B5EF4-FFF2-40B4-BE49-F238E27FC236}">
                <a16:creationId xmlns:a16="http://schemas.microsoft.com/office/drawing/2014/main" id="{B3C04965-34D5-DF66-BB7E-A2827F0E26FD}"/>
              </a:ext>
            </a:extLst>
          </p:cNvPr>
          <p:cNvGraphicFramePr>
            <a:graphicFrameLocks noGrp="1"/>
          </p:cNvGraphicFramePr>
          <p:nvPr/>
        </p:nvGraphicFramePr>
        <p:xfrm>
          <a:off x="5517423" y="2753662"/>
          <a:ext cx="2905125" cy="807720"/>
        </p:xfrm>
        <a:graphic>
          <a:graphicData uri="http://schemas.openxmlformats.org/drawingml/2006/table">
            <a:tbl>
              <a:tblPr/>
              <a:tblGrid>
                <a:gridCol w="581025">
                  <a:extLst>
                    <a:ext uri="{9D8B030D-6E8A-4147-A177-3AD203B41FA5}">
                      <a16:colId xmlns:a16="http://schemas.microsoft.com/office/drawing/2014/main" val="3366053481"/>
                    </a:ext>
                  </a:extLst>
                </a:gridCol>
                <a:gridCol w="581025">
                  <a:extLst>
                    <a:ext uri="{9D8B030D-6E8A-4147-A177-3AD203B41FA5}">
                      <a16:colId xmlns:a16="http://schemas.microsoft.com/office/drawing/2014/main" val="1886804556"/>
                    </a:ext>
                  </a:extLst>
                </a:gridCol>
                <a:gridCol w="581025">
                  <a:extLst>
                    <a:ext uri="{9D8B030D-6E8A-4147-A177-3AD203B41FA5}">
                      <a16:colId xmlns:a16="http://schemas.microsoft.com/office/drawing/2014/main" val="333373658"/>
                    </a:ext>
                  </a:extLst>
                </a:gridCol>
                <a:gridCol w="581025">
                  <a:extLst>
                    <a:ext uri="{9D8B030D-6E8A-4147-A177-3AD203B41FA5}">
                      <a16:colId xmlns:a16="http://schemas.microsoft.com/office/drawing/2014/main" val="134857957"/>
                    </a:ext>
                  </a:extLst>
                </a:gridCol>
                <a:gridCol w="581025">
                  <a:extLst>
                    <a:ext uri="{9D8B030D-6E8A-4147-A177-3AD203B41FA5}">
                      <a16:colId xmlns:a16="http://schemas.microsoft.com/office/drawing/2014/main" val="89821631"/>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847509535"/>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0.71</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0.71</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41670811"/>
                  </a:ext>
                </a:extLst>
              </a:tr>
            </a:tbl>
          </a:graphicData>
        </a:graphic>
      </p:graphicFrame>
      <p:sp>
        <p:nvSpPr>
          <p:cNvPr id="17" name="Rectangle 4">
            <a:extLst>
              <a:ext uri="{FF2B5EF4-FFF2-40B4-BE49-F238E27FC236}">
                <a16:creationId xmlns:a16="http://schemas.microsoft.com/office/drawing/2014/main" id="{564AB36D-F5DA-D968-1981-C01BFDBBE4E4}"/>
              </a:ext>
            </a:extLst>
          </p:cNvPr>
          <p:cNvSpPr>
            <a:spLocks noChangeArrowheads="1"/>
          </p:cNvSpPr>
          <p:nvPr/>
        </p:nvSpPr>
        <p:spPr bwMode="auto">
          <a:xfrm>
            <a:off x="5600058" y="2380661"/>
            <a:ext cx="2739853"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term-to-concept similarity matrix</a:t>
            </a:r>
            <a:endParaRPr kumimoji="0" lang="en-US" altLang="en-US" sz="18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8" name="Equal 17">
            <a:extLst>
              <a:ext uri="{FF2B5EF4-FFF2-40B4-BE49-F238E27FC236}">
                <a16:creationId xmlns:a16="http://schemas.microsoft.com/office/drawing/2014/main" id="{AA480B57-E7B4-5643-6DEB-2FC326A53DB6}"/>
              </a:ext>
            </a:extLst>
          </p:cNvPr>
          <p:cNvSpPr/>
          <p:nvPr/>
        </p:nvSpPr>
        <p:spPr>
          <a:xfrm>
            <a:off x="272807" y="2854274"/>
            <a:ext cx="469535" cy="442299"/>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Multiply 18">
            <a:extLst>
              <a:ext uri="{FF2B5EF4-FFF2-40B4-BE49-F238E27FC236}">
                <a16:creationId xmlns:a16="http://schemas.microsoft.com/office/drawing/2014/main" id="{A1FE5E0C-474B-69A8-99FA-F268199DB781}"/>
              </a:ext>
            </a:extLst>
          </p:cNvPr>
          <p:cNvSpPr/>
          <p:nvPr/>
        </p:nvSpPr>
        <p:spPr>
          <a:xfrm>
            <a:off x="2397985" y="2940085"/>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Multiply 19">
            <a:extLst>
              <a:ext uri="{FF2B5EF4-FFF2-40B4-BE49-F238E27FC236}">
                <a16:creationId xmlns:a16="http://schemas.microsoft.com/office/drawing/2014/main" id="{3AD4604F-067D-0D7C-E4BE-B941F9D3868B}"/>
              </a:ext>
            </a:extLst>
          </p:cNvPr>
          <p:cNvSpPr/>
          <p:nvPr/>
        </p:nvSpPr>
        <p:spPr>
          <a:xfrm>
            <a:off x="4784556" y="2895371"/>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214AEE1-B773-170B-0955-5593C29E9211}"/>
                  </a:ext>
                </a:extLst>
              </p:cNvPr>
              <p:cNvSpPr txBox="1"/>
              <p:nvPr/>
            </p:nvSpPr>
            <p:spPr>
              <a:xfrm>
                <a:off x="872092" y="1031477"/>
                <a:ext cx="1114425" cy="369332"/>
              </a:xfrm>
              <a:prstGeom prst="rect">
                <a:avLst/>
              </a:prstGeom>
              <a:noFill/>
              <a:ln>
                <a:solidFill>
                  <a:schemeClr val="accent1"/>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𝑈</m:t>
                      </m:r>
                    </m:oMath>
                  </m:oMathPara>
                </a14:m>
                <a:endParaRPr lang="en-US" sz="18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26" name="TextBox 25">
                <a:extLst>
                  <a:ext uri="{FF2B5EF4-FFF2-40B4-BE49-F238E27FC236}">
                    <a16:creationId xmlns:a16="http://schemas.microsoft.com/office/drawing/2014/main" id="{E214AEE1-B773-170B-0955-5593C29E9211}"/>
                  </a:ext>
                </a:extLst>
              </p:cNvPr>
              <p:cNvSpPr txBox="1">
                <a:spLocks noRot="1" noChangeAspect="1" noMove="1" noResize="1" noEditPoints="1" noAdjustHandles="1" noChangeArrowheads="1" noChangeShapeType="1" noTextEdit="1"/>
              </p:cNvSpPr>
              <p:nvPr/>
            </p:nvSpPr>
            <p:spPr>
              <a:xfrm>
                <a:off x="872092" y="1031477"/>
                <a:ext cx="1114425" cy="369332"/>
              </a:xfrm>
              <a:prstGeom prst="rect">
                <a:avLst/>
              </a:prstGeom>
              <a:blipFill>
                <a:blip r:embed="rId3"/>
                <a:stretch>
                  <a:fillRect/>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E226109-4540-6BEA-CE24-3829B8FD3B23}"/>
                  </a:ext>
                </a:extLst>
              </p:cNvPr>
              <p:cNvSpPr txBox="1"/>
              <p:nvPr/>
            </p:nvSpPr>
            <p:spPr>
              <a:xfrm>
                <a:off x="3127020" y="2066837"/>
                <a:ext cx="1114425" cy="369332"/>
              </a:xfrm>
              <a:prstGeom prst="rect">
                <a:avLst/>
              </a:prstGeom>
              <a:noFill/>
              <a:ln>
                <a:solidFill>
                  <a:schemeClr val="accent1"/>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m:rPr>
                          <m:sty m:val="p"/>
                        </m:rPr>
                        <a:rPr lang="en-US" sz="1800"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Σ</m:t>
                      </m:r>
                    </m:oMath>
                  </m:oMathPara>
                </a14:m>
                <a:endParaRPr lang="en-US" sz="18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27" name="TextBox 26">
                <a:extLst>
                  <a:ext uri="{FF2B5EF4-FFF2-40B4-BE49-F238E27FC236}">
                    <a16:creationId xmlns:a16="http://schemas.microsoft.com/office/drawing/2014/main" id="{4E226109-4540-6BEA-CE24-3829B8FD3B23}"/>
                  </a:ext>
                </a:extLst>
              </p:cNvPr>
              <p:cNvSpPr txBox="1">
                <a:spLocks noRot="1" noChangeAspect="1" noMove="1" noResize="1" noEditPoints="1" noAdjustHandles="1" noChangeArrowheads="1" noChangeShapeType="1" noTextEdit="1"/>
              </p:cNvSpPr>
              <p:nvPr/>
            </p:nvSpPr>
            <p:spPr>
              <a:xfrm>
                <a:off x="3127020" y="2066837"/>
                <a:ext cx="1114425" cy="369332"/>
              </a:xfrm>
              <a:prstGeom prst="rect">
                <a:avLst/>
              </a:prstGeom>
              <a:blipFill>
                <a:blip r:embed="rId4"/>
                <a:stretch>
                  <a:fillRect/>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C337ED9-F429-81E6-24A9-FD5EC7DF45DB}"/>
                  </a:ext>
                </a:extLst>
              </p:cNvPr>
              <p:cNvSpPr txBox="1"/>
              <p:nvPr/>
            </p:nvSpPr>
            <p:spPr>
              <a:xfrm>
                <a:off x="6412771" y="2039839"/>
                <a:ext cx="1114425" cy="369332"/>
              </a:xfrm>
              <a:prstGeom prst="rect">
                <a:avLst/>
              </a:prstGeom>
              <a:noFill/>
              <a:ln>
                <a:solidFill>
                  <a:schemeClr val="accent1"/>
                </a:solidFill>
              </a:ln>
            </p:spPr>
            <p:txBody>
              <a:bodyPr wrap="square" rtlCol="0">
                <a:spAutoFit/>
              </a:bodyPr>
              <a:lstStyle/>
              <a:p>
                <a:pPr algn="ctr"/>
                <a14:m>
                  <m:oMathPara xmlns:m="http://schemas.openxmlformats.org/officeDocument/2006/math">
                    <m:oMathParaPr>
                      <m:jc m:val="center"/>
                    </m:oMathParaPr>
                    <m:oMath xmlns:m="http://schemas.openxmlformats.org/officeDocument/2006/math">
                      <m:sSup>
                        <m:sSupPr>
                          <m:ctrlPr>
                            <a:rPr lang="en-US" sz="1800"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pPr>
                        <m:e>
                          <m:r>
                            <a:rPr lang="en-US" sz="1800"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𝑉</m:t>
                          </m:r>
                        </m:e>
                        <m:sup>
                          <m:r>
                            <a:rPr lang="en-US" sz="1800"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𝑇</m:t>
                          </m:r>
                        </m:sup>
                      </m:sSup>
                    </m:oMath>
                  </m:oMathPara>
                </a14:m>
                <a:endParaRPr lang="en-US" sz="1800"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28" name="TextBox 27">
                <a:extLst>
                  <a:ext uri="{FF2B5EF4-FFF2-40B4-BE49-F238E27FC236}">
                    <a16:creationId xmlns:a16="http://schemas.microsoft.com/office/drawing/2014/main" id="{8C337ED9-F429-81E6-24A9-FD5EC7DF45DB}"/>
                  </a:ext>
                </a:extLst>
              </p:cNvPr>
              <p:cNvSpPr txBox="1">
                <a:spLocks noRot="1" noChangeAspect="1" noMove="1" noResize="1" noEditPoints="1" noAdjustHandles="1" noChangeArrowheads="1" noChangeShapeType="1" noTextEdit="1"/>
              </p:cNvSpPr>
              <p:nvPr/>
            </p:nvSpPr>
            <p:spPr>
              <a:xfrm>
                <a:off x="6412771" y="2039839"/>
                <a:ext cx="1114425" cy="369332"/>
              </a:xfrm>
              <a:prstGeom prst="rect">
                <a:avLst/>
              </a:prstGeom>
              <a:blipFill>
                <a:blip r:embed="rId5"/>
                <a:stretch>
                  <a:fillRect/>
                </a:stretch>
              </a:blipFill>
              <a:ln>
                <a:solidFill>
                  <a:schemeClr val="accent1"/>
                </a:solidFill>
              </a:ln>
            </p:spPr>
            <p:txBody>
              <a:bodyPr/>
              <a:lstStyle/>
              <a:p>
                <a:r>
                  <a:rPr lang="en-US">
                    <a:noFill/>
                  </a:rPr>
                  <a:t> </a:t>
                </a:r>
              </a:p>
            </p:txBody>
          </p:sp>
        </mc:Fallback>
      </mc:AlternateContent>
    </p:spTree>
    <p:extLst>
      <p:ext uri="{BB962C8B-B14F-4D97-AF65-F5344CB8AC3E}">
        <p14:creationId xmlns:p14="http://schemas.microsoft.com/office/powerpoint/2010/main" val="20659873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AE701-5462-2CFE-7F91-9B2C45AE9122}"/>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0428F8BC-59B0-4FDA-CA6A-E34F7A277B67}"/>
              </a:ext>
            </a:extLst>
          </p:cNvPr>
          <p:cNvGraphicFramePr>
            <a:graphicFrameLocks noGrp="1"/>
          </p:cNvGraphicFramePr>
          <p:nvPr/>
        </p:nvGraphicFramePr>
        <p:xfrm>
          <a:off x="872092" y="1820108"/>
          <a:ext cx="1114425" cy="2827020"/>
        </p:xfrm>
        <a:graphic>
          <a:graphicData uri="http://schemas.openxmlformats.org/drawingml/2006/table">
            <a:tbl>
              <a:tblPr/>
              <a:tblGrid>
                <a:gridCol w="561975">
                  <a:extLst>
                    <a:ext uri="{9D8B030D-6E8A-4147-A177-3AD203B41FA5}">
                      <a16:colId xmlns:a16="http://schemas.microsoft.com/office/drawing/2014/main" val="2272479392"/>
                    </a:ext>
                  </a:extLst>
                </a:gridCol>
                <a:gridCol w="552450">
                  <a:extLst>
                    <a:ext uri="{9D8B030D-6E8A-4147-A177-3AD203B41FA5}">
                      <a16:colId xmlns:a16="http://schemas.microsoft.com/office/drawing/2014/main" val="2539191863"/>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2520062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0.36</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104249073"/>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5297141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0.90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3396926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0.53</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35701321"/>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0.80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3703547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0.27</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250486402"/>
                  </a:ext>
                </a:extLst>
              </a:tr>
            </a:tbl>
          </a:graphicData>
        </a:graphic>
      </p:graphicFrame>
      <p:sp>
        <p:nvSpPr>
          <p:cNvPr id="9" name="Rectangle 2">
            <a:extLst>
              <a:ext uri="{FF2B5EF4-FFF2-40B4-BE49-F238E27FC236}">
                <a16:creationId xmlns:a16="http://schemas.microsoft.com/office/drawing/2014/main" id="{3E118E10-B7C0-BB1E-06C5-62BB78E2B26E}"/>
              </a:ext>
            </a:extLst>
          </p:cNvPr>
          <p:cNvSpPr>
            <a:spLocks noChangeArrowheads="1"/>
          </p:cNvSpPr>
          <p:nvPr/>
        </p:nvSpPr>
        <p:spPr bwMode="auto">
          <a:xfrm>
            <a:off x="302455" y="1481797"/>
            <a:ext cx="264848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doc-to-concept similarity matrix</a:t>
            </a: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0" name="Table 9">
            <a:extLst>
              <a:ext uri="{FF2B5EF4-FFF2-40B4-BE49-F238E27FC236}">
                <a16:creationId xmlns:a16="http://schemas.microsoft.com/office/drawing/2014/main" id="{3843D19A-4D87-41D5-2EAC-B53426926ED5}"/>
              </a:ext>
            </a:extLst>
          </p:cNvPr>
          <p:cNvGraphicFramePr>
            <a:graphicFrameLocks noGrp="1"/>
          </p:cNvGraphicFramePr>
          <p:nvPr/>
        </p:nvGraphicFramePr>
        <p:xfrm>
          <a:off x="3127020" y="2753662"/>
          <a:ext cx="1114425" cy="807720"/>
        </p:xfrm>
        <a:graphic>
          <a:graphicData uri="http://schemas.openxmlformats.org/drawingml/2006/table">
            <a:tbl>
              <a:tblPr/>
              <a:tblGrid>
                <a:gridCol w="561975">
                  <a:extLst>
                    <a:ext uri="{9D8B030D-6E8A-4147-A177-3AD203B41FA5}">
                      <a16:colId xmlns:a16="http://schemas.microsoft.com/office/drawing/2014/main" val="4243659018"/>
                    </a:ext>
                  </a:extLst>
                </a:gridCol>
                <a:gridCol w="552450">
                  <a:extLst>
                    <a:ext uri="{9D8B030D-6E8A-4147-A177-3AD203B41FA5}">
                      <a16:colId xmlns:a16="http://schemas.microsoft.com/office/drawing/2014/main" val="1089689707"/>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9.64</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15513639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5.29</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508559091"/>
                  </a:ext>
                </a:extLst>
              </a:tr>
            </a:tbl>
          </a:graphicData>
        </a:graphic>
      </p:graphicFrame>
      <p:sp>
        <p:nvSpPr>
          <p:cNvPr id="11" name="Rectangle 3">
            <a:extLst>
              <a:ext uri="{FF2B5EF4-FFF2-40B4-BE49-F238E27FC236}">
                <a16:creationId xmlns:a16="http://schemas.microsoft.com/office/drawing/2014/main" id="{AB99F5EA-0655-6962-1DDA-7F54E288D6A0}"/>
              </a:ext>
            </a:extLst>
          </p:cNvPr>
          <p:cNvSpPr>
            <a:spLocks noChangeArrowheads="1"/>
          </p:cNvSpPr>
          <p:nvPr/>
        </p:nvSpPr>
        <p:spPr bwMode="auto">
          <a:xfrm>
            <a:off x="2106415" y="2039839"/>
            <a:ext cx="2836033" cy="180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3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“strength” of each concept</a:t>
            </a:r>
            <a:endParaRPr kumimoji="0" lang="en-US" altLang="en-US" sz="6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6" name="Table 15">
            <a:extLst>
              <a:ext uri="{FF2B5EF4-FFF2-40B4-BE49-F238E27FC236}">
                <a16:creationId xmlns:a16="http://schemas.microsoft.com/office/drawing/2014/main" id="{E49A8224-EC42-9662-93B0-3F5DF30563A4}"/>
              </a:ext>
            </a:extLst>
          </p:cNvPr>
          <p:cNvGraphicFramePr>
            <a:graphicFrameLocks noGrp="1"/>
          </p:cNvGraphicFramePr>
          <p:nvPr/>
        </p:nvGraphicFramePr>
        <p:xfrm>
          <a:off x="5517423" y="2753662"/>
          <a:ext cx="2905125" cy="807720"/>
        </p:xfrm>
        <a:graphic>
          <a:graphicData uri="http://schemas.openxmlformats.org/drawingml/2006/table">
            <a:tbl>
              <a:tblPr/>
              <a:tblGrid>
                <a:gridCol w="581025">
                  <a:extLst>
                    <a:ext uri="{9D8B030D-6E8A-4147-A177-3AD203B41FA5}">
                      <a16:colId xmlns:a16="http://schemas.microsoft.com/office/drawing/2014/main" val="3366053481"/>
                    </a:ext>
                  </a:extLst>
                </a:gridCol>
                <a:gridCol w="581025">
                  <a:extLst>
                    <a:ext uri="{9D8B030D-6E8A-4147-A177-3AD203B41FA5}">
                      <a16:colId xmlns:a16="http://schemas.microsoft.com/office/drawing/2014/main" val="1886804556"/>
                    </a:ext>
                  </a:extLst>
                </a:gridCol>
                <a:gridCol w="581025">
                  <a:extLst>
                    <a:ext uri="{9D8B030D-6E8A-4147-A177-3AD203B41FA5}">
                      <a16:colId xmlns:a16="http://schemas.microsoft.com/office/drawing/2014/main" val="333373658"/>
                    </a:ext>
                  </a:extLst>
                </a:gridCol>
                <a:gridCol w="581025">
                  <a:extLst>
                    <a:ext uri="{9D8B030D-6E8A-4147-A177-3AD203B41FA5}">
                      <a16:colId xmlns:a16="http://schemas.microsoft.com/office/drawing/2014/main" val="134857957"/>
                    </a:ext>
                  </a:extLst>
                </a:gridCol>
                <a:gridCol w="581025">
                  <a:extLst>
                    <a:ext uri="{9D8B030D-6E8A-4147-A177-3AD203B41FA5}">
                      <a16:colId xmlns:a16="http://schemas.microsoft.com/office/drawing/2014/main" val="89821631"/>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847509535"/>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0.71</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0.71</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41670811"/>
                  </a:ext>
                </a:extLst>
              </a:tr>
            </a:tbl>
          </a:graphicData>
        </a:graphic>
      </p:graphicFrame>
      <p:sp>
        <p:nvSpPr>
          <p:cNvPr id="17" name="Rectangle 4">
            <a:extLst>
              <a:ext uri="{FF2B5EF4-FFF2-40B4-BE49-F238E27FC236}">
                <a16:creationId xmlns:a16="http://schemas.microsoft.com/office/drawing/2014/main" id="{74D5E56D-BA93-17A6-3BDA-7043A03EFCA0}"/>
              </a:ext>
            </a:extLst>
          </p:cNvPr>
          <p:cNvSpPr>
            <a:spLocks noChangeArrowheads="1"/>
          </p:cNvSpPr>
          <p:nvPr/>
        </p:nvSpPr>
        <p:spPr bwMode="auto">
          <a:xfrm>
            <a:off x="5600058" y="2380661"/>
            <a:ext cx="2739853"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term-to-concept similarity matrix</a:t>
            </a:r>
            <a:endParaRPr kumimoji="0" lang="en-US" altLang="en-US" sz="18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8" name="Equal 17">
            <a:extLst>
              <a:ext uri="{FF2B5EF4-FFF2-40B4-BE49-F238E27FC236}">
                <a16:creationId xmlns:a16="http://schemas.microsoft.com/office/drawing/2014/main" id="{A53CFD82-91CE-0EF8-1F89-F79CD08ACDC0}"/>
              </a:ext>
            </a:extLst>
          </p:cNvPr>
          <p:cNvSpPr/>
          <p:nvPr/>
        </p:nvSpPr>
        <p:spPr>
          <a:xfrm>
            <a:off x="272807" y="2854274"/>
            <a:ext cx="469535" cy="442299"/>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Multiply 18">
            <a:extLst>
              <a:ext uri="{FF2B5EF4-FFF2-40B4-BE49-F238E27FC236}">
                <a16:creationId xmlns:a16="http://schemas.microsoft.com/office/drawing/2014/main" id="{81DF577B-5063-AF77-43AA-1381411E829D}"/>
              </a:ext>
            </a:extLst>
          </p:cNvPr>
          <p:cNvSpPr/>
          <p:nvPr/>
        </p:nvSpPr>
        <p:spPr>
          <a:xfrm>
            <a:off x="2397985" y="2940085"/>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Multiply 19">
            <a:extLst>
              <a:ext uri="{FF2B5EF4-FFF2-40B4-BE49-F238E27FC236}">
                <a16:creationId xmlns:a16="http://schemas.microsoft.com/office/drawing/2014/main" id="{DFDFA248-892D-7F18-3417-17E2C6180040}"/>
              </a:ext>
            </a:extLst>
          </p:cNvPr>
          <p:cNvSpPr/>
          <p:nvPr/>
        </p:nvSpPr>
        <p:spPr>
          <a:xfrm>
            <a:off x="4784556" y="2895371"/>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41FD2F59-4168-02ED-FFB3-C98BC0913A0D}"/>
              </a:ext>
            </a:extLst>
          </p:cNvPr>
          <p:cNvCxnSpPr/>
          <p:nvPr/>
        </p:nvCxnSpPr>
        <p:spPr>
          <a:xfrm flipH="1" flipV="1">
            <a:off x="2106415" y="4554245"/>
            <a:ext cx="1020605" cy="266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3E04F4A-2F5F-D031-D8C6-E390FBB89B92}"/>
              </a:ext>
            </a:extLst>
          </p:cNvPr>
          <p:cNvSpPr txBox="1"/>
          <p:nvPr/>
        </p:nvSpPr>
        <p:spPr>
          <a:xfrm>
            <a:off x="3127020" y="4678385"/>
            <a:ext cx="1305017" cy="307777"/>
          </a:xfrm>
          <a:prstGeom prst="rect">
            <a:avLst/>
          </a:prstGeom>
          <a:noFill/>
          <a:ln>
            <a:solidFill>
              <a:schemeClr val="accent1"/>
            </a:solidFill>
          </a:ln>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MD Concept</a:t>
            </a:r>
          </a:p>
        </p:txBody>
      </p:sp>
    </p:spTree>
    <p:extLst>
      <p:ext uri="{BB962C8B-B14F-4D97-AF65-F5344CB8AC3E}">
        <p14:creationId xmlns:p14="http://schemas.microsoft.com/office/powerpoint/2010/main" val="40526851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BE90C-5824-B025-2D45-9E10A1D31AC5}"/>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6C9872F2-BA57-614F-1238-309F9FD1B8DE}"/>
              </a:ext>
            </a:extLst>
          </p:cNvPr>
          <p:cNvGraphicFramePr>
            <a:graphicFrameLocks noGrp="1"/>
          </p:cNvGraphicFramePr>
          <p:nvPr/>
        </p:nvGraphicFramePr>
        <p:xfrm>
          <a:off x="872092" y="1820108"/>
          <a:ext cx="1114425" cy="2827020"/>
        </p:xfrm>
        <a:graphic>
          <a:graphicData uri="http://schemas.openxmlformats.org/drawingml/2006/table">
            <a:tbl>
              <a:tblPr/>
              <a:tblGrid>
                <a:gridCol w="561975">
                  <a:extLst>
                    <a:ext uri="{9D8B030D-6E8A-4147-A177-3AD203B41FA5}">
                      <a16:colId xmlns:a16="http://schemas.microsoft.com/office/drawing/2014/main" val="2272479392"/>
                    </a:ext>
                  </a:extLst>
                </a:gridCol>
                <a:gridCol w="552450">
                  <a:extLst>
                    <a:ext uri="{9D8B030D-6E8A-4147-A177-3AD203B41FA5}">
                      <a16:colId xmlns:a16="http://schemas.microsoft.com/office/drawing/2014/main" val="2539191863"/>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2520062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0.36</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104249073"/>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5297141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0.90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3396926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0.53</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35701321"/>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0.80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3703547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0.27</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250486402"/>
                  </a:ext>
                </a:extLst>
              </a:tr>
            </a:tbl>
          </a:graphicData>
        </a:graphic>
      </p:graphicFrame>
      <p:sp>
        <p:nvSpPr>
          <p:cNvPr id="9" name="Rectangle 2">
            <a:extLst>
              <a:ext uri="{FF2B5EF4-FFF2-40B4-BE49-F238E27FC236}">
                <a16:creationId xmlns:a16="http://schemas.microsoft.com/office/drawing/2014/main" id="{CC635C63-5E49-84B0-31D4-79439E6177DB}"/>
              </a:ext>
            </a:extLst>
          </p:cNvPr>
          <p:cNvSpPr>
            <a:spLocks noChangeArrowheads="1"/>
          </p:cNvSpPr>
          <p:nvPr/>
        </p:nvSpPr>
        <p:spPr bwMode="auto">
          <a:xfrm>
            <a:off x="302455" y="1481797"/>
            <a:ext cx="264848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doc-to-concept similarity matrix</a:t>
            </a: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0" name="Table 9">
            <a:extLst>
              <a:ext uri="{FF2B5EF4-FFF2-40B4-BE49-F238E27FC236}">
                <a16:creationId xmlns:a16="http://schemas.microsoft.com/office/drawing/2014/main" id="{92883A17-9237-D54F-CD51-E56FF86A997C}"/>
              </a:ext>
            </a:extLst>
          </p:cNvPr>
          <p:cNvGraphicFramePr>
            <a:graphicFrameLocks noGrp="1"/>
          </p:cNvGraphicFramePr>
          <p:nvPr/>
        </p:nvGraphicFramePr>
        <p:xfrm>
          <a:off x="3127020" y="2753662"/>
          <a:ext cx="1114425" cy="807720"/>
        </p:xfrm>
        <a:graphic>
          <a:graphicData uri="http://schemas.openxmlformats.org/drawingml/2006/table">
            <a:tbl>
              <a:tblPr/>
              <a:tblGrid>
                <a:gridCol w="561975">
                  <a:extLst>
                    <a:ext uri="{9D8B030D-6E8A-4147-A177-3AD203B41FA5}">
                      <a16:colId xmlns:a16="http://schemas.microsoft.com/office/drawing/2014/main" val="4243659018"/>
                    </a:ext>
                  </a:extLst>
                </a:gridCol>
                <a:gridCol w="552450">
                  <a:extLst>
                    <a:ext uri="{9D8B030D-6E8A-4147-A177-3AD203B41FA5}">
                      <a16:colId xmlns:a16="http://schemas.microsoft.com/office/drawing/2014/main" val="1089689707"/>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9.64</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15513639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5.29</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508559091"/>
                  </a:ext>
                </a:extLst>
              </a:tr>
            </a:tbl>
          </a:graphicData>
        </a:graphic>
      </p:graphicFrame>
      <p:sp>
        <p:nvSpPr>
          <p:cNvPr id="11" name="Rectangle 3">
            <a:extLst>
              <a:ext uri="{FF2B5EF4-FFF2-40B4-BE49-F238E27FC236}">
                <a16:creationId xmlns:a16="http://schemas.microsoft.com/office/drawing/2014/main" id="{68FFC10B-4076-FE53-A568-F0A7A95F7980}"/>
              </a:ext>
            </a:extLst>
          </p:cNvPr>
          <p:cNvSpPr>
            <a:spLocks noChangeArrowheads="1"/>
          </p:cNvSpPr>
          <p:nvPr/>
        </p:nvSpPr>
        <p:spPr bwMode="auto">
          <a:xfrm>
            <a:off x="2106415" y="2039839"/>
            <a:ext cx="2836033" cy="180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3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“strength” of each concept</a:t>
            </a:r>
            <a:endParaRPr kumimoji="0" lang="en-US" altLang="en-US" sz="6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6" name="Table 15">
            <a:extLst>
              <a:ext uri="{FF2B5EF4-FFF2-40B4-BE49-F238E27FC236}">
                <a16:creationId xmlns:a16="http://schemas.microsoft.com/office/drawing/2014/main" id="{41FF395E-3065-75F0-1837-BBFB8255F3F3}"/>
              </a:ext>
            </a:extLst>
          </p:cNvPr>
          <p:cNvGraphicFramePr>
            <a:graphicFrameLocks noGrp="1"/>
          </p:cNvGraphicFramePr>
          <p:nvPr/>
        </p:nvGraphicFramePr>
        <p:xfrm>
          <a:off x="5517423" y="2753662"/>
          <a:ext cx="2905125" cy="807720"/>
        </p:xfrm>
        <a:graphic>
          <a:graphicData uri="http://schemas.openxmlformats.org/drawingml/2006/table">
            <a:tbl>
              <a:tblPr/>
              <a:tblGrid>
                <a:gridCol w="581025">
                  <a:extLst>
                    <a:ext uri="{9D8B030D-6E8A-4147-A177-3AD203B41FA5}">
                      <a16:colId xmlns:a16="http://schemas.microsoft.com/office/drawing/2014/main" val="3366053481"/>
                    </a:ext>
                  </a:extLst>
                </a:gridCol>
                <a:gridCol w="581025">
                  <a:extLst>
                    <a:ext uri="{9D8B030D-6E8A-4147-A177-3AD203B41FA5}">
                      <a16:colId xmlns:a16="http://schemas.microsoft.com/office/drawing/2014/main" val="1886804556"/>
                    </a:ext>
                  </a:extLst>
                </a:gridCol>
                <a:gridCol w="581025">
                  <a:extLst>
                    <a:ext uri="{9D8B030D-6E8A-4147-A177-3AD203B41FA5}">
                      <a16:colId xmlns:a16="http://schemas.microsoft.com/office/drawing/2014/main" val="333373658"/>
                    </a:ext>
                  </a:extLst>
                </a:gridCol>
                <a:gridCol w="581025">
                  <a:extLst>
                    <a:ext uri="{9D8B030D-6E8A-4147-A177-3AD203B41FA5}">
                      <a16:colId xmlns:a16="http://schemas.microsoft.com/office/drawing/2014/main" val="134857957"/>
                    </a:ext>
                  </a:extLst>
                </a:gridCol>
                <a:gridCol w="581025">
                  <a:extLst>
                    <a:ext uri="{9D8B030D-6E8A-4147-A177-3AD203B41FA5}">
                      <a16:colId xmlns:a16="http://schemas.microsoft.com/office/drawing/2014/main" val="89821631"/>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847509535"/>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0.71</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0.71</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41670811"/>
                  </a:ext>
                </a:extLst>
              </a:tr>
            </a:tbl>
          </a:graphicData>
        </a:graphic>
      </p:graphicFrame>
      <p:sp>
        <p:nvSpPr>
          <p:cNvPr id="17" name="Rectangle 4">
            <a:extLst>
              <a:ext uri="{FF2B5EF4-FFF2-40B4-BE49-F238E27FC236}">
                <a16:creationId xmlns:a16="http://schemas.microsoft.com/office/drawing/2014/main" id="{DEEF28C2-32B5-5D17-D6FD-0B7990C1E8B4}"/>
              </a:ext>
            </a:extLst>
          </p:cNvPr>
          <p:cNvSpPr>
            <a:spLocks noChangeArrowheads="1"/>
          </p:cNvSpPr>
          <p:nvPr/>
        </p:nvSpPr>
        <p:spPr bwMode="auto">
          <a:xfrm>
            <a:off x="5600058" y="2380661"/>
            <a:ext cx="2739853"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term-to-concept similarity matrix</a:t>
            </a:r>
            <a:endParaRPr kumimoji="0" lang="en-US" altLang="en-US" sz="18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8" name="Equal 17">
            <a:extLst>
              <a:ext uri="{FF2B5EF4-FFF2-40B4-BE49-F238E27FC236}">
                <a16:creationId xmlns:a16="http://schemas.microsoft.com/office/drawing/2014/main" id="{591F83E1-E08E-7FC0-5F20-E491BA035558}"/>
              </a:ext>
            </a:extLst>
          </p:cNvPr>
          <p:cNvSpPr/>
          <p:nvPr/>
        </p:nvSpPr>
        <p:spPr>
          <a:xfrm>
            <a:off x="272807" y="2854274"/>
            <a:ext cx="469535" cy="442299"/>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Multiply 18">
            <a:extLst>
              <a:ext uri="{FF2B5EF4-FFF2-40B4-BE49-F238E27FC236}">
                <a16:creationId xmlns:a16="http://schemas.microsoft.com/office/drawing/2014/main" id="{A12BB278-2E20-48BE-9041-388742BBD9DE}"/>
              </a:ext>
            </a:extLst>
          </p:cNvPr>
          <p:cNvSpPr/>
          <p:nvPr/>
        </p:nvSpPr>
        <p:spPr>
          <a:xfrm>
            <a:off x="2397985" y="2940085"/>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Multiply 19">
            <a:extLst>
              <a:ext uri="{FF2B5EF4-FFF2-40B4-BE49-F238E27FC236}">
                <a16:creationId xmlns:a16="http://schemas.microsoft.com/office/drawing/2014/main" id="{088AAC84-2B89-B74B-3FCB-00FDF9E98DF5}"/>
              </a:ext>
            </a:extLst>
          </p:cNvPr>
          <p:cNvSpPr/>
          <p:nvPr/>
        </p:nvSpPr>
        <p:spPr>
          <a:xfrm>
            <a:off x="4784556" y="2895371"/>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F715BB80-8F3C-2C14-E1C3-B83AA55ECC29}"/>
              </a:ext>
            </a:extLst>
          </p:cNvPr>
          <p:cNvCxnSpPr>
            <a:cxnSpLocks/>
          </p:cNvCxnSpPr>
          <p:nvPr/>
        </p:nvCxnSpPr>
        <p:spPr>
          <a:xfrm flipH="1" flipV="1">
            <a:off x="1171852" y="4685293"/>
            <a:ext cx="1473694" cy="300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353011E-368D-2FD4-272C-06A06CB0A7DE}"/>
              </a:ext>
            </a:extLst>
          </p:cNvPr>
          <p:cNvSpPr txBox="1"/>
          <p:nvPr/>
        </p:nvSpPr>
        <p:spPr>
          <a:xfrm>
            <a:off x="2645546" y="4727599"/>
            <a:ext cx="1305017" cy="307777"/>
          </a:xfrm>
          <a:prstGeom prst="rect">
            <a:avLst/>
          </a:prstGeom>
          <a:noFill/>
          <a:ln>
            <a:solidFill>
              <a:schemeClr val="accent1"/>
            </a:solidFill>
          </a:ln>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CS Concept</a:t>
            </a:r>
          </a:p>
        </p:txBody>
      </p:sp>
    </p:spTree>
    <p:extLst>
      <p:ext uri="{BB962C8B-B14F-4D97-AF65-F5344CB8AC3E}">
        <p14:creationId xmlns:p14="http://schemas.microsoft.com/office/powerpoint/2010/main" val="18356107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566E7-34D8-C6B8-4397-CFAB54A69FC4}"/>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9927573D-3B72-FC75-32D3-018867B505C2}"/>
              </a:ext>
            </a:extLst>
          </p:cNvPr>
          <p:cNvGraphicFramePr>
            <a:graphicFrameLocks noGrp="1"/>
          </p:cNvGraphicFramePr>
          <p:nvPr/>
        </p:nvGraphicFramePr>
        <p:xfrm>
          <a:off x="872092" y="1820108"/>
          <a:ext cx="1114425" cy="2827020"/>
        </p:xfrm>
        <a:graphic>
          <a:graphicData uri="http://schemas.openxmlformats.org/drawingml/2006/table">
            <a:tbl>
              <a:tblPr/>
              <a:tblGrid>
                <a:gridCol w="561975">
                  <a:extLst>
                    <a:ext uri="{9D8B030D-6E8A-4147-A177-3AD203B41FA5}">
                      <a16:colId xmlns:a16="http://schemas.microsoft.com/office/drawing/2014/main" val="2272479392"/>
                    </a:ext>
                  </a:extLst>
                </a:gridCol>
                <a:gridCol w="552450">
                  <a:extLst>
                    <a:ext uri="{9D8B030D-6E8A-4147-A177-3AD203B41FA5}">
                      <a16:colId xmlns:a16="http://schemas.microsoft.com/office/drawing/2014/main" val="2539191863"/>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2520062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0.36</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104249073"/>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5297141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0.90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3396926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0.53</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35701321"/>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0.80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3703547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0.27</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250486402"/>
                  </a:ext>
                </a:extLst>
              </a:tr>
            </a:tbl>
          </a:graphicData>
        </a:graphic>
      </p:graphicFrame>
      <p:sp>
        <p:nvSpPr>
          <p:cNvPr id="9" name="Rectangle 2">
            <a:extLst>
              <a:ext uri="{FF2B5EF4-FFF2-40B4-BE49-F238E27FC236}">
                <a16:creationId xmlns:a16="http://schemas.microsoft.com/office/drawing/2014/main" id="{313474EF-0C18-E032-23EC-64220F7D86FE}"/>
              </a:ext>
            </a:extLst>
          </p:cNvPr>
          <p:cNvSpPr>
            <a:spLocks noChangeArrowheads="1"/>
          </p:cNvSpPr>
          <p:nvPr/>
        </p:nvSpPr>
        <p:spPr bwMode="auto">
          <a:xfrm>
            <a:off x="302455" y="1481797"/>
            <a:ext cx="264848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doc-to-concept similarity matrix</a:t>
            </a: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0" name="Table 9">
            <a:extLst>
              <a:ext uri="{FF2B5EF4-FFF2-40B4-BE49-F238E27FC236}">
                <a16:creationId xmlns:a16="http://schemas.microsoft.com/office/drawing/2014/main" id="{927F94CF-3A3D-E6E3-0A5C-8B275A8CB91D}"/>
              </a:ext>
            </a:extLst>
          </p:cNvPr>
          <p:cNvGraphicFramePr>
            <a:graphicFrameLocks noGrp="1"/>
          </p:cNvGraphicFramePr>
          <p:nvPr/>
        </p:nvGraphicFramePr>
        <p:xfrm>
          <a:off x="3127020" y="2753662"/>
          <a:ext cx="1114425" cy="807720"/>
        </p:xfrm>
        <a:graphic>
          <a:graphicData uri="http://schemas.openxmlformats.org/drawingml/2006/table">
            <a:tbl>
              <a:tblPr/>
              <a:tblGrid>
                <a:gridCol w="561975">
                  <a:extLst>
                    <a:ext uri="{9D8B030D-6E8A-4147-A177-3AD203B41FA5}">
                      <a16:colId xmlns:a16="http://schemas.microsoft.com/office/drawing/2014/main" val="4243659018"/>
                    </a:ext>
                  </a:extLst>
                </a:gridCol>
                <a:gridCol w="552450">
                  <a:extLst>
                    <a:ext uri="{9D8B030D-6E8A-4147-A177-3AD203B41FA5}">
                      <a16:colId xmlns:a16="http://schemas.microsoft.com/office/drawing/2014/main" val="1089689707"/>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9.64</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15513639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5.29</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508559091"/>
                  </a:ext>
                </a:extLst>
              </a:tr>
            </a:tbl>
          </a:graphicData>
        </a:graphic>
      </p:graphicFrame>
      <p:sp>
        <p:nvSpPr>
          <p:cNvPr id="11" name="Rectangle 3">
            <a:extLst>
              <a:ext uri="{FF2B5EF4-FFF2-40B4-BE49-F238E27FC236}">
                <a16:creationId xmlns:a16="http://schemas.microsoft.com/office/drawing/2014/main" id="{0F55F996-1564-EF4D-0C3B-7AD36E90787B}"/>
              </a:ext>
            </a:extLst>
          </p:cNvPr>
          <p:cNvSpPr>
            <a:spLocks noChangeArrowheads="1"/>
          </p:cNvSpPr>
          <p:nvPr/>
        </p:nvSpPr>
        <p:spPr bwMode="auto">
          <a:xfrm>
            <a:off x="2106415" y="2039839"/>
            <a:ext cx="2836033" cy="180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3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“strength” of each concept</a:t>
            </a:r>
            <a:endParaRPr kumimoji="0" lang="en-US" altLang="en-US" sz="6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6" name="Table 15">
            <a:extLst>
              <a:ext uri="{FF2B5EF4-FFF2-40B4-BE49-F238E27FC236}">
                <a16:creationId xmlns:a16="http://schemas.microsoft.com/office/drawing/2014/main" id="{5C9F8033-FAAE-326E-EF68-492544C1C423}"/>
              </a:ext>
            </a:extLst>
          </p:cNvPr>
          <p:cNvGraphicFramePr>
            <a:graphicFrameLocks noGrp="1"/>
          </p:cNvGraphicFramePr>
          <p:nvPr/>
        </p:nvGraphicFramePr>
        <p:xfrm>
          <a:off x="5517423" y="2753662"/>
          <a:ext cx="2905125" cy="807720"/>
        </p:xfrm>
        <a:graphic>
          <a:graphicData uri="http://schemas.openxmlformats.org/drawingml/2006/table">
            <a:tbl>
              <a:tblPr/>
              <a:tblGrid>
                <a:gridCol w="581025">
                  <a:extLst>
                    <a:ext uri="{9D8B030D-6E8A-4147-A177-3AD203B41FA5}">
                      <a16:colId xmlns:a16="http://schemas.microsoft.com/office/drawing/2014/main" val="3366053481"/>
                    </a:ext>
                  </a:extLst>
                </a:gridCol>
                <a:gridCol w="581025">
                  <a:extLst>
                    <a:ext uri="{9D8B030D-6E8A-4147-A177-3AD203B41FA5}">
                      <a16:colId xmlns:a16="http://schemas.microsoft.com/office/drawing/2014/main" val="1886804556"/>
                    </a:ext>
                  </a:extLst>
                </a:gridCol>
                <a:gridCol w="581025">
                  <a:extLst>
                    <a:ext uri="{9D8B030D-6E8A-4147-A177-3AD203B41FA5}">
                      <a16:colId xmlns:a16="http://schemas.microsoft.com/office/drawing/2014/main" val="333373658"/>
                    </a:ext>
                  </a:extLst>
                </a:gridCol>
                <a:gridCol w="581025">
                  <a:extLst>
                    <a:ext uri="{9D8B030D-6E8A-4147-A177-3AD203B41FA5}">
                      <a16:colId xmlns:a16="http://schemas.microsoft.com/office/drawing/2014/main" val="134857957"/>
                    </a:ext>
                  </a:extLst>
                </a:gridCol>
                <a:gridCol w="581025">
                  <a:extLst>
                    <a:ext uri="{9D8B030D-6E8A-4147-A177-3AD203B41FA5}">
                      <a16:colId xmlns:a16="http://schemas.microsoft.com/office/drawing/2014/main" val="89821631"/>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847509535"/>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0.71</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0.71</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41670811"/>
                  </a:ext>
                </a:extLst>
              </a:tr>
            </a:tbl>
          </a:graphicData>
        </a:graphic>
      </p:graphicFrame>
      <p:sp>
        <p:nvSpPr>
          <p:cNvPr id="17" name="Rectangle 4">
            <a:extLst>
              <a:ext uri="{FF2B5EF4-FFF2-40B4-BE49-F238E27FC236}">
                <a16:creationId xmlns:a16="http://schemas.microsoft.com/office/drawing/2014/main" id="{3B0223B1-82DC-0EF4-ED66-1D59EE9E750E}"/>
              </a:ext>
            </a:extLst>
          </p:cNvPr>
          <p:cNvSpPr>
            <a:spLocks noChangeArrowheads="1"/>
          </p:cNvSpPr>
          <p:nvPr/>
        </p:nvSpPr>
        <p:spPr bwMode="auto">
          <a:xfrm>
            <a:off x="5600058" y="2380661"/>
            <a:ext cx="2739853"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term-to-concept similarity matrix</a:t>
            </a:r>
            <a:endParaRPr kumimoji="0" lang="en-US" altLang="en-US" sz="18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8" name="Equal 17">
            <a:extLst>
              <a:ext uri="{FF2B5EF4-FFF2-40B4-BE49-F238E27FC236}">
                <a16:creationId xmlns:a16="http://schemas.microsoft.com/office/drawing/2014/main" id="{59930E63-1D2A-B262-3005-A0378246C75C}"/>
              </a:ext>
            </a:extLst>
          </p:cNvPr>
          <p:cNvSpPr/>
          <p:nvPr/>
        </p:nvSpPr>
        <p:spPr>
          <a:xfrm>
            <a:off x="272807" y="2854274"/>
            <a:ext cx="469535" cy="442299"/>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Multiply 18">
            <a:extLst>
              <a:ext uri="{FF2B5EF4-FFF2-40B4-BE49-F238E27FC236}">
                <a16:creationId xmlns:a16="http://schemas.microsoft.com/office/drawing/2014/main" id="{CEC2A315-B4DB-CF43-119F-231D1A8E5853}"/>
              </a:ext>
            </a:extLst>
          </p:cNvPr>
          <p:cNvSpPr/>
          <p:nvPr/>
        </p:nvSpPr>
        <p:spPr>
          <a:xfrm>
            <a:off x="2397985" y="2940085"/>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Multiply 19">
            <a:extLst>
              <a:ext uri="{FF2B5EF4-FFF2-40B4-BE49-F238E27FC236}">
                <a16:creationId xmlns:a16="http://schemas.microsoft.com/office/drawing/2014/main" id="{121EFA99-5583-3201-8AA1-495B66D67C54}"/>
              </a:ext>
            </a:extLst>
          </p:cNvPr>
          <p:cNvSpPr/>
          <p:nvPr/>
        </p:nvSpPr>
        <p:spPr>
          <a:xfrm>
            <a:off x="4784556" y="2895371"/>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D44DF1A2-8AC3-D3F9-B67E-8B3C14422D59}"/>
              </a:ext>
            </a:extLst>
          </p:cNvPr>
          <p:cNvCxnSpPr>
            <a:cxnSpLocks/>
            <a:stCxn id="24" idx="1"/>
          </p:cNvCxnSpPr>
          <p:nvPr/>
        </p:nvCxnSpPr>
        <p:spPr>
          <a:xfrm flipH="1">
            <a:off x="1356648" y="1761255"/>
            <a:ext cx="2150032" cy="6350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98E2CA2-D18B-3E30-B2C6-D2B196AA3C69}"/>
              </a:ext>
            </a:extLst>
          </p:cNvPr>
          <p:cNvSpPr txBox="1"/>
          <p:nvPr/>
        </p:nvSpPr>
        <p:spPr>
          <a:xfrm>
            <a:off x="3506680" y="1499645"/>
            <a:ext cx="2905125" cy="523220"/>
          </a:xfrm>
          <a:prstGeom prst="rect">
            <a:avLst/>
          </a:prstGeom>
          <a:noFill/>
          <a:ln>
            <a:solidFill>
              <a:schemeClr val="accent1"/>
            </a:solidFill>
          </a:ln>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Similarity of document 2 to CS concept</a:t>
            </a:r>
          </a:p>
        </p:txBody>
      </p:sp>
    </p:spTree>
    <p:extLst>
      <p:ext uri="{BB962C8B-B14F-4D97-AF65-F5344CB8AC3E}">
        <p14:creationId xmlns:p14="http://schemas.microsoft.com/office/powerpoint/2010/main" val="29420282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12715-8255-1AD9-E26D-4455723C5773}"/>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943DB631-7964-9241-F7C8-6588C1642AF0}"/>
              </a:ext>
            </a:extLst>
          </p:cNvPr>
          <p:cNvGraphicFramePr>
            <a:graphicFrameLocks noGrp="1"/>
          </p:cNvGraphicFramePr>
          <p:nvPr/>
        </p:nvGraphicFramePr>
        <p:xfrm>
          <a:off x="872092" y="1820108"/>
          <a:ext cx="1114425" cy="2827020"/>
        </p:xfrm>
        <a:graphic>
          <a:graphicData uri="http://schemas.openxmlformats.org/drawingml/2006/table">
            <a:tbl>
              <a:tblPr/>
              <a:tblGrid>
                <a:gridCol w="561975">
                  <a:extLst>
                    <a:ext uri="{9D8B030D-6E8A-4147-A177-3AD203B41FA5}">
                      <a16:colId xmlns:a16="http://schemas.microsoft.com/office/drawing/2014/main" val="2272479392"/>
                    </a:ext>
                  </a:extLst>
                </a:gridCol>
                <a:gridCol w="552450">
                  <a:extLst>
                    <a:ext uri="{9D8B030D-6E8A-4147-A177-3AD203B41FA5}">
                      <a16:colId xmlns:a16="http://schemas.microsoft.com/office/drawing/2014/main" val="2539191863"/>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2520062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0.36</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104249073"/>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5297141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0.90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3396926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0.53</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35701321"/>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0.80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3703547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0.27</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250486402"/>
                  </a:ext>
                </a:extLst>
              </a:tr>
            </a:tbl>
          </a:graphicData>
        </a:graphic>
      </p:graphicFrame>
      <p:sp>
        <p:nvSpPr>
          <p:cNvPr id="9" name="Rectangle 2">
            <a:extLst>
              <a:ext uri="{FF2B5EF4-FFF2-40B4-BE49-F238E27FC236}">
                <a16:creationId xmlns:a16="http://schemas.microsoft.com/office/drawing/2014/main" id="{ECA261C0-AEF1-4C15-B956-84BCABE517DE}"/>
              </a:ext>
            </a:extLst>
          </p:cNvPr>
          <p:cNvSpPr>
            <a:spLocks noChangeArrowheads="1"/>
          </p:cNvSpPr>
          <p:nvPr/>
        </p:nvSpPr>
        <p:spPr bwMode="auto">
          <a:xfrm>
            <a:off x="302455" y="1481797"/>
            <a:ext cx="264848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doc-to-concept similarity matrix</a:t>
            </a: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0" name="Table 9">
            <a:extLst>
              <a:ext uri="{FF2B5EF4-FFF2-40B4-BE49-F238E27FC236}">
                <a16:creationId xmlns:a16="http://schemas.microsoft.com/office/drawing/2014/main" id="{AE8E5EE5-07C5-AC0A-209C-4A9AE777AB2C}"/>
              </a:ext>
            </a:extLst>
          </p:cNvPr>
          <p:cNvGraphicFramePr>
            <a:graphicFrameLocks noGrp="1"/>
          </p:cNvGraphicFramePr>
          <p:nvPr/>
        </p:nvGraphicFramePr>
        <p:xfrm>
          <a:off x="3127020" y="2753662"/>
          <a:ext cx="1114425" cy="807720"/>
        </p:xfrm>
        <a:graphic>
          <a:graphicData uri="http://schemas.openxmlformats.org/drawingml/2006/table">
            <a:tbl>
              <a:tblPr/>
              <a:tblGrid>
                <a:gridCol w="561975">
                  <a:extLst>
                    <a:ext uri="{9D8B030D-6E8A-4147-A177-3AD203B41FA5}">
                      <a16:colId xmlns:a16="http://schemas.microsoft.com/office/drawing/2014/main" val="4243659018"/>
                    </a:ext>
                  </a:extLst>
                </a:gridCol>
                <a:gridCol w="552450">
                  <a:extLst>
                    <a:ext uri="{9D8B030D-6E8A-4147-A177-3AD203B41FA5}">
                      <a16:colId xmlns:a16="http://schemas.microsoft.com/office/drawing/2014/main" val="1089689707"/>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9.64</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15513639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5.29</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508559091"/>
                  </a:ext>
                </a:extLst>
              </a:tr>
            </a:tbl>
          </a:graphicData>
        </a:graphic>
      </p:graphicFrame>
      <p:sp>
        <p:nvSpPr>
          <p:cNvPr id="11" name="Rectangle 3">
            <a:extLst>
              <a:ext uri="{FF2B5EF4-FFF2-40B4-BE49-F238E27FC236}">
                <a16:creationId xmlns:a16="http://schemas.microsoft.com/office/drawing/2014/main" id="{B5D6374E-8BFC-7BA9-B9FE-43E6581E62D2}"/>
              </a:ext>
            </a:extLst>
          </p:cNvPr>
          <p:cNvSpPr>
            <a:spLocks noChangeArrowheads="1"/>
          </p:cNvSpPr>
          <p:nvPr/>
        </p:nvSpPr>
        <p:spPr bwMode="auto">
          <a:xfrm>
            <a:off x="2106415" y="2039839"/>
            <a:ext cx="2836033" cy="180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3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“strength” of each concept</a:t>
            </a:r>
            <a:endParaRPr kumimoji="0" lang="en-US" altLang="en-US" sz="6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6" name="Table 15">
            <a:extLst>
              <a:ext uri="{FF2B5EF4-FFF2-40B4-BE49-F238E27FC236}">
                <a16:creationId xmlns:a16="http://schemas.microsoft.com/office/drawing/2014/main" id="{174320E5-55E7-AC62-40C1-D5469A66822E}"/>
              </a:ext>
            </a:extLst>
          </p:cNvPr>
          <p:cNvGraphicFramePr>
            <a:graphicFrameLocks noGrp="1"/>
          </p:cNvGraphicFramePr>
          <p:nvPr/>
        </p:nvGraphicFramePr>
        <p:xfrm>
          <a:off x="5517423" y="2753662"/>
          <a:ext cx="2905125" cy="807720"/>
        </p:xfrm>
        <a:graphic>
          <a:graphicData uri="http://schemas.openxmlformats.org/drawingml/2006/table">
            <a:tbl>
              <a:tblPr/>
              <a:tblGrid>
                <a:gridCol w="581025">
                  <a:extLst>
                    <a:ext uri="{9D8B030D-6E8A-4147-A177-3AD203B41FA5}">
                      <a16:colId xmlns:a16="http://schemas.microsoft.com/office/drawing/2014/main" val="3366053481"/>
                    </a:ext>
                  </a:extLst>
                </a:gridCol>
                <a:gridCol w="581025">
                  <a:extLst>
                    <a:ext uri="{9D8B030D-6E8A-4147-A177-3AD203B41FA5}">
                      <a16:colId xmlns:a16="http://schemas.microsoft.com/office/drawing/2014/main" val="1886804556"/>
                    </a:ext>
                  </a:extLst>
                </a:gridCol>
                <a:gridCol w="581025">
                  <a:extLst>
                    <a:ext uri="{9D8B030D-6E8A-4147-A177-3AD203B41FA5}">
                      <a16:colId xmlns:a16="http://schemas.microsoft.com/office/drawing/2014/main" val="333373658"/>
                    </a:ext>
                  </a:extLst>
                </a:gridCol>
                <a:gridCol w="581025">
                  <a:extLst>
                    <a:ext uri="{9D8B030D-6E8A-4147-A177-3AD203B41FA5}">
                      <a16:colId xmlns:a16="http://schemas.microsoft.com/office/drawing/2014/main" val="134857957"/>
                    </a:ext>
                  </a:extLst>
                </a:gridCol>
                <a:gridCol w="581025">
                  <a:extLst>
                    <a:ext uri="{9D8B030D-6E8A-4147-A177-3AD203B41FA5}">
                      <a16:colId xmlns:a16="http://schemas.microsoft.com/office/drawing/2014/main" val="89821631"/>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847509535"/>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0.71</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0.71</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41670811"/>
                  </a:ext>
                </a:extLst>
              </a:tr>
            </a:tbl>
          </a:graphicData>
        </a:graphic>
      </p:graphicFrame>
      <p:sp>
        <p:nvSpPr>
          <p:cNvPr id="17" name="Rectangle 4">
            <a:extLst>
              <a:ext uri="{FF2B5EF4-FFF2-40B4-BE49-F238E27FC236}">
                <a16:creationId xmlns:a16="http://schemas.microsoft.com/office/drawing/2014/main" id="{2F83E3E0-076E-FB5B-4E2C-5325FA03BFA1}"/>
              </a:ext>
            </a:extLst>
          </p:cNvPr>
          <p:cNvSpPr>
            <a:spLocks noChangeArrowheads="1"/>
          </p:cNvSpPr>
          <p:nvPr/>
        </p:nvSpPr>
        <p:spPr bwMode="auto">
          <a:xfrm>
            <a:off x="5600058" y="2380661"/>
            <a:ext cx="2739853"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term-to-concept similarity matrix</a:t>
            </a:r>
            <a:endParaRPr kumimoji="0" lang="en-US" altLang="en-US" sz="18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8" name="Equal 17">
            <a:extLst>
              <a:ext uri="{FF2B5EF4-FFF2-40B4-BE49-F238E27FC236}">
                <a16:creationId xmlns:a16="http://schemas.microsoft.com/office/drawing/2014/main" id="{3376FAB1-2F90-4E8A-8116-8444F6D68B83}"/>
              </a:ext>
            </a:extLst>
          </p:cNvPr>
          <p:cNvSpPr/>
          <p:nvPr/>
        </p:nvSpPr>
        <p:spPr>
          <a:xfrm>
            <a:off x="272807" y="2854274"/>
            <a:ext cx="469535" cy="442299"/>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Multiply 18">
            <a:extLst>
              <a:ext uri="{FF2B5EF4-FFF2-40B4-BE49-F238E27FC236}">
                <a16:creationId xmlns:a16="http://schemas.microsoft.com/office/drawing/2014/main" id="{E8802D12-F6FA-0696-69CA-FD4DEB2CA5B7}"/>
              </a:ext>
            </a:extLst>
          </p:cNvPr>
          <p:cNvSpPr/>
          <p:nvPr/>
        </p:nvSpPr>
        <p:spPr>
          <a:xfrm>
            <a:off x="2397985" y="2940085"/>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Multiply 19">
            <a:extLst>
              <a:ext uri="{FF2B5EF4-FFF2-40B4-BE49-F238E27FC236}">
                <a16:creationId xmlns:a16="http://schemas.microsoft.com/office/drawing/2014/main" id="{74AD230C-D8F1-EB70-FBA2-70B0D8AEBBC4}"/>
              </a:ext>
            </a:extLst>
          </p:cNvPr>
          <p:cNvSpPr/>
          <p:nvPr/>
        </p:nvSpPr>
        <p:spPr>
          <a:xfrm>
            <a:off x="4784556" y="2895371"/>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16087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DC0A3-D49A-D695-F550-FD1FE936D70F}"/>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615FB919-B388-6F0E-FB18-92B3928804A9}"/>
              </a:ext>
            </a:extLst>
          </p:cNvPr>
          <p:cNvGraphicFramePr>
            <a:graphicFrameLocks noGrp="1"/>
          </p:cNvGraphicFramePr>
          <p:nvPr/>
        </p:nvGraphicFramePr>
        <p:xfrm>
          <a:off x="872092" y="1820108"/>
          <a:ext cx="1114425" cy="2827020"/>
        </p:xfrm>
        <a:graphic>
          <a:graphicData uri="http://schemas.openxmlformats.org/drawingml/2006/table">
            <a:tbl>
              <a:tblPr/>
              <a:tblGrid>
                <a:gridCol w="561975">
                  <a:extLst>
                    <a:ext uri="{9D8B030D-6E8A-4147-A177-3AD203B41FA5}">
                      <a16:colId xmlns:a16="http://schemas.microsoft.com/office/drawing/2014/main" val="2272479392"/>
                    </a:ext>
                  </a:extLst>
                </a:gridCol>
                <a:gridCol w="552450">
                  <a:extLst>
                    <a:ext uri="{9D8B030D-6E8A-4147-A177-3AD203B41FA5}">
                      <a16:colId xmlns:a16="http://schemas.microsoft.com/office/drawing/2014/main" val="2539191863"/>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2520062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0.36</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104249073"/>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5297141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0.90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3396926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0.53</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35701321"/>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0.80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3703547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0.27</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250486402"/>
                  </a:ext>
                </a:extLst>
              </a:tr>
            </a:tbl>
          </a:graphicData>
        </a:graphic>
      </p:graphicFrame>
      <p:sp>
        <p:nvSpPr>
          <p:cNvPr id="9" name="Rectangle 2">
            <a:extLst>
              <a:ext uri="{FF2B5EF4-FFF2-40B4-BE49-F238E27FC236}">
                <a16:creationId xmlns:a16="http://schemas.microsoft.com/office/drawing/2014/main" id="{F0103438-DCDC-F3E3-5E36-84188C39995E}"/>
              </a:ext>
            </a:extLst>
          </p:cNvPr>
          <p:cNvSpPr>
            <a:spLocks noChangeArrowheads="1"/>
          </p:cNvSpPr>
          <p:nvPr/>
        </p:nvSpPr>
        <p:spPr bwMode="auto">
          <a:xfrm>
            <a:off x="302455" y="1481797"/>
            <a:ext cx="264848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doc-to-concept similarity matrix</a:t>
            </a: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0" name="Table 9">
            <a:extLst>
              <a:ext uri="{FF2B5EF4-FFF2-40B4-BE49-F238E27FC236}">
                <a16:creationId xmlns:a16="http://schemas.microsoft.com/office/drawing/2014/main" id="{CC0DFB06-662C-1916-000C-548C173B534A}"/>
              </a:ext>
            </a:extLst>
          </p:cNvPr>
          <p:cNvGraphicFramePr>
            <a:graphicFrameLocks noGrp="1"/>
          </p:cNvGraphicFramePr>
          <p:nvPr/>
        </p:nvGraphicFramePr>
        <p:xfrm>
          <a:off x="3127020" y="2753662"/>
          <a:ext cx="1114425" cy="807720"/>
        </p:xfrm>
        <a:graphic>
          <a:graphicData uri="http://schemas.openxmlformats.org/drawingml/2006/table">
            <a:tbl>
              <a:tblPr/>
              <a:tblGrid>
                <a:gridCol w="561975">
                  <a:extLst>
                    <a:ext uri="{9D8B030D-6E8A-4147-A177-3AD203B41FA5}">
                      <a16:colId xmlns:a16="http://schemas.microsoft.com/office/drawing/2014/main" val="4243659018"/>
                    </a:ext>
                  </a:extLst>
                </a:gridCol>
                <a:gridCol w="552450">
                  <a:extLst>
                    <a:ext uri="{9D8B030D-6E8A-4147-A177-3AD203B41FA5}">
                      <a16:colId xmlns:a16="http://schemas.microsoft.com/office/drawing/2014/main" val="1089689707"/>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9.64</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15513639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5.29</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508559091"/>
                  </a:ext>
                </a:extLst>
              </a:tr>
            </a:tbl>
          </a:graphicData>
        </a:graphic>
      </p:graphicFrame>
      <p:sp>
        <p:nvSpPr>
          <p:cNvPr id="11" name="Rectangle 3">
            <a:extLst>
              <a:ext uri="{FF2B5EF4-FFF2-40B4-BE49-F238E27FC236}">
                <a16:creationId xmlns:a16="http://schemas.microsoft.com/office/drawing/2014/main" id="{D4A09950-3A13-294F-0171-8CF0A97361AF}"/>
              </a:ext>
            </a:extLst>
          </p:cNvPr>
          <p:cNvSpPr>
            <a:spLocks noChangeArrowheads="1"/>
          </p:cNvSpPr>
          <p:nvPr/>
        </p:nvSpPr>
        <p:spPr bwMode="auto">
          <a:xfrm>
            <a:off x="2106415" y="2039839"/>
            <a:ext cx="2836033" cy="180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3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“strength” of each concept</a:t>
            </a:r>
            <a:endParaRPr kumimoji="0" lang="en-US" altLang="en-US" sz="6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6" name="Table 15">
            <a:extLst>
              <a:ext uri="{FF2B5EF4-FFF2-40B4-BE49-F238E27FC236}">
                <a16:creationId xmlns:a16="http://schemas.microsoft.com/office/drawing/2014/main" id="{2A544720-71B7-3A72-5CA2-F3206D21BDEE}"/>
              </a:ext>
            </a:extLst>
          </p:cNvPr>
          <p:cNvGraphicFramePr>
            <a:graphicFrameLocks noGrp="1"/>
          </p:cNvGraphicFramePr>
          <p:nvPr/>
        </p:nvGraphicFramePr>
        <p:xfrm>
          <a:off x="5517423" y="2753662"/>
          <a:ext cx="2905125" cy="807720"/>
        </p:xfrm>
        <a:graphic>
          <a:graphicData uri="http://schemas.openxmlformats.org/drawingml/2006/table">
            <a:tbl>
              <a:tblPr/>
              <a:tblGrid>
                <a:gridCol w="581025">
                  <a:extLst>
                    <a:ext uri="{9D8B030D-6E8A-4147-A177-3AD203B41FA5}">
                      <a16:colId xmlns:a16="http://schemas.microsoft.com/office/drawing/2014/main" val="3366053481"/>
                    </a:ext>
                  </a:extLst>
                </a:gridCol>
                <a:gridCol w="581025">
                  <a:extLst>
                    <a:ext uri="{9D8B030D-6E8A-4147-A177-3AD203B41FA5}">
                      <a16:colId xmlns:a16="http://schemas.microsoft.com/office/drawing/2014/main" val="1886804556"/>
                    </a:ext>
                  </a:extLst>
                </a:gridCol>
                <a:gridCol w="581025">
                  <a:extLst>
                    <a:ext uri="{9D8B030D-6E8A-4147-A177-3AD203B41FA5}">
                      <a16:colId xmlns:a16="http://schemas.microsoft.com/office/drawing/2014/main" val="333373658"/>
                    </a:ext>
                  </a:extLst>
                </a:gridCol>
                <a:gridCol w="581025">
                  <a:extLst>
                    <a:ext uri="{9D8B030D-6E8A-4147-A177-3AD203B41FA5}">
                      <a16:colId xmlns:a16="http://schemas.microsoft.com/office/drawing/2014/main" val="134857957"/>
                    </a:ext>
                  </a:extLst>
                </a:gridCol>
                <a:gridCol w="581025">
                  <a:extLst>
                    <a:ext uri="{9D8B030D-6E8A-4147-A177-3AD203B41FA5}">
                      <a16:colId xmlns:a16="http://schemas.microsoft.com/office/drawing/2014/main" val="89821631"/>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847509535"/>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0.71</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0.71</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41670811"/>
                  </a:ext>
                </a:extLst>
              </a:tr>
            </a:tbl>
          </a:graphicData>
        </a:graphic>
      </p:graphicFrame>
      <p:sp>
        <p:nvSpPr>
          <p:cNvPr id="17" name="Rectangle 4">
            <a:extLst>
              <a:ext uri="{FF2B5EF4-FFF2-40B4-BE49-F238E27FC236}">
                <a16:creationId xmlns:a16="http://schemas.microsoft.com/office/drawing/2014/main" id="{AAD15920-1F83-AB47-B4E1-2A8EE786D83D}"/>
              </a:ext>
            </a:extLst>
          </p:cNvPr>
          <p:cNvSpPr>
            <a:spLocks noChangeArrowheads="1"/>
          </p:cNvSpPr>
          <p:nvPr/>
        </p:nvSpPr>
        <p:spPr bwMode="auto">
          <a:xfrm>
            <a:off x="5600058" y="2380661"/>
            <a:ext cx="2739853"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term-to-concept similarity matrix</a:t>
            </a:r>
            <a:endParaRPr kumimoji="0" lang="en-US" altLang="en-US" sz="18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8" name="Equal 17">
            <a:extLst>
              <a:ext uri="{FF2B5EF4-FFF2-40B4-BE49-F238E27FC236}">
                <a16:creationId xmlns:a16="http://schemas.microsoft.com/office/drawing/2014/main" id="{79B525EE-2927-36E3-90FC-37970D6E0AB0}"/>
              </a:ext>
            </a:extLst>
          </p:cNvPr>
          <p:cNvSpPr/>
          <p:nvPr/>
        </p:nvSpPr>
        <p:spPr>
          <a:xfrm>
            <a:off x="272807" y="2854274"/>
            <a:ext cx="469535" cy="442299"/>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Multiply 18">
            <a:extLst>
              <a:ext uri="{FF2B5EF4-FFF2-40B4-BE49-F238E27FC236}">
                <a16:creationId xmlns:a16="http://schemas.microsoft.com/office/drawing/2014/main" id="{39A99DCB-C2AD-052C-6528-0A7807AB645F}"/>
              </a:ext>
            </a:extLst>
          </p:cNvPr>
          <p:cNvSpPr/>
          <p:nvPr/>
        </p:nvSpPr>
        <p:spPr>
          <a:xfrm>
            <a:off x="2397985" y="2940085"/>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Multiply 19">
            <a:extLst>
              <a:ext uri="{FF2B5EF4-FFF2-40B4-BE49-F238E27FC236}">
                <a16:creationId xmlns:a16="http://schemas.microsoft.com/office/drawing/2014/main" id="{BEEC9EB9-7BCF-10E6-1204-A730A04BF85F}"/>
              </a:ext>
            </a:extLst>
          </p:cNvPr>
          <p:cNvSpPr/>
          <p:nvPr/>
        </p:nvSpPr>
        <p:spPr>
          <a:xfrm>
            <a:off x="4784556" y="2895371"/>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8B4BE12F-E51D-8A12-EB34-28A382E06BDC}"/>
              </a:ext>
            </a:extLst>
          </p:cNvPr>
          <p:cNvCxnSpPr/>
          <p:nvPr/>
        </p:nvCxnSpPr>
        <p:spPr>
          <a:xfrm flipV="1">
            <a:off x="4572000" y="3382392"/>
            <a:ext cx="945423" cy="834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9E88799-2AEE-C13A-F501-75486A58D363}"/>
              </a:ext>
            </a:extLst>
          </p:cNvPr>
          <p:cNvSpPr txBox="1"/>
          <p:nvPr/>
        </p:nvSpPr>
        <p:spPr>
          <a:xfrm>
            <a:off x="3845718" y="4220171"/>
            <a:ext cx="1452563" cy="307777"/>
          </a:xfrm>
          <a:prstGeom prst="rect">
            <a:avLst/>
          </a:prstGeom>
          <a:noFill/>
          <a:ln>
            <a:solidFill>
              <a:schemeClr val="accent1"/>
            </a:solidFill>
          </a:ln>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MD Concept</a:t>
            </a:r>
          </a:p>
        </p:txBody>
      </p:sp>
      <p:cxnSp>
        <p:nvCxnSpPr>
          <p:cNvPr id="6" name="Straight Arrow Connector 5">
            <a:extLst>
              <a:ext uri="{FF2B5EF4-FFF2-40B4-BE49-F238E27FC236}">
                <a16:creationId xmlns:a16="http://schemas.microsoft.com/office/drawing/2014/main" id="{4FE5DDC0-9C71-5E31-E709-F7E1DAB7524F}"/>
              </a:ext>
            </a:extLst>
          </p:cNvPr>
          <p:cNvCxnSpPr>
            <a:cxnSpLocks/>
            <a:stCxn id="7" idx="2"/>
          </p:cNvCxnSpPr>
          <p:nvPr/>
        </p:nvCxnSpPr>
        <p:spPr>
          <a:xfrm>
            <a:off x="4469736" y="1889889"/>
            <a:ext cx="1047686" cy="10252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6EF1A80-1266-8080-7BAB-29B550095B02}"/>
              </a:ext>
            </a:extLst>
          </p:cNvPr>
          <p:cNvSpPr txBox="1"/>
          <p:nvPr/>
        </p:nvSpPr>
        <p:spPr>
          <a:xfrm>
            <a:off x="3743454" y="1582112"/>
            <a:ext cx="1452563" cy="307777"/>
          </a:xfrm>
          <a:prstGeom prst="rect">
            <a:avLst/>
          </a:prstGeom>
          <a:noFill/>
          <a:ln>
            <a:solidFill>
              <a:schemeClr val="accent1"/>
            </a:solidFill>
          </a:ln>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CS Concept</a:t>
            </a:r>
          </a:p>
        </p:txBody>
      </p:sp>
    </p:spTree>
    <p:extLst>
      <p:ext uri="{BB962C8B-B14F-4D97-AF65-F5344CB8AC3E}">
        <p14:creationId xmlns:p14="http://schemas.microsoft.com/office/powerpoint/2010/main" val="35495768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4F9B-CF87-DB6F-19F5-7F8041905227}"/>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57D80C9D-7EBD-B890-4F89-6B4507E5A962}"/>
              </a:ext>
            </a:extLst>
          </p:cNvPr>
          <p:cNvGraphicFramePr>
            <a:graphicFrameLocks noGrp="1"/>
          </p:cNvGraphicFramePr>
          <p:nvPr/>
        </p:nvGraphicFramePr>
        <p:xfrm>
          <a:off x="872092" y="1820108"/>
          <a:ext cx="1114425" cy="2827020"/>
        </p:xfrm>
        <a:graphic>
          <a:graphicData uri="http://schemas.openxmlformats.org/drawingml/2006/table">
            <a:tbl>
              <a:tblPr/>
              <a:tblGrid>
                <a:gridCol w="561975">
                  <a:extLst>
                    <a:ext uri="{9D8B030D-6E8A-4147-A177-3AD203B41FA5}">
                      <a16:colId xmlns:a16="http://schemas.microsoft.com/office/drawing/2014/main" val="2272479392"/>
                    </a:ext>
                  </a:extLst>
                </a:gridCol>
                <a:gridCol w="552450">
                  <a:extLst>
                    <a:ext uri="{9D8B030D-6E8A-4147-A177-3AD203B41FA5}">
                      <a16:colId xmlns:a16="http://schemas.microsoft.com/office/drawing/2014/main" val="2539191863"/>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2520062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0.36</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104249073"/>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5297141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0.90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3396926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0.53</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35701321"/>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0.80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3703547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0.27</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250486402"/>
                  </a:ext>
                </a:extLst>
              </a:tr>
            </a:tbl>
          </a:graphicData>
        </a:graphic>
      </p:graphicFrame>
      <p:sp>
        <p:nvSpPr>
          <p:cNvPr id="9" name="Rectangle 2">
            <a:extLst>
              <a:ext uri="{FF2B5EF4-FFF2-40B4-BE49-F238E27FC236}">
                <a16:creationId xmlns:a16="http://schemas.microsoft.com/office/drawing/2014/main" id="{7EB8384C-0735-F51B-806B-397059009B11}"/>
              </a:ext>
            </a:extLst>
          </p:cNvPr>
          <p:cNvSpPr>
            <a:spLocks noChangeArrowheads="1"/>
          </p:cNvSpPr>
          <p:nvPr/>
        </p:nvSpPr>
        <p:spPr bwMode="auto">
          <a:xfrm>
            <a:off x="302455" y="1481797"/>
            <a:ext cx="264848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doc-to-concept similarity matrix</a:t>
            </a: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0" name="Table 9">
            <a:extLst>
              <a:ext uri="{FF2B5EF4-FFF2-40B4-BE49-F238E27FC236}">
                <a16:creationId xmlns:a16="http://schemas.microsoft.com/office/drawing/2014/main" id="{13C7627A-399D-2C65-D067-7777821889A6}"/>
              </a:ext>
            </a:extLst>
          </p:cNvPr>
          <p:cNvGraphicFramePr>
            <a:graphicFrameLocks noGrp="1"/>
          </p:cNvGraphicFramePr>
          <p:nvPr/>
        </p:nvGraphicFramePr>
        <p:xfrm>
          <a:off x="3127020" y="2753662"/>
          <a:ext cx="1114425" cy="807720"/>
        </p:xfrm>
        <a:graphic>
          <a:graphicData uri="http://schemas.openxmlformats.org/drawingml/2006/table">
            <a:tbl>
              <a:tblPr/>
              <a:tblGrid>
                <a:gridCol w="561975">
                  <a:extLst>
                    <a:ext uri="{9D8B030D-6E8A-4147-A177-3AD203B41FA5}">
                      <a16:colId xmlns:a16="http://schemas.microsoft.com/office/drawing/2014/main" val="4243659018"/>
                    </a:ext>
                  </a:extLst>
                </a:gridCol>
                <a:gridCol w="552450">
                  <a:extLst>
                    <a:ext uri="{9D8B030D-6E8A-4147-A177-3AD203B41FA5}">
                      <a16:colId xmlns:a16="http://schemas.microsoft.com/office/drawing/2014/main" val="1089689707"/>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9.64</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15513639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5.29</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508559091"/>
                  </a:ext>
                </a:extLst>
              </a:tr>
            </a:tbl>
          </a:graphicData>
        </a:graphic>
      </p:graphicFrame>
      <p:sp>
        <p:nvSpPr>
          <p:cNvPr id="11" name="Rectangle 3">
            <a:extLst>
              <a:ext uri="{FF2B5EF4-FFF2-40B4-BE49-F238E27FC236}">
                <a16:creationId xmlns:a16="http://schemas.microsoft.com/office/drawing/2014/main" id="{6B0873A5-FED6-295D-68F3-59D1280A9F7A}"/>
              </a:ext>
            </a:extLst>
          </p:cNvPr>
          <p:cNvSpPr>
            <a:spLocks noChangeArrowheads="1"/>
          </p:cNvSpPr>
          <p:nvPr/>
        </p:nvSpPr>
        <p:spPr bwMode="auto">
          <a:xfrm>
            <a:off x="2106415" y="2039839"/>
            <a:ext cx="2836033" cy="180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3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“strength” of each concept</a:t>
            </a:r>
            <a:endParaRPr kumimoji="0" lang="en-US" altLang="en-US" sz="6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6" name="Table 15">
            <a:extLst>
              <a:ext uri="{FF2B5EF4-FFF2-40B4-BE49-F238E27FC236}">
                <a16:creationId xmlns:a16="http://schemas.microsoft.com/office/drawing/2014/main" id="{35E10D6F-EC8C-28BC-F91A-78515BC53B94}"/>
              </a:ext>
            </a:extLst>
          </p:cNvPr>
          <p:cNvGraphicFramePr>
            <a:graphicFrameLocks noGrp="1"/>
          </p:cNvGraphicFramePr>
          <p:nvPr/>
        </p:nvGraphicFramePr>
        <p:xfrm>
          <a:off x="5517423" y="2753662"/>
          <a:ext cx="2905125" cy="807720"/>
        </p:xfrm>
        <a:graphic>
          <a:graphicData uri="http://schemas.openxmlformats.org/drawingml/2006/table">
            <a:tbl>
              <a:tblPr/>
              <a:tblGrid>
                <a:gridCol w="581025">
                  <a:extLst>
                    <a:ext uri="{9D8B030D-6E8A-4147-A177-3AD203B41FA5}">
                      <a16:colId xmlns:a16="http://schemas.microsoft.com/office/drawing/2014/main" val="3366053481"/>
                    </a:ext>
                  </a:extLst>
                </a:gridCol>
                <a:gridCol w="581025">
                  <a:extLst>
                    <a:ext uri="{9D8B030D-6E8A-4147-A177-3AD203B41FA5}">
                      <a16:colId xmlns:a16="http://schemas.microsoft.com/office/drawing/2014/main" val="1886804556"/>
                    </a:ext>
                  </a:extLst>
                </a:gridCol>
                <a:gridCol w="581025">
                  <a:extLst>
                    <a:ext uri="{9D8B030D-6E8A-4147-A177-3AD203B41FA5}">
                      <a16:colId xmlns:a16="http://schemas.microsoft.com/office/drawing/2014/main" val="333373658"/>
                    </a:ext>
                  </a:extLst>
                </a:gridCol>
                <a:gridCol w="581025">
                  <a:extLst>
                    <a:ext uri="{9D8B030D-6E8A-4147-A177-3AD203B41FA5}">
                      <a16:colId xmlns:a16="http://schemas.microsoft.com/office/drawing/2014/main" val="134857957"/>
                    </a:ext>
                  </a:extLst>
                </a:gridCol>
                <a:gridCol w="581025">
                  <a:extLst>
                    <a:ext uri="{9D8B030D-6E8A-4147-A177-3AD203B41FA5}">
                      <a16:colId xmlns:a16="http://schemas.microsoft.com/office/drawing/2014/main" val="89821631"/>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847509535"/>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0.71</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0.71</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41670811"/>
                  </a:ext>
                </a:extLst>
              </a:tr>
            </a:tbl>
          </a:graphicData>
        </a:graphic>
      </p:graphicFrame>
      <p:sp>
        <p:nvSpPr>
          <p:cNvPr id="17" name="Rectangle 4">
            <a:extLst>
              <a:ext uri="{FF2B5EF4-FFF2-40B4-BE49-F238E27FC236}">
                <a16:creationId xmlns:a16="http://schemas.microsoft.com/office/drawing/2014/main" id="{6ACB029A-DD75-DFE2-AE0D-461B6ADD9642}"/>
              </a:ext>
            </a:extLst>
          </p:cNvPr>
          <p:cNvSpPr>
            <a:spLocks noChangeArrowheads="1"/>
          </p:cNvSpPr>
          <p:nvPr/>
        </p:nvSpPr>
        <p:spPr bwMode="auto">
          <a:xfrm>
            <a:off x="5600058" y="2380661"/>
            <a:ext cx="2739853"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term-to-concept similarity matrix</a:t>
            </a:r>
            <a:endParaRPr kumimoji="0" lang="en-US" altLang="en-US" sz="18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8" name="Equal 17">
            <a:extLst>
              <a:ext uri="{FF2B5EF4-FFF2-40B4-BE49-F238E27FC236}">
                <a16:creationId xmlns:a16="http://schemas.microsoft.com/office/drawing/2014/main" id="{C9B87B21-9B93-EE50-3C46-B2256D901F6F}"/>
              </a:ext>
            </a:extLst>
          </p:cNvPr>
          <p:cNvSpPr/>
          <p:nvPr/>
        </p:nvSpPr>
        <p:spPr>
          <a:xfrm>
            <a:off x="272807" y="2854274"/>
            <a:ext cx="469535" cy="442299"/>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Multiply 18">
            <a:extLst>
              <a:ext uri="{FF2B5EF4-FFF2-40B4-BE49-F238E27FC236}">
                <a16:creationId xmlns:a16="http://schemas.microsoft.com/office/drawing/2014/main" id="{010DE151-0974-99C7-4584-C7FB20563660}"/>
              </a:ext>
            </a:extLst>
          </p:cNvPr>
          <p:cNvSpPr/>
          <p:nvPr/>
        </p:nvSpPr>
        <p:spPr>
          <a:xfrm>
            <a:off x="2397985" y="2940085"/>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Multiply 19">
            <a:extLst>
              <a:ext uri="{FF2B5EF4-FFF2-40B4-BE49-F238E27FC236}">
                <a16:creationId xmlns:a16="http://schemas.microsoft.com/office/drawing/2014/main" id="{4001BEF0-0A65-E7F2-76D1-F9FD8BBD30CE}"/>
              </a:ext>
            </a:extLst>
          </p:cNvPr>
          <p:cNvSpPr/>
          <p:nvPr/>
        </p:nvSpPr>
        <p:spPr>
          <a:xfrm>
            <a:off x="4784556" y="2895371"/>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1B33E2A-0ED0-BBC6-E504-D6E05AE807C8}"/>
              </a:ext>
            </a:extLst>
          </p:cNvPr>
          <p:cNvSpPr txBox="1"/>
          <p:nvPr/>
        </p:nvSpPr>
        <p:spPr>
          <a:xfrm>
            <a:off x="4866615" y="4270067"/>
            <a:ext cx="2905125" cy="523220"/>
          </a:xfrm>
          <a:prstGeom prst="rect">
            <a:avLst/>
          </a:prstGeom>
          <a:noFill/>
          <a:ln>
            <a:solidFill>
              <a:schemeClr val="accent1"/>
            </a:solidFill>
          </a:ln>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Similarity of “brain” to MD concept</a:t>
            </a:r>
          </a:p>
        </p:txBody>
      </p:sp>
      <p:cxnSp>
        <p:nvCxnSpPr>
          <p:cNvPr id="3" name="Straight Arrow Connector 2">
            <a:extLst>
              <a:ext uri="{FF2B5EF4-FFF2-40B4-BE49-F238E27FC236}">
                <a16:creationId xmlns:a16="http://schemas.microsoft.com/office/drawing/2014/main" id="{225B06E9-592B-3161-ACC9-4F51B4D2225B}"/>
              </a:ext>
            </a:extLst>
          </p:cNvPr>
          <p:cNvCxnSpPr>
            <a:cxnSpLocks/>
          </p:cNvCxnSpPr>
          <p:nvPr/>
        </p:nvCxnSpPr>
        <p:spPr>
          <a:xfrm flipV="1">
            <a:off x="6538028" y="3561382"/>
            <a:ext cx="999114" cy="7049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23943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8AA4A-E8DA-5EB4-57C4-A49A5A98FB24}"/>
              </a:ext>
            </a:extLst>
          </p:cNvPr>
          <p:cNvSpPr>
            <a:spLocks noGrp="1"/>
          </p:cNvSpPr>
          <p:nvPr>
            <p:ph type="title"/>
          </p:nvPr>
        </p:nvSpPr>
        <p:spPr/>
        <p:txBody>
          <a:bodyPr>
            <a:normAutofit fontScale="90000"/>
          </a:bodyPr>
          <a:lstStyle/>
          <a:p>
            <a:r>
              <a:rPr lang="en-US" dirty="0"/>
              <a:t>Good vs Bad Embeddings</a:t>
            </a:r>
          </a:p>
        </p:txBody>
      </p:sp>
      <p:sp>
        <p:nvSpPr>
          <p:cNvPr id="3" name="Text Placeholder 2">
            <a:extLst>
              <a:ext uri="{FF2B5EF4-FFF2-40B4-BE49-F238E27FC236}">
                <a16:creationId xmlns:a16="http://schemas.microsoft.com/office/drawing/2014/main" id="{5D41332D-7214-3D32-711B-FDBA5C5E973F}"/>
              </a:ext>
            </a:extLst>
          </p:cNvPr>
          <p:cNvSpPr>
            <a:spLocks noGrp="1"/>
          </p:cNvSpPr>
          <p:nvPr>
            <p:ph type="body" idx="1"/>
          </p:nvPr>
        </p:nvSpPr>
        <p:spPr/>
        <p:txBody>
          <a:bodyPr/>
          <a:lstStyle/>
          <a:p>
            <a:r>
              <a:rPr lang="en-US" dirty="0"/>
              <a:t>SVD isn’t guaranteed to produce good embeddings so how can we identify good embeddings vs. bad ones?</a:t>
            </a:r>
          </a:p>
        </p:txBody>
      </p:sp>
    </p:spTree>
    <p:extLst>
      <p:ext uri="{BB962C8B-B14F-4D97-AF65-F5344CB8AC3E}">
        <p14:creationId xmlns:p14="http://schemas.microsoft.com/office/powerpoint/2010/main" val="19828777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49DBA-5B3E-8C3A-4BCB-12AEFA89BF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9AAEBB-D277-987A-7781-3F4D95F7FF25}"/>
              </a:ext>
            </a:extLst>
          </p:cNvPr>
          <p:cNvSpPr>
            <a:spLocks noGrp="1"/>
          </p:cNvSpPr>
          <p:nvPr>
            <p:ph type="title"/>
          </p:nvPr>
        </p:nvSpPr>
        <p:spPr/>
        <p:txBody>
          <a:bodyPr>
            <a:normAutofit fontScale="90000"/>
          </a:bodyPr>
          <a:lstStyle/>
          <a:p>
            <a:r>
              <a:rPr lang="en-US" dirty="0"/>
              <a:t>Good Embeddings</a:t>
            </a:r>
          </a:p>
        </p:txBody>
      </p:sp>
      <p:sp>
        <p:nvSpPr>
          <p:cNvPr id="3" name="Text Placeholder 2">
            <a:extLst>
              <a:ext uri="{FF2B5EF4-FFF2-40B4-BE49-F238E27FC236}">
                <a16:creationId xmlns:a16="http://schemas.microsoft.com/office/drawing/2014/main" id="{92294507-396D-4E10-1DEB-440F48169CB7}"/>
              </a:ext>
            </a:extLst>
          </p:cNvPr>
          <p:cNvSpPr>
            <a:spLocks noGrp="1"/>
          </p:cNvSpPr>
          <p:nvPr>
            <p:ph type="body" idx="1"/>
          </p:nvPr>
        </p:nvSpPr>
        <p:spPr/>
        <p:txBody>
          <a:bodyPr/>
          <a:lstStyle/>
          <a:p>
            <a:pPr>
              <a:buFont typeface="+mj-lt"/>
              <a:buAutoNum type="arabicPeriod"/>
            </a:pPr>
            <a:r>
              <a:rPr lang="en-US" dirty="0"/>
              <a:t>Semantic similarity is preserved </a:t>
            </a:r>
            <a:r>
              <a:rPr lang="en-US" dirty="0">
                <a:sym typeface="Wingdings" pitchFamily="2" charset="2"/>
              </a:rPr>
              <a:t> similar words and documents are close in the embedding space</a:t>
            </a:r>
            <a:endParaRPr lang="en-US" dirty="0"/>
          </a:p>
        </p:txBody>
      </p:sp>
    </p:spTree>
    <p:extLst>
      <p:ext uri="{BB962C8B-B14F-4D97-AF65-F5344CB8AC3E}">
        <p14:creationId xmlns:p14="http://schemas.microsoft.com/office/powerpoint/2010/main" val="20698490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1849C-B560-00B5-7663-60FB8EFBDE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597283-4AA7-1E21-4885-35538D71402A}"/>
              </a:ext>
            </a:extLst>
          </p:cNvPr>
          <p:cNvSpPr>
            <a:spLocks noGrp="1"/>
          </p:cNvSpPr>
          <p:nvPr>
            <p:ph type="title"/>
          </p:nvPr>
        </p:nvSpPr>
        <p:spPr/>
        <p:txBody>
          <a:bodyPr>
            <a:normAutofit fontScale="90000"/>
          </a:bodyPr>
          <a:lstStyle/>
          <a:p>
            <a:r>
              <a:rPr lang="en-US" dirty="0"/>
              <a:t>Good Embeddings</a:t>
            </a:r>
          </a:p>
        </p:txBody>
      </p:sp>
      <p:sp>
        <p:nvSpPr>
          <p:cNvPr id="3" name="Text Placeholder 2">
            <a:extLst>
              <a:ext uri="{FF2B5EF4-FFF2-40B4-BE49-F238E27FC236}">
                <a16:creationId xmlns:a16="http://schemas.microsoft.com/office/drawing/2014/main" id="{1B5F9CBF-9BDF-6951-6099-091FFE1AE798}"/>
              </a:ext>
            </a:extLst>
          </p:cNvPr>
          <p:cNvSpPr>
            <a:spLocks noGrp="1"/>
          </p:cNvSpPr>
          <p:nvPr>
            <p:ph type="body" idx="1"/>
          </p:nvPr>
        </p:nvSpPr>
        <p:spPr/>
        <p:txBody>
          <a:bodyPr/>
          <a:lstStyle/>
          <a:p>
            <a:pPr>
              <a:buFont typeface="+mj-lt"/>
              <a:buAutoNum type="arabicPeriod"/>
            </a:pPr>
            <a:r>
              <a:rPr lang="en-US" dirty="0"/>
              <a:t>Semantic similarity is preserved </a:t>
            </a:r>
            <a:r>
              <a:rPr lang="en-US" dirty="0">
                <a:sym typeface="Wingdings" pitchFamily="2" charset="2"/>
              </a:rPr>
              <a:t> similar words and documents are close in the embedding space</a:t>
            </a:r>
          </a:p>
          <a:p>
            <a:pPr>
              <a:buFont typeface="+mj-lt"/>
              <a:buAutoNum type="arabicPeriod"/>
            </a:pPr>
            <a:r>
              <a:rPr lang="en-US" dirty="0">
                <a:sym typeface="Wingdings" pitchFamily="2" charset="2"/>
              </a:rPr>
              <a:t>Latent components become separable  semantically similar concepts cluster together</a:t>
            </a:r>
            <a:endParaRPr lang="en-US" dirty="0"/>
          </a:p>
        </p:txBody>
      </p:sp>
    </p:spTree>
    <p:extLst>
      <p:ext uri="{BB962C8B-B14F-4D97-AF65-F5344CB8AC3E}">
        <p14:creationId xmlns:p14="http://schemas.microsoft.com/office/powerpoint/2010/main" val="12393081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E5DCF-A7C9-7902-622E-6DA01D234D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0E8EC3-96D8-6862-EB72-BA4D531D768B}"/>
              </a:ext>
            </a:extLst>
          </p:cNvPr>
          <p:cNvSpPr>
            <a:spLocks noGrp="1"/>
          </p:cNvSpPr>
          <p:nvPr>
            <p:ph type="title"/>
          </p:nvPr>
        </p:nvSpPr>
        <p:spPr/>
        <p:txBody>
          <a:bodyPr>
            <a:normAutofit fontScale="90000"/>
          </a:bodyPr>
          <a:lstStyle/>
          <a:p>
            <a:r>
              <a:rPr lang="en-US" dirty="0"/>
              <a:t>Good Embeddings</a:t>
            </a:r>
          </a:p>
        </p:txBody>
      </p:sp>
      <p:sp>
        <p:nvSpPr>
          <p:cNvPr id="3" name="Text Placeholder 2">
            <a:extLst>
              <a:ext uri="{FF2B5EF4-FFF2-40B4-BE49-F238E27FC236}">
                <a16:creationId xmlns:a16="http://schemas.microsoft.com/office/drawing/2014/main" id="{1A3E1D24-1E7D-9F55-927A-822B8B293067}"/>
              </a:ext>
            </a:extLst>
          </p:cNvPr>
          <p:cNvSpPr>
            <a:spLocks noGrp="1"/>
          </p:cNvSpPr>
          <p:nvPr>
            <p:ph type="body" idx="1"/>
          </p:nvPr>
        </p:nvSpPr>
        <p:spPr/>
        <p:txBody>
          <a:bodyPr/>
          <a:lstStyle/>
          <a:p>
            <a:pPr>
              <a:buFont typeface="+mj-lt"/>
              <a:buAutoNum type="arabicPeriod"/>
            </a:pPr>
            <a:r>
              <a:rPr lang="en-US" dirty="0"/>
              <a:t>Semantic similarity is preserved </a:t>
            </a:r>
            <a:r>
              <a:rPr lang="en-US" dirty="0">
                <a:sym typeface="Wingdings" pitchFamily="2" charset="2"/>
              </a:rPr>
              <a:t> similar words and documents are close in the embedding space</a:t>
            </a:r>
          </a:p>
          <a:p>
            <a:pPr>
              <a:buFont typeface="+mj-lt"/>
              <a:buAutoNum type="arabicPeriod"/>
            </a:pPr>
            <a:r>
              <a:rPr lang="en-US" dirty="0">
                <a:sym typeface="Wingdings" pitchFamily="2" charset="2"/>
              </a:rPr>
              <a:t>Latent components become separable  semantically similar concepts cluster together</a:t>
            </a:r>
          </a:p>
          <a:p>
            <a:pPr>
              <a:buFont typeface="+mj-lt"/>
              <a:buAutoNum type="arabicPeriod"/>
            </a:pPr>
            <a:r>
              <a:rPr lang="en-US" dirty="0">
                <a:sym typeface="Wingdings" pitchFamily="2" charset="2"/>
              </a:rPr>
              <a:t>Filters out noise such as conjunctions and typos</a:t>
            </a:r>
            <a:endParaRPr lang="en-US" dirty="0"/>
          </a:p>
        </p:txBody>
      </p:sp>
    </p:spTree>
    <p:extLst>
      <p:ext uri="{BB962C8B-B14F-4D97-AF65-F5344CB8AC3E}">
        <p14:creationId xmlns:p14="http://schemas.microsoft.com/office/powerpoint/2010/main" val="161217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877F2-3256-5482-CECB-CB8C30AC8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621FE7-0B7E-C769-FE53-42E7A679D090}"/>
              </a:ext>
            </a:extLst>
          </p:cNvPr>
          <p:cNvSpPr>
            <a:spLocks noGrp="1"/>
          </p:cNvSpPr>
          <p:nvPr>
            <p:ph type="title"/>
          </p:nvPr>
        </p:nvSpPr>
        <p:spPr/>
        <p:txBody>
          <a:bodyPr>
            <a:normAutofit fontScale="90000"/>
          </a:bodyPr>
          <a:lstStyle/>
          <a:p>
            <a:r>
              <a:rPr lang="en-US" dirty="0"/>
              <a:t>Good Embeddings</a:t>
            </a:r>
          </a:p>
        </p:txBody>
      </p:sp>
      <p:sp>
        <p:nvSpPr>
          <p:cNvPr id="3" name="Text Placeholder 2">
            <a:extLst>
              <a:ext uri="{FF2B5EF4-FFF2-40B4-BE49-F238E27FC236}">
                <a16:creationId xmlns:a16="http://schemas.microsoft.com/office/drawing/2014/main" id="{0C258D60-878D-36A9-8321-396B3737F7B2}"/>
              </a:ext>
            </a:extLst>
          </p:cNvPr>
          <p:cNvSpPr>
            <a:spLocks noGrp="1"/>
          </p:cNvSpPr>
          <p:nvPr>
            <p:ph type="body" idx="1"/>
          </p:nvPr>
        </p:nvSpPr>
        <p:spPr/>
        <p:txBody>
          <a:bodyPr/>
          <a:lstStyle/>
          <a:p>
            <a:pPr>
              <a:buFont typeface="+mj-lt"/>
              <a:buAutoNum type="arabicPeriod"/>
            </a:pPr>
            <a:r>
              <a:rPr lang="en-US" dirty="0"/>
              <a:t>Semantic similarity is preserved </a:t>
            </a:r>
            <a:r>
              <a:rPr lang="en-US" dirty="0">
                <a:sym typeface="Wingdings" pitchFamily="2" charset="2"/>
              </a:rPr>
              <a:t> similar words and documents are close in the embedding space</a:t>
            </a:r>
          </a:p>
          <a:p>
            <a:pPr>
              <a:buFont typeface="+mj-lt"/>
              <a:buAutoNum type="arabicPeriod"/>
            </a:pPr>
            <a:r>
              <a:rPr lang="en-US" dirty="0">
                <a:sym typeface="Wingdings" pitchFamily="2" charset="2"/>
              </a:rPr>
              <a:t>Latent components become separable  semantically similar concepts cluster together</a:t>
            </a:r>
          </a:p>
          <a:p>
            <a:pPr>
              <a:buFont typeface="+mj-lt"/>
              <a:buAutoNum type="arabicPeriod"/>
            </a:pPr>
            <a:r>
              <a:rPr lang="en-US" dirty="0">
                <a:sym typeface="Wingdings" pitchFamily="2" charset="2"/>
              </a:rPr>
              <a:t>Filters out noise such as conjunctions and typos</a:t>
            </a:r>
            <a:endParaRPr lang="en-US" dirty="0"/>
          </a:p>
          <a:p>
            <a:pPr>
              <a:buFont typeface="+mj-lt"/>
              <a:buAutoNum type="arabicPeriod"/>
            </a:pPr>
            <a:endParaRPr lang="en-US" dirty="0">
              <a:sym typeface="Wingdings" pitchFamily="2" charset="2"/>
            </a:endParaRPr>
          </a:p>
          <a:p>
            <a:pPr marL="114300" indent="0">
              <a:buNone/>
            </a:pPr>
            <a:r>
              <a:rPr lang="en-US" dirty="0">
                <a:sym typeface="Wingdings" pitchFamily="2" charset="2"/>
              </a:rPr>
              <a:t>Typically, if you </a:t>
            </a:r>
            <a:r>
              <a:rPr lang="en-US" b="1" dirty="0">
                <a:sym typeface="Wingdings" pitchFamily="2" charset="2"/>
              </a:rPr>
              <a:t>don’t </a:t>
            </a:r>
            <a:r>
              <a:rPr lang="en-US" dirty="0">
                <a:sym typeface="Wingdings" pitchFamily="2" charset="2"/>
              </a:rPr>
              <a:t>satisfy these factors, </a:t>
            </a:r>
            <a:r>
              <a:rPr lang="en-US" b="1" dirty="0">
                <a:sym typeface="Wingdings" pitchFamily="2" charset="2"/>
              </a:rPr>
              <a:t>you likely have a bad embedding</a:t>
            </a:r>
          </a:p>
        </p:txBody>
      </p:sp>
    </p:spTree>
    <p:extLst>
      <p:ext uri="{BB962C8B-B14F-4D97-AF65-F5344CB8AC3E}">
        <p14:creationId xmlns:p14="http://schemas.microsoft.com/office/powerpoint/2010/main" val="28810753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4ABD4-1C14-717F-9A1B-A7FD5D98E2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1F679-A110-7E34-D49D-199E49C1959F}"/>
              </a:ext>
            </a:extLst>
          </p:cNvPr>
          <p:cNvSpPr>
            <a:spLocks noGrp="1"/>
          </p:cNvSpPr>
          <p:nvPr>
            <p:ph type="title"/>
          </p:nvPr>
        </p:nvSpPr>
        <p:spPr/>
        <p:txBody>
          <a:bodyPr>
            <a:normAutofit fontScale="90000"/>
          </a:bodyPr>
          <a:lstStyle/>
          <a:p>
            <a:r>
              <a:rPr lang="en-US" dirty="0"/>
              <a:t>What causes bad embeddings?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3B85351-944C-B52F-0660-57C3F4C9200A}"/>
                  </a:ext>
                </a:extLst>
              </p:cNvPr>
              <p:cNvSpPr>
                <a:spLocks noGrp="1"/>
              </p:cNvSpPr>
              <p:nvPr>
                <p:ph type="body" idx="1"/>
              </p:nvPr>
            </p:nvSpPr>
            <p:spPr/>
            <p:txBody>
              <a:bodyPr>
                <a:normAutofit/>
              </a:bodyPr>
              <a:lstStyle/>
              <a:p>
                <a:pPr>
                  <a:buFont typeface="+mj-lt"/>
                  <a:buAutoNum type="arabicPeriod"/>
                </a:pPr>
                <a:r>
                  <a:rPr lang="en-US" b="0" dirty="0">
                    <a:sym typeface="Wingdings" pitchFamily="2" charset="2"/>
                  </a:rPr>
                  <a:t> </a:t>
                </a:r>
                <a14:m>
                  <m:oMath xmlns:m="http://schemas.openxmlformats.org/officeDocument/2006/math">
                    <m:r>
                      <a:rPr lang="en-US" b="0" i="1" smtClean="0">
                        <a:latin typeface="Cambria Math" panose="02040503050406030204" pitchFamily="18" charset="0"/>
                        <a:sym typeface="Wingdings" pitchFamily="2" charset="2"/>
                      </a:rPr>
                      <m:t>𝑘</m:t>
                    </m:r>
                  </m:oMath>
                </a14:m>
                <a:r>
                  <a:rPr lang="en-US" b="0" dirty="0">
                    <a:sym typeface="Wingdings" pitchFamily="2" charset="2"/>
                  </a:rPr>
                  <a:t> too small  oversimplified approximation of the dataset</a:t>
                </a:r>
              </a:p>
              <a:p>
                <a:pPr>
                  <a:buFont typeface="+mj-lt"/>
                  <a:buAutoNum type="arabicPeriod"/>
                </a:pPr>
                <a:endParaRPr lang="en-US" b="0" dirty="0">
                  <a:sym typeface="Wingdings" pitchFamily="2" charset="2"/>
                </a:endParaRPr>
              </a:p>
              <a:p>
                <a:pPr>
                  <a:buFont typeface="+mj-lt"/>
                  <a:buAutoNum type="arabicPeriod"/>
                </a:pPr>
                <a:endParaRPr lang="en-US" dirty="0">
                  <a:sym typeface="Wingdings" pitchFamily="2" charset="2"/>
                </a:endParaRPr>
              </a:p>
            </p:txBody>
          </p:sp>
        </mc:Choice>
        <mc:Fallback xmlns="">
          <p:sp>
            <p:nvSpPr>
              <p:cNvPr id="3" name="Text Placeholder 2">
                <a:extLst>
                  <a:ext uri="{FF2B5EF4-FFF2-40B4-BE49-F238E27FC236}">
                    <a16:creationId xmlns:a16="http://schemas.microsoft.com/office/drawing/2014/main" id="{13B85351-944C-B52F-0660-57C3F4C9200A}"/>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383168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F69BD-5664-8102-4B9D-67A86F3DB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5FA89-6426-FC3C-C4D6-2F1E7FB571E2}"/>
              </a:ext>
            </a:extLst>
          </p:cNvPr>
          <p:cNvSpPr>
            <a:spLocks noGrp="1"/>
          </p:cNvSpPr>
          <p:nvPr>
            <p:ph type="title"/>
          </p:nvPr>
        </p:nvSpPr>
        <p:spPr/>
        <p:txBody>
          <a:bodyPr>
            <a:normAutofit fontScale="90000"/>
          </a:bodyPr>
          <a:lstStyle/>
          <a:p>
            <a:r>
              <a:rPr lang="en-US" dirty="0"/>
              <a:t>What causes bad embeddings?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3EE02CF-BECC-FA81-F1BF-20582DE659B6}"/>
                  </a:ext>
                </a:extLst>
              </p:cNvPr>
              <p:cNvSpPr>
                <a:spLocks noGrp="1"/>
              </p:cNvSpPr>
              <p:nvPr>
                <p:ph type="body" idx="1"/>
              </p:nvPr>
            </p:nvSpPr>
            <p:spPr/>
            <p:txBody>
              <a:bodyPr>
                <a:normAutofit/>
              </a:bodyPr>
              <a:lstStyle/>
              <a:p>
                <a:pPr>
                  <a:buFont typeface="+mj-lt"/>
                  <a:buAutoNum type="arabicPeriod"/>
                </a:pPr>
                <a:r>
                  <a:rPr lang="en-US" b="0" dirty="0">
                    <a:sym typeface="Wingdings" pitchFamily="2" charset="2"/>
                  </a:rPr>
                  <a:t> </a:t>
                </a:r>
                <a14:m>
                  <m:oMath xmlns:m="http://schemas.openxmlformats.org/officeDocument/2006/math">
                    <m:r>
                      <a:rPr lang="en-US" b="0" i="1" smtClean="0">
                        <a:latin typeface="Cambria Math" panose="02040503050406030204" pitchFamily="18" charset="0"/>
                        <a:sym typeface="Wingdings" pitchFamily="2" charset="2"/>
                      </a:rPr>
                      <m:t>𝑘</m:t>
                    </m:r>
                  </m:oMath>
                </a14:m>
                <a:r>
                  <a:rPr lang="en-US" b="0" dirty="0">
                    <a:sym typeface="Wingdings" pitchFamily="2" charset="2"/>
                  </a:rPr>
                  <a:t> too small  oversimplified approximation of the dataset</a:t>
                </a:r>
              </a:p>
              <a:p>
                <a:pPr>
                  <a:buFont typeface="+mj-lt"/>
                  <a:buAutoNum type="arabicPeriod"/>
                </a:pPr>
                <a:r>
                  <a:rPr lang="en-US" b="0" dirty="0">
                    <a:sym typeface="Wingdings" pitchFamily="2" charset="2"/>
                  </a:rPr>
                  <a:t> </a:t>
                </a:r>
                <a14:m>
                  <m:oMath xmlns:m="http://schemas.openxmlformats.org/officeDocument/2006/math">
                    <m:r>
                      <a:rPr lang="en-US" b="0" i="1" smtClean="0">
                        <a:latin typeface="Cambria Math" panose="02040503050406030204" pitchFamily="18" charset="0"/>
                        <a:sym typeface="Wingdings" pitchFamily="2" charset="2"/>
                      </a:rPr>
                      <m:t>𝑘</m:t>
                    </m:r>
                  </m:oMath>
                </a14:m>
                <a:r>
                  <a:rPr lang="en-US" b="0" dirty="0">
                    <a:sym typeface="Wingdings" pitchFamily="2" charset="2"/>
                  </a:rPr>
                  <a:t> too large  noise is preserved and efficiency is not gained</a:t>
                </a:r>
              </a:p>
              <a:p>
                <a:pPr>
                  <a:buFont typeface="+mj-lt"/>
                  <a:buAutoNum type="arabicPeriod"/>
                </a:pP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dirty="0">
                  <a:sym typeface="Wingdings" pitchFamily="2" charset="2"/>
                </a:endParaRPr>
              </a:p>
            </p:txBody>
          </p:sp>
        </mc:Choice>
        <mc:Fallback xmlns="">
          <p:sp>
            <p:nvSpPr>
              <p:cNvPr id="3" name="Text Placeholder 2">
                <a:extLst>
                  <a:ext uri="{FF2B5EF4-FFF2-40B4-BE49-F238E27FC236}">
                    <a16:creationId xmlns:a16="http://schemas.microsoft.com/office/drawing/2014/main" id="{E3EE02CF-BECC-FA81-F1BF-20582DE659B6}"/>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0808522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C743D-8D72-C082-7175-F5D5EF565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D9943E-F1D0-205E-BF2B-9F2B78662B0A}"/>
              </a:ext>
            </a:extLst>
          </p:cNvPr>
          <p:cNvSpPr>
            <a:spLocks noGrp="1"/>
          </p:cNvSpPr>
          <p:nvPr>
            <p:ph type="title"/>
          </p:nvPr>
        </p:nvSpPr>
        <p:spPr/>
        <p:txBody>
          <a:bodyPr>
            <a:normAutofit fontScale="90000"/>
          </a:bodyPr>
          <a:lstStyle/>
          <a:p>
            <a:r>
              <a:rPr lang="en-US" dirty="0"/>
              <a:t>What causes bad embeddings?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45BEA0D-76FC-4E5C-A6F4-F0EA9F572AEF}"/>
                  </a:ext>
                </a:extLst>
              </p:cNvPr>
              <p:cNvSpPr>
                <a:spLocks noGrp="1"/>
              </p:cNvSpPr>
              <p:nvPr>
                <p:ph type="body" idx="1"/>
              </p:nvPr>
            </p:nvSpPr>
            <p:spPr/>
            <p:txBody>
              <a:bodyPr>
                <a:normAutofit/>
              </a:bodyPr>
              <a:lstStyle/>
              <a:p>
                <a:pPr>
                  <a:buFont typeface="+mj-lt"/>
                  <a:buAutoNum type="arabicPeriod"/>
                </a:pPr>
                <a:r>
                  <a:rPr lang="en-US" b="0" dirty="0">
                    <a:sym typeface="Wingdings" pitchFamily="2" charset="2"/>
                  </a:rPr>
                  <a:t> </a:t>
                </a:r>
                <a14:m>
                  <m:oMath xmlns:m="http://schemas.openxmlformats.org/officeDocument/2006/math">
                    <m:r>
                      <a:rPr lang="en-US" b="0" i="1" smtClean="0">
                        <a:latin typeface="Cambria Math" panose="02040503050406030204" pitchFamily="18" charset="0"/>
                        <a:sym typeface="Wingdings" pitchFamily="2" charset="2"/>
                      </a:rPr>
                      <m:t>𝑘</m:t>
                    </m:r>
                  </m:oMath>
                </a14:m>
                <a:r>
                  <a:rPr lang="en-US" b="0" dirty="0">
                    <a:sym typeface="Wingdings" pitchFamily="2" charset="2"/>
                  </a:rPr>
                  <a:t> too small  oversimplified approximation of the dataset</a:t>
                </a:r>
              </a:p>
              <a:p>
                <a:pPr>
                  <a:buFont typeface="+mj-lt"/>
                  <a:buAutoNum type="arabicPeriod"/>
                </a:pPr>
                <a:r>
                  <a:rPr lang="en-US" b="0" dirty="0">
                    <a:sym typeface="Wingdings" pitchFamily="2" charset="2"/>
                  </a:rPr>
                  <a:t> </a:t>
                </a:r>
                <a14:m>
                  <m:oMath xmlns:m="http://schemas.openxmlformats.org/officeDocument/2006/math">
                    <m:r>
                      <a:rPr lang="en-US" b="0" i="1" smtClean="0">
                        <a:latin typeface="Cambria Math" panose="02040503050406030204" pitchFamily="18" charset="0"/>
                        <a:sym typeface="Wingdings" pitchFamily="2" charset="2"/>
                      </a:rPr>
                      <m:t>𝑘</m:t>
                    </m:r>
                  </m:oMath>
                </a14:m>
                <a:r>
                  <a:rPr lang="en-US" b="0" dirty="0">
                    <a:sym typeface="Wingdings" pitchFamily="2" charset="2"/>
                  </a:rPr>
                  <a:t> too large  noise is preserved and efficiency is not gained</a:t>
                </a:r>
              </a:p>
              <a:p>
                <a:pPr>
                  <a:buFont typeface="+mj-lt"/>
                  <a:buAutoNum type="arabicPeriod"/>
                </a:pPr>
                <a:r>
                  <a:rPr lang="en-US" dirty="0">
                    <a:sym typeface="Wingdings" pitchFamily="2" charset="2"/>
                  </a:rPr>
                  <a:t>Frequent words dominate</a:t>
                </a: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dirty="0">
                  <a:sym typeface="Wingdings" pitchFamily="2" charset="2"/>
                </a:endParaRPr>
              </a:p>
            </p:txBody>
          </p:sp>
        </mc:Choice>
        <mc:Fallback xmlns="">
          <p:sp>
            <p:nvSpPr>
              <p:cNvPr id="3" name="Text Placeholder 2">
                <a:extLst>
                  <a:ext uri="{FF2B5EF4-FFF2-40B4-BE49-F238E27FC236}">
                    <a16:creationId xmlns:a16="http://schemas.microsoft.com/office/drawing/2014/main" id="{A45BEA0D-76FC-4E5C-A6F4-F0EA9F572AEF}"/>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604070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ED88-B6A3-ABAC-F0A6-C039A9BD0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14711-002B-E4B4-FA24-B425B7047055}"/>
              </a:ext>
            </a:extLst>
          </p:cNvPr>
          <p:cNvSpPr>
            <a:spLocks noGrp="1"/>
          </p:cNvSpPr>
          <p:nvPr>
            <p:ph type="title"/>
          </p:nvPr>
        </p:nvSpPr>
        <p:spPr/>
        <p:txBody>
          <a:bodyPr>
            <a:normAutofit fontScale="90000"/>
          </a:bodyPr>
          <a:lstStyle/>
          <a:p>
            <a:r>
              <a:rPr lang="en-US" dirty="0"/>
              <a:t>What causes bad embeddings?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9D88DC3-2298-AF28-229B-CB4398500BFD}"/>
                  </a:ext>
                </a:extLst>
              </p:cNvPr>
              <p:cNvSpPr>
                <a:spLocks noGrp="1"/>
              </p:cNvSpPr>
              <p:nvPr>
                <p:ph type="body" idx="1"/>
              </p:nvPr>
            </p:nvSpPr>
            <p:spPr/>
            <p:txBody>
              <a:bodyPr>
                <a:normAutofit/>
              </a:bodyPr>
              <a:lstStyle/>
              <a:p>
                <a:pPr>
                  <a:buFont typeface="+mj-lt"/>
                  <a:buAutoNum type="arabicPeriod"/>
                </a:pPr>
                <a:r>
                  <a:rPr lang="en-US" b="0" dirty="0">
                    <a:sym typeface="Wingdings" pitchFamily="2" charset="2"/>
                  </a:rPr>
                  <a:t> </a:t>
                </a:r>
                <a14:m>
                  <m:oMath xmlns:m="http://schemas.openxmlformats.org/officeDocument/2006/math">
                    <m:r>
                      <a:rPr lang="en-US" b="0" i="1" smtClean="0">
                        <a:latin typeface="Cambria Math" panose="02040503050406030204" pitchFamily="18" charset="0"/>
                        <a:sym typeface="Wingdings" pitchFamily="2" charset="2"/>
                      </a:rPr>
                      <m:t>𝑘</m:t>
                    </m:r>
                  </m:oMath>
                </a14:m>
                <a:r>
                  <a:rPr lang="en-US" b="0" dirty="0">
                    <a:sym typeface="Wingdings" pitchFamily="2" charset="2"/>
                  </a:rPr>
                  <a:t> too small  oversimplified approximation of the dataset</a:t>
                </a:r>
              </a:p>
              <a:p>
                <a:pPr>
                  <a:buFont typeface="+mj-lt"/>
                  <a:buAutoNum type="arabicPeriod"/>
                </a:pPr>
                <a:r>
                  <a:rPr lang="en-US" b="0" dirty="0">
                    <a:sym typeface="Wingdings" pitchFamily="2" charset="2"/>
                  </a:rPr>
                  <a:t> </a:t>
                </a:r>
                <a14:m>
                  <m:oMath xmlns:m="http://schemas.openxmlformats.org/officeDocument/2006/math">
                    <m:r>
                      <a:rPr lang="en-US" b="0" i="1" smtClean="0">
                        <a:latin typeface="Cambria Math" panose="02040503050406030204" pitchFamily="18" charset="0"/>
                        <a:sym typeface="Wingdings" pitchFamily="2" charset="2"/>
                      </a:rPr>
                      <m:t>𝑘</m:t>
                    </m:r>
                  </m:oMath>
                </a14:m>
                <a:r>
                  <a:rPr lang="en-US" b="0" dirty="0">
                    <a:sym typeface="Wingdings" pitchFamily="2" charset="2"/>
                  </a:rPr>
                  <a:t> too large  noise is preserved and efficiency is not gained</a:t>
                </a:r>
              </a:p>
              <a:p>
                <a:pPr>
                  <a:buFont typeface="+mj-lt"/>
                  <a:buAutoNum type="arabicPeriod"/>
                </a:pPr>
                <a:r>
                  <a:rPr lang="en-US" dirty="0">
                    <a:sym typeface="Wingdings" pitchFamily="2" charset="2"/>
                  </a:rPr>
                  <a:t>Frequent words dominate</a:t>
                </a: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dirty="0">
                  <a:sym typeface="Wingdings" pitchFamily="2" charset="2"/>
                </a:endParaRPr>
              </a:p>
            </p:txBody>
          </p:sp>
        </mc:Choice>
        <mc:Fallback xmlns="">
          <p:sp>
            <p:nvSpPr>
              <p:cNvPr id="3" name="Text Placeholder 2">
                <a:extLst>
                  <a:ext uri="{FF2B5EF4-FFF2-40B4-BE49-F238E27FC236}">
                    <a16:creationId xmlns:a16="http://schemas.microsoft.com/office/drawing/2014/main" id="{99D88DC3-2298-AF28-229B-CB4398500BFD}"/>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ED66121-7556-464D-1205-E54548B6EE81}"/>
              </a:ext>
            </a:extLst>
          </p:cNvPr>
          <p:cNvSpPr txBox="1"/>
          <p:nvPr/>
        </p:nvSpPr>
        <p:spPr>
          <a:xfrm>
            <a:off x="816746" y="1266325"/>
            <a:ext cx="6942337" cy="731151"/>
          </a:xfrm>
          <a:prstGeom prst="rect">
            <a:avLst/>
          </a:prstGeom>
          <a:noFill/>
          <a:ln>
            <a:solidFill>
              <a:schemeClr val="accent1"/>
            </a:solidFill>
          </a:ln>
        </p:spPr>
        <p:txBody>
          <a:bodyPr wrap="square" rtlCol="0">
            <a:spAutoFit/>
          </a:bodyPr>
          <a:lstStyle/>
          <a:p>
            <a:endParaRPr lang="en-US" dirty="0"/>
          </a:p>
        </p:txBody>
      </p:sp>
      <p:cxnSp>
        <p:nvCxnSpPr>
          <p:cNvPr id="6" name="Straight Arrow Connector 5">
            <a:extLst>
              <a:ext uri="{FF2B5EF4-FFF2-40B4-BE49-F238E27FC236}">
                <a16:creationId xmlns:a16="http://schemas.microsoft.com/office/drawing/2014/main" id="{1AAB1897-772A-931E-1364-226A14160DFE}"/>
              </a:ext>
            </a:extLst>
          </p:cNvPr>
          <p:cNvCxnSpPr/>
          <p:nvPr/>
        </p:nvCxnSpPr>
        <p:spPr>
          <a:xfrm flipH="1" flipV="1">
            <a:off x="5264458" y="1997476"/>
            <a:ext cx="221942" cy="1455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D82637A-357A-2D30-F247-16B8EF14A934}"/>
              </a:ext>
            </a:extLst>
          </p:cNvPr>
          <p:cNvSpPr txBox="1"/>
          <p:nvPr/>
        </p:nvSpPr>
        <p:spPr>
          <a:xfrm>
            <a:off x="4475997" y="3453414"/>
            <a:ext cx="2905125" cy="954107"/>
          </a:xfrm>
          <a:prstGeom prst="rect">
            <a:avLst/>
          </a:prstGeom>
          <a:noFill/>
          <a:ln>
            <a:solidFill>
              <a:schemeClr val="accent1"/>
            </a:solidFill>
          </a:ln>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We can use the elbow method by plotting singular values in descending order and finding the point of diminishing returns</a:t>
            </a:r>
          </a:p>
        </p:txBody>
      </p:sp>
    </p:spTree>
    <p:extLst>
      <p:ext uri="{BB962C8B-B14F-4D97-AF65-F5344CB8AC3E}">
        <p14:creationId xmlns:p14="http://schemas.microsoft.com/office/powerpoint/2010/main" val="341757483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C08D1-E7AE-9914-3CC7-AB8D1D132B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16AAD-C6CE-6173-B7D2-27A485D315BC}"/>
              </a:ext>
            </a:extLst>
          </p:cNvPr>
          <p:cNvSpPr>
            <a:spLocks noGrp="1"/>
          </p:cNvSpPr>
          <p:nvPr>
            <p:ph type="title"/>
          </p:nvPr>
        </p:nvSpPr>
        <p:spPr/>
        <p:txBody>
          <a:bodyPr>
            <a:normAutofit fontScale="90000"/>
          </a:bodyPr>
          <a:lstStyle/>
          <a:p>
            <a:r>
              <a:rPr lang="en-US" dirty="0"/>
              <a:t>What causes bad embeddings?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E233944-3279-3B00-D6EC-79E42E062AC1}"/>
                  </a:ext>
                </a:extLst>
              </p:cNvPr>
              <p:cNvSpPr>
                <a:spLocks noGrp="1"/>
              </p:cNvSpPr>
              <p:nvPr>
                <p:ph type="body" idx="1"/>
              </p:nvPr>
            </p:nvSpPr>
            <p:spPr/>
            <p:txBody>
              <a:bodyPr>
                <a:normAutofit/>
              </a:bodyPr>
              <a:lstStyle/>
              <a:p>
                <a:pPr>
                  <a:buFont typeface="+mj-lt"/>
                  <a:buAutoNum type="arabicPeriod"/>
                </a:pPr>
                <a:r>
                  <a:rPr lang="en-US" b="0" dirty="0">
                    <a:sym typeface="Wingdings" pitchFamily="2" charset="2"/>
                  </a:rPr>
                  <a:t> </a:t>
                </a:r>
                <a14:m>
                  <m:oMath xmlns:m="http://schemas.openxmlformats.org/officeDocument/2006/math">
                    <m:r>
                      <a:rPr lang="en-US" b="0" i="1" smtClean="0">
                        <a:latin typeface="Cambria Math" panose="02040503050406030204" pitchFamily="18" charset="0"/>
                        <a:sym typeface="Wingdings" pitchFamily="2" charset="2"/>
                      </a:rPr>
                      <m:t>𝑘</m:t>
                    </m:r>
                  </m:oMath>
                </a14:m>
                <a:r>
                  <a:rPr lang="en-US" b="0" dirty="0">
                    <a:sym typeface="Wingdings" pitchFamily="2" charset="2"/>
                  </a:rPr>
                  <a:t> too small  oversimplified approximation of the dataset</a:t>
                </a:r>
              </a:p>
              <a:p>
                <a:pPr>
                  <a:buFont typeface="+mj-lt"/>
                  <a:buAutoNum type="arabicPeriod"/>
                </a:pPr>
                <a:r>
                  <a:rPr lang="en-US" b="0" dirty="0">
                    <a:sym typeface="Wingdings" pitchFamily="2" charset="2"/>
                  </a:rPr>
                  <a:t> </a:t>
                </a:r>
                <a14:m>
                  <m:oMath xmlns:m="http://schemas.openxmlformats.org/officeDocument/2006/math">
                    <m:r>
                      <a:rPr lang="en-US" b="0" i="1" smtClean="0">
                        <a:latin typeface="Cambria Math" panose="02040503050406030204" pitchFamily="18" charset="0"/>
                        <a:sym typeface="Wingdings" pitchFamily="2" charset="2"/>
                      </a:rPr>
                      <m:t>𝑘</m:t>
                    </m:r>
                  </m:oMath>
                </a14:m>
                <a:r>
                  <a:rPr lang="en-US" b="0" dirty="0">
                    <a:sym typeface="Wingdings" pitchFamily="2" charset="2"/>
                  </a:rPr>
                  <a:t> too large  noise is preserved and efficiency is not gained</a:t>
                </a:r>
              </a:p>
              <a:p>
                <a:pPr>
                  <a:buFont typeface="+mj-lt"/>
                  <a:buAutoNum type="arabicPeriod"/>
                </a:pPr>
                <a:r>
                  <a:rPr lang="en-US" dirty="0">
                    <a:sym typeface="Wingdings" pitchFamily="2" charset="2"/>
                  </a:rPr>
                  <a:t>Frequent words dominate</a:t>
                </a: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dirty="0">
                  <a:sym typeface="Wingdings" pitchFamily="2" charset="2"/>
                </a:endParaRPr>
              </a:p>
            </p:txBody>
          </p:sp>
        </mc:Choice>
        <mc:Fallback xmlns="">
          <p:sp>
            <p:nvSpPr>
              <p:cNvPr id="3" name="Text Placeholder 2">
                <a:extLst>
                  <a:ext uri="{FF2B5EF4-FFF2-40B4-BE49-F238E27FC236}">
                    <a16:creationId xmlns:a16="http://schemas.microsoft.com/office/drawing/2014/main" id="{0E233944-3279-3B00-D6EC-79E42E062AC1}"/>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982F0DF-47D6-FB1B-06F2-A78C609EF0A8}"/>
              </a:ext>
            </a:extLst>
          </p:cNvPr>
          <p:cNvSpPr txBox="1"/>
          <p:nvPr/>
        </p:nvSpPr>
        <p:spPr>
          <a:xfrm>
            <a:off x="825624" y="2003172"/>
            <a:ext cx="2858609" cy="296145"/>
          </a:xfrm>
          <a:prstGeom prst="rect">
            <a:avLst/>
          </a:prstGeom>
          <a:noFill/>
          <a:ln>
            <a:solidFill>
              <a:schemeClr val="accent1"/>
            </a:solidFill>
          </a:ln>
        </p:spPr>
        <p:txBody>
          <a:bodyPr wrap="square" rtlCol="0">
            <a:spAutoFit/>
          </a:bodyPr>
          <a:lstStyle/>
          <a:p>
            <a:endParaRPr lang="en-US" dirty="0"/>
          </a:p>
        </p:txBody>
      </p:sp>
      <p:cxnSp>
        <p:nvCxnSpPr>
          <p:cNvPr id="6" name="Straight Arrow Connector 5">
            <a:extLst>
              <a:ext uri="{FF2B5EF4-FFF2-40B4-BE49-F238E27FC236}">
                <a16:creationId xmlns:a16="http://schemas.microsoft.com/office/drawing/2014/main" id="{345D9664-877B-7E0A-98DA-BF0E0673AA22}"/>
              </a:ext>
            </a:extLst>
          </p:cNvPr>
          <p:cNvCxnSpPr>
            <a:cxnSpLocks/>
          </p:cNvCxnSpPr>
          <p:nvPr/>
        </p:nvCxnSpPr>
        <p:spPr>
          <a:xfrm flipH="1" flipV="1">
            <a:off x="3462291" y="2388093"/>
            <a:ext cx="2024109" cy="10653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462F64B-F3AA-F462-F3AA-1401E058A294}"/>
              </a:ext>
            </a:extLst>
          </p:cNvPr>
          <p:cNvSpPr txBox="1"/>
          <p:nvPr/>
        </p:nvSpPr>
        <p:spPr>
          <a:xfrm>
            <a:off x="4475997" y="3453414"/>
            <a:ext cx="2905125" cy="307777"/>
          </a:xfrm>
          <a:prstGeom prst="rect">
            <a:avLst/>
          </a:prstGeom>
          <a:noFill/>
          <a:ln>
            <a:solidFill>
              <a:schemeClr val="accent1"/>
            </a:solidFill>
          </a:ln>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Why is this a problem?</a:t>
            </a:r>
          </a:p>
        </p:txBody>
      </p:sp>
    </p:spTree>
    <p:extLst>
      <p:ext uri="{BB962C8B-B14F-4D97-AF65-F5344CB8AC3E}">
        <p14:creationId xmlns:p14="http://schemas.microsoft.com/office/powerpoint/2010/main" val="324811310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6BC84-60FA-D1AB-4914-47C2D8A756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C5556-8BE9-1CE9-4F73-73A16B337F47}"/>
              </a:ext>
            </a:extLst>
          </p:cNvPr>
          <p:cNvSpPr>
            <a:spLocks noGrp="1"/>
          </p:cNvSpPr>
          <p:nvPr>
            <p:ph type="title"/>
          </p:nvPr>
        </p:nvSpPr>
        <p:spPr/>
        <p:txBody>
          <a:bodyPr>
            <a:normAutofit fontScale="90000"/>
          </a:bodyPr>
          <a:lstStyle/>
          <a:p>
            <a:r>
              <a:rPr lang="en-US" dirty="0"/>
              <a:t>Term Frequency in LSA</a:t>
            </a:r>
          </a:p>
        </p:txBody>
      </p:sp>
      <p:sp>
        <p:nvSpPr>
          <p:cNvPr id="3" name="Text Placeholder 2">
            <a:extLst>
              <a:ext uri="{FF2B5EF4-FFF2-40B4-BE49-F238E27FC236}">
                <a16:creationId xmlns:a16="http://schemas.microsoft.com/office/drawing/2014/main" id="{D6A63A0E-086C-5C7E-C860-D133AAB8B6F5}"/>
              </a:ext>
            </a:extLst>
          </p:cNvPr>
          <p:cNvSpPr>
            <a:spLocks noGrp="1"/>
          </p:cNvSpPr>
          <p:nvPr>
            <p:ph type="body" idx="1"/>
          </p:nvPr>
        </p:nvSpPr>
        <p:spPr/>
        <p:txBody>
          <a:bodyPr>
            <a:normAutofit/>
          </a:bodyPr>
          <a:lstStyle/>
          <a:p>
            <a:pPr marL="114300" indent="0">
              <a:buNone/>
            </a:pPr>
            <a:r>
              <a:rPr lang="en-US" dirty="0">
                <a:sym typeface="Wingdings" pitchFamily="2" charset="2"/>
              </a:rPr>
              <a:t>Take these example “documents”:</a:t>
            </a:r>
          </a:p>
          <a:p>
            <a:pPr>
              <a:buFont typeface="+mj-lt"/>
              <a:buAutoNum type="arabicPeriod"/>
            </a:pPr>
            <a:r>
              <a:rPr lang="en-US" dirty="0">
                <a:sym typeface="Wingdings" pitchFamily="2" charset="2"/>
              </a:rPr>
              <a:t>”the dog plays in the park”</a:t>
            </a:r>
          </a:p>
          <a:p>
            <a:pPr>
              <a:buFont typeface="+mj-lt"/>
              <a:buAutoNum type="arabicPeriod"/>
            </a:pPr>
            <a:r>
              <a:rPr lang="en-US" dirty="0">
                <a:sym typeface="Wingdings" pitchFamily="2" charset="2"/>
              </a:rPr>
              <a:t>“the cat sleeps in the house”</a:t>
            </a:r>
          </a:p>
          <a:p>
            <a:pPr>
              <a:buFont typeface="+mj-lt"/>
              <a:buAutoNum type="arabicPeriod"/>
            </a:pPr>
            <a:r>
              <a:rPr lang="en-US" dirty="0">
                <a:sym typeface="Wingdings" pitchFamily="2" charset="2"/>
              </a:rPr>
              <a:t>”the government passed a law”</a:t>
            </a:r>
          </a:p>
          <a:p>
            <a:pPr marL="114300" indent="0">
              <a:buNone/>
            </a:pPr>
            <a:endParaRPr lang="en-US" dirty="0">
              <a:sym typeface="Wingdings" pitchFamily="2" charset="2"/>
            </a:endParaRPr>
          </a:p>
        </p:txBody>
      </p:sp>
    </p:spTree>
    <p:extLst>
      <p:ext uri="{BB962C8B-B14F-4D97-AF65-F5344CB8AC3E}">
        <p14:creationId xmlns:p14="http://schemas.microsoft.com/office/powerpoint/2010/main" val="301869453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7525-B203-C34C-D583-7FF25BC38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D733EA-7010-9727-7917-05A4243644E4}"/>
              </a:ext>
            </a:extLst>
          </p:cNvPr>
          <p:cNvSpPr>
            <a:spLocks noGrp="1"/>
          </p:cNvSpPr>
          <p:nvPr>
            <p:ph type="title"/>
          </p:nvPr>
        </p:nvSpPr>
        <p:spPr/>
        <p:txBody>
          <a:bodyPr>
            <a:normAutofit fontScale="90000"/>
          </a:bodyPr>
          <a:lstStyle/>
          <a:p>
            <a:r>
              <a:rPr lang="en-US" dirty="0"/>
              <a:t>Term Frequency in LSA</a:t>
            </a:r>
          </a:p>
        </p:txBody>
      </p:sp>
      <p:sp>
        <p:nvSpPr>
          <p:cNvPr id="3" name="Text Placeholder 2">
            <a:extLst>
              <a:ext uri="{FF2B5EF4-FFF2-40B4-BE49-F238E27FC236}">
                <a16:creationId xmlns:a16="http://schemas.microsoft.com/office/drawing/2014/main" id="{C9B60D38-8BEB-E229-696B-A9D8225E3454}"/>
              </a:ext>
            </a:extLst>
          </p:cNvPr>
          <p:cNvSpPr>
            <a:spLocks noGrp="1"/>
          </p:cNvSpPr>
          <p:nvPr>
            <p:ph type="body" idx="1"/>
          </p:nvPr>
        </p:nvSpPr>
        <p:spPr/>
        <p:txBody>
          <a:bodyPr>
            <a:normAutofit/>
          </a:bodyPr>
          <a:lstStyle/>
          <a:p>
            <a:pPr marL="114300" indent="0">
              <a:buNone/>
            </a:pPr>
            <a:r>
              <a:rPr lang="en-US" dirty="0">
                <a:sym typeface="Wingdings" pitchFamily="2" charset="2"/>
              </a:rPr>
              <a:t>Take these example “documents”:</a:t>
            </a:r>
          </a:p>
          <a:p>
            <a:pPr>
              <a:buFont typeface="+mj-lt"/>
              <a:buAutoNum type="arabicPeriod"/>
            </a:pPr>
            <a:r>
              <a:rPr lang="en-US" dirty="0">
                <a:sym typeface="Wingdings" pitchFamily="2" charset="2"/>
              </a:rPr>
              <a:t>”the dog plays in the park”</a:t>
            </a:r>
          </a:p>
          <a:p>
            <a:pPr>
              <a:buFont typeface="+mj-lt"/>
              <a:buAutoNum type="arabicPeriod"/>
            </a:pPr>
            <a:r>
              <a:rPr lang="en-US" dirty="0">
                <a:sym typeface="Wingdings" pitchFamily="2" charset="2"/>
              </a:rPr>
              <a:t>“the cat sleeps in the house”</a:t>
            </a:r>
          </a:p>
          <a:p>
            <a:pPr>
              <a:buFont typeface="+mj-lt"/>
              <a:buAutoNum type="arabicPeriod"/>
            </a:pPr>
            <a:r>
              <a:rPr lang="en-US" dirty="0">
                <a:sym typeface="Wingdings" pitchFamily="2" charset="2"/>
              </a:rPr>
              <a:t>”the government passed a law”</a:t>
            </a:r>
          </a:p>
          <a:p>
            <a:pPr marL="114300" indent="0">
              <a:buNone/>
            </a:pPr>
            <a:endParaRPr lang="en-US" dirty="0">
              <a:sym typeface="Wingdings" pitchFamily="2" charset="2"/>
            </a:endParaRPr>
          </a:p>
          <a:p>
            <a:pPr marL="114300" indent="0">
              <a:buNone/>
            </a:pPr>
            <a:r>
              <a:rPr lang="en-US" dirty="0">
                <a:sym typeface="Wingdings" pitchFamily="2" charset="2"/>
              </a:rPr>
              <a:t>Here, “the” appears in every document but it carried no semantic meaning…</a:t>
            </a:r>
          </a:p>
          <a:p>
            <a:pPr marL="114300" indent="0">
              <a:buNone/>
            </a:pPr>
            <a:endParaRPr lang="en-US" dirty="0">
              <a:sym typeface="Wingdings" pitchFamily="2" charset="2"/>
            </a:endParaRPr>
          </a:p>
        </p:txBody>
      </p:sp>
    </p:spTree>
    <p:extLst>
      <p:ext uri="{BB962C8B-B14F-4D97-AF65-F5344CB8AC3E}">
        <p14:creationId xmlns:p14="http://schemas.microsoft.com/office/powerpoint/2010/main" val="9549973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E53CE-7BEE-22AC-7D94-C8100E367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9A7D00-947E-8542-C2E9-31E05F836CF2}"/>
              </a:ext>
            </a:extLst>
          </p:cNvPr>
          <p:cNvSpPr>
            <a:spLocks noGrp="1"/>
          </p:cNvSpPr>
          <p:nvPr>
            <p:ph type="title"/>
          </p:nvPr>
        </p:nvSpPr>
        <p:spPr/>
        <p:txBody>
          <a:bodyPr>
            <a:normAutofit fontScale="90000"/>
          </a:bodyPr>
          <a:lstStyle/>
          <a:p>
            <a:r>
              <a:rPr lang="en-US" dirty="0"/>
              <a:t>Term Frequency in LSA</a:t>
            </a:r>
          </a:p>
        </p:txBody>
      </p:sp>
      <p:sp>
        <p:nvSpPr>
          <p:cNvPr id="3" name="Text Placeholder 2">
            <a:extLst>
              <a:ext uri="{FF2B5EF4-FFF2-40B4-BE49-F238E27FC236}">
                <a16:creationId xmlns:a16="http://schemas.microsoft.com/office/drawing/2014/main" id="{EE09BCB5-7C3B-00B5-CFD7-565A2F7E8136}"/>
              </a:ext>
            </a:extLst>
          </p:cNvPr>
          <p:cNvSpPr>
            <a:spLocks noGrp="1"/>
          </p:cNvSpPr>
          <p:nvPr>
            <p:ph type="body" idx="1"/>
          </p:nvPr>
        </p:nvSpPr>
        <p:spPr/>
        <p:txBody>
          <a:bodyPr>
            <a:normAutofit lnSpcReduction="10000"/>
          </a:bodyPr>
          <a:lstStyle/>
          <a:p>
            <a:pPr marL="114300" indent="0">
              <a:buNone/>
            </a:pPr>
            <a:r>
              <a:rPr lang="en-US" dirty="0">
                <a:sym typeface="Wingdings" pitchFamily="2" charset="2"/>
              </a:rPr>
              <a:t>Take these example “documents”:</a:t>
            </a:r>
          </a:p>
          <a:p>
            <a:pPr>
              <a:buFont typeface="+mj-lt"/>
              <a:buAutoNum type="arabicPeriod"/>
            </a:pPr>
            <a:r>
              <a:rPr lang="en-US" dirty="0">
                <a:sym typeface="Wingdings" pitchFamily="2" charset="2"/>
              </a:rPr>
              <a:t>”the dog plays in the park”</a:t>
            </a:r>
          </a:p>
          <a:p>
            <a:pPr>
              <a:buFont typeface="+mj-lt"/>
              <a:buAutoNum type="arabicPeriod"/>
            </a:pPr>
            <a:r>
              <a:rPr lang="en-US" dirty="0">
                <a:sym typeface="Wingdings" pitchFamily="2" charset="2"/>
              </a:rPr>
              <a:t>“the cat sleeps in the house”</a:t>
            </a:r>
          </a:p>
          <a:p>
            <a:pPr>
              <a:buFont typeface="+mj-lt"/>
              <a:buAutoNum type="arabicPeriod"/>
            </a:pPr>
            <a:r>
              <a:rPr lang="en-US" dirty="0">
                <a:sym typeface="Wingdings" pitchFamily="2" charset="2"/>
              </a:rPr>
              <a:t>”the government passed a law”</a:t>
            </a:r>
          </a:p>
          <a:p>
            <a:pPr marL="114300" indent="0">
              <a:buNone/>
            </a:pPr>
            <a:endParaRPr lang="en-US" dirty="0">
              <a:sym typeface="Wingdings" pitchFamily="2" charset="2"/>
            </a:endParaRPr>
          </a:p>
          <a:p>
            <a:pPr marL="114300" indent="0">
              <a:buNone/>
            </a:pPr>
            <a:r>
              <a:rPr lang="en-US" dirty="0">
                <a:sym typeface="Wingdings" pitchFamily="2" charset="2"/>
              </a:rPr>
              <a:t>Here, “the” appears in every document but it carried no semantic meaning…</a:t>
            </a:r>
          </a:p>
          <a:p>
            <a:pPr marL="114300" indent="0">
              <a:buNone/>
            </a:pPr>
            <a:endParaRPr lang="en-US" dirty="0">
              <a:sym typeface="Wingdings" pitchFamily="2" charset="2"/>
            </a:endParaRPr>
          </a:p>
          <a:p>
            <a:pPr marL="114300" indent="0">
              <a:buNone/>
            </a:pPr>
            <a:r>
              <a:rPr lang="en-US" dirty="0">
                <a:sym typeface="Wingdings" pitchFamily="2" charset="2"/>
              </a:rPr>
              <a:t>This means in our term-document matrix, “The” will have the highest frequency and as a result, SVD will detect that it contributes the most variance.</a:t>
            </a:r>
          </a:p>
        </p:txBody>
      </p:sp>
    </p:spTree>
    <p:extLst>
      <p:ext uri="{BB962C8B-B14F-4D97-AF65-F5344CB8AC3E}">
        <p14:creationId xmlns:p14="http://schemas.microsoft.com/office/powerpoint/2010/main" val="125484906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06A91-8E54-241D-C394-1530F03BE7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416E55-76CE-1D7E-A6AA-BAEAD774EF2B}"/>
              </a:ext>
            </a:extLst>
          </p:cNvPr>
          <p:cNvSpPr>
            <a:spLocks noGrp="1"/>
          </p:cNvSpPr>
          <p:nvPr>
            <p:ph type="title"/>
          </p:nvPr>
        </p:nvSpPr>
        <p:spPr/>
        <p:txBody>
          <a:bodyPr>
            <a:normAutofit fontScale="90000"/>
          </a:bodyPr>
          <a:lstStyle/>
          <a:p>
            <a:r>
              <a:rPr lang="en-US" dirty="0"/>
              <a:t>Term Frequency in LSA</a:t>
            </a:r>
          </a:p>
        </p:txBody>
      </p:sp>
      <p:sp>
        <p:nvSpPr>
          <p:cNvPr id="3" name="Text Placeholder 2">
            <a:extLst>
              <a:ext uri="{FF2B5EF4-FFF2-40B4-BE49-F238E27FC236}">
                <a16:creationId xmlns:a16="http://schemas.microsoft.com/office/drawing/2014/main" id="{9CE58F86-9B3B-0212-F857-5A10E0CEB54D}"/>
              </a:ext>
            </a:extLst>
          </p:cNvPr>
          <p:cNvSpPr>
            <a:spLocks noGrp="1"/>
          </p:cNvSpPr>
          <p:nvPr>
            <p:ph type="body" idx="1"/>
          </p:nvPr>
        </p:nvSpPr>
        <p:spPr/>
        <p:txBody>
          <a:bodyPr>
            <a:normAutofit/>
          </a:bodyPr>
          <a:lstStyle/>
          <a:p>
            <a:pPr marL="114300" indent="0">
              <a:buNone/>
            </a:pPr>
            <a:r>
              <a:rPr lang="en-US" dirty="0">
                <a:sym typeface="Wingdings" pitchFamily="2" charset="2"/>
              </a:rPr>
              <a:t>Take these example “documents”:</a:t>
            </a:r>
          </a:p>
          <a:p>
            <a:pPr>
              <a:buFont typeface="+mj-lt"/>
              <a:buAutoNum type="arabicPeriod"/>
            </a:pPr>
            <a:r>
              <a:rPr lang="en-US" dirty="0">
                <a:sym typeface="Wingdings" pitchFamily="2" charset="2"/>
              </a:rPr>
              <a:t>”the dog plays in the park”</a:t>
            </a:r>
          </a:p>
          <a:p>
            <a:pPr>
              <a:buFont typeface="+mj-lt"/>
              <a:buAutoNum type="arabicPeriod"/>
            </a:pPr>
            <a:r>
              <a:rPr lang="en-US" dirty="0">
                <a:sym typeface="Wingdings" pitchFamily="2" charset="2"/>
              </a:rPr>
              <a:t>“the cat sleeps in the house”</a:t>
            </a:r>
          </a:p>
          <a:p>
            <a:pPr>
              <a:buFont typeface="+mj-lt"/>
              <a:buAutoNum type="arabicPeriod"/>
            </a:pPr>
            <a:r>
              <a:rPr lang="en-US" dirty="0">
                <a:sym typeface="Wingdings" pitchFamily="2" charset="2"/>
              </a:rPr>
              <a:t>”the government passed a law”</a:t>
            </a:r>
          </a:p>
          <a:p>
            <a:pPr marL="114300" indent="0">
              <a:buNone/>
            </a:pPr>
            <a:endParaRPr lang="en-US" dirty="0">
              <a:sym typeface="Wingdings" pitchFamily="2" charset="2"/>
            </a:endParaRPr>
          </a:p>
          <a:p>
            <a:pPr marL="114300" indent="0">
              <a:buNone/>
            </a:pPr>
            <a:r>
              <a:rPr lang="en-US" dirty="0">
                <a:sym typeface="Wingdings" pitchFamily="2" charset="2"/>
              </a:rPr>
              <a:t>We see a clear semantic structure here. One “latent feature” could be pets, another could be politics. </a:t>
            </a:r>
          </a:p>
        </p:txBody>
      </p:sp>
    </p:spTree>
    <p:extLst>
      <p:ext uri="{BB962C8B-B14F-4D97-AF65-F5344CB8AC3E}">
        <p14:creationId xmlns:p14="http://schemas.microsoft.com/office/powerpoint/2010/main" val="3543287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3EA20-7457-2693-B0F3-5DA39A6F0C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8832AF-30AA-A752-77F0-8DC2591A9B50}"/>
              </a:ext>
            </a:extLst>
          </p:cNvPr>
          <p:cNvSpPr>
            <a:spLocks noGrp="1"/>
          </p:cNvSpPr>
          <p:nvPr>
            <p:ph type="title"/>
          </p:nvPr>
        </p:nvSpPr>
        <p:spPr/>
        <p:txBody>
          <a:bodyPr>
            <a:normAutofit fontScale="90000"/>
          </a:bodyPr>
          <a:lstStyle/>
          <a:p>
            <a:r>
              <a:rPr lang="en-US" dirty="0"/>
              <a:t>Term Frequency in LSA</a:t>
            </a:r>
          </a:p>
        </p:txBody>
      </p:sp>
      <p:sp>
        <p:nvSpPr>
          <p:cNvPr id="3" name="Text Placeholder 2">
            <a:extLst>
              <a:ext uri="{FF2B5EF4-FFF2-40B4-BE49-F238E27FC236}">
                <a16:creationId xmlns:a16="http://schemas.microsoft.com/office/drawing/2014/main" id="{70CD3D0C-25D4-BEC5-EE35-6E6D2DA5049D}"/>
              </a:ext>
            </a:extLst>
          </p:cNvPr>
          <p:cNvSpPr>
            <a:spLocks noGrp="1"/>
          </p:cNvSpPr>
          <p:nvPr>
            <p:ph type="body" idx="1"/>
          </p:nvPr>
        </p:nvSpPr>
        <p:spPr/>
        <p:txBody>
          <a:bodyPr>
            <a:normAutofit fontScale="92500" lnSpcReduction="10000"/>
          </a:bodyPr>
          <a:lstStyle/>
          <a:p>
            <a:pPr marL="114300" indent="0">
              <a:buNone/>
            </a:pPr>
            <a:r>
              <a:rPr lang="en-US" dirty="0">
                <a:sym typeface="Wingdings" pitchFamily="2" charset="2"/>
              </a:rPr>
              <a:t>Take these example “documents”:</a:t>
            </a:r>
          </a:p>
          <a:p>
            <a:pPr>
              <a:buFont typeface="+mj-lt"/>
              <a:buAutoNum type="arabicPeriod"/>
            </a:pPr>
            <a:r>
              <a:rPr lang="en-US" dirty="0">
                <a:sym typeface="Wingdings" pitchFamily="2" charset="2"/>
              </a:rPr>
              <a:t>”the dog plays in the park”</a:t>
            </a:r>
          </a:p>
          <a:p>
            <a:pPr>
              <a:buFont typeface="+mj-lt"/>
              <a:buAutoNum type="arabicPeriod"/>
            </a:pPr>
            <a:r>
              <a:rPr lang="en-US" dirty="0">
                <a:sym typeface="Wingdings" pitchFamily="2" charset="2"/>
              </a:rPr>
              <a:t>“the cat sleeps in the house”</a:t>
            </a:r>
          </a:p>
          <a:p>
            <a:pPr>
              <a:buFont typeface="+mj-lt"/>
              <a:buAutoNum type="arabicPeriod"/>
            </a:pPr>
            <a:r>
              <a:rPr lang="en-US" dirty="0">
                <a:sym typeface="Wingdings" pitchFamily="2" charset="2"/>
              </a:rPr>
              <a:t>”the government passed a law”</a:t>
            </a:r>
          </a:p>
          <a:p>
            <a:pPr marL="114300" indent="0">
              <a:buNone/>
            </a:pPr>
            <a:endParaRPr lang="en-US" dirty="0">
              <a:sym typeface="Wingdings" pitchFamily="2" charset="2"/>
            </a:endParaRPr>
          </a:p>
          <a:p>
            <a:pPr marL="114300" indent="0">
              <a:buNone/>
            </a:pPr>
            <a:r>
              <a:rPr lang="en-US" dirty="0">
                <a:sym typeface="Wingdings" pitchFamily="2" charset="2"/>
              </a:rPr>
              <a:t>We see a clear semantic structure here. One “latent feature” could be pets, another could be politics.</a:t>
            </a:r>
          </a:p>
          <a:p>
            <a:pPr marL="114300" indent="0">
              <a:buNone/>
            </a:pPr>
            <a:endParaRPr lang="en-US" dirty="0">
              <a:sym typeface="Wingdings" pitchFamily="2" charset="2"/>
            </a:endParaRPr>
          </a:p>
          <a:p>
            <a:pPr marL="114300" indent="0">
              <a:buNone/>
            </a:pPr>
            <a:r>
              <a:rPr lang="en-US" dirty="0">
                <a:sym typeface="Wingdings" pitchFamily="2" charset="2"/>
              </a:rPr>
              <a:t>Because “the” contributes the highest variance, LSA might capture the latent features as documents which contribute many ”the” versus documents which contribute fewer “the” which is semantically useless!</a:t>
            </a:r>
          </a:p>
        </p:txBody>
      </p:sp>
    </p:spTree>
    <p:extLst>
      <p:ext uri="{BB962C8B-B14F-4D97-AF65-F5344CB8AC3E}">
        <p14:creationId xmlns:p14="http://schemas.microsoft.com/office/powerpoint/2010/main" val="110847205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52D60-2CC4-C173-1475-D6FD0785F1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7E8C88-135A-F82C-0C61-A3380FA7202C}"/>
              </a:ext>
            </a:extLst>
          </p:cNvPr>
          <p:cNvSpPr>
            <a:spLocks noGrp="1"/>
          </p:cNvSpPr>
          <p:nvPr>
            <p:ph type="title"/>
          </p:nvPr>
        </p:nvSpPr>
        <p:spPr/>
        <p:txBody>
          <a:bodyPr>
            <a:normAutofit fontScale="90000"/>
          </a:bodyPr>
          <a:lstStyle/>
          <a:p>
            <a:r>
              <a:rPr lang="en-US" dirty="0"/>
              <a:t>Question: How do we handle frequent “useless” words?</a:t>
            </a:r>
          </a:p>
        </p:txBody>
      </p:sp>
      <p:sp>
        <p:nvSpPr>
          <p:cNvPr id="3" name="Text Placeholder 2">
            <a:extLst>
              <a:ext uri="{FF2B5EF4-FFF2-40B4-BE49-F238E27FC236}">
                <a16:creationId xmlns:a16="http://schemas.microsoft.com/office/drawing/2014/main" id="{8A568CC8-0D90-51F8-3603-2EB343424BCF}"/>
              </a:ext>
            </a:extLst>
          </p:cNvPr>
          <p:cNvSpPr>
            <a:spLocks noGrp="1"/>
          </p:cNvSpPr>
          <p:nvPr>
            <p:ph type="body" idx="1"/>
          </p:nvPr>
        </p:nvSpPr>
        <p:spPr/>
        <p:txBody>
          <a:bodyPr>
            <a:normAutofit/>
          </a:bodyPr>
          <a:lstStyle/>
          <a:p>
            <a:pPr marL="114300" indent="0">
              <a:buNone/>
            </a:pPr>
            <a:r>
              <a:rPr lang="en-US" dirty="0">
                <a:sym typeface="Wingdings" pitchFamily="2" charset="2"/>
              </a:rPr>
              <a:t>What if we can reduce the weight of words that occur in every document?</a:t>
            </a:r>
          </a:p>
        </p:txBody>
      </p:sp>
    </p:spTree>
    <p:extLst>
      <p:ext uri="{BB962C8B-B14F-4D97-AF65-F5344CB8AC3E}">
        <p14:creationId xmlns:p14="http://schemas.microsoft.com/office/powerpoint/2010/main" val="345810779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05871-ED38-FCAC-BE31-65D79C7F0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D71E72-5A43-0F8A-7ACB-98AA5A17314D}"/>
              </a:ext>
            </a:extLst>
          </p:cNvPr>
          <p:cNvSpPr>
            <a:spLocks noGrp="1"/>
          </p:cNvSpPr>
          <p:nvPr>
            <p:ph type="title"/>
          </p:nvPr>
        </p:nvSpPr>
        <p:spPr/>
        <p:txBody>
          <a:bodyPr>
            <a:normAutofit fontScale="90000"/>
          </a:bodyPr>
          <a:lstStyle/>
          <a:p>
            <a:r>
              <a:rPr lang="en-US" dirty="0"/>
              <a:t>Question: How do we handle frequent “useless” words?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A9AC51D-AC13-5C72-DA48-FF8F97DEA53B}"/>
                  </a:ext>
                </a:extLst>
              </p:cNvPr>
              <p:cNvSpPr>
                <a:spLocks noGrp="1"/>
              </p:cNvSpPr>
              <p:nvPr>
                <p:ph type="body" idx="1"/>
              </p:nvPr>
            </p:nvSpPr>
            <p:spPr/>
            <p:txBody>
              <a:bodyPr>
                <a:normAutofit/>
              </a:bodyPr>
              <a:lstStyle/>
              <a:p>
                <a:pPr marL="114300" indent="0">
                  <a:buNone/>
                </a:pPr>
                <a:r>
                  <a:rPr lang="en-US" dirty="0">
                    <a:sym typeface="Wingdings" pitchFamily="2" charset="2"/>
                  </a:rPr>
                  <a:t>What if we can reduce the weight of words that occur in every document?</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sym typeface="Wingdings" pitchFamily="2" charset="2"/>
                        </a:rPr>
                        <m:t>𝑇𝐹</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𝑡</m:t>
                          </m:r>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𝑑</m:t>
                          </m:r>
                        </m:e>
                      </m:d>
                      <m:r>
                        <a:rPr lang="en-US" b="0" i="1" smtClean="0">
                          <a:latin typeface="Cambria Math" panose="02040503050406030204" pitchFamily="18" charset="0"/>
                          <a:sym typeface="Wingdings" pitchFamily="2" charset="2"/>
                        </a:rPr>
                        <m:t>=</m:t>
                      </m:r>
                      <m:f>
                        <m:fPr>
                          <m:ctrlPr>
                            <a:rPr lang="en-US" b="0" i="1" smtClean="0">
                              <a:latin typeface="Cambria Math" panose="02040503050406030204" pitchFamily="18" charset="0"/>
                              <a:sym typeface="Wingdings" pitchFamily="2" charset="2"/>
                            </a:rPr>
                          </m:ctrlPr>
                        </m:fPr>
                        <m:num>
                          <m:r>
                            <m:rPr>
                              <m:nor/>
                            </m:rPr>
                            <a:rPr lang="en-US" b="0" i="0" smtClean="0">
                              <a:latin typeface="Cambria Math" panose="02040503050406030204" pitchFamily="18" charset="0"/>
                              <a:sym typeface="Wingdings" pitchFamily="2" charset="2"/>
                            </a:rPr>
                            <m:t>number</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of</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times</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t</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appears</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in</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d</m:t>
                          </m:r>
                        </m:num>
                        <m:den>
                          <m:r>
                            <m:rPr>
                              <m:nor/>
                            </m:rPr>
                            <a:rPr lang="en-US" b="0" i="0" smtClean="0">
                              <a:latin typeface="Cambria Math" panose="02040503050406030204" pitchFamily="18" charset="0"/>
                              <a:sym typeface="Wingdings" pitchFamily="2" charset="2"/>
                            </a:rPr>
                            <m:t>total</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number</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of</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unique</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terms</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in</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d</m:t>
                          </m:r>
                        </m:den>
                      </m:f>
                    </m:oMath>
                  </m:oMathPara>
                </a14:m>
                <a:endParaRPr lang="en-US" b="0" dirty="0">
                  <a:sym typeface="Wingdings" pitchFamily="2" charset="2"/>
                </a:endParaRPr>
              </a:p>
              <a:p>
                <a:pPr marL="114300" indent="0">
                  <a:buNone/>
                </a:pPr>
                <a:endParaRPr lang="en-US" b="0" dirty="0">
                  <a:sym typeface="Wingdings" pitchFamily="2" charset="2"/>
                </a:endParaRPr>
              </a:p>
              <a:p>
                <a:pPr marL="114300" indent="0">
                  <a:buNone/>
                </a:pPr>
                <a:endParaRPr lang="en-US" dirty="0">
                  <a:sym typeface="Wingdings" pitchFamily="2" charset="2"/>
                </a:endParaRPr>
              </a:p>
            </p:txBody>
          </p:sp>
        </mc:Choice>
        <mc:Fallback xmlns="">
          <p:sp>
            <p:nvSpPr>
              <p:cNvPr id="3" name="Text Placeholder 2">
                <a:extLst>
                  <a:ext uri="{FF2B5EF4-FFF2-40B4-BE49-F238E27FC236}">
                    <a16:creationId xmlns:a16="http://schemas.microsoft.com/office/drawing/2014/main" id="{2A9AC51D-AC13-5C72-DA48-FF8F97DEA53B}"/>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0582647-07C5-182F-02D6-7C5975CB3ED9}"/>
              </a:ext>
            </a:extLst>
          </p:cNvPr>
          <p:cNvSpPr txBox="1"/>
          <p:nvPr/>
        </p:nvSpPr>
        <p:spPr>
          <a:xfrm>
            <a:off x="2183907" y="1695635"/>
            <a:ext cx="4802819" cy="790113"/>
          </a:xfrm>
          <a:prstGeom prst="rect">
            <a:avLst/>
          </a:prstGeom>
          <a:noFill/>
          <a:ln>
            <a:solidFill>
              <a:schemeClr val="accent1"/>
            </a:solidFill>
          </a:ln>
        </p:spPr>
        <p:txBody>
          <a:bodyPr wrap="square" rtlCol="0">
            <a:spAutoFit/>
          </a:bodyPr>
          <a:lstStyle/>
          <a:p>
            <a:endParaRPr lang="en-US" dirty="0"/>
          </a:p>
        </p:txBody>
      </p:sp>
      <p:cxnSp>
        <p:nvCxnSpPr>
          <p:cNvPr id="6" name="Straight Arrow Connector 5">
            <a:extLst>
              <a:ext uri="{FF2B5EF4-FFF2-40B4-BE49-F238E27FC236}">
                <a16:creationId xmlns:a16="http://schemas.microsoft.com/office/drawing/2014/main" id="{F3C48989-0A41-A95A-7962-E57919A6132A}"/>
              </a:ext>
            </a:extLst>
          </p:cNvPr>
          <p:cNvCxnSpPr/>
          <p:nvPr/>
        </p:nvCxnSpPr>
        <p:spPr>
          <a:xfrm flipH="1" flipV="1">
            <a:off x="5752730" y="2571750"/>
            <a:ext cx="1855433" cy="6597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1305F23-4A26-2ECD-05F8-F8C448EA8EFB}"/>
              </a:ext>
            </a:extLst>
          </p:cNvPr>
          <p:cNvSpPr txBox="1"/>
          <p:nvPr/>
        </p:nvSpPr>
        <p:spPr>
          <a:xfrm>
            <a:off x="7608163" y="3077583"/>
            <a:ext cx="1429305" cy="523220"/>
          </a:xfrm>
          <a:prstGeom prst="rect">
            <a:avLst/>
          </a:prstGeom>
          <a:noFill/>
          <a:ln>
            <a:solidFill>
              <a:schemeClr val="accent1"/>
            </a:solidFill>
          </a:ln>
        </p:spPr>
        <p:txBody>
          <a:bodyPr wrap="square" rtlCol="0">
            <a:spAutoFit/>
          </a:bodyPr>
          <a:lstStyle/>
          <a:p>
            <a:pPr algn="ctr"/>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Term frequency</a:t>
            </a:r>
          </a:p>
        </p:txBody>
      </p:sp>
    </p:spTree>
    <p:extLst>
      <p:ext uri="{BB962C8B-B14F-4D97-AF65-F5344CB8AC3E}">
        <p14:creationId xmlns:p14="http://schemas.microsoft.com/office/powerpoint/2010/main" val="24558816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1A4DB-483C-A402-8286-75DC285A5C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B692A-8CA5-71E3-5C66-CBBA2FA2EBCE}"/>
              </a:ext>
            </a:extLst>
          </p:cNvPr>
          <p:cNvSpPr>
            <a:spLocks noGrp="1"/>
          </p:cNvSpPr>
          <p:nvPr>
            <p:ph type="title"/>
          </p:nvPr>
        </p:nvSpPr>
        <p:spPr/>
        <p:txBody>
          <a:bodyPr>
            <a:normAutofit fontScale="90000"/>
          </a:bodyPr>
          <a:lstStyle/>
          <a:p>
            <a:r>
              <a:rPr lang="en-US" dirty="0"/>
              <a:t>Question: How do we handle frequent “useless” words?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F19D2190-DB8C-3339-4CB5-BC0B55856F24}"/>
                  </a:ext>
                </a:extLst>
              </p:cNvPr>
              <p:cNvSpPr>
                <a:spLocks noGrp="1"/>
              </p:cNvSpPr>
              <p:nvPr>
                <p:ph type="body" idx="1"/>
              </p:nvPr>
            </p:nvSpPr>
            <p:spPr>
              <a:xfrm>
                <a:off x="311700" y="1266325"/>
                <a:ext cx="8520600" cy="3302700"/>
              </a:xfrm>
            </p:spPr>
            <p:txBody>
              <a:bodyPr>
                <a:normAutofit/>
              </a:bodyPr>
              <a:lstStyle/>
              <a:p>
                <a:pPr marL="114300" indent="0">
                  <a:buNone/>
                </a:pPr>
                <a:r>
                  <a:rPr lang="en-US" dirty="0">
                    <a:sym typeface="Wingdings" pitchFamily="2" charset="2"/>
                  </a:rPr>
                  <a:t>What if we can reduce the weight of words that occur in every document?</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sym typeface="Wingdings" pitchFamily="2" charset="2"/>
                        </a:rPr>
                        <m:t>𝑇𝐹</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𝑡</m:t>
                          </m:r>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𝑑</m:t>
                          </m:r>
                        </m:e>
                      </m:d>
                      <m:r>
                        <a:rPr lang="en-US" b="0" i="1" smtClean="0">
                          <a:latin typeface="Cambria Math" panose="02040503050406030204" pitchFamily="18" charset="0"/>
                          <a:sym typeface="Wingdings" pitchFamily="2" charset="2"/>
                        </a:rPr>
                        <m:t>=</m:t>
                      </m:r>
                      <m:f>
                        <m:fPr>
                          <m:ctrlPr>
                            <a:rPr lang="en-US" b="0" i="1" smtClean="0">
                              <a:latin typeface="Cambria Math" panose="02040503050406030204" pitchFamily="18" charset="0"/>
                              <a:sym typeface="Wingdings" pitchFamily="2" charset="2"/>
                            </a:rPr>
                          </m:ctrlPr>
                        </m:fPr>
                        <m:num>
                          <m:r>
                            <m:rPr>
                              <m:nor/>
                            </m:rPr>
                            <a:rPr lang="en-US" b="0" i="0" smtClean="0">
                              <a:latin typeface="Cambria Math" panose="02040503050406030204" pitchFamily="18" charset="0"/>
                              <a:sym typeface="Wingdings" pitchFamily="2" charset="2"/>
                            </a:rPr>
                            <m:t>number</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of</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times</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t</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appears</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in</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d</m:t>
                          </m:r>
                        </m:num>
                        <m:den>
                          <m:r>
                            <m:rPr>
                              <m:nor/>
                            </m:rPr>
                            <a:rPr lang="en-US" b="0" i="0" smtClean="0">
                              <a:latin typeface="Cambria Math" panose="02040503050406030204" pitchFamily="18" charset="0"/>
                              <a:sym typeface="Wingdings" pitchFamily="2" charset="2"/>
                            </a:rPr>
                            <m:t>total</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number</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of</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unique</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terms</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in</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d</m:t>
                          </m:r>
                        </m:den>
                      </m:f>
                    </m:oMath>
                  </m:oMathPara>
                </a14:m>
                <a:endParaRPr lang="en-US" b="0" dirty="0">
                  <a:sym typeface="Wingdings" pitchFamily="2" charset="2"/>
                </a:endParaRPr>
              </a:p>
              <a:p>
                <a:pPr marL="114300" indent="0">
                  <a:buNone/>
                </a:pPr>
                <a:endParaRPr lang="en-US" dirty="0">
                  <a:sym typeface="Wingdings" pitchFamily="2" charset="2"/>
                </a:endParaRP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sym typeface="Wingdings" pitchFamily="2" charset="2"/>
                        </a:rPr>
                        <m:t>𝐼𝐷𝐹</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𝑡</m:t>
                          </m:r>
                        </m:e>
                      </m:d>
                      <m:r>
                        <a:rPr lang="en-US" b="0" i="1" smtClean="0">
                          <a:latin typeface="Cambria Math" panose="02040503050406030204" pitchFamily="18" charset="0"/>
                          <a:sym typeface="Wingdings" pitchFamily="2" charset="2"/>
                        </a:rPr>
                        <m:t>=</m:t>
                      </m:r>
                      <m:func>
                        <m:funcPr>
                          <m:ctrlPr>
                            <a:rPr lang="en-US" b="0" i="1" smtClean="0">
                              <a:latin typeface="Cambria Math" panose="02040503050406030204" pitchFamily="18" charset="0"/>
                              <a:sym typeface="Wingdings" pitchFamily="2" charset="2"/>
                            </a:rPr>
                          </m:ctrlPr>
                        </m:funcPr>
                        <m:fName>
                          <m:r>
                            <m:rPr>
                              <m:sty m:val="p"/>
                            </m:rPr>
                            <a:rPr lang="en-US" b="0" i="0" smtClean="0">
                              <a:latin typeface="Cambria Math" panose="02040503050406030204" pitchFamily="18" charset="0"/>
                              <a:sym typeface="Wingdings" pitchFamily="2" charset="2"/>
                            </a:rPr>
                            <m:t>log</m:t>
                          </m:r>
                        </m:fName>
                        <m:e>
                          <m:d>
                            <m:dPr>
                              <m:ctrlPr>
                                <a:rPr lang="en-US" b="0" i="1" smtClean="0">
                                  <a:latin typeface="Cambria Math" panose="02040503050406030204" pitchFamily="18" charset="0"/>
                                  <a:sym typeface="Wingdings" pitchFamily="2" charset="2"/>
                                </a:rPr>
                              </m:ctrlPr>
                            </m:dPr>
                            <m:e>
                              <m:f>
                                <m:fPr>
                                  <m:ctrlPr>
                                    <a:rPr lang="en-US" b="0" i="1" smtClean="0">
                                      <a:latin typeface="Cambria Math" panose="02040503050406030204" pitchFamily="18" charset="0"/>
                                      <a:sym typeface="Wingdings" pitchFamily="2" charset="2"/>
                                    </a:rPr>
                                  </m:ctrlPr>
                                </m:fPr>
                                <m:num>
                                  <m:r>
                                    <a:rPr lang="en-US" b="0" i="1" smtClean="0">
                                      <a:latin typeface="Cambria Math" panose="02040503050406030204" pitchFamily="18" charset="0"/>
                                      <a:sym typeface="Wingdings" pitchFamily="2" charset="2"/>
                                    </a:rPr>
                                    <m:t>𝑁</m:t>
                                  </m:r>
                                </m:num>
                                <m:den>
                                  <m:r>
                                    <a:rPr lang="en-US" b="0" i="1" smtClean="0">
                                      <a:latin typeface="Cambria Math" panose="02040503050406030204" pitchFamily="18" charset="0"/>
                                      <a:sym typeface="Wingdings" pitchFamily="2" charset="2"/>
                                    </a:rPr>
                                    <m:t>𝑑</m:t>
                                  </m:r>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𝑓</m:t>
                                      </m:r>
                                    </m:e>
                                    <m:sub>
                                      <m:r>
                                        <a:rPr lang="en-US" b="0" i="1" smtClean="0">
                                          <a:latin typeface="Cambria Math" panose="02040503050406030204" pitchFamily="18" charset="0"/>
                                          <a:sym typeface="Wingdings" pitchFamily="2" charset="2"/>
                                        </a:rPr>
                                        <m:t>𝑡</m:t>
                                      </m:r>
                                    </m:sub>
                                  </m:sSub>
                                </m:den>
                              </m:f>
                            </m:e>
                          </m:d>
                        </m:e>
                      </m:func>
                    </m:oMath>
                  </m:oMathPara>
                </a14:m>
                <a:endParaRPr lang="en-US" b="0" dirty="0">
                  <a:sym typeface="Wingdings" pitchFamily="2" charset="2"/>
                </a:endParaRPr>
              </a:p>
              <a:p>
                <a:pPr marL="114300" indent="0">
                  <a:buNone/>
                </a:pPr>
                <a:endParaRPr lang="en-US" b="0" dirty="0">
                  <a:sym typeface="Wingdings" pitchFamily="2" charset="2"/>
                </a:endParaRPr>
              </a:p>
              <a:p>
                <a:pPr marL="114300" indent="0">
                  <a:buNone/>
                </a:pPr>
                <a:endParaRPr lang="en-US" b="0" dirty="0">
                  <a:sym typeface="Wingdings" pitchFamily="2" charset="2"/>
                </a:endParaRPr>
              </a:p>
              <a:p>
                <a:pPr marL="114300" indent="0">
                  <a:buNone/>
                </a:pPr>
                <a:endParaRPr lang="en-US" dirty="0">
                  <a:sym typeface="Wingdings" pitchFamily="2" charset="2"/>
                </a:endParaRPr>
              </a:p>
            </p:txBody>
          </p:sp>
        </mc:Choice>
        <mc:Fallback xmlns="">
          <p:sp>
            <p:nvSpPr>
              <p:cNvPr id="3" name="Text Placeholder 2">
                <a:extLst>
                  <a:ext uri="{FF2B5EF4-FFF2-40B4-BE49-F238E27FC236}">
                    <a16:creationId xmlns:a16="http://schemas.microsoft.com/office/drawing/2014/main" id="{F19D2190-DB8C-3339-4CB5-BC0B55856F24}"/>
                  </a:ext>
                </a:extLst>
              </p:cNvPr>
              <p:cNvSpPr>
                <a:spLocks noGrp="1" noRot="1" noChangeAspect="1" noMove="1" noResize="1" noEditPoints="1" noAdjustHandles="1" noChangeArrowheads="1" noChangeShapeType="1" noTextEdit="1"/>
              </p:cNvSpPr>
              <p:nvPr>
                <p:ph type="body" idx="1"/>
              </p:nvPr>
            </p:nvSpPr>
            <p:spPr>
              <a:xfrm>
                <a:off x="311700" y="1266325"/>
                <a:ext cx="8520600" cy="3302700"/>
              </a:xfrm>
              <a:blipFill>
                <a:blip r:embed="rId2"/>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F6EEF8E1-F44F-2C8A-DFEA-8112D79E4C3A}"/>
              </a:ext>
            </a:extLst>
          </p:cNvPr>
          <p:cNvSpPr txBox="1"/>
          <p:nvPr/>
        </p:nvSpPr>
        <p:spPr>
          <a:xfrm>
            <a:off x="3284738" y="2663857"/>
            <a:ext cx="2809782" cy="790113"/>
          </a:xfrm>
          <a:prstGeom prst="rect">
            <a:avLst/>
          </a:prstGeom>
          <a:noFill/>
          <a:ln>
            <a:solidFill>
              <a:schemeClr val="accent1"/>
            </a:solidFill>
          </a:ln>
        </p:spPr>
        <p:txBody>
          <a:bodyPr wrap="square" rtlCol="0">
            <a:spAutoFit/>
          </a:bodyPr>
          <a:lstStyle/>
          <a:p>
            <a:endParaRPr lang="en-US" dirty="0"/>
          </a:p>
        </p:txBody>
      </p:sp>
      <p:cxnSp>
        <p:nvCxnSpPr>
          <p:cNvPr id="8" name="Straight Arrow Connector 7">
            <a:extLst>
              <a:ext uri="{FF2B5EF4-FFF2-40B4-BE49-F238E27FC236}">
                <a16:creationId xmlns:a16="http://schemas.microsoft.com/office/drawing/2014/main" id="{9D6A00FD-B062-2BAA-E6E0-9F9DD2DF8721}"/>
              </a:ext>
            </a:extLst>
          </p:cNvPr>
          <p:cNvCxnSpPr>
            <a:cxnSpLocks/>
          </p:cNvCxnSpPr>
          <p:nvPr/>
        </p:nvCxnSpPr>
        <p:spPr>
          <a:xfrm flipH="1">
            <a:off x="5246703" y="2734322"/>
            <a:ext cx="1502054" cy="62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7541C7F-4B9B-D036-BD37-FB43E8161CAC}"/>
              </a:ext>
            </a:extLst>
          </p:cNvPr>
          <p:cNvSpPr txBox="1"/>
          <p:nvPr/>
        </p:nvSpPr>
        <p:spPr>
          <a:xfrm>
            <a:off x="6748757" y="2535693"/>
            <a:ext cx="1429305" cy="523220"/>
          </a:xfrm>
          <a:prstGeom prst="rect">
            <a:avLst/>
          </a:prstGeom>
          <a:noFill/>
          <a:ln>
            <a:solidFill>
              <a:schemeClr val="accent1"/>
            </a:solidFill>
          </a:ln>
        </p:spPr>
        <p:txBody>
          <a:bodyPr wrap="square" rtlCol="0">
            <a:spAutoFit/>
          </a:bodyPr>
          <a:lstStyle/>
          <a:p>
            <a:pPr algn="ctr"/>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Total number of documents</a:t>
            </a:r>
          </a:p>
        </p:txBody>
      </p:sp>
    </p:spTree>
    <p:extLst>
      <p:ext uri="{BB962C8B-B14F-4D97-AF65-F5344CB8AC3E}">
        <p14:creationId xmlns:p14="http://schemas.microsoft.com/office/powerpoint/2010/main" val="37401539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CCEE0-2324-8231-DFEF-426292A791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29BD81-53A8-9558-BA8C-D6144AE6D054}"/>
              </a:ext>
            </a:extLst>
          </p:cNvPr>
          <p:cNvSpPr>
            <a:spLocks noGrp="1"/>
          </p:cNvSpPr>
          <p:nvPr>
            <p:ph type="title"/>
          </p:nvPr>
        </p:nvSpPr>
        <p:spPr/>
        <p:txBody>
          <a:bodyPr>
            <a:normAutofit fontScale="90000"/>
          </a:bodyPr>
          <a:lstStyle/>
          <a:p>
            <a:r>
              <a:rPr lang="en-US" dirty="0"/>
              <a:t>Question: How do we handle frequent “useless” words?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571D6A4-27C9-D630-B184-9FBA88FEFAF5}"/>
                  </a:ext>
                </a:extLst>
              </p:cNvPr>
              <p:cNvSpPr>
                <a:spLocks noGrp="1"/>
              </p:cNvSpPr>
              <p:nvPr>
                <p:ph type="body" idx="1"/>
              </p:nvPr>
            </p:nvSpPr>
            <p:spPr/>
            <p:txBody>
              <a:bodyPr>
                <a:normAutofit/>
              </a:bodyPr>
              <a:lstStyle/>
              <a:p>
                <a:pPr marL="114300" indent="0">
                  <a:buNone/>
                </a:pPr>
                <a:r>
                  <a:rPr lang="en-US" dirty="0">
                    <a:sym typeface="Wingdings" pitchFamily="2" charset="2"/>
                  </a:rPr>
                  <a:t>What if we can reduce the weight of words that occur in every document?</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sym typeface="Wingdings" pitchFamily="2" charset="2"/>
                        </a:rPr>
                        <m:t>𝑇𝐹</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𝑡</m:t>
                          </m:r>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𝑑</m:t>
                          </m:r>
                        </m:e>
                      </m:d>
                      <m:r>
                        <a:rPr lang="en-US" b="0" i="1" smtClean="0">
                          <a:latin typeface="Cambria Math" panose="02040503050406030204" pitchFamily="18" charset="0"/>
                          <a:sym typeface="Wingdings" pitchFamily="2" charset="2"/>
                        </a:rPr>
                        <m:t>=</m:t>
                      </m:r>
                      <m:f>
                        <m:fPr>
                          <m:ctrlPr>
                            <a:rPr lang="en-US" b="0" i="1" smtClean="0">
                              <a:latin typeface="Cambria Math" panose="02040503050406030204" pitchFamily="18" charset="0"/>
                              <a:sym typeface="Wingdings" pitchFamily="2" charset="2"/>
                            </a:rPr>
                          </m:ctrlPr>
                        </m:fPr>
                        <m:num>
                          <m:r>
                            <m:rPr>
                              <m:nor/>
                            </m:rPr>
                            <a:rPr lang="en-US" b="0" i="0" smtClean="0">
                              <a:latin typeface="Cambria Math" panose="02040503050406030204" pitchFamily="18" charset="0"/>
                              <a:sym typeface="Wingdings" pitchFamily="2" charset="2"/>
                            </a:rPr>
                            <m:t>number</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of</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times</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t</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appears</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in</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d</m:t>
                          </m:r>
                        </m:num>
                        <m:den>
                          <m:r>
                            <m:rPr>
                              <m:nor/>
                            </m:rPr>
                            <a:rPr lang="en-US" b="0" i="0" smtClean="0">
                              <a:latin typeface="Cambria Math" panose="02040503050406030204" pitchFamily="18" charset="0"/>
                              <a:sym typeface="Wingdings" pitchFamily="2" charset="2"/>
                            </a:rPr>
                            <m:t>total</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number</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of</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unique</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terms</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in</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d</m:t>
                          </m:r>
                        </m:den>
                      </m:f>
                    </m:oMath>
                  </m:oMathPara>
                </a14:m>
                <a:endParaRPr lang="en-US" b="0" dirty="0">
                  <a:sym typeface="Wingdings" pitchFamily="2" charset="2"/>
                </a:endParaRPr>
              </a:p>
              <a:p>
                <a:pPr marL="114300" indent="0">
                  <a:buNone/>
                </a:pPr>
                <a:endParaRPr lang="en-US" dirty="0">
                  <a:sym typeface="Wingdings" pitchFamily="2" charset="2"/>
                </a:endParaRP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sym typeface="Wingdings" pitchFamily="2" charset="2"/>
                        </a:rPr>
                        <m:t>𝐼𝐷𝐹</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𝑡</m:t>
                          </m:r>
                        </m:e>
                      </m:d>
                      <m:r>
                        <a:rPr lang="en-US" b="0" i="1" smtClean="0">
                          <a:latin typeface="Cambria Math" panose="02040503050406030204" pitchFamily="18" charset="0"/>
                          <a:sym typeface="Wingdings" pitchFamily="2" charset="2"/>
                        </a:rPr>
                        <m:t>=</m:t>
                      </m:r>
                      <m:func>
                        <m:funcPr>
                          <m:ctrlPr>
                            <a:rPr lang="en-US" b="0" i="1" smtClean="0">
                              <a:latin typeface="Cambria Math" panose="02040503050406030204" pitchFamily="18" charset="0"/>
                              <a:sym typeface="Wingdings" pitchFamily="2" charset="2"/>
                            </a:rPr>
                          </m:ctrlPr>
                        </m:funcPr>
                        <m:fName>
                          <m:r>
                            <m:rPr>
                              <m:sty m:val="p"/>
                            </m:rPr>
                            <a:rPr lang="en-US" b="0" i="0" smtClean="0">
                              <a:latin typeface="Cambria Math" panose="02040503050406030204" pitchFamily="18" charset="0"/>
                              <a:sym typeface="Wingdings" pitchFamily="2" charset="2"/>
                            </a:rPr>
                            <m:t>log</m:t>
                          </m:r>
                        </m:fName>
                        <m:e>
                          <m:d>
                            <m:dPr>
                              <m:ctrlPr>
                                <a:rPr lang="en-US" b="0" i="1" smtClean="0">
                                  <a:latin typeface="Cambria Math" panose="02040503050406030204" pitchFamily="18" charset="0"/>
                                  <a:sym typeface="Wingdings" pitchFamily="2" charset="2"/>
                                </a:rPr>
                              </m:ctrlPr>
                            </m:dPr>
                            <m:e>
                              <m:f>
                                <m:fPr>
                                  <m:ctrlPr>
                                    <a:rPr lang="en-US" b="0" i="1" smtClean="0">
                                      <a:latin typeface="Cambria Math" panose="02040503050406030204" pitchFamily="18" charset="0"/>
                                      <a:sym typeface="Wingdings" pitchFamily="2" charset="2"/>
                                    </a:rPr>
                                  </m:ctrlPr>
                                </m:fPr>
                                <m:num>
                                  <m:r>
                                    <a:rPr lang="en-US" b="0" i="1" smtClean="0">
                                      <a:latin typeface="Cambria Math" panose="02040503050406030204" pitchFamily="18" charset="0"/>
                                      <a:sym typeface="Wingdings" pitchFamily="2" charset="2"/>
                                    </a:rPr>
                                    <m:t>𝑁</m:t>
                                  </m:r>
                                </m:num>
                                <m:den>
                                  <m:r>
                                    <a:rPr lang="en-US" b="0" i="1" smtClean="0">
                                      <a:latin typeface="Cambria Math" panose="02040503050406030204" pitchFamily="18" charset="0"/>
                                      <a:sym typeface="Wingdings" pitchFamily="2" charset="2"/>
                                    </a:rPr>
                                    <m:t>𝑑</m:t>
                                  </m:r>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𝑓</m:t>
                                      </m:r>
                                    </m:e>
                                    <m:sub>
                                      <m:r>
                                        <a:rPr lang="en-US" b="0" i="1" smtClean="0">
                                          <a:latin typeface="Cambria Math" panose="02040503050406030204" pitchFamily="18" charset="0"/>
                                          <a:sym typeface="Wingdings" pitchFamily="2" charset="2"/>
                                        </a:rPr>
                                        <m:t>𝑡</m:t>
                                      </m:r>
                                    </m:sub>
                                  </m:sSub>
                                </m:den>
                              </m:f>
                            </m:e>
                          </m:d>
                        </m:e>
                      </m:func>
                    </m:oMath>
                  </m:oMathPara>
                </a14:m>
                <a:endParaRPr lang="en-US" b="0" dirty="0">
                  <a:sym typeface="Wingdings" pitchFamily="2" charset="2"/>
                </a:endParaRPr>
              </a:p>
              <a:p>
                <a:pPr marL="114300" indent="0">
                  <a:buNone/>
                </a:pPr>
                <a:endParaRPr lang="en-US" b="0" dirty="0">
                  <a:sym typeface="Wingdings" pitchFamily="2" charset="2"/>
                </a:endParaRPr>
              </a:p>
              <a:p>
                <a:pPr marL="114300" indent="0">
                  <a:buNone/>
                </a:pPr>
                <a:endParaRPr lang="en-US" b="0" dirty="0">
                  <a:sym typeface="Wingdings" pitchFamily="2" charset="2"/>
                </a:endParaRPr>
              </a:p>
              <a:p>
                <a:pPr marL="114300" indent="0">
                  <a:buNone/>
                </a:pPr>
                <a:endParaRPr lang="en-US" dirty="0">
                  <a:sym typeface="Wingdings" pitchFamily="2" charset="2"/>
                </a:endParaRPr>
              </a:p>
            </p:txBody>
          </p:sp>
        </mc:Choice>
        <mc:Fallback xmlns="">
          <p:sp>
            <p:nvSpPr>
              <p:cNvPr id="3" name="Text Placeholder 2">
                <a:extLst>
                  <a:ext uri="{FF2B5EF4-FFF2-40B4-BE49-F238E27FC236}">
                    <a16:creationId xmlns:a16="http://schemas.microsoft.com/office/drawing/2014/main" id="{8571D6A4-27C9-D630-B184-9FBA88FEFAF5}"/>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1626EDDB-38B0-FF6F-E3DB-265F0CE2C572}"/>
              </a:ext>
            </a:extLst>
          </p:cNvPr>
          <p:cNvCxnSpPr>
            <a:cxnSpLocks/>
          </p:cNvCxnSpPr>
          <p:nvPr/>
        </p:nvCxnSpPr>
        <p:spPr>
          <a:xfrm flipH="1">
            <a:off x="5246703" y="2734322"/>
            <a:ext cx="1502054" cy="62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49D90DF-E895-5B98-B52E-C4AE7B3EBAEE}"/>
              </a:ext>
            </a:extLst>
          </p:cNvPr>
          <p:cNvSpPr txBox="1"/>
          <p:nvPr/>
        </p:nvSpPr>
        <p:spPr>
          <a:xfrm>
            <a:off x="6748757" y="2535693"/>
            <a:ext cx="1818194" cy="523220"/>
          </a:xfrm>
          <a:prstGeom prst="rect">
            <a:avLst/>
          </a:prstGeom>
          <a:noFill/>
          <a:ln>
            <a:solidFill>
              <a:schemeClr val="accent1"/>
            </a:solidFill>
          </a:ln>
        </p:spPr>
        <p:txBody>
          <a:bodyPr wrap="square" rtlCol="0">
            <a:spAutoFit/>
          </a:bodyPr>
          <a:lstStyle/>
          <a:p>
            <a:pPr algn="ctr"/>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Total number of documents</a:t>
            </a:r>
          </a:p>
        </p:txBody>
      </p:sp>
      <p:cxnSp>
        <p:nvCxnSpPr>
          <p:cNvPr id="4" name="Straight Arrow Connector 3">
            <a:extLst>
              <a:ext uri="{FF2B5EF4-FFF2-40B4-BE49-F238E27FC236}">
                <a16:creationId xmlns:a16="http://schemas.microsoft.com/office/drawing/2014/main" id="{6459CFB6-2C4E-F6A8-09C0-D430727DBD0B}"/>
              </a:ext>
            </a:extLst>
          </p:cNvPr>
          <p:cNvCxnSpPr>
            <a:cxnSpLocks/>
          </p:cNvCxnSpPr>
          <p:nvPr/>
        </p:nvCxnSpPr>
        <p:spPr>
          <a:xfrm flipH="1" flipV="1">
            <a:off x="5353235" y="3172813"/>
            <a:ext cx="1395522" cy="479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8BF21F-557C-8516-D0F6-9201E9F57E01}"/>
                  </a:ext>
                </a:extLst>
              </p:cNvPr>
              <p:cNvSpPr txBox="1"/>
              <p:nvPr/>
            </p:nvSpPr>
            <p:spPr>
              <a:xfrm>
                <a:off x="6748757" y="3453970"/>
                <a:ext cx="1818194" cy="738664"/>
              </a:xfrm>
              <a:prstGeom prst="rect">
                <a:avLst/>
              </a:prstGeom>
              <a:noFill/>
              <a:ln>
                <a:solidFill>
                  <a:schemeClr val="accent1"/>
                </a:solidFill>
              </a:ln>
            </p:spPr>
            <p:txBody>
              <a:bodyPr wrap="square" rtlCol="0">
                <a:spAutoFit/>
              </a:bodyPr>
              <a:lstStyle/>
              <a:p>
                <a:pPr algn="ctr"/>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Number of documents containing term </a:t>
                </a:r>
                <a14:m>
                  <m:oMath xmlns:m="http://schemas.openxmlformats.org/officeDocument/2006/math">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𝑡</m:t>
                    </m:r>
                  </m:oMath>
                </a14:m>
                <a:endParaRPr lang="en-US"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7C8BF21F-557C-8516-D0F6-9201E9F57E01}"/>
                  </a:ext>
                </a:extLst>
              </p:cNvPr>
              <p:cNvSpPr txBox="1">
                <a:spLocks noRot="1" noChangeAspect="1" noMove="1" noResize="1" noEditPoints="1" noAdjustHandles="1" noChangeArrowheads="1" noChangeShapeType="1" noTextEdit="1"/>
              </p:cNvSpPr>
              <p:nvPr/>
            </p:nvSpPr>
            <p:spPr>
              <a:xfrm>
                <a:off x="6748757" y="3453970"/>
                <a:ext cx="1818194" cy="738664"/>
              </a:xfrm>
              <a:prstGeom prst="rect">
                <a:avLst/>
              </a:prstGeom>
              <a:blipFill>
                <a:blip r:embed="rId4"/>
                <a:stretch>
                  <a:fillRect b="-8333"/>
                </a:stretch>
              </a:blipFill>
              <a:ln>
                <a:solidFill>
                  <a:schemeClr val="accent1"/>
                </a:solidFill>
              </a:ln>
            </p:spPr>
            <p:txBody>
              <a:bodyPr/>
              <a:lstStyle/>
              <a:p>
                <a:r>
                  <a:rPr lang="en-US">
                    <a:noFill/>
                  </a:rPr>
                  <a:t> </a:t>
                </a:r>
              </a:p>
            </p:txBody>
          </p:sp>
        </mc:Fallback>
      </mc:AlternateContent>
      <p:sp>
        <p:nvSpPr>
          <p:cNvPr id="10" name="TextBox 9">
            <a:extLst>
              <a:ext uri="{FF2B5EF4-FFF2-40B4-BE49-F238E27FC236}">
                <a16:creationId xmlns:a16="http://schemas.microsoft.com/office/drawing/2014/main" id="{F5AD70B9-F5D7-F428-56B3-E725B102150A}"/>
              </a:ext>
            </a:extLst>
          </p:cNvPr>
          <p:cNvSpPr txBox="1"/>
          <p:nvPr/>
        </p:nvSpPr>
        <p:spPr>
          <a:xfrm>
            <a:off x="3284738" y="2663857"/>
            <a:ext cx="2809782" cy="790113"/>
          </a:xfrm>
          <a:prstGeom prst="rect">
            <a:avLst/>
          </a:prstGeom>
          <a:noFill/>
          <a:ln>
            <a:solidFill>
              <a:schemeClr val="accent1"/>
            </a:solidFill>
          </a:ln>
        </p:spPr>
        <p:txBody>
          <a:bodyPr wrap="square" rtlCol="0">
            <a:spAutoFit/>
          </a:bodyPr>
          <a:lstStyle/>
          <a:p>
            <a:endParaRPr lang="en-US" dirty="0"/>
          </a:p>
        </p:txBody>
      </p:sp>
    </p:spTree>
    <p:extLst>
      <p:ext uri="{BB962C8B-B14F-4D97-AF65-F5344CB8AC3E}">
        <p14:creationId xmlns:p14="http://schemas.microsoft.com/office/powerpoint/2010/main" val="176050391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899BF-B79F-9603-196D-1A0F0DA514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E1D5F6-F80A-5508-17EA-20F5444F3671}"/>
              </a:ext>
            </a:extLst>
          </p:cNvPr>
          <p:cNvSpPr>
            <a:spLocks noGrp="1"/>
          </p:cNvSpPr>
          <p:nvPr>
            <p:ph type="title"/>
          </p:nvPr>
        </p:nvSpPr>
        <p:spPr/>
        <p:txBody>
          <a:bodyPr>
            <a:normAutofit fontScale="90000"/>
          </a:bodyPr>
          <a:lstStyle/>
          <a:p>
            <a:r>
              <a:rPr lang="en-US" dirty="0"/>
              <a:t>Question: How do we handle frequent “useless” words?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D6D5122-55C4-1000-439E-B045F791A369}"/>
                  </a:ext>
                </a:extLst>
              </p:cNvPr>
              <p:cNvSpPr>
                <a:spLocks noGrp="1"/>
              </p:cNvSpPr>
              <p:nvPr>
                <p:ph type="body" idx="1"/>
              </p:nvPr>
            </p:nvSpPr>
            <p:spPr/>
            <p:txBody>
              <a:bodyPr>
                <a:normAutofit/>
              </a:bodyPr>
              <a:lstStyle/>
              <a:p>
                <a:pPr marL="114300" indent="0">
                  <a:buNone/>
                </a:pPr>
                <a:r>
                  <a:rPr lang="en-US" dirty="0">
                    <a:sym typeface="Wingdings" pitchFamily="2" charset="2"/>
                  </a:rPr>
                  <a:t>What if we can reduce the weight of words that occur in every document?</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sym typeface="Wingdings" pitchFamily="2" charset="2"/>
                        </a:rPr>
                        <m:t>𝑇𝐹</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𝑡</m:t>
                          </m:r>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𝑑</m:t>
                          </m:r>
                        </m:e>
                      </m:d>
                      <m:r>
                        <a:rPr lang="en-US" b="0" i="1" smtClean="0">
                          <a:latin typeface="Cambria Math" panose="02040503050406030204" pitchFamily="18" charset="0"/>
                          <a:sym typeface="Wingdings" pitchFamily="2" charset="2"/>
                        </a:rPr>
                        <m:t>=</m:t>
                      </m:r>
                      <m:f>
                        <m:fPr>
                          <m:ctrlPr>
                            <a:rPr lang="en-US" b="0" i="1" smtClean="0">
                              <a:latin typeface="Cambria Math" panose="02040503050406030204" pitchFamily="18" charset="0"/>
                              <a:sym typeface="Wingdings" pitchFamily="2" charset="2"/>
                            </a:rPr>
                          </m:ctrlPr>
                        </m:fPr>
                        <m:num>
                          <m:r>
                            <m:rPr>
                              <m:nor/>
                            </m:rPr>
                            <a:rPr lang="en-US" b="0" i="0" smtClean="0">
                              <a:latin typeface="Cambria Math" panose="02040503050406030204" pitchFamily="18" charset="0"/>
                              <a:sym typeface="Wingdings" pitchFamily="2" charset="2"/>
                            </a:rPr>
                            <m:t>number</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of</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times</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t</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appears</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in</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d</m:t>
                          </m:r>
                        </m:num>
                        <m:den>
                          <m:r>
                            <m:rPr>
                              <m:nor/>
                            </m:rPr>
                            <a:rPr lang="en-US" b="0" i="0" smtClean="0">
                              <a:latin typeface="Cambria Math" panose="02040503050406030204" pitchFamily="18" charset="0"/>
                              <a:sym typeface="Wingdings" pitchFamily="2" charset="2"/>
                            </a:rPr>
                            <m:t>total</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number</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of</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unique</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terms</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in</m:t>
                          </m:r>
                          <m:r>
                            <m:rPr>
                              <m:nor/>
                            </m:rPr>
                            <a:rPr lang="en-US" b="0" i="0" smtClean="0">
                              <a:latin typeface="Cambria Math" panose="02040503050406030204" pitchFamily="18" charset="0"/>
                              <a:sym typeface="Wingdings" pitchFamily="2" charset="2"/>
                            </a:rPr>
                            <m:t> </m:t>
                          </m:r>
                          <m:r>
                            <m:rPr>
                              <m:nor/>
                            </m:rPr>
                            <a:rPr lang="en-US" b="0" i="0" smtClean="0">
                              <a:latin typeface="Cambria Math" panose="02040503050406030204" pitchFamily="18" charset="0"/>
                              <a:sym typeface="Wingdings" pitchFamily="2" charset="2"/>
                            </a:rPr>
                            <m:t>d</m:t>
                          </m:r>
                        </m:den>
                      </m:f>
                    </m:oMath>
                  </m:oMathPara>
                </a14:m>
                <a:endParaRPr lang="en-US" b="0" dirty="0">
                  <a:sym typeface="Wingdings" pitchFamily="2" charset="2"/>
                </a:endParaRPr>
              </a:p>
              <a:p>
                <a:pPr marL="114300" indent="0">
                  <a:buNone/>
                </a:pPr>
                <a:endParaRPr lang="en-US" dirty="0">
                  <a:sym typeface="Wingdings" pitchFamily="2" charset="2"/>
                </a:endParaRP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sym typeface="Wingdings" pitchFamily="2" charset="2"/>
                        </a:rPr>
                        <m:t>𝐼𝐷𝐹</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𝑡</m:t>
                          </m:r>
                        </m:e>
                      </m:d>
                      <m:r>
                        <a:rPr lang="en-US" b="0" i="1" smtClean="0">
                          <a:latin typeface="Cambria Math" panose="02040503050406030204" pitchFamily="18" charset="0"/>
                          <a:sym typeface="Wingdings" pitchFamily="2" charset="2"/>
                        </a:rPr>
                        <m:t>=</m:t>
                      </m:r>
                      <m:func>
                        <m:funcPr>
                          <m:ctrlPr>
                            <a:rPr lang="en-US" b="0" i="1" smtClean="0">
                              <a:latin typeface="Cambria Math" panose="02040503050406030204" pitchFamily="18" charset="0"/>
                              <a:sym typeface="Wingdings" pitchFamily="2" charset="2"/>
                            </a:rPr>
                          </m:ctrlPr>
                        </m:funcPr>
                        <m:fName>
                          <m:r>
                            <m:rPr>
                              <m:sty m:val="p"/>
                            </m:rPr>
                            <a:rPr lang="en-US" b="0" i="0" smtClean="0">
                              <a:latin typeface="Cambria Math" panose="02040503050406030204" pitchFamily="18" charset="0"/>
                              <a:sym typeface="Wingdings" pitchFamily="2" charset="2"/>
                            </a:rPr>
                            <m:t>log</m:t>
                          </m:r>
                        </m:fName>
                        <m:e>
                          <m:d>
                            <m:dPr>
                              <m:ctrlPr>
                                <a:rPr lang="en-US" b="0" i="1" smtClean="0">
                                  <a:latin typeface="Cambria Math" panose="02040503050406030204" pitchFamily="18" charset="0"/>
                                  <a:sym typeface="Wingdings" pitchFamily="2" charset="2"/>
                                </a:rPr>
                              </m:ctrlPr>
                            </m:dPr>
                            <m:e>
                              <m:f>
                                <m:fPr>
                                  <m:ctrlPr>
                                    <a:rPr lang="en-US" b="0" i="1" smtClean="0">
                                      <a:latin typeface="Cambria Math" panose="02040503050406030204" pitchFamily="18" charset="0"/>
                                      <a:sym typeface="Wingdings" pitchFamily="2" charset="2"/>
                                    </a:rPr>
                                  </m:ctrlPr>
                                </m:fPr>
                                <m:num>
                                  <m:r>
                                    <a:rPr lang="en-US" b="0" i="1" smtClean="0">
                                      <a:latin typeface="Cambria Math" panose="02040503050406030204" pitchFamily="18" charset="0"/>
                                      <a:sym typeface="Wingdings" pitchFamily="2" charset="2"/>
                                    </a:rPr>
                                    <m:t>𝑁</m:t>
                                  </m:r>
                                </m:num>
                                <m:den>
                                  <m:r>
                                    <a:rPr lang="en-US" b="0" i="1" smtClean="0">
                                      <a:latin typeface="Cambria Math" panose="02040503050406030204" pitchFamily="18" charset="0"/>
                                      <a:sym typeface="Wingdings" pitchFamily="2" charset="2"/>
                                    </a:rPr>
                                    <m:t>𝑑</m:t>
                                  </m:r>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𝑓</m:t>
                                      </m:r>
                                    </m:e>
                                    <m:sub>
                                      <m:r>
                                        <a:rPr lang="en-US" b="0" i="1" smtClean="0">
                                          <a:latin typeface="Cambria Math" panose="02040503050406030204" pitchFamily="18" charset="0"/>
                                          <a:sym typeface="Wingdings" pitchFamily="2" charset="2"/>
                                        </a:rPr>
                                        <m:t>𝑡</m:t>
                                      </m:r>
                                    </m:sub>
                                  </m:sSub>
                                </m:den>
                              </m:f>
                            </m:e>
                          </m:d>
                        </m:e>
                      </m:func>
                    </m:oMath>
                  </m:oMathPara>
                </a14:m>
                <a:endParaRPr lang="en-US" b="0" dirty="0">
                  <a:sym typeface="Wingdings" pitchFamily="2" charset="2"/>
                </a:endParaRPr>
              </a:p>
              <a:p>
                <a:pPr marL="114300" indent="0">
                  <a:buNone/>
                </a:pPr>
                <a:endParaRPr lang="en-US" b="0" dirty="0">
                  <a:sym typeface="Wingdings" pitchFamily="2" charset="2"/>
                </a:endParaRP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sym typeface="Wingdings" pitchFamily="2" charset="2"/>
                        </a:rPr>
                        <m:t>𝑇𝐹𝐼𝐷𝐹</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𝑡</m:t>
                          </m:r>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𝑑</m:t>
                          </m:r>
                        </m:e>
                      </m:d>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𝑇𝐹</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𝑡</m:t>
                          </m:r>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𝑑</m:t>
                          </m:r>
                        </m:e>
                      </m:d>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𝐼𝐷𝐹</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𝑡</m:t>
                          </m:r>
                        </m:e>
                      </m:d>
                    </m:oMath>
                  </m:oMathPara>
                </a14:m>
                <a:endParaRPr lang="en-US" b="0" dirty="0">
                  <a:sym typeface="Wingdings" pitchFamily="2" charset="2"/>
                </a:endParaRPr>
              </a:p>
              <a:p>
                <a:pPr marL="114300" indent="0">
                  <a:buNone/>
                </a:pPr>
                <a:endParaRPr lang="en-US" b="0" dirty="0">
                  <a:sym typeface="Wingdings" pitchFamily="2" charset="2"/>
                </a:endParaRPr>
              </a:p>
              <a:p>
                <a:pPr marL="114300" indent="0">
                  <a:buNone/>
                </a:pPr>
                <a:endParaRPr lang="en-US" b="0" dirty="0">
                  <a:sym typeface="Wingdings" pitchFamily="2" charset="2"/>
                </a:endParaRPr>
              </a:p>
              <a:p>
                <a:pPr marL="114300" indent="0">
                  <a:buNone/>
                </a:pPr>
                <a:endParaRPr lang="en-US" b="0" dirty="0">
                  <a:sym typeface="Wingdings" pitchFamily="2" charset="2"/>
                </a:endParaRPr>
              </a:p>
              <a:p>
                <a:pPr marL="114300" indent="0">
                  <a:buNone/>
                </a:pPr>
                <a:endParaRPr lang="en-US" dirty="0">
                  <a:sym typeface="Wingdings" pitchFamily="2" charset="2"/>
                </a:endParaRPr>
              </a:p>
            </p:txBody>
          </p:sp>
        </mc:Choice>
        <mc:Fallback xmlns="">
          <p:sp>
            <p:nvSpPr>
              <p:cNvPr id="3" name="Text Placeholder 2">
                <a:extLst>
                  <a:ext uri="{FF2B5EF4-FFF2-40B4-BE49-F238E27FC236}">
                    <a16:creationId xmlns:a16="http://schemas.microsoft.com/office/drawing/2014/main" id="{4D6D5122-55C4-1000-439E-B045F791A369}"/>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47074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0052E-630E-0C02-8E07-E25F378F14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3544FB-920E-8924-DCA5-24602B2F7794}"/>
              </a:ext>
            </a:extLst>
          </p:cNvPr>
          <p:cNvSpPr>
            <a:spLocks noGrp="1"/>
          </p:cNvSpPr>
          <p:nvPr>
            <p:ph type="title"/>
          </p:nvPr>
        </p:nvSpPr>
        <p:spPr/>
        <p:txBody>
          <a:bodyPr>
            <a:normAutofit fontScale="90000"/>
          </a:bodyPr>
          <a:lstStyle/>
          <a:p>
            <a:r>
              <a:rPr lang="en-US" dirty="0"/>
              <a:t>TF-IDF</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C76446F-68FE-B295-E23D-A4F341C7F1F5}"/>
                  </a:ext>
                </a:extLst>
              </p:cNvPr>
              <p:cNvSpPr>
                <a:spLocks noGrp="1"/>
              </p:cNvSpPr>
              <p:nvPr>
                <p:ph type="body" idx="1"/>
              </p:nvPr>
            </p:nvSpPr>
            <p:spPr/>
            <p:txBody>
              <a:bodyPr>
                <a:normAutofit/>
              </a:bodyPr>
              <a:lstStyle/>
              <a:p>
                <a:pPr marL="11430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sym typeface="Wingdings" pitchFamily="2" charset="2"/>
                        </a:rPr>
                        <m:t>𝑇𝐹𝐼𝐷𝐹</m:t>
                      </m:r>
                      <m:d>
                        <m:dPr>
                          <m:ctrlPr>
                            <a:rPr lang="en-US" i="1">
                              <a:latin typeface="Cambria Math" panose="02040503050406030204" pitchFamily="18" charset="0"/>
                              <a:sym typeface="Wingdings" pitchFamily="2" charset="2"/>
                            </a:rPr>
                          </m:ctrlPr>
                        </m:dPr>
                        <m:e>
                          <m:r>
                            <a:rPr lang="en-US" i="1">
                              <a:latin typeface="Cambria Math" panose="02040503050406030204" pitchFamily="18" charset="0"/>
                              <a:sym typeface="Wingdings" pitchFamily="2" charset="2"/>
                            </a:rPr>
                            <m:t>𝑡</m:t>
                          </m:r>
                          <m:r>
                            <a:rPr lang="en-US" i="1">
                              <a:latin typeface="Cambria Math" panose="02040503050406030204" pitchFamily="18" charset="0"/>
                              <a:sym typeface="Wingdings" pitchFamily="2" charset="2"/>
                            </a:rPr>
                            <m:t>,</m:t>
                          </m:r>
                          <m:r>
                            <a:rPr lang="en-US" i="1">
                              <a:latin typeface="Cambria Math" panose="02040503050406030204" pitchFamily="18" charset="0"/>
                              <a:sym typeface="Wingdings" pitchFamily="2" charset="2"/>
                            </a:rPr>
                            <m:t>𝑑</m:t>
                          </m:r>
                        </m:e>
                      </m:d>
                      <m:r>
                        <a:rPr lang="en-US" i="1">
                          <a:latin typeface="Cambria Math" panose="02040503050406030204" pitchFamily="18" charset="0"/>
                          <a:sym typeface="Wingdings" pitchFamily="2" charset="2"/>
                        </a:rPr>
                        <m:t>=</m:t>
                      </m:r>
                      <m:r>
                        <a:rPr lang="en-US" i="1">
                          <a:latin typeface="Cambria Math" panose="02040503050406030204" pitchFamily="18" charset="0"/>
                          <a:sym typeface="Wingdings" pitchFamily="2" charset="2"/>
                        </a:rPr>
                        <m:t>𝑇𝐹</m:t>
                      </m:r>
                      <m:d>
                        <m:dPr>
                          <m:ctrlPr>
                            <a:rPr lang="en-US" i="1">
                              <a:latin typeface="Cambria Math" panose="02040503050406030204" pitchFamily="18" charset="0"/>
                              <a:sym typeface="Wingdings" pitchFamily="2" charset="2"/>
                            </a:rPr>
                          </m:ctrlPr>
                        </m:dPr>
                        <m:e>
                          <m:r>
                            <a:rPr lang="en-US" i="1">
                              <a:latin typeface="Cambria Math" panose="02040503050406030204" pitchFamily="18" charset="0"/>
                              <a:sym typeface="Wingdings" pitchFamily="2" charset="2"/>
                            </a:rPr>
                            <m:t>𝑡</m:t>
                          </m:r>
                          <m:r>
                            <a:rPr lang="en-US" i="1">
                              <a:latin typeface="Cambria Math" panose="02040503050406030204" pitchFamily="18" charset="0"/>
                              <a:sym typeface="Wingdings" pitchFamily="2" charset="2"/>
                            </a:rPr>
                            <m:t>,</m:t>
                          </m:r>
                          <m:r>
                            <a:rPr lang="en-US" i="1">
                              <a:latin typeface="Cambria Math" panose="02040503050406030204" pitchFamily="18" charset="0"/>
                              <a:sym typeface="Wingdings" pitchFamily="2" charset="2"/>
                            </a:rPr>
                            <m:t>𝑑</m:t>
                          </m:r>
                        </m:e>
                      </m:d>
                      <m:r>
                        <a:rPr lang="en-US" i="1">
                          <a:latin typeface="Cambria Math" panose="02040503050406030204" pitchFamily="18" charset="0"/>
                          <a:sym typeface="Wingdings" pitchFamily="2" charset="2"/>
                        </a:rPr>
                        <m:t>×</m:t>
                      </m:r>
                      <m:r>
                        <a:rPr lang="en-US" i="1">
                          <a:latin typeface="Cambria Math" panose="02040503050406030204" pitchFamily="18" charset="0"/>
                          <a:sym typeface="Wingdings" pitchFamily="2" charset="2"/>
                        </a:rPr>
                        <m:t>𝐼𝐷𝐹</m:t>
                      </m:r>
                      <m:d>
                        <m:dPr>
                          <m:ctrlPr>
                            <a:rPr lang="en-US" i="1">
                              <a:latin typeface="Cambria Math" panose="02040503050406030204" pitchFamily="18" charset="0"/>
                              <a:sym typeface="Wingdings" pitchFamily="2" charset="2"/>
                            </a:rPr>
                          </m:ctrlPr>
                        </m:dPr>
                        <m:e>
                          <m:r>
                            <a:rPr lang="en-US" i="1">
                              <a:latin typeface="Cambria Math" panose="02040503050406030204" pitchFamily="18" charset="0"/>
                              <a:sym typeface="Wingdings" pitchFamily="2" charset="2"/>
                            </a:rPr>
                            <m:t>𝑡</m:t>
                          </m:r>
                        </m:e>
                      </m:d>
                    </m:oMath>
                  </m:oMathPara>
                </a14:m>
                <a:endParaRPr lang="en-US" dirty="0">
                  <a:sym typeface="Wingdings" pitchFamily="2" charset="2"/>
                </a:endParaRPr>
              </a:p>
              <a:p>
                <a:pPr marL="114300" indent="0">
                  <a:buNone/>
                </a:pPr>
                <a:endParaRPr lang="en-US" dirty="0">
                  <a:sym typeface="Wingdings" pitchFamily="2" charset="2"/>
                </a:endParaRPr>
              </a:p>
              <a:p>
                <a:r>
                  <a:rPr lang="en-US" dirty="0">
                    <a:sym typeface="Wingdings" pitchFamily="2" charset="2"/>
                  </a:rPr>
                  <a:t>Downweighs common words (the, is, and)</a:t>
                </a:r>
              </a:p>
              <a:p>
                <a:r>
                  <a:rPr lang="en-US" dirty="0">
                    <a:sym typeface="Wingdings" pitchFamily="2" charset="2"/>
                  </a:rPr>
                  <a:t>Upweights rare words</a:t>
                </a:r>
              </a:p>
            </p:txBody>
          </p:sp>
        </mc:Choice>
        <mc:Fallback xmlns="">
          <p:sp>
            <p:nvSpPr>
              <p:cNvPr id="3" name="Text Placeholder 2">
                <a:extLst>
                  <a:ext uri="{FF2B5EF4-FFF2-40B4-BE49-F238E27FC236}">
                    <a16:creationId xmlns:a16="http://schemas.microsoft.com/office/drawing/2014/main" id="{BC76446F-68FE-B295-E23D-A4F341C7F1F5}"/>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7722755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5350C-8389-A1FD-7C7A-6009E916A7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B3AEC9-60E6-F151-5ED2-CD7B54B130A9}"/>
              </a:ext>
            </a:extLst>
          </p:cNvPr>
          <p:cNvSpPr>
            <a:spLocks noGrp="1"/>
          </p:cNvSpPr>
          <p:nvPr>
            <p:ph type="title"/>
          </p:nvPr>
        </p:nvSpPr>
        <p:spPr/>
        <p:txBody>
          <a:bodyPr>
            <a:normAutofit fontScale="90000"/>
          </a:bodyPr>
          <a:lstStyle/>
          <a:p>
            <a:r>
              <a:rPr lang="en-US" dirty="0"/>
              <a:t>TF-IDF</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156DF76-6C7E-A19E-B2D2-D6494DBBD1D5}"/>
                  </a:ext>
                </a:extLst>
              </p:cNvPr>
              <p:cNvSpPr>
                <a:spLocks noGrp="1"/>
              </p:cNvSpPr>
              <p:nvPr>
                <p:ph type="body" idx="1"/>
              </p:nvPr>
            </p:nvSpPr>
            <p:spPr/>
            <p:txBody>
              <a:bodyPr>
                <a:normAutofit/>
              </a:bodyPr>
              <a:lstStyle/>
              <a:p>
                <a:pPr marL="11430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sym typeface="Wingdings" pitchFamily="2" charset="2"/>
                        </a:rPr>
                        <m:t>𝑇𝐹𝐼𝐷𝐹</m:t>
                      </m:r>
                      <m:d>
                        <m:dPr>
                          <m:ctrlPr>
                            <a:rPr lang="en-US" i="1">
                              <a:latin typeface="Cambria Math" panose="02040503050406030204" pitchFamily="18" charset="0"/>
                              <a:sym typeface="Wingdings" pitchFamily="2" charset="2"/>
                            </a:rPr>
                          </m:ctrlPr>
                        </m:dPr>
                        <m:e>
                          <m:r>
                            <a:rPr lang="en-US" i="1">
                              <a:latin typeface="Cambria Math" panose="02040503050406030204" pitchFamily="18" charset="0"/>
                              <a:sym typeface="Wingdings" pitchFamily="2" charset="2"/>
                            </a:rPr>
                            <m:t>𝑡</m:t>
                          </m:r>
                          <m:r>
                            <a:rPr lang="en-US" i="1">
                              <a:latin typeface="Cambria Math" panose="02040503050406030204" pitchFamily="18" charset="0"/>
                              <a:sym typeface="Wingdings" pitchFamily="2" charset="2"/>
                            </a:rPr>
                            <m:t>,</m:t>
                          </m:r>
                          <m:r>
                            <a:rPr lang="en-US" i="1">
                              <a:latin typeface="Cambria Math" panose="02040503050406030204" pitchFamily="18" charset="0"/>
                              <a:sym typeface="Wingdings" pitchFamily="2" charset="2"/>
                            </a:rPr>
                            <m:t>𝑑</m:t>
                          </m:r>
                        </m:e>
                      </m:d>
                      <m:r>
                        <a:rPr lang="en-US" i="1">
                          <a:latin typeface="Cambria Math" panose="02040503050406030204" pitchFamily="18" charset="0"/>
                          <a:sym typeface="Wingdings" pitchFamily="2" charset="2"/>
                        </a:rPr>
                        <m:t>=</m:t>
                      </m:r>
                      <m:r>
                        <a:rPr lang="en-US" i="1">
                          <a:latin typeface="Cambria Math" panose="02040503050406030204" pitchFamily="18" charset="0"/>
                          <a:sym typeface="Wingdings" pitchFamily="2" charset="2"/>
                        </a:rPr>
                        <m:t>𝑇𝐹</m:t>
                      </m:r>
                      <m:d>
                        <m:dPr>
                          <m:ctrlPr>
                            <a:rPr lang="en-US" i="1">
                              <a:latin typeface="Cambria Math" panose="02040503050406030204" pitchFamily="18" charset="0"/>
                              <a:sym typeface="Wingdings" pitchFamily="2" charset="2"/>
                            </a:rPr>
                          </m:ctrlPr>
                        </m:dPr>
                        <m:e>
                          <m:r>
                            <a:rPr lang="en-US" i="1">
                              <a:latin typeface="Cambria Math" panose="02040503050406030204" pitchFamily="18" charset="0"/>
                              <a:sym typeface="Wingdings" pitchFamily="2" charset="2"/>
                            </a:rPr>
                            <m:t>𝑡</m:t>
                          </m:r>
                          <m:r>
                            <a:rPr lang="en-US" i="1">
                              <a:latin typeface="Cambria Math" panose="02040503050406030204" pitchFamily="18" charset="0"/>
                              <a:sym typeface="Wingdings" pitchFamily="2" charset="2"/>
                            </a:rPr>
                            <m:t>,</m:t>
                          </m:r>
                          <m:r>
                            <a:rPr lang="en-US" i="1">
                              <a:latin typeface="Cambria Math" panose="02040503050406030204" pitchFamily="18" charset="0"/>
                              <a:sym typeface="Wingdings" pitchFamily="2" charset="2"/>
                            </a:rPr>
                            <m:t>𝑑</m:t>
                          </m:r>
                        </m:e>
                      </m:d>
                      <m:r>
                        <a:rPr lang="en-US" i="1">
                          <a:latin typeface="Cambria Math" panose="02040503050406030204" pitchFamily="18" charset="0"/>
                          <a:sym typeface="Wingdings" pitchFamily="2" charset="2"/>
                        </a:rPr>
                        <m:t>×</m:t>
                      </m:r>
                      <m:r>
                        <a:rPr lang="en-US" i="1">
                          <a:latin typeface="Cambria Math" panose="02040503050406030204" pitchFamily="18" charset="0"/>
                          <a:sym typeface="Wingdings" pitchFamily="2" charset="2"/>
                        </a:rPr>
                        <m:t>𝐼𝐷𝐹</m:t>
                      </m:r>
                      <m:d>
                        <m:dPr>
                          <m:ctrlPr>
                            <a:rPr lang="en-US" i="1">
                              <a:latin typeface="Cambria Math" panose="02040503050406030204" pitchFamily="18" charset="0"/>
                              <a:sym typeface="Wingdings" pitchFamily="2" charset="2"/>
                            </a:rPr>
                          </m:ctrlPr>
                        </m:dPr>
                        <m:e>
                          <m:r>
                            <a:rPr lang="en-US" i="1">
                              <a:latin typeface="Cambria Math" panose="02040503050406030204" pitchFamily="18" charset="0"/>
                              <a:sym typeface="Wingdings" pitchFamily="2" charset="2"/>
                            </a:rPr>
                            <m:t>𝑡</m:t>
                          </m:r>
                        </m:e>
                      </m:d>
                    </m:oMath>
                  </m:oMathPara>
                </a14:m>
                <a:endParaRPr lang="en-US" dirty="0">
                  <a:sym typeface="Wingdings" pitchFamily="2" charset="2"/>
                </a:endParaRPr>
              </a:p>
              <a:p>
                <a:pPr marL="114300" indent="0">
                  <a:buNone/>
                </a:pPr>
                <a:endParaRPr lang="en-US" dirty="0">
                  <a:sym typeface="Wingdings" pitchFamily="2" charset="2"/>
                </a:endParaRPr>
              </a:p>
              <a:p>
                <a:r>
                  <a:rPr lang="en-US" dirty="0">
                    <a:sym typeface="Wingdings" pitchFamily="2" charset="2"/>
                  </a:rPr>
                  <a:t>Downweighs common words (the, is, and)</a:t>
                </a:r>
              </a:p>
              <a:p>
                <a:r>
                  <a:rPr lang="en-US" dirty="0">
                    <a:sym typeface="Wingdings" pitchFamily="2" charset="2"/>
                  </a:rPr>
                  <a:t>Upweights rare words</a:t>
                </a:r>
              </a:p>
              <a:p>
                <a:endParaRPr lang="en-US" dirty="0">
                  <a:sym typeface="Wingdings" pitchFamily="2" charset="2"/>
                </a:endParaRPr>
              </a:p>
              <a:p>
                <a:pPr marL="114300" indent="0">
                  <a:buNone/>
                </a:pPr>
                <a:r>
                  <a:rPr lang="en-US" dirty="0">
                    <a:sym typeface="Wingdings" pitchFamily="2" charset="2"/>
                  </a:rPr>
                  <a:t>If we use this to populate our term-document matrix, the values will reflect semantic importance enabling SVD to find meaningful latent topics</a:t>
                </a:r>
              </a:p>
            </p:txBody>
          </p:sp>
        </mc:Choice>
        <mc:Fallback xmlns="">
          <p:sp>
            <p:nvSpPr>
              <p:cNvPr id="3" name="Text Placeholder 2">
                <a:extLst>
                  <a:ext uri="{FF2B5EF4-FFF2-40B4-BE49-F238E27FC236}">
                    <a16:creationId xmlns:a16="http://schemas.microsoft.com/office/drawing/2014/main" id="{6156DF76-6C7E-A19E-B2D2-D6494DBBD1D5}"/>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6277004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69202-1AFF-FAC0-391F-7FF546EEB456}"/>
              </a:ext>
            </a:extLst>
          </p:cNvPr>
          <p:cNvSpPr>
            <a:spLocks noGrp="1"/>
          </p:cNvSpPr>
          <p:nvPr>
            <p:ph type="title"/>
          </p:nvPr>
        </p:nvSpPr>
        <p:spPr/>
        <p:txBody>
          <a:bodyPr>
            <a:normAutofit fontScale="90000"/>
          </a:bodyPr>
          <a:lstStyle/>
          <a:p>
            <a:r>
              <a:rPr lang="en-US" dirty="0"/>
              <a:t>TF-IDF for term-document matrix</a:t>
            </a:r>
          </a:p>
        </p:txBody>
      </p:sp>
      <p:sp>
        <p:nvSpPr>
          <p:cNvPr id="3" name="Text Placeholder 2">
            <a:extLst>
              <a:ext uri="{FF2B5EF4-FFF2-40B4-BE49-F238E27FC236}">
                <a16:creationId xmlns:a16="http://schemas.microsoft.com/office/drawing/2014/main" id="{535DB207-C9F8-F4B3-6546-F4730E0FD5AE}"/>
              </a:ext>
            </a:extLst>
          </p:cNvPr>
          <p:cNvSpPr>
            <a:spLocks noGrp="1"/>
          </p:cNvSpPr>
          <p:nvPr>
            <p:ph type="body" idx="1"/>
          </p:nvPr>
        </p:nvSpPr>
        <p:spPr/>
        <p:txBody>
          <a:bodyPr/>
          <a:lstStyle/>
          <a:p>
            <a:r>
              <a:rPr lang="en-US" dirty="0"/>
              <a:t>If we apply TF-IDF to find our term-document matrix before running SVD, we will be able to ignore some of the noise in our dataset. </a:t>
            </a:r>
          </a:p>
          <a:p>
            <a:endParaRPr lang="en-US" dirty="0"/>
          </a:p>
        </p:txBody>
      </p:sp>
    </p:spTree>
    <p:extLst>
      <p:ext uri="{BB962C8B-B14F-4D97-AF65-F5344CB8AC3E}">
        <p14:creationId xmlns:p14="http://schemas.microsoft.com/office/powerpoint/2010/main" val="223508565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BC650-2B2B-0CB9-616E-8FDDB13EC5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037624-DE16-8E66-2B8C-A95276228802}"/>
              </a:ext>
            </a:extLst>
          </p:cNvPr>
          <p:cNvSpPr>
            <a:spLocks noGrp="1"/>
          </p:cNvSpPr>
          <p:nvPr>
            <p:ph type="title"/>
          </p:nvPr>
        </p:nvSpPr>
        <p:spPr/>
        <p:txBody>
          <a:bodyPr>
            <a:normAutofit fontScale="90000"/>
          </a:bodyPr>
          <a:lstStyle/>
          <a:p>
            <a:r>
              <a:rPr lang="en-US" dirty="0"/>
              <a:t>TF-IDF for term-document matrix</a:t>
            </a:r>
          </a:p>
        </p:txBody>
      </p:sp>
      <p:sp>
        <p:nvSpPr>
          <p:cNvPr id="3" name="Text Placeholder 2">
            <a:extLst>
              <a:ext uri="{FF2B5EF4-FFF2-40B4-BE49-F238E27FC236}">
                <a16:creationId xmlns:a16="http://schemas.microsoft.com/office/drawing/2014/main" id="{67F7E572-B0D7-F192-C80B-2CECEC3E0A47}"/>
              </a:ext>
            </a:extLst>
          </p:cNvPr>
          <p:cNvSpPr>
            <a:spLocks noGrp="1"/>
          </p:cNvSpPr>
          <p:nvPr>
            <p:ph type="body" idx="1"/>
          </p:nvPr>
        </p:nvSpPr>
        <p:spPr/>
        <p:txBody>
          <a:bodyPr/>
          <a:lstStyle/>
          <a:p>
            <a:r>
              <a:rPr lang="en-US" dirty="0"/>
              <a:t>If we apply TF-IDF to find our term-document matrix before running SVD, we will be able to ignore some of the noise in our dataset.</a:t>
            </a:r>
          </a:p>
          <a:p>
            <a:endParaRPr lang="en-US" dirty="0"/>
          </a:p>
          <a:p>
            <a:r>
              <a:rPr lang="en-US" dirty="0"/>
              <a:t>The reality is that most documents will contain conjunctions and linking verbs, many of which we don’t want to include! TF-IDF helps us work around that</a:t>
            </a:r>
          </a:p>
          <a:p>
            <a:endParaRPr lang="en-US" dirty="0"/>
          </a:p>
        </p:txBody>
      </p:sp>
    </p:spTree>
    <p:extLst>
      <p:ext uri="{BB962C8B-B14F-4D97-AF65-F5344CB8AC3E}">
        <p14:creationId xmlns:p14="http://schemas.microsoft.com/office/powerpoint/2010/main" val="200132598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AD151-2E99-E2B1-DAD3-DD6A811A4E4A}"/>
              </a:ext>
            </a:extLst>
          </p:cNvPr>
          <p:cNvSpPr>
            <a:spLocks noGrp="1"/>
          </p:cNvSpPr>
          <p:nvPr>
            <p:ph type="title"/>
          </p:nvPr>
        </p:nvSpPr>
        <p:spPr/>
        <p:txBody>
          <a:bodyPr>
            <a:normAutofit fontScale="90000"/>
          </a:bodyPr>
          <a:lstStyle/>
          <a:p>
            <a:r>
              <a:rPr lang="en-US" dirty="0"/>
              <a:t>Interpreting results of LSA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A08D084-2856-82F7-1BF4-A65A9A2F0A5A}"/>
                  </a:ext>
                </a:extLst>
              </p:cNvPr>
              <p:cNvSpPr>
                <a:spLocks noGrp="1"/>
              </p:cNvSpPr>
              <p:nvPr>
                <p:ph type="body" idx="1"/>
              </p:nvPr>
            </p:nvSpPr>
            <p:spPr/>
            <p:txBody>
              <a:bodyPr/>
              <a:lstStyle/>
              <a:p>
                <a:pPr marL="114300" indent="0">
                  <a:buNone/>
                </a:pPr>
                <a:r>
                  <a:rPr lang="en-US" dirty="0"/>
                  <a:t>LSA produces the following embeddings for a rank-k approximation using SVD:</a:t>
                </a:r>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m:oMathPara>
                </a14:m>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5A08D084-2856-82F7-1BF4-A65A9A2F0A5A}"/>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560421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ACA2C-BA77-F49E-D5FA-328639DC0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4B0841-AA6E-67D2-17DD-3619AF87CC62}"/>
              </a:ext>
            </a:extLst>
          </p:cNvPr>
          <p:cNvSpPr>
            <a:spLocks noGrp="1"/>
          </p:cNvSpPr>
          <p:nvPr>
            <p:ph type="title"/>
          </p:nvPr>
        </p:nvSpPr>
        <p:spPr/>
        <p:txBody>
          <a:bodyPr>
            <a:normAutofit fontScale="90000"/>
          </a:bodyPr>
          <a:lstStyle/>
          <a:p>
            <a:r>
              <a:rPr lang="en-US" dirty="0"/>
              <a:t>Interpreting results of LSA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1C9EDB5-2540-F2DF-9D24-9A8C2BC1F4DC}"/>
                  </a:ext>
                </a:extLst>
              </p:cNvPr>
              <p:cNvSpPr>
                <a:spLocks noGrp="1"/>
              </p:cNvSpPr>
              <p:nvPr>
                <p:ph type="body" idx="1"/>
              </p:nvPr>
            </p:nvSpPr>
            <p:spPr/>
            <p:txBody>
              <a:bodyPr/>
              <a:lstStyle/>
              <a:p>
                <a:pPr marL="114300" indent="0">
                  <a:buNone/>
                </a:pPr>
                <a:r>
                  <a:rPr lang="en-US" dirty="0"/>
                  <a:t>LSA produces the following embeddings for a rank-k approximation using SVD:</a:t>
                </a:r>
              </a:p>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m:oMathPara>
                </a14:m>
                <a:endParaRPr lang="en-US" b="0" dirty="0"/>
              </a:p>
              <a:p>
                <a:pPr marL="114300" indent="0">
                  <a:buNone/>
                </a:pPr>
                <a:r>
                  <a:rPr lang="en-US" dirty="0"/>
                  <a:t>Where </a:t>
                </a:r>
                <a14:m>
                  <m:oMath xmlns:m="http://schemas.openxmlformats.org/officeDocument/2006/math">
                    <m:r>
                      <a:rPr lang="en-US" b="0" i="1" smtClean="0">
                        <a:latin typeface="Cambria Math" panose="02040503050406030204" pitchFamily="18" charset="0"/>
                      </a:rPr>
                      <m:t>𝑘</m:t>
                    </m:r>
                  </m:oMath>
                </a14:m>
                <a:r>
                  <a:rPr lang="en-US" b="0" dirty="0"/>
                  <a:t> is also the number of latent semantic features</a:t>
                </a:r>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71C9EDB5-2540-F2DF-9D24-9A8C2BC1F4DC}"/>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8650936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02F03-AF31-8DB6-E593-9D59CC4AF1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6655CC-5C61-0107-C524-50481DBBF4E4}"/>
              </a:ext>
            </a:extLst>
          </p:cNvPr>
          <p:cNvSpPr>
            <a:spLocks noGrp="1"/>
          </p:cNvSpPr>
          <p:nvPr>
            <p:ph type="title"/>
          </p:nvPr>
        </p:nvSpPr>
        <p:spPr/>
        <p:txBody>
          <a:bodyPr>
            <a:normAutofit fontScale="90000"/>
          </a:bodyPr>
          <a:lstStyle/>
          <a:p>
            <a:r>
              <a:rPr lang="en-US" dirty="0"/>
              <a:t>Interpreting results of LSA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1576456-444A-C4AB-DB57-7CA20275C247}"/>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m:oMathPara>
                </a14:m>
                <a:endParaRPr lang="en-US" b="0" dirty="0"/>
              </a:p>
              <a:p>
                <a:pPr marL="114300" indent="0">
                  <a:buNone/>
                </a:pPr>
                <a:endParaRPr lang="en-US" dirty="0"/>
              </a:p>
              <a:p>
                <a:pPr marL="114300" indent="0">
                  <a:buNone/>
                </a:pPr>
                <a:r>
                  <a:rPr lang="en-US" b="0" dirty="0"/>
                  <a:t>Using this approximation, we can calculate the following:</a:t>
                </a:r>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31576456-444A-C4AB-DB57-7CA20275C247}"/>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3553490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22690-7073-73C3-E9AB-1BCFA6F80D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C4C011-7763-B4AA-3C3E-8A6765D9A9A1}"/>
              </a:ext>
            </a:extLst>
          </p:cNvPr>
          <p:cNvSpPr>
            <a:spLocks noGrp="1"/>
          </p:cNvSpPr>
          <p:nvPr>
            <p:ph type="title"/>
          </p:nvPr>
        </p:nvSpPr>
        <p:spPr/>
        <p:txBody>
          <a:bodyPr>
            <a:normAutofit fontScale="90000"/>
          </a:bodyPr>
          <a:lstStyle/>
          <a:p>
            <a:r>
              <a:rPr lang="en-US" dirty="0"/>
              <a:t>Interpreting results of LSA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8E80ECF-EFAB-36DE-D1DB-20F0525594A3}"/>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m:oMathPara>
                </a14:m>
                <a:endParaRPr lang="en-US" b="0" dirty="0"/>
              </a:p>
              <a:p>
                <a:pPr marL="114300" indent="0">
                  <a:buNone/>
                </a:pPr>
                <a:endParaRPr lang="en-US" dirty="0"/>
              </a:p>
              <a:p>
                <a:pPr marL="114300" indent="0">
                  <a:buNone/>
                </a:pPr>
                <a:r>
                  <a:rPr lang="en-US" b="0" dirty="0"/>
                  <a:t>Using this approximation, we can calculate the following:</a:t>
                </a:r>
              </a:p>
              <a:p>
                <a:pPr marL="114300" indent="0">
                  <a:buNone/>
                </a:pPr>
                <a:endParaRPr lang="en-US" dirty="0"/>
              </a:p>
              <a:p>
                <a:r>
                  <a:rPr lang="en-US" b="0" dirty="0"/>
                  <a:t>Document vectors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a14:m>
                <a:endParaRPr lang="en-US" b="0" dirty="0"/>
              </a:p>
              <a:p>
                <a:r>
                  <a:rPr lang="en-US" dirty="0"/>
                  <a:t>Word vectors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oMath>
                </a14:m>
                <a:endParaRPr lang="en-US" b="0" dirty="0"/>
              </a:p>
              <a:p>
                <a:pPr marL="114300" indent="0">
                  <a:buNone/>
                </a:pPr>
                <a:endParaRPr lang="en-US" b="0" dirty="0"/>
              </a:p>
              <a:p>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18E80ECF-EFAB-36DE-D1DB-20F0525594A3}"/>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0326065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4267-48D7-4B8F-33A9-3457553963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63317-83DD-EAF3-EBB4-AAFB0F5EEA05}"/>
              </a:ext>
            </a:extLst>
          </p:cNvPr>
          <p:cNvSpPr>
            <a:spLocks noGrp="1"/>
          </p:cNvSpPr>
          <p:nvPr>
            <p:ph type="title"/>
          </p:nvPr>
        </p:nvSpPr>
        <p:spPr/>
        <p:txBody>
          <a:bodyPr>
            <a:normAutofit fontScale="90000"/>
          </a:bodyPr>
          <a:lstStyle/>
          <a:p>
            <a:r>
              <a:rPr lang="en-US" dirty="0"/>
              <a:t>Interpreting results of LSA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EB6C32A-1CB4-4061-F0D4-C523944FBD7A}"/>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m:oMathPara>
                </a14:m>
                <a:endParaRPr lang="en-US" b="0" dirty="0"/>
              </a:p>
              <a:p>
                <a:pPr marL="114300" indent="0">
                  <a:buNone/>
                </a:pPr>
                <a:endParaRPr lang="en-US" dirty="0"/>
              </a:p>
              <a:p>
                <a:pPr marL="114300" indent="0">
                  <a:buNone/>
                </a:pPr>
                <a:r>
                  <a:rPr lang="en-US" b="0" dirty="0"/>
                  <a:t>Using this approximation, we can calculate the following:</a:t>
                </a:r>
              </a:p>
              <a:p>
                <a:pPr marL="114300" indent="0">
                  <a:buNone/>
                </a:pPr>
                <a:endParaRPr lang="en-US" dirty="0"/>
              </a:p>
              <a:p>
                <a:r>
                  <a:rPr lang="en-US" b="0" dirty="0"/>
                  <a:t>Document vectors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a14:m>
                <a:endParaRPr lang="en-US" b="0" dirty="0"/>
              </a:p>
              <a:p>
                <a:r>
                  <a:rPr lang="en-US" dirty="0"/>
                  <a:t>Word vectors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oMath>
                </a14:m>
                <a:endParaRPr lang="en-US" b="0" dirty="0"/>
              </a:p>
              <a:p>
                <a:pPr marL="114300" indent="0">
                  <a:buNone/>
                </a:pPr>
                <a:endParaRPr lang="en-US" b="0" dirty="0"/>
              </a:p>
              <a:p>
                <a:pPr marL="114300" indent="0">
                  <a:buNone/>
                </a:pPr>
                <a:r>
                  <a:rPr lang="en-US" b="0" dirty="0"/>
                  <a:t>The document/word vectors will place each document as a </a:t>
                </a:r>
                <a:r>
                  <a:rPr lang="en-US" dirty="0"/>
                  <a:t>vector in the latent feature space.</a:t>
                </a:r>
                <a:endParaRPr lang="en-US" b="0" dirty="0"/>
              </a:p>
              <a:p>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5EB6C32A-1CB4-4061-F0D4-C523944FBD7A}"/>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65661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FF2F0-B1DB-205C-963F-8CCC3B7752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396086-9B6A-6383-CF7D-A88C960A5642}"/>
              </a:ext>
            </a:extLst>
          </p:cNvPr>
          <p:cNvSpPr>
            <a:spLocks noGrp="1"/>
          </p:cNvSpPr>
          <p:nvPr>
            <p:ph type="title"/>
          </p:nvPr>
        </p:nvSpPr>
        <p:spPr/>
        <p:txBody>
          <a:bodyPr>
            <a:normAutofit fontScale="90000"/>
          </a:bodyPr>
          <a:lstStyle/>
          <a:p>
            <a:r>
              <a:rPr lang="en-US" dirty="0"/>
              <a:t>Interpreting results of LSA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39D50C5-AC84-AD7D-EED8-1526AC7A4277}"/>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m:oMathPara>
                </a14:m>
                <a:endParaRPr lang="en-US" dirty="0"/>
              </a:p>
              <a:p>
                <a:r>
                  <a:rPr lang="en-US" b="0" dirty="0"/>
                  <a:t>Document vectors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a14:m>
                <a:endParaRPr lang="en-US" b="0" dirty="0"/>
              </a:p>
              <a:p>
                <a:r>
                  <a:rPr lang="en-US" dirty="0"/>
                  <a:t>Word vectors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oMath>
                </a14:m>
                <a:endParaRPr lang="en-US" b="0" dirty="0"/>
              </a:p>
              <a:p>
                <a:pPr marL="114300" indent="0">
                  <a:buNone/>
                </a:pPr>
                <a:endParaRPr lang="en-US" b="0" dirty="0"/>
              </a:p>
              <a:p>
                <a:pPr marL="114300" indent="0">
                  <a:buNone/>
                </a:pPr>
                <a:r>
                  <a:rPr lang="en-US" b="0" dirty="0"/>
                  <a:t>Question: how can we measure the similarity of two document vectors?</a:t>
                </a:r>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839D50C5-AC84-AD7D-EED8-1526AC7A4277}"/>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4238441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BEDF3-2007-15E3-C80B-BB30E29E2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82DF6-DBE4-E334-583B-1D687B17C6BA}"/>
              </a:ext>
            </a:extLst>
          </p:cNvPr>
          <p:cNvSpPr>
            <a:spLocks noGrp="1"/>
          </p:cNvSpPr>
          <p:nvPr>
            <p:ph type="title"/>
          </p:nvPr>
        </p:nvSpPr>
        <p:spPr/>
        <p:txBody>
          <a:bodyPr>
            <a:normAutofit fontScale="90000"/>
          </a:bodyPr>
          <a:lstStyle/>
          <a:p>
            <a:r>
              <a:rPr lang="en-US" dirty="0"/>
              <a:t>Interpreting results of LSA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464634C-4204-6AF3-FD96-A0F7E15241A7}"/>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m:oMathPara>
                </a14:m>
                <a:endParaRPr lang="en-US" dirty="0"/>
              </a:p>
              <a:p>
                <a:r>
                  <a:rPr lang="en-US" b="0" dirty="0"/>
                  <a:t>Document vectors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a14:m>
                <a:endParaRPr lang="en-US" b="0" dirty="0"/>
              </a:p>
              <a:p>
                <a:r>
                  <a:rPr lang="en-US" dirty="0"/>
                  <a:t>Word vectors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oMath>
                </a14:m>
                <a:endParaRPr lang="en-US" b="0" dirty="0"/>
              </a:p>
              <a:p>
                <a:pPr marL="114300" indent="0">
                  <a:buNone/>
                </a:pPr>
                <a:endParaRPr lang="en-US" b="0" dirty="0"/>
              </a:p>
              <a:p>
                <a:pPr marL="114300" indent="0">
                  <a:buNone/>
                </a:pPr>
                <a:r>
                  <a:rPr lang="en-US" b="0" dirty="0"/>
                  <a:t>Question: how can we measure the similarity of two document vectors?</a:t>
                </a:r>
              </a:p>
              <a:p>
                <a:pPr marL="114300" indent="0">
                  <a:buNone/>
                </a:pPr>
                <a:endParaRPr lang="en-US" dirty="0"/>
              </a:p>
              <a:p>
                <a:pPr marL="114300" indent="0">
                  <a:buNone/>
                </a:pPr>
                <a:r>
                  <a:rPr lang="en-US" b="0" dirty="0"/>
                  <a:t>Cosine Similarity!</a:t>
                </a:r>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9464634C-4204-6AF3-FD96-A0F7E15241A7}"/>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2995578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3520A-A0AA-2453-C736-7D0445B246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C74F36-C54C-401F-EC4F-D3607F27A438}"/>
              </a:ext>
            </a:extLst>
          </p:cNvPr>
          <p:cNvSpPr>
            <a:spLocks noGrp="1"/>
          </p:cNvSpPr>
          <p:nvPr>
            <p:ph type="title"/>
          </p:nvPr>
        </p:nvSpPr>
        <p:spPr/>
        <p:txBody>
          <a:bodyPr>
            <a:normAutofit fontScale="90000"/>
          </a:bodyPr>
          <a:lstStyle/>
          <a:p>
            <a:r>
              <a:rPr lang="en-US" dirty="0"/>
              <a:t>Interpreting results of LSA: Cosine Similarity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89406F5-9738-618E-995F-A4A4ED66F4FA}"/>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m:oMathPara>
                </a14:m>
                <a:endParaRPr lang="en-US" b="0" dirty="0"/>
              </a:p>
              <a:p>
                <a:pPr marL="114300" indent="0">
                  <a:buNone/>
                </a:pPr>
                <a:r>
                  <a:rPr lang="en-US" dirty="0"/>
                  <a:t>Example for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=2</m:t>
                    </m:r>
                  </m:oMath>
                </a14:m>
                <a:endParaRPr lang="en-US" dirty="0"/>
              </a:p>
            </p:txBody>
          </p:sp>
        </mc:Choice>
        <mc:Fallback xmlns="">
          <p:sp>
            <p:nvSpPr>
              <p:cNvPr id="3" name="Text Placeholder 2">
                <a:extLst>
                  <a:ext uri="{FF2B5EF4-FFF2-40B4-BE49-F238E27FC236}">
                    <a16:creationId xmlns:a16="http://schemas.microsoft.com/office/drawing/2014/main" id="{789406F5-9738-618E-995F-A4A4ED66F4FA}"/>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420A733B-949E-57A0-48AF-13E5FFAAF90B}"/>
              </a:ext>
            </a:extLst>
          </p:cNvPr>
          <p:cNvCxnSpPr/>
          <p:nvPr/>
        </p:nvCxnSpPr>
        <p:spPr>
          <a:xfrm>
            <a:off x="1526959" y="2095130"/>
            <a:ext cx="0" cy="291187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03A4A10-2463-C3EC-95E3-B9646739834B}"/>
              </a:ext>
            </a:extLst>
          </p:cNvPr>
          <p:cNvCxnSpPr/>
          <p:nvPr/>
        </p:nvCxnSpPr>
        <p:spPr>
          <a:xfrm>
            <a:off x="994299" y="4287915"/>
            <a:ext cx="389729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73012C6-C718-FA82-E6AA-DE0F8BD90781}"/>
              </a:ext>
            </a:extLst>
          </p:cNvPr>
          <p:cNvSpPr txBox="1"/>
          <p:nvPr/>
        </p:nvSpPr>
        <p:spPr>
          <a:xfrm>
            <a:off x="683580" y="2175030"/>
            <a:ext cx="967666" cy="307777"/>
          </a:xfrm>
          <a:prstGeom prst="rect">
            <a:avLst/>
          </a:prstGeom>
          <a:noFill/>
        </p:spPr>
        <p:txBody>
          <a:bodyPr wrap="square" rtlCol="0">
            <a:spAutoFit/>
          </a:bodyPr>
          <a:lstStyle/>
          <a:p>
            <a:r>
              <a:rPr lang="en-US" b="1" dirty="0">
                <a:solidFill>
                  <a:schemeClr val="bg2"/>
                </a:solidFill>
                <a:latin typeface="Open Sans" panose="020B0606030504020204" pitchFamily="34" charset="0"/>
                <a:ea typeface="Open Sans" panose="020B0606030504020204" pitchFamily="34" charset="0"/>
                <a:cs typeface="Open Sans" panose="020B0606030504020204" pitchFamily="34" charset="0"/>
              </a:rPr>
              <a:t>Medical</a:t>
            </a:r>
          </a:p>
        </p:txBody>
      </p:sp>
      <p:sp>
        <p:nvSpPr>
          <p:cNvPr id="11" name="TextBox 10">
            <a:extLst>
              <a:ext uri="{FF2B5EF4-FFF2-40B4-BE49-F238E27FC236}">
                <a16:creationId xmlns:a16="http://schemas.microsoft.com/office/drawing/2014/main" id="{561F9A24-3C37-C804-7216-18C2F350E08F}"/>
              </a:ext>
            </a:extLst>
          </p:cNvPr>
          <p:cNvSpPr txBox="1"/>
          <p:nvPr/>
        </p:nvSpPr>
        <p:spPr>
          <a:xfrm>
            <a:off x="4038360" y="4287915"/>
            <a:ext cx="2068495" cy="307777"/>
          </a:xfrm>
          <a:prstGeom prst="rect">
            <a:avLst/>
          </a:prstGeom>
          <a:noFill/>
        </p:spPr>
        <p:txBody>
          <a:bodyPr wrap="square" rtlCol="0">
            <a:spAutoFit/>
          </a:bodyPr>
          <a:lstStyle/>
          <a:p>
            <a:r>
              <a:rPr lang="en-US" b="1" dirty="0">
                <a:solidFill>
                  <a:schemeClr val="bg2"/>
                </a:solidFill>
              </a:rPr>
              <a:t>Computer Science</a:t>
            </a:r>
          </a:p>
        </p:txBody>
      </p:sp>
      <p:cxnSp>
        <p:nvCxnSpPr>
          <p:cNvPr id="13" name="Straight Arrow Connector 12">
            <a:extLst>
              <a:ext uri="{FF2B5EF4-FFF2-40B4-BE49-F238E27FC236}">
                <a16:creationId xmlns:a16="http://schemas.microsoft.com/office/drawing/2014/main" id="{4A18AC93-2179-AFB1-EB8B-2B7E495A9B65}"/>
              </a:ext>
            </a:extLst>
          </p:cNvPr>
          <p:cNvCxnSpPr>
            <a:cxnSpLocks/>
          </p:cNvCxnSpPr>
          <p:nvPr/>
        </p:nvCxnSpPr>
        <p:spPr>
          <a:xfrm flipV="1">
            <a:off x="1526959" y="2175030"/>
            <a:ext cx="248575" cy="211288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F769706E-CF61-2151-862E-3A16AAFE4756}"/>
              </a:ext>
            </a:extLst>
          </p:cNvPr>
          <p:cNvCxnSpPr>
            <a:cxnSpLocks/>
          </p:cNvCxnSpPr>
          <p:nvPr/>
        </p:nvCxnSpPr>
        <p:spPr>
          <a:xfrm flipV="1">
            <a:off x="1526959" y="2743200"/>
            <a:ext cx="648070" cy="154471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275E5589-93FF-F55B-D8B7-36A01C6A493A}"/>
              </a:ext>
            </a:extLst>
          </p:cNvPr>
          <p:cNvCxnSpPr>
            <a:cxnSpLocks/>
          </p:cNvCxnSpPr>
          <p:nvPr/>
        </p:nvCxnSpPr>
        <p:spPr>
          <a:xfrm flipV="1">
            <a:off x="1526959" y="4074850"/>
            <a:ext cx="3222594" cy="21306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a:extLst>
              <a:ext uri="{FF2B5EF4-FFF2-40B4-BE49-F238E27FC236}">
                <a16:creationId xmlns:a16="http://schemas.microsoft.com/office/drawing/2014/main" id="{C4C34BC2-7F9F-4CD7-6525-D82C17FA3F7B}"/>
              </a:ext>
            </a:extLst>
          </p:cNvPr>
          <p:cNvCxnSpPr>
            <a:cxnSpLocks/>
          </p:cNvCxnSpPr>
          <p:nvPr/>
        </p:nvCxnSpPr>
        <p:spPr>
          <a:xfrm flipV="1">
            <a:off x="1526959" y="3586579"/>
            <a:ext cx="2290439" cy="70133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D8C54C1-70A6-0EEE-C418-2FA6E9A97219}"/>
                  </a:ext>
                </a:extLst>
              </p:cNvPr>
              <p:cNvSpPr txBox="1"/>
              <p:nvPr/>
            </p:nvSpPr>
            <p:spPr>
              <a:xfrm>
                <a:off x="1642364" y="1935331"/>
                <a:ext cx="28408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m:oMathPara>
                </a14:m>
                <a:endParaRPr lang="en-US" b="0" dirty="0"/>
              </a:p>
              <a:p>
                <a:endParaRPr lang="en-US" dirty="0"/>
              </a:p>
            </p:txBody>
          </p:sp>
        </mc:Choice>
        <mc:Fallback xmlns="">
          <p:sp>
            <p:nvSpPr>
              <p:cNvPr id="26" name="TextBox 25">
                <a:extLst>
                  <a:ext uri="{FF2B5EF4-FFF2-40B4-BE49-F238E27FC236}">
                    <a16:creationId xmlns:a16="http://schemas.microsoft.com/office/drawing/2014/main" id="{AD8C54C1-70A6-0EEE-C418-2FA6E9A97219}"/>
                  </a:ext>
                </a:extLst>
              </p:cNvPr>
              <p:cNvSpPr txBox="1">
                <a:spLocks noRot="1" noChangeAspect="1" noMove="1" noResize="1" noEditPoints="1" noAdjustHandles="1" noChangeArrowheads="1" noChangeShapeType="1" noTextEdit="1"/>
              </p:cNvSpPr>
              <p:nvPr/>
            </p:nvSpPr>
            <p:spPr>
              <a:xfrm>
                <a:off x="1642364" y="1935331"/>
                <a:ext cx="284085" cy="523220"/>
              </a:xfrm>
              <a:prstGeom prst="rect">
                <a:avLst/>
              </a:prstGeom>
              <a:blipFill>
                <a:blip r:embed="rId4"/>
                <a:stretch>
                  <a:fillRect r="-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44682DB-3FD9-79A2-25A0-9F219C82C638}"/>
                  </a:ext>
                </a:extLst>
              </p:cNvPr>
              <p:cNvSpPr txBox="1"/>
              <p:nvPr/>
            </p:nvSpPr>
            <p:spPr>
              <a:xfrm>
                <a:off x="2086254" y="2426170"/>
                <a:ext cx="28408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oMath>
                  </m:oMathPara>
                </a14:m>
                <a:endParaRPr lang="en-US" b="0" dirty="0"/>
              </a:p>
              <a:p>
                <a:endParaRPr lang="en-US" dirty="0"/>
              </a:p>
            </p:txBody>
          </p:sp>
        </mc:Choice>
        <mc:Fallback xmlns="">
          <p:sp>
            <p:nvSpPr>
              <p:cNvPr id="27" name="TextBox 26">
                <a:extLst>
                  <a:ext uri="{FF2B5EF4-FFF2-40B4-BE49-F238E27FC236}">
                    <a16:creationId xmlns:a16="http://schemas.microsoft.com/office/drawing/2014/main" id="{044682DB-3FD9-79A2-25A0-9F219C82C638}"/>
                  </a:ext>
                </a:extLst>
              </p:cNvPr>
              <p:cNvSpPr txBox="1">
                <a:spLocks noRot="1" noChangeAspect="1" noMove="1" noResize="1" noEditPoints="1" noAdjustHandles="1" noChangeArrowheads="1" noChangeShapeType="1" noTextEdit="1"/>
              </p:cNvSpPr>
              <p:nvPr/>
            </p:nvSpPr>
            <p:spPr>
              <a:xfrm>
                <a:off x="2086254" y="2426170"/>
                <a:ext cx="284085" cy="523220"/>
              </a:xfrm>
              <a:prstGeom prst="rect">
                <a:avLst/>
              </a:prstGeom>
              <a:blipFill>
                <a:blip r:embed="rId5"/>
                <a:stretch>
                  <a:fillRect r="-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710D0A2-157F-20A1-7360-36A9CAB3DDD5}"/>
                  </a:ext>
                </a:extLst>
              </p:cNvPr>
              <p:cNvSpPr txBox="1"/>
              <p:nvPr/>
            </p:nvSpPr>
            <p:spPr>
              <a:xfrm>
                <a:off x="3785837" y="3353955"/>
                <a:ext cx="28408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3</m:t>
                          </m:r>
                        </m:sub>
                      </m:sSub>
                    </m:oMath>
                  </m:oMathPara>
                </a14:m>
                <a:endParaRPr lang="en-US" b="0" dirty="0"/>
              </a:p>
              <a:p>
                <a:endParaRPr lang="en-US" dirty="0"/>
              </a:p>
            </p:txBody>
          </p:sp>
        </mc:Choice>
        <mc:Fallback xmlns="">
          <p:sp>
            <p:nvSpPr>
              <p:cNvPr id="28" name="TextBox 27">
                <a:extLst>
                  <a:ext uri="{FF2B5EF4-FFF2-40B4-BE49-F238E27FC236}">
                    <a16:creationId xmlns:a16="http://schemas.microsoft.com/office/drawing/2014/main" id="{C710D0A2-157F-20A1-7360-36A9CAB3DDD5}"/>
                  </a:ext>
                </a:extLst>
              </p:cNvPr>
              <p:cNvSpPr txBox="1">
                <a:spLocks noRot="1" noChangeAspect="1" noMove="1" noResize="1" noEditPoints="1" noAdjustHandles="1" noChangeArrowheads="1" noChangeShapeType="1" noTextEdit="1"/>
              </p:cNvSpPr>
              <p:nvPr/>
            </p:nvSpPr>
            <p:spPr>
              <a:xfrm>
                <a:off x="3785837" y="3353955"/>
                <a:ext cx="284085" cy="523220"/>
              </a:xfrm>
              <a:prstGeom prst="rect">
                <a:avLst/>
              </a:prstGeom>
              <a:blipFill>
                <a:blip r:embed="rId6"/>
                <a:stretch>
                  <a:fillRect r="-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FD6A696-8BFA-947E-1D08-95C5E9C6FE0C}"/>
                  </a:ext>
                </a:extLst>
              </p:cNvPr>
              <p:cNvSpPr txBox="1"/>
              <p:nvPr/>
            </p:nvSpPr>
            <p:spPr>
              <a:xfrm>
                <a:off x="4749553" y="3912405"/>
                <a:ext cx="28408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4</m:t>
                          </m:r>
                        </m:sub>
                      </m:sSub>
                    </m:oMath>
                  </m:oMathPara>
                </a14:m>
                <a:endParaRPr lang="en-US" b="0" dirty="0"/>
              </a:p>
              <a:p>
                <a:endParaRPr lang="en-US" dirty="0"/>
              </a:p>
            </p:txBody>
          </p:sp>
        </mc:Choice>
        <mc:Fallback xmlns="">
          <p:sp>
            <p:nvSpPr>
              <p:cNvPr id="29" name="TextBox 28">
                <a:extLst>
                  <a:ext uri="{FF2B5EF4-FFF2-40B4-BE49-F238E27FC236}">
                    <a16:creationId xmlns:a16="http://schemas.microsoft.com/office/drawing/2014/main" id="{0FD6A696-8BFA-947E-1D08-95C5E9C6FE0C}"/>
                  </a:ext>
                </a:extLst>
              </p:cNvPr>
              <p:cNvSpPr txBox="1">
                <a:spLocks noRot="1" noChangeAspect="1" noMove="1" noResize="1" noEditPoints="1" noAdjustHandles="1" noChangeArrowheads="1" noChangeShapeType="1" noTextEdit="1"/>
              </p:cNvSpPr>
              <p:nvPr/>
            </p:nvSpPr>
            <p:spPr>
              <a:xfrm>
                <a:off x="4749553" y="3912405"/>
                <a:ext cx="284085" cy="523220"/>
              </a:xfrm>
              <a:prstGeom prst="rect">
                <a:avLst/>
              </a:prstGeom>
              <a:blipFill>
                <a:blip r:embed="rId7"/>
                <a:stretch>
                  <a:fillRect r="-4167"/>
                </a:stretch>
              </a:blipFill>
            </p:spPr>
            <p:txBody>
              <a:bodyPr/>
              <a:lstStyle/>
              <a:p>
                <a:r>
                  <a:rPr lang="en-US">
                    <a:noFill/>
                  </a:rPr>
                  <a:t> </a:t>
                </a:r>
              </a:p>
            </p:txBody>
          </p:sp>
        </mc:Fallback>
      </mc:AlternateContent>
    </p:spTree>
    <p:extLst>
      <p:ext uri="{BB962C8B-B14F-4D97-AF65-F5344CB8AC3E}">
        <p14:creationId xmlns:p14="http://schemas.microsoft.com/office/powerpoint/2010/main" val="330105368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BF26-A9A3-F649-B796-103315B1C9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F3E3AF-4EF0-1632-45A7-DA846FF94741}"/>
              </a:ext>
            </a:extLst>
          </p:cNvPr>
          <p:cNvSpPr>
            <a:spLocks noGrp="1"/>
          </p:cNvSpPr>
          <p:nvPr>
            <p:ph type="title"/>
          </p:nvPr>
        </p:nvSpPr>
        <p:spPr/>
        <p:txBody>
          <a:bodyPr>
            <a:normAutofit fontScale="90000"/>
          </a:bodyPr>
          <a:lstStyle/>
          <a:p>
            <a:r>
              <a:rPr lang="en-US" dirty="0"/>
              <a:t>Interpreting results of LSA: Cosine Similarity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A3FA9EE-5E1D-902C-C6EB-187D615AC015}"/>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m:oMathPara>
                </a14:m>
                <a:endParaRPr lang="en-US" b="0" dirty="0"/>
              </a:p>
              <a:p>
                <a:pPr marL="114300" indent="0">
                  <a:buNone/>
                </a:pPr>
                <a:r>
                  <a:rPr lang="en-US" dirty="0"/>
                  <a:t>Example for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=2</m:t>
                    </m:r>
                  </m:oMath>
                </a14:m>
                <a:endParaRPr lang="en-US" dirty="0"/>
              </a:p>
            </p:txBody>
          </p:sp>
        </mc:Choice>
        <mc:Fallback xmlns="">
          <p:sp>
            <p:nvSpPr>
              <p:cNvPr id="3" name="Text Placeholder 2">
                <a:extLst>
                  <a:ext uri="{FF2B5EF4-FFF2-40B4-BE49-F238E27FC236}">
                    <a16:creationId xmlns:a16="http://schemas.microsoft.com/office/drawing/2014/main" id="{0A3FA9EE-5E1D-902C-C6EB-187D615AC015}"/>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7D653255-B723-C58D-6AB3-629F4742DF4A}"/>
              </a:ext>
            </a:extLst>
          </p:cNvPr>
          <p:cNvCxnSpPr/>
          <p:nvPr/>
        </p:nvCxnSpPr>
        <p:spPr>
          <a:xfrm>
            <a:off x="1526959" y="2095130"/>
            <a:ext cx="0" cy="291187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F2E10AC-047A-24B5-95F9-2979B0526533}"/>
              </a:ext>
            </a:extLst>
          </p:cNvPr>
          <p:cNvCxnSpPr/>
          <p:nvPr/>
        </p:nvCxnSpPr>
        <p:spPr>
          <a:xfrm>
            <a:off x="994299" y="4287915"/>
            <a:ext cx="389729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01C6A4A-933A-7EF6-A2E4-2724640A398D}"/>
              </a:ext>
            </a:extLst>
          </p:cNvPr>
          <p:cNvSpPr txBox="1"/>
          <p:nvPr/>
        </p:nvSpPr>
        <p:spPr>
          <a:xfrm>
            <a:off x="683580" y="2175030"/>
            <a:ext cx="967666" cy="307777"/>
          </a:xfrm>
          <a:prstGeom prst="rect">
            <a:avLst/>
          </a:prstGeom>
          <a:noFill/>
        </p:spPr>
        <p:txBody>
          <a:bodyPr wrap="square" rtlCol="0">
            <a:spAutoFit/>
          </a:bodyPr>
          <a:lstStyle/>
          <a:p>
            <a:r>
              <a:rPr lang="en-US" b="1" dirty="0">
                <a:solidFill>
                  <a:schemeClr val="bg2"/>
                </a:solidFill>
                <a:latin typeface="Open Sans" panose="020B0606030504020204" pitchFamily="34" charset="0"/>
                <a:ea typeface="Open Sans" panose="020B0606030504020204" pitchFamily="34" charset="0"/>
                <a:cs typeface="Open Sans" panose="020B0606030504020204" pitchFamily="34" charset="0"/>
              </a:rPr>
              <a:t>Medical</a:t>
            </a:r>
          </a:p>
        </p:txBody>
      </p:sp>
      <p:sp>
        <p:nvSpPr>
          <p:cNvPr id="11" name="TextBox 10">
            <a:extLst>
              <a:ext uri="{FF2B5EF4-FFF2-40B4-BE49-F238E27FC236}">
                <a16:creationId xmlns:a16="http://schemas.microsoft.com/office/drawing/2014/main" id="{74D8CEE5-E97F-A876-5926-9CCD5C43E175}"/>
              </a:ext>
            </a:extLst>
          </p:cNvPr>
          <p:cNvSpPr txBox="1"/>
          <p:nvPr/>
        </p:nvSpPr>
        <p:spPr>
          <a:xfrm>
            <a:off x="4038360" y="4287915"/>
            <a:ext cx="2068495" cy="307777"/>
          </a:xfrm>
          <a:prstGeom prst="rect">
            <a:avLst/>
          </a:prstGeom>
          <a:noFill/>
        </p:spPr>
        <p:txBody>
          <a:bodyPr wrap="square" rtlCol="0">
            <a:spAutoFit/>
          </a:bodyPr>
          <a:lstStyle/>
          <a:p>
            <a:r>
              <a:rPr lang="en-US" b="1" dirty="0">
                <a:solidFill>
                  <a:schemeClr val="bg2"/>
                </a:solidFill>
              </a:rPr>
              <a:t>Computer Science</a:t>
            </a:r>
          </a:p>
        </p:txBody>
      </p:sp>
      <p:cxnSp>
        <p:nvCxnSpPr>
          <p:cNvPr id="13" name="Straight Arrow Connector 12">
            <a:extLst>
              <a:ext uri="{FF2B5EF4-FFF2-40B4-BE49-F238E27FC236}">
                <a16:creationId xmlns:a16="http://schemas.microsoft.com/office/drawing/2014/main" id="{25D02B44-1F84-402B-C1D5-36EE27671BD5}"/>
              </a:ext>
            </a:extLst>
          </p:cNvPr>
          <p:cNvCxnSpPr>
            <a:cxnSpLocks/>
          </p:cNvCxnSpPr>
          <p:nvPr/>
        </p:nvCxnSpPr>
        <p:spPr>
          <a:xfrm flipV="1">
            <a:off x="1526959" y="2175030"/>
            <a:ext cx="248575" cy="211288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8A00C971-0A7E-5DAA-91A9-24CD0531FB9A}"/>
              </a:ext>
            </a:extLst>
          </p:cNvPr>
          <p:cNvCxnSpPr>
            <a:cxnSpLocks/>
          </p:cNvCxnSpPr>
          <p:nvPr/>
        </p:nvCxnSpPr>
        <p:spPr>
          <a:xfrm flipV="1">
            <a:off x="1526959" y="2743200"/>
            <a:ext cx="648070" cy="154471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660AB5AC-AB43-BA24-06FF-6327825FC40D}"/>
              </a:ext>
            </a:extLst>
          </p:cNvPr>
          <p:cNvCxnSpPr>
            <a:cxnSpLocks/>
          </p:cNvCxnSpPr>
          <p:nvPr/>
        </p:nvCxnSpPr>
        <p:spPr>
          <a:xfrm flipV="1">
            <a:off x="1526959" y="4074850"/>
            <a:ext cx="3222594" cy="21306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a:extLst>
              <a:ext uri="{FF2B5EF4-FFF2-40B4-BE49-F238E27FC236}">
                <a16:creationId xmlns:a16="http://schemas.microsoft.com/office/drawing/2014/main" id="{76926678-4BB5-98B0-05B8-E302E16CE7A2}"/>
              </a:ext>
            </a:extLst>
          </p:cNvPr>
          <p:cNvCxnSpPr>
            <a:cxnSpLocks/>
          </p:cNvCxnSpPr>
          <p:nvPr/>
        </p:nvCxnSpPr>
        <p:spPr>
          <a:xfrm flipV="1">
            <a:off x="1526959" y="3586579"/>
            <a:ext cx="2290439" cy="70133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7E9E22C-AA35-A705-8E6C-1794F9AC0D53}"/>
                  </a:ext>
                </a:extLst>
              </p:cNvPr>
              <p:cNvSpPr txBox="1"/>
              <p:nvPr/>
            </p:nvSpPr>
            <p:spPr>
              <a:xfrm>
                <a:off x="1642364" y="1935331"/>
                <a:ext cx="28408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m:oMathPara>
                </a14:m>
                <a:endParaRPr lang="en-US" b="0" dirty="0"/>
              </a:p>
              <a:p>
                <a:endParaRPr lang="en-US" dirty="0"/>
              </a:p>
            </p:txBody>
          </p:sp>
        </mc:Choice>
        <mc:Fallback xmlns="">
          <p:sp>
            <p:nvSpPr>
              <p:cNvPr id="26" name="TextBox 25">
                <a:extLst>
                  <a:ext uri="{FF2B5EF4-FFF2-40B4-BE49-F238E27FC236}">
                    <a16:creationId xmlns:a16="http://schemas.microsoft.com/office/drawing/2014/main" id="{E7E9E22C-AA35-A705-8E6C-1794F9AC0D53}"/>
                  </a:ext>
                </a:extLst>
              </p:cNvPr>
              <p:cNvSpPr txBox="1">
                <a:spLocks noRot="1" noChangeAspect="1" noMove="1" noResize="1" noEditPoints="1" noAdjustHandles="1" noChangeArrowheads="1" noChangeShapeType="1" noTextEdit="1"/>
              </p:cNvSpPr>
              <p:nvPr/>
            </p:nvSpPr>
            <p:spPr>
              <a:xfrm>
                <a:off x="1642364" y="1935331"/>
                <a:ext cx="284085" cy="523220"/>
              </a:xfrm>
              <a:prstGeom prst="rect">
                <a:avLst/>
              </a:prstGeom>
              <a:blipFill>
                <a:blip r:embed="rId3"/>
                <a:stretch>
                  <a:fillRect r="-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8DFBA46-D512-BE1C-068A-3BC0B75E956F}"/>
                  </a:ext>
                </a:extLst>
              </p:cNvPr>
              <p:cNvSpPr txBox="1"/>
              <p:nvPr/>
            </p:nvSpPr>
            <p:spPr>
              <a:xfrm>
                <a:off x="2086254" y="2426170"/>
                <a:ext cx="28408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oMath>
                  </m:oMathPara>
                </a14:m>
                <a:endParaRPr lang="en-US" b="0" dirty="0"/>
              </a:p>
              <a:p>
                <a:endParaRPr lang="en-US" dirty="0"/>
              </a:p>
            </p:txBody>
          </p:sp>
        </mc:Choice>
        <mc:Fallback xmlns="">
          <p:sp>
            <p:nvSpPr>
              <p:cNvPr id="27" name="TextBox 26">
                <a:extLst>
                  <a:ext uri="{FF2B5EF4-FFF2-40B4-BE49-F238E27FC236}">
                    <a16:creationId xmlns:a16="http://schemas.microsoft.com/office/drawing/2014/main" id="{F8DFBA46-D512-BE1C-068A-3BC0B75E956F}"/>
                  </a:ext>
                </a:extLst>
              </p:cNvPr>
              <p:cNvSpPr txBox="1">
                <a:spLocks noRot="1" noChangeAspect="1" noMove="1" noResize="1" noEditPoints="1" noAdjustHandles="1" noChangeArrowheads="1" noChangeShapeType="1" noTextEdit="1"/>
              </p:cNvSpPr>
              <p:nvPr/>
            </p:nvSpPr>
            <p:spPr>
              <a:xfrm>
                <a:off x="2086254" y="2426170"/>
                <a:ext cx="284085" cy="523220"/>
              </a:xfrm>
              <a:prstGeom prst="rect">
                <a:avLst/>
              </a:prstGeom>
              <a:blipFill>
                <a:blip r:embed="rId4"/>
                <a:stretch>
                  <a:fillRect r="-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F361028-EA06-8F6C-AC6B-5AA406268872}"/>
                  </a:ext>
                </a:extLst>
              </p:cNvPr>
              <p:cNvSpPr txBox="1"/>
              <p:nvPr/>
            </p:nvSpPr>
            <p:spPr>
              <a:xfrm>
                <a:off x="3785837" y="3353955"/>
                <a:ext cx="28408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3</m:t>
                          </m:r>
                        </m:sub>
                      </m:sSub>
                    </m:oMath>
                  </m:oMathPara>
                </a14:m>
                <a:endParaRPr lang="en-US" b="0" dirty="0"/>
              </a:p>
              <a:p>
                <a:endParaRPr lang="en-US" dirty="0"/>
              </a:p>
            </p:txBody>
          </p:sp>
        </mc:Choice>
        <mc:Fallback xmlns="">
          <p:sp>
            <p:nvSpPr>
              <p:cNvPr id="28" name="TextBox 27">
                <a:extLst>
                  <a:ext uri="{FF2B5EF4-FFF2-40B4-BE49-F238E27FC236}">
                    <a16:creationId xmlns:a16="http://schemas.microsoft.com/office/drawing/2014/main" id="{4F361028-EA06-8F6C-AC6B-5AA406268872}"/>
                  </a:ext>
                </a:extLst>
              </p:cNvPr>
              <p:cNvSpPr txBox="1">
                <a:spLocks noRot="1" noChangeAspect="1" noMove="1" noResize="1" noEditPoints="1" noAdjustHandles="1" noChangeArrowheads="1" noChangeShapeType="1" noTextEdit="1"/>
              </p:cNvSpPr>
              <p:nvPr/>
            </p:nvSpPr>
            <p:spPr>
              <a:xfrm>
                <a:off x="3785837" y="3353955"/>
                <a:ext cx="284085" cy="523220"/>
              </a:xfrm>
              <a:prstGeom prst="rect">
                <a:avLst/>
              </a:prstGeom>
              <a:blipFill>
                <a:blip r:embed="rId5"/>
                <a:stretch>
                  <a:fillRect r="-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49419B5-3CB5-AA2A-61A1-C027F7BA43F7}"/>
                  </a:ext>
                </a:extLst>
              </p:cNvPr>
              <p:cNvSpPr txBox="1"/>
              <p:nvPr/>
            </p:nvSpPr>
            <p:spPr>
              <a:xfrm>
                <a:off x="4749553" y="3912405"/>
                <a:ext cx="28408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4</m:t>
                          </m:r>
                        </m:sub>
                      </m:sSub>
                    </m:oMath>
                  </m:oMathPara>
                </a14:m>
                <a:endParaRPr lang="en-US" b="0" dirty="0"/>
              </a:p>
              <a:p>
                <a:endParaRPr lang="en-US" dirty="0"/>
              </a:p>
            </p:txBody>
          </p:sp>
        </mc:Choice>
        <mc:Fallback xmlns="">
          <p:sp>
            <p:nvSpPr>
              <p:cNvPr id="29" name="TextBox 28">
                <a:extLst>
                  <a:ext uri="{FF2B5EF4-FFF2-40B4-BE49-F238E27FC236}">
                    <a16:creationId xmlns:a16="http://schemas.microsoft.com/office/drawing/2014/main" id="{349419B5-3CB5-AA2A-61A1-C027F7BA43F7}"/>
                  </a:ext>
                </a:extLst>
              </p:cNvPr>
              <p:cNvSpPr txBox="1">
                <a:spLocks noRot="1" noChangeAspect="1" noMove="1" noResize="1" noEditPoints="1" noAdjustHandles="1" noChangeArrowheads="1" noChangeShapeType="1" noTextEdit="1"/>
              </p:cNvSpPr>
              <p:nvPr/>
            </p:nvSpPr>
            <p:spPr>
              <a:xfrm>
                <a:off x="4749553" y="3912405"/>
                <a:ext cx="284085" cy="523220"/>
              </a:xfrm>
              <a:prstGeom prst="rect">
                <a:avLst/>
              </a:prstGeom>
              <a:blipFill>
                <a:blip r:embed="rId6"/>
                <a:stretch>
                  <a:fillRect r="-4167"/>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95FF3AF-FEF6-946C-5499-43D115315E49}"/>
              </a:ext>
            </a:extLst>
          </p:cNvPr>
          <p:cNvSpPr txBox="1"/>
          <p:nvPr/>
        </p:nvSpPr>
        <p:spPr>
          <a:xfrm>
            <a:off x="4492101" y="2246533"/>
            <a:ext cx="3364637" cy="523220"/>
          </a:xfrm>
          <a:prstGeom prst="rect">
            <a:avLst/>
          </a:prstGeom>
          <a:noFill/>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Cosine similarity will correspond to semantic similarity!</a:t>
            </a:r>
          </a:p>
        </p:txBody>
      </p:sp>
    </p:spTree>
    <p:extLst>
      <p:ext uri="{BB962C8B-B14F-4D97-AF65-F5344CB8AC3E}">
        <p14:creationId xmlns:p14="http://schemas.microsoft.com/office/powerpoint/2010/main" val="271981779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07D63-3725-7A11-8E57-99051CD8A6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A7DCE-FC97-DE0B-07AD-12FEED32028B}"/>
              </a:ext>
            </a:extLst>
          </p:cNvPr>
          <p:cNvSpPr>
            <a:spLocks noGrp="1"/>
          </p:cNvSpPr>
          <p:nvPr>
            <p:ph type="title"/>
          </p:nvPr>
        </p:nvSpPr>
        <p:spPr/>
        <p:txBody>
          <a:bodyPr>
            <a:normAutofit fontScale="90000"/>
          </a:bodyPr>
          <a:lstStyle/>
          <a:p>
            <a:r>
              <a:rPr lang="en-US" dirty="0"/>
              <a:t>Interpreting results of LSA: Cosine Similarity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39EE8AB-2D0C-C85D-95AC-39E335686D2C}"/>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m:oMathPara>
                </a14:m>
                <a:endParaRPr lang="en-US" b="0" dirty="0"/>
              </a:p>
              <a:p>
                <a:pPr marL="114300" indent="0">
                  <a:buNone/>
                </a:pPr>
                <a:r>
                  <a:rPr lang="en-US" dirty="0"/>
                  <a:t>Example for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=2</m:t>
                    </m:r>
                  </m:oMath>
                </a14:m>
                <a:endParaRPr lang="en-US" dirty="0"/>
              </a:p>
            </p:txBody>
          </p:sp>
        </mc:Choice>
        <mc:Fallback xmlns="">
          <p:sp>
            <p:nvSpPr>
              <p:cNvPr id="3" name="Text Placeholder 2">
                <a:extLst>
                  <a:ext uri="{FF2B5EF4-FFF2-40B4-BE49-F238E27FC236}">
                    <a16:creationId xmlns:a16="http://schemas.microsoft.com/office/drawing/2014/main" id="{E39EE8AB-2D0C-C85D-95AC-39E335686D2C}"/>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4C02EBB7-8FC5-22FE-0B69-4A517938DC6B}"/>
              </a:ext>
            </a:extLst>
          </p:cNvPr>
          <p:cNvCxnSpPr/>
          <p:nvPr/>
        </p:nvCxnSpPr>
        <p:spPr>
          <a:xfrm>
            <a:off x="1526959" y="2095130"/>
            <a:ext cx="0" cy="291187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7C21A96-5FA3-DAA4-F72E-CD080237FC93}"/>
              </a:ext>
            </a:extLst>
          </p:cNvPr>
          <p:cNvCxnSpPr/>
          <p:nvPr/>
        </p:nvCxnSpPr>
        <p:spPr>
          <a:xfrm>
            <a:off x="994299" y="4287915"/>
            <a:ext cx="389729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769B14A-4D6C-8907-6292-108D63302491}"/>
              </a:ext>
            </a:extLst>
          </p:cNvPr>
          <p:cNvSpPr txBox="1"/>
          <p:nvPr/>
        </p:nvSpPr>
        <p:spPr>
          <a:xfrm>
            <a:off x="683580" y="2175030"/>
            <a:ext cx="967666" cy="307777"/>
          </a:xfrm>
          <a:prstGeom prst="rect">
            <a:avLst/>
          </a:prstGeom>
          <a:noFill/>
        </p:spPr>
        <p:txBody>
          <a:bodyPr wrap="square" rtlCol="0">
            <a:spAutoFit/>
          </a:bodyPr>
          <a:lstStyle/>
          <a:p>
            <a:r>
              <a:rPr lang="en-US" b="1" dirty="0">
                <a:solidFill>
                  <a:schemeClr val="bg2"/>
                </a:solidFill>
                <a:latin typeface="Open Sans" panose="020B0606030504020204" pitchFamily="34" charset="0"/>
                <a:ea typeface="Open Sans" panose="020B0606030504020204" pitchFamily="34" charset="0"/>
                <a:cs typeface="Open Sans" panose="020B0606030504020204" pitchFamily="34" charset="0"/>
              </a:rPr>
              <a:t>Medical</a:t>
            </a:r>
          </a:p>
        </p:txBody>
      </p:sp>
      <p:sp>
        <p:nvSpPr>
          <p:cNvPr id="11" name="TextBox 10">
            <a:extLst>
              <a:ext uri="{FF2B5EF4-FFF2-40B4-BE49-F238E27FC236}">
                <a16:creationId xmlns:a16="http://schemas.microsoft.com/office/drawing/2014/main" id="{D7839EE7-D3E6-D7DF-89BE-769E7C900A15}"/>
              </a:ext>
            </a:extLst>
          </p:cNvPr>
          <p:cNvSpPr txBox="1"/>
          <p:nvPr/>
        </p:nvSpPr>
        <p:spPr>
          <a:xfrm>
            <a:off x="4038360" y="4287915"/>
            <a:ext cx="2068495" cy="307777"/>
          </a:xfrm>
          <a:prstGeom prst="rect">
            <a:avLst/>
          </a:prstGeom>
          <a:noFill/>
        </p:spPr>
        <p:txBody>
          <a:bodyPr wrap="square" rtlCol="0">
            <a:spAutoFit/>
          </a:bodyPr>
          <a:lstStyle/>
          <a:p>
            <a:r>
              <a:rPr lang="en-US" b="1" dirty="0">
                <a:solidFill>
                  <a:schemeClr val="bg2"/>
                </a:solidFill>
              </a:rPr>
              <a:t>Computer Science</a:t>
            </a:r>
          </a:p>
        </p:txBody>
      </p:sp>
      <p:cxnSp>
        <p:nvCxnSpPr>
          <p:cNvPr id="13" name="Straight Arrow Connector 12">
            <a:extLst>
              <a:ext uri="{FF2B5EF4-FFF2-40B4-BE49-F238E27FC236}">
                <a16:creationId xmlns:a16="http://schemas.microsoft.com/office/drawing/2014/main" id="{58C12657-C2CB-B16A-0D84-CDCFE22C6E3B}"/>
              </a:ext>
            </a:extLst>
          </p:cNvPr>
          <p:cNvCxnSpPr>
            <a:cxnSpLocks/>
          </p:cNvCxnSpPr>
          <p:nvPr/>
        </p:nvCxnSpPr>
        <p:spPr>
          <a:xfrm flipV="1">
            <a:off x="1526959" y="2175030"/>
            <a:ext cx="248575" cy="211288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F1949727-666E-54F7-70EA-4DE8077F44EA}"/>
              </a:ext>
            </a:extLst>
          </p:cNvPr>
          <p:cNvCxnSpPr>
            <a:cxnSpLocks/>
          </p:cNvCxnSpPr>
          <p:nvPr/>
        </p:nvCxnSpPr>
        <p:spPr>
          <a:xfrm flipV="1">
            <a:off x="1526959" y="2743200"/>
            <a:ext cx="648070" cy="154471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7278BC0A-4A07-8184-4D18-D26E5D8A2BAD}"/>
              </a:ext>
            </a:extLst>
          </p:cNvPr>
          <p:cNvCxnSpPr>
            <a:cxnSpLocks/>
          </p:cNvCxnSpPr>
          <p:nvPr/>
        </p:nvCxnSpPr>
        <p:spPr>
          <a:xfrm flipV="1">
            <a:off x="1526959" y="4074850"/>
            <a:ext cx="3222594" cy="21306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a:extLst>
              <a:ext uri="{FF2B5EF4-FFF2-40B4-BE49-F238E27FC236}">
                <a16:creationId xmlns:a16="http://schemas.microsoft.com/office/drawing/2014/main" id="{8F1FC9ED-A22A-E7BD-0A5B-100FCB3AFD0E}"/>
              </a:ext>
            </a:extLst>
          </p:cNvPr>
          <p:cNvCxnSpPr>
            <a:cxnSpLocks/>
          </p:cNvCxnSpPr>
          <p:nvPr/>
        </p:nvCxnSpPr>
        <p:spPr>
          <a:xfrm flipV="1">
            <a:off x="1526959" y="3586579"/>
            <a:ext cx="2290439" cy="70133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FAA5627-2F2F-62C9-7ADE-4BF960A08C74}"/>
                  </a:ext>
                </a:extLst>
              </p:cNvPr>
              <p:cNvSpPr txBox="1"/>
              <p:nvPr/>
            </p:nvSpPr>
            <p:spPr>
              <a:xfrm>
                <a:off x="1642364" y="1935331"/>
                <a:ext cx="28408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m:oMathPara>
                </a14:m>
                <a:endParaRPr lang="en-US" b="0" dirty="0"/>
              </a:p>
              <a:p>
                <a:endParaRPr lang="en-US" dirty="0"/>
              </a:p>
            </p:txBody>
          </p:sp>
        </mc:Choice>
        <mc:Fallback xmlns="">
          <p:sp>
            <p:nvSpPr>
              <p:cNvPr id="26" name="TextBox 25">
                <a:extLst>
                  <a:ext uri="{FF2B5EF4-FFF2-40B4-BE49-F238E27FC236}">
                    <a16:creationId xmlns:a16="http://schemas.microsoft.com/office/drawing/2014/main" id="{8FAA5627-2F2F-62C9-7ADE-4BF960A08C74}"/>
                  </a:ext>
                </a:extLst>
              </p:cNvPr>
              <p:cNvSpPr txBox="1">
                <a:spLocks noRot="1" noChangeAspect="1" noMove="1" noResize="1" noEditPoints="1" noAdjustHandles="1" noChangeArrowheads="1" noChangeShapeType="1" noTextEdit="1"/>
              </p:cNvSpPr>
              <p:nvPr/>
            </p:nvSpPr>
            <p:spPr>
              <a:xfrm>
                <a:off x="1642364" y="1935331"/>
                <a:ext cx="284085" cy="523220"/>
              </a:xfrm>
              <a:prstGeom prst="rect">
                <a:avLst/>
              </a:prstGeom>
              <a:blipFill>
                <a:blip r:embed="rId3"/>
                <a:stretch>
                  <a:fillRect r="-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D5FDBCE-4B62-C761-F15D-1AFB9F6DA358}"/>
                  </a:ext>
                </a:extLst>
              </p:cNvPr>
              <p:cNvSpPr txBox="1"/>
              <p:nvPr/>
            </p:nvSpPr>
            <p:spPr>
              <a:xfrm>
                <a:off x="2086254" y="2426170"/>
                <a:ext cx="28408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oMath>
                  </m:oMathPara>
                </a14:m>
                <a:endParaRPr lang="en-US" b="0" dirty="0"/>
              </a:p>
              <a:p>
                <a:endParaRPr lang="en-US" dirty="0"/>
              </a:p>
            </p:txBody>
          </p:sp>
        </mc:Choice>
        <mc:Fallback xmlns="">
          <p:sp>
            <p:nvSpPr>
              <p:cNvPr id="27" name="TextBox 26">
                <a:extLst>
                  <a:ext uri="{FF2B5EF4-FFF2-40B4-BE49-F238E27FC236}">
                    <a16:creationId xmlns:a16="http://schemas.microsoft.com/office/drawing/2014/main" id="{BD5FDBCE-4B62-C761-F15D-1AFB9F6DA358}"/>
                  </a:ext>
                </a:extLst>
              </p:cNvPr>
              <p:cNvSpPr txBox="1">
                <a:spLocks noRot="1" noChangeAspect="1" noMove="1" noResize="1" noEditPoints="1" noAdjustHandles="1" noChangeArrowheads="1" noChangeShapeType="1" noTextEdit="1"/>
              </p:cNvSpPr>
              <p:nvPr/>
            </p:nvSpPr>
            <p:spPr>
              <a:xfrm>
                <a:off x="2086254" y="2426170"/>
                <a:ext cx="284085" cy="523220"/>
              </a:xfrm>
              <a:prstGeom prst="rect">
                <a:avLst/>
              </a:prstGeom>
              <a:blipFill>
                <a:blip r:embed="rId4"/>
                <a:stretch>
                  <a:fillRect r="-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1C40F4D-C28C-4B86-52D4-09AF57DED85B}"/>
                  </a:ext>
                </a:extLst>
              </p:cNvPr>
              <p:cNvSpPr txBox="1"/>
              <p:nvPr/>
            </p:nvSpPr>
            <p:spPr>
              <a:xfrm>
                <a:off x="3785837" y="3353955"/>
                <a:ext cx="28408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3</m:t>
                          </m:r>
                        </m:sub>
                      </m:sSub>
                    </m:oMath>
                  </m:oMathPara>
                </a14:m>
                <a:endParaRPr lang="en-US" b="0" dirty="0"/>
              </a:p>
              <a:p>
                <a:endParaRPr lang="en-US" dirty="0"/>
              </a:p>
            </p:txBody>
          </p:sp>
        </mc:Choice>
        <mc:Fallback xmlns="">
          <p:sp>
            <p:nvSpPr>
              <p:cNvPr id="28" name="TextBox 27">
                <a:extLst>
                  <a:ext uri="{FF2B5EF4-FFF2-40B4-BE49-F238E27FC236}">
                    <a16:creationId xmlns:a16="http://schemas.microsoft.com/office/drawing/2014/main" id="{71C40F4D-C28C-4B86-52D4-09AF57DED85B}"/>
                  </a:ext>
                </a:extLst>
              </p:cNvPr>
              <p:cNvSpPr txBox="1">
                <a:spLocks noRot="1" noChangeAspect="1" noMove="1" noResize="1" noEditPoints="1" noAdjustHandles="1" noChangeArrowheads="1" noChangeShapeType="1" noTextEdit="1"/>
              </p:cNvSpPr>
              <p:nvPr/>
            </p:nvSpPr>
            <p:spPr>
              <a:xfrm>
                <a:off x="3785837" y="3353955"/>
                <a:ext cx="284085" cy="523220"/>
              </a:xfrm>
              <a:prstGeom prst="rect">
                <a:avLst/>
              </a:prstGeom>
              <a:blipFill>
                <a:blip r:embed="rId5"/>
                <a:stretch>
                  <a:fillRect r="-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EC732C1-4B7A-69F3-25FB-DD5E2A0D8F7C}"/>
                  </a:ext>
                </a:extLst>
              </p:cNvPr>
              <p:cNvSpPr txBox="1"/>
              <p:nvPr/>
            </p:nvSpPr>
            <p:spPr>
              <a:xfrm>
                <a:off x="4749553" y="3912405"/>
                <a:ext cx="28408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4</m:t>
                          </m:r>
                        </m:sub>
                      </m:sSub>
                    </m:oMath>
                  </m:oMathPara>
                </a14:m>
                <a:endParaRPr lang="en-US" b="0" dirty="0"/>
              </a:p>
              <a:p>
                <a:endParaRPr lang="en-US" dirty="0"/>
              </a:p>
            </p:txBody>
          </p:sp>
        </mc:Choice>
        <mc:Fallback xmlns="">
          <p:sp>
            <p:nvSpPr>
              <p:cNvPr id="29" name="TextBox 28">
                <a:extLst>
                  <a:ext uri="{FF2B5EF4-FFF2-40B4-BE49-F238E27FC236}">
                    <a16:creationId xmlns:a16="http://schemas.microsoft.com/office/drawing/2014/main" id="{DEC732C1-4B7A-69F3-25FB-DD5E2A0D8F7C}"/>
                  </a:ext>
                </a:extLst>
              </p:cNvPr>
              <p:cNvSpPr txBox="1">
                <a:spLocks noRot="1" noChangeAspect="1" noMove="1" noResize="1" noEditPoints="1" noAdjustHandles="1" noChangeArrowheads="1" noChangeShapeType="1" noTextEdit="1"/>
              </p:cNvSpPr>
              <p:nvPr/>
            </p:nvSpPr>
            <p:spPr>
              <a:xfrm>
                <a:off x="4749553" y="3912405"/>
                <a:ext cx="284085" cy="523220"/>
              </a:xfrm>
              <a:prstGeom prst="rect">
                <a:avLst/>
              </a:prstGeom>
              <a:blipFill>
                <a:blip r:embed="rId6"/>
                <a:stretch>
                  <a:fillRect r="-4167"/>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789E1061-46CF-5486-9E32-731648790EE7}"/>
              </a:ext>
            </a:extLst>
          </p:cNvPr>
          <p:cNvSpPr txBox="1"/>
          <p:nvPr/>
        </p:nvSpPr>
        <p:spPr>
          <a:xfrm>
            <a:off x="4492101" y="2246533"/>
            <a:ext cx="3968319" cy="954107"/>
          </a:xfrm>
          <a:prstGeom prst="rect">
            <a:avLst/>
          </a:prstGeom>
          <a:noFill/>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Cosine similarity will correspond to semantic similarity! </a:t>
            </a:r>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sym typeface="Wingdings" pitchFamily="2" charset="2"/>
              </a:rPr>
              <a:t> Each document exists in our latent semantic space and similar documents are close to one another!</a:t>
            </a:r>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9617277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6505F-1FD2-C30C-D7CF-C102A43190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AFFD4D-D8E4-5075-0EAE-9D73F83F0834}"/>
              </a:ext>
            </a:extLst>
          </p:cNvPr>
          <p:cNvSpPr>
            <a:spLocks noGrp="1"/>
          </p:cNvSpPr>
          <p:nvPr>
            <p:ph type="title"/>
          </p:nvPr>
        </p:nvSpPr>
        <p:spPr/>
        <p:txBody>
          <a:bodyPr>
            <a:normAutofit fontScale="90000"/>
          </a:bodyPr>
          <a:lstStyle/>
          <a:p>
            <a:r>
              <a:rPr lang="en-US" dirty="0"/>
              <a:t>Interpreting results of LSA: Cosine Similarity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C7D28B7-E01F-EECE-C202-00EAF5FBFD8B}"/>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m:oMathPara>
                </a14:m>
                <a:endParaRPr lang="en-US" b="0" dirty="0"/>
              </a:p>
              <a:p>
                <a:pPr marL="114300" indent="0">
                  <a:buNone/>
                </a:pPr>
                <a:r>
                  <a:rPr lang="en-US" dirty="0"/>
                  <a:t>Example for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=2</m:t>
                    </m:r>
                  </m:oMath>
                </a14:m>
                <a:endParaRPr lang="en-US" dirty="0"/>
              </a:p>
            </p:txBody>
          </p:sp>
        </mc:Choice>
        <mc:Fallback xmlns="">
          <p:sp>
            <p:nvSpPr>
              <p:cNvPr id="3" name="Text Placeholder 2">
                <a:extLst>
                  <a:ext uri="{FF2B5EF4-FFF2-40B4-BE49-F238E27FC236}">
                    <a16:creationId xmlns:a16="http://schemas.microsoft.com/office/drawing/2014/main" id="{1C7D28B7-E01F-EECE-C202-00EAF5FBFD8B}"/>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8643E4B5-7BC0-CAC0-1D05-4A38D75BF3F9}"/>
              </a:ext>
            </a:extLst>
          </p:cNvPr>
          <p:cNvCxnSpPr/>
          <p:nvPr/>
        </p:nvCxnSpPr>
        <p:spPr>
          <a:xfrm>
            <a:off x="1526959" y="2095130"/>
            <a:ext cx="0" cy="291187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76E8E57-F1A6-83B2-A4CD-6AE1CE11E58A}"/>
              </a:ext>
            </a:extLst>
          </p:cNvPr>
          <p:cNvCxnSpPr/>
          <p:nvPr/>
        </p:nvCxnSpPr>
        <p:spPr>
          <a:xfrm>
            <a:off x="994299" y="4287915"/>
            <a:ext cx="389729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2F165F8-E784-16CE-CBCC-65E829332C55}"/>
              </a:ext>
            </a:extLst>
          </p:cNvPr>
          <p:cNvSpPr txBox="1"/>
          <p:nvPr/>
        </p:nvSpPr>
        <p:spPr>
          <a:xfrm>
            <a:off x="683580" y="2175030"/>
            <a:ext cx="967666" cy="307777"/>
          </a:xfrm>
          <a:prstGeom prst="rect">
            <a:avLst/>
          </a:prstGeom>
          <a:noFill/>
        </p:spPr>
        <p:txBody>
          <a:bodyPr wrap="square" rtlCol="0">
            <a:spAutoFit/>
          </a:bodyPr>
          <a:lstStyle/>
          <a:p>
            <a:r>
              <a:rPr lang="en-US" b="1" dirty="0">
                <a:solidFill>
                  <a:schemeClr val="bg2"/>
                </a:solidFill>
                <a:latin typeface="Open Sans" panose="020B0606030504020204" pitchFamily="34" charset="0"/>
                <a:ea typeface="Open Sans" panose="020B0606030504020204" pitchFamily="34" charset="0"/>
                <a:cs typeface="Open Sans" panose="020B0606030504020204" pitchFamily="34" charset="0"/>
              </a:rPr>
              <a:t>Medical</a:t>
            </a:r>
          </a:p>
        </p:txBody>
      </p:sp>
      <p:sp>
        <p:nvSpPr>
          <p:cNvPr id="11" name="TextBox 10">
            <a:extLst>
              <a:ext uri="{FF2B5EF4-FFF2-40B4-BE49-F238E27FC236}">
                <a16:creationId xmlns:a16="http://schemas.microsoft.com/office/drawing/2014/main" id="{3349A3C9-9B37-48F2-5A75-BDD973E68653}"/>
              </a:ext>
            </a:extLst>
          </p:cNvPr>
          <p:cNvSpPr txBox="1"/>
          <p:nvPr/>
        </p:nvSpPr>
        <p:spPr>
          <a:xfrm>
            <a:off x="4038360" y="4287915"/>
            <a:ext cx="2068495" cy="307777"/>
          </a:xfrm>
          <a:prstGeom prst="rect">
            <a:avLst/>
          </a:prstGeom>
          <a:noFill/>
        </p:spPr>
        <p:txBody>
          <a:bodyPr wrap="square" rtlCol="0">
            <a:spAutoFit/>
          </a:bodyPr>
          <a:lstStyle/>
          <a:p>
            <a:r>
              <a:rPr lang="en-US" b="1" dirty="0">
                <a:solidFill>
                  <a:schemeClr val="bg2"/>
                </a:solidFill>
              </a:rPr>
              <a:t>Computer Science</a:t>
            </a:r>
          </a:p>
        </p:txBody>
      </p:sp>
      <p:cxnSp>
        <p:nvCxnSpPr>
          <p:cNvPr id="13" name="Straight Arrow Connector 12">
            <a:extLst>
              <a:ext uri="{FF2B5EF4-FFF2-40B4-BE49-F238E27FC236}">
                <a16:creationId xmlns:a16="http://schemas.microsoft.com/office/drawing/2014/main" id="{4D6E5B19-5AE8-BC81-9E38-918448E4C37A}"/>
              </a:ext>
            </a:extLst>
          </p:cNvPr>
          <p:cNvCxnSpPr>
            <a:cxnSpLocks/>
          </p:cNvCxnSpPr>
          <p:nvPr/>
        </p:nvCxnSpPr>
        <p:spPr>
          <a:xfrm flipV="1">
            <a:off x="1526959" y="2175030"/>
            <a:ext cx="248575" cy="211288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CEB380EE-DEFD-E45E-B0BF-66D2CCBE49D4}"/>
              </a:ext>
            </a:extLst>
          </p:cNvPr>
          <p:cNvCxnSpPr>
            <a:cxnSpLocks/>
          </p:cNvCxnSpPr>
          <p:nvPr/>
        </p:nvCxnSpPr>
        <p:spPr>
          <a:xfrm flipV="1">
            <a:off x="1526959" y="2743200"/>
            <a:ext cx="648070" cy="154471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E3BFA7F7-CE69-655A-2E18-1C2F9DC3D0FA}"/>
              </a:ext>
            </a:extLst>
          </p:cNvPr>
          <p:cNvCxnSpPr>
            <a:cxnSpLocks/>
          </p:cNvCxnSpPr>
          <p:nvPr/>
        </p:nvCxnSpPr>
        <p:spPr>
          <a:xfrm flipV="1">
            <a:off x="1526959" y="4074850"/>
            <a:ext cx="3222594" cy="21306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a:extLst>
              <a:ext uri="{FF2B5EF4-FFF2-40B4-BE49-F238E27FC236}">
                <a16:creationId xmlns:a16="http://schemas.microsoft.com/office/drawing/2014/main" id="{CF92F339-0F97-F028-A9D3-E1B14C17568F}"/>
              </a:ext>
            </a:extLst>
          </p:cNvPr>
          <p:cNvCxnSpPr>
            <a:cxnSpLocks/>
          </p:cNvCxnSpPr>
          <p:nvPr/>
        </p:nvCxnSpPr>
        <p:spPr>
          <a:xfrm flipV="1">
            <a:off x="1526959" y="3586579"/>
            <a:ext cx="2290439" cy="70133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2149FF3-D813-C5EB-4A8F-220068D61CE3}"/>
                  </a:ext>
                </a:extLst>
              </p:cNvPr>
              <p:cNvSpPr txBox="1"/>
              <p:nvPr/>
            </p:nvSpPr>
            <p:spPr>
              <a:xfrm>
                <a:off x="1642364" y="1935331"/>
                <a:ext cx="28408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m:oMathPara>
                </a14:m>
                <a:endParaRPr lang="en-US" b="0" dirty="0"/>
              </a:p>
              <a:p>
                <a:endParaRPr lang="en-US" dirty="0"/>
              </a:p>
            </p:txBody>
          </p:sp>
        </mc:Choice>
        <mc:Fallback xmlns="">
          <p:sp>
            <p:nvSpPr>
              <p:cNvPr id="26" name="TextBox 25">
                <a:extLst>
                  <a:ext uri="{FF2B5EF4-FFF2-40B4-BE49-F238E27FC236}">
                    <a16:creationId xmlns:a16="http://schemas.microsoft.com/office/drawing/2014/main" id="{F2149FF3-D813-C5EB-4A8F-220068D61CE3}"/>
                  </a:ext>
                </a:extLst>
              </p:cNvPr>
              <p:cNvSpPr txBox="1">
                <a:spLocks noRot="1" noChangeAspect="1" noMove="1" noResize="1" noEditPoints="1" noAdjustHandles="1" noChangeArrowheads="1" noChangeShapeType="1" noTextEdit="1"/>
              </p:cNvSpPr>
              <p:nvPr/>
            </p:nvSpPr>
            <p:spPr>
              <a:xfrm>
                <a:off x="1642364" y="1935331"/>
                <a:ext cx="284085" cy="523220"/>
              </a:xfrm>
              <a:prstGeom prst="rect">
                <a:avLst/>
              </a:prstGeom>
              <a:blipFill>
                <a:blip r:embed="rId3"/>
                <a:stretch>
                  <a:fillRect r="-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E9A300D-7FC6-AF4B-13BD-39B39E4469E3}"/>
                  </a:ext>
                </a:extLst>
              </p:cNvPr>
              <p:cNvSpPr txBox="1"/>
              <p:nvPr/>
            </p:nvSpPr>
            <p:spPr>
              <a:xfrm>
                <a:off x="2086254" y="2426170"/>
                <a:ext cx="28408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oMath>
                  </m:oMathPara>
                </a14:m>
                <a:endParaRPr lang="en-US" b="0" dirty="0"/>
              </a:p>
              <a:p>
                <a:endParaRPr lang="en-US" dirty="0"/>
              </a:p>
            </p:txBody>
          </p:sp>
        </mc:Choice>
        <mc:Fallback xmlns="">
          <p:sp>
            <p:nvSpPr>
              <p:cNvPr id="27" name="TextBox 26">
                <a:extLst>
                  <a:ext uri="{FF2B5EF4-FFF2-40B4-BE49-F238E27FC236}">
                    <a16:creationId xmlns:a16="http://schemas.microsoft.com/office/drawing/2014/main" id="{FE9A300D-7FC6-AF4B-13BD-39B39E4469E3}"/>
                  </a:ext>
                </a:extLst>
              </p:cNvPr>
              <p:cNvSpPr txBox="1">
                <a:spLocks noRot="1" noChangeAspect="1" noMove="1" noResize="1" noEditPoints="1" noAdjustHandles="1" noChangeArrowheads="1" noChangeShapeType="1" noTextEdit="1"/>
              </p:cNvSpPr>
              <p:nvPr/>
            </p:nvSpPr>
            <p:spPr>
              <a:xfrm>
                <a:off x="2086254" y="2426170"/>
                <a:ext cx="284085" cy="523220"/>
              </a:xfrm>
              <a:prstGeom prst="rect">
                <a:avLst/>
              </a:prstGeom>
              <a:blipFill>
                <a:blip r:embed="rId4"/>
                <a:stretch>
                  <a:fillRect r="-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1F5AE85-BDD0-2B48-544F-0EC66EDBB994}"/>
                  </a:ext>
                </a:extLst>
              </p:cNvPr>
              <p:cNvSpPr txBox="1"/>
              <p:nvPr/>
            </p:nvSpPr>
            <p:spPr>
              <a:xfrm>
                <a:off x="3785837" y="3353955"/>
                <a:ext cx="28408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3</m:t>
                          </m:r>
                        </m:sub>
                      </m:sSub>
                    </m:oMath>
                  </m:oMathPara>
                </a14:m>
                <a:endParaRPr lang="en-US" b="0" dirty="0"/>
              </a:p>
              <a:p>
                <a:endParaRPr lang="en-US" dirty="0"/>
              </a:p>
            </p:txBody>
          </p:sp>
        </mc:Choice>
        <mc:Fallback xmlns="">
          <p:sp>
            <p:nvSpPr>
              <p:cNvPr id="28" name="TextBox 27">
                <a:extLst>
                  <a:ext uri="{FF2B5EF4-FFF2-40B4-BE49-F238E27FC236}">
                    <a16:creationId xmlns:a16="http://schemas.microsoft.com/office/drawing/2014/main" id="{81F5AE85-BDD0-2B48-544F-0EC66EDBB994}"/>
                  </a:ext>
                </a:extLst>
              </p:cNvPr>
              <p:cNvSpPr txBox="1">
                <a:spLocks noRot="1" noChangeAspect="1" noMove="1" noResize="1" noEditPoints="1" noAdjustHandles="1" noChangeArrowheads="1" noChangeShapeType="1" noTextEdit="1"/>
              </p:cNvSpPr>
              <p:nvPr/>
            </p:nvSpPr>
            <p:spPr>
              <a:xfrm>
                <a:off x="3785837" y="3353955"/>
                <a:ext cx="284085" cy="523220"/>
              </a:xfrm>
              <a:prstGeom prst="rect">
                <a:avLst/>
              </a:prstGeom>
              <a:blipFill>
                <a:blip r:embed="rId5"/>
                <a:stretch>
                  <a:fillRect r="-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2DE16D8-D41E-0F8E-D3BF-B0BFC39CED54}"/>
                  </a:ext>
                </a:extLst>
              </p:cNvPr>
              <p:cNvSpPr txBox="1"/>
              <p:nvPr/>
            </p:nvSpPr>
            <p:spPr>
              <a:xfrm>
                <a:off x="4749553" y="3912405"/>
                <a:ext cx="28408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4</m:t>
                          </m:r>
                        </m:sub>
                      </m:sSub>
                    </m:oMath>
                  </m:oMathPara>
                </a14:m>
                <a:endParaRPr lang="en-US" b="0" dirty="0"/>
              </a:p>
              <a:p>
                <a:endParaRPr lang="en-US" dirty="0"/>
              </a:p>
            </p:txBody>
          </p:sp>
        </mc:Choice>
        <mc:Fallback xmlns="">
          <p:sp>
            <p:nvSpPr>
              <p:cNvPr id="29" name="TextBox 28">
                <a:extLst>
                  <a:ext uri="{FF2B5EF4-FFF2-40B4-BE49-F238E27FC236}">
                    <a16:creationId xmlns:a16="http://schemas.microsoft.com/office/drawing/2014/main" id="{F2DE16D8-D41E-0F8E-D3BF-B0BFC39CED54}"/>
                  </a:ext>
                </a:extLst>
              </p:cNvPr>
              <p:cNvSpPr txBox="1">
                <a:spLocks noRot="1" noChangeAspect="1" noMove="1" noResize="1" noEditPoints="1" noAdjustHandles="1" noChangeArrowheads="1" noChangeShapeType="1" noTextEdit="1"/>
              </p:cNvSpPr>
              <p:nvPr/>
            </p:nvSpPr>
            <p:spPr>
              <a:xfrm>
                <a:off x="4749553" y="3912405"/>
                <a:ext cx="284085" cy="523220"/>
              </a:xfrm>
              <a:prstGeom prst="rect">
                <a:avLst/>
              </a:prstGeom>
              <a:blipFill>
                <a:blip r:embed="rId6"/>
                <a:stretch>
                  <a:fillRect r="-4167"/>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7D598919-7C0B-8D99-0D1D-7ECEF7519433}"/>
              </a:ext>
            </a:extLst>
          </p:cNvPr>
          <p:cNvSpPr txBox="1"/>
          <p:nvPr/>
        </p:nvSpPr>
        <p:spPr>
          <a:xfrm>
            <a:off x="6733842" y="1527126"/>
            <a:ext cx="666807" cy="307777"/>
          </a:xfrm>
          <a:prstGeom prst="rect">
            <a:avLst/>
          </a:prstGeom>
          <a:noFill/>
          <a:ln>
            <a:solidFill>
              <a:schemeClr val="accent1"/>
            </a:solidFill>
          </a:ln>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Wow!</a:t>
            </a:r>
          </a:p>
        </p:txBody>
      </p:sp>
      <p:pic>
        <p:nvPicPr>
          <p:cNvPr id="6" name="Picture 5">
            <a:extLst>
              <a:ext uri="{FF2B5EF4-FFF2-40B4-BE49-F238E27FC236}">
                <a16:creationId xmlns:a16="http://schemas.microsoft.com/office/drawing/2014/main" id="{7A1B5B6A-CA2E-A678-5277-519B0934247B}"/>
              </a:ext>
            </a:extLst>
          </p:cNvPr>
          <p:cNvPicPr>
            <a:picLocks noChangeAspect="1"/>
          </p:cNvPicPr>
          <p:nvPr/>
        </p:nvPicPr>
        <p:blipFill>
          <a:blip r:embed="rId7"/>
          <a:stretch>
            <a:fillRect/>
          </a:stretch>
        </p:blipFill>
        <p:spPr>
          <a:xfrm>
            <a:off x="5818331" y="2095130"/>
            <a:ext cx="2794000" cy="2794000"/>
          </a:xfrm>
          <a:prstGeom prst="rect">
            <a:avLst/>
          </a:prstGeom>
        </p:spPr>
      </p:pic>
    </p:spTree>
    <p:extLst>
      <p:ext uri="{BB962C8B-B14F-4D97-AF65-F5344CB8AC3E}">
        <p14:creationId xmlns:p14="http://schemas.microsoft.com/office/powerpoint/2010/main" val="31556182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8c351a3b-dde1-401e-97b6-637cc3b6391f"/>
  <p:tag name="SLIDO_EVENT_UUID" val="fb8fb097-4a5c-405a-b29d-5da205211baf"/>
  <p:tag name="SLIDO_EVENT_SECTION_UUID" val="eb4fe64d-acdd-4deb-9530-a82d6e730492"/>
</p:tagLst>
</file>

<file path=ppt/tags/tag2.xml><?xml version="1.0" encoding="utf-8"?>
<p:tagLst xmlns:a="http://schemas.openxmlformats.org/drawingml/2006/main" xmlns:r="http://schemas.openxmlformats.org/officeDocument/2006/relationships" xmlns:p="http://schemas.openxmlformats.org/presentationml/2006/main">
  <p:tag name="SLIDO_TYPE" val="SlidoPoll"/>
  <p:tag name="SLIDO_POLL_UUID" val="bc876ef8-5696-4ff8-947a-4738eb032774"/>
  <p:tag name="SLIDO_TIMELINE" val="W3sic2hvd0NvcnJlY3RBbnN3ZXJzIjpmYWxzZSwic2hvd1Jlc3VsdHMiOmZhbHNlLCJwb2xsUXVlc3Rpb25VdWlkIjoiNzc0MmU1ODAtZmRjZi00MDc5LWFjZjYtMDEwZDc2NjYyNGQwIn0seyJzaG93Q29ycmVjdEFuc3dlcnMiOnRydWUsInNob3dSZXN1bHRzIjp0cnVlLCJwb2xsUXVlc3Rpb25VdWlkIjoiNzc0MmU1ODAtZmRjZi00MDc5LWFjZjYtMDEwZDc2NjYyNGQwIn1d"/>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ags/tag5.xml><?xml version="1.0" encoding="utf-8"?>
<p:tagLst xmlns:a="http://schemas.openxmlformats.org/drawingml/2006/main" xmlns:r="http://schemas.openxmlformats.org/officeDocument/2006/relationships" xmlns:p="http://schemas.openxmlformats.org/presentationml/2006/main">
  <p:tag name="SLIDO_TYPE" val="SlidoPoll"/>
  <p:tag name="SLIDO_POLL_UUID" val="dc1d5cb0-bc47-401a-82fa-b3a64334e59b"/>
  <p:tag name="SLIDO_TIMELINE" val="W3sic2hvd1Jlc3VsdHMiOmZhbHNlLCJwb2xsUXVlc3Rpb25VdWlkIjoiY2YzZjFhMjgtNWZlYy00ODVmLWJlODItYWNlMzFiNzFkYzdhIiwic2hvd0NvcnJlY3RBbnN3ZXJzIjpmYWxzZX0seyJzaG93UmVzdWx0cyI6dHJ1ZSwicG9sbFF1ZXN0aW9uVXVpZCI6ImNmM2YxYTI4LTVmZWMtNDg1Zi1iZTgyLWFjZTMxYjcxZGM3YSIsInNob3dDb3JyZWN0QW5zd2VycyI6dHJ1ZX1d"/>
</p:tagLst>
</file>

<file path=ppt/tags/tag6.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7.xml><?xml version="1.0" encoding="utf-8"?>
<p:tagLst xmlns:a="http://schemas.openxmlformats.org/drawingml/2006/main" xmlns:r="http://schemas.openxmlformats.org/officeDocument/2006/relationships" xmlns:p="http://schemas.openxmlformats.org/presentationml/2006/main">
  <p:tag name="SLIDO_ELEMENT" val="title"/>
</p:tagLst>
</file>

<file path=ppt/tags/tag8.xml><?xml version="1.0" encoding="utf-8"?>
<p:tagLst xmlns:a="http://schemas.openxmlformats.org/drawingml/2006/main" xmlns:r="http://schemas.openxmlformats.org/officeDocument/2006/relationships" xmlns:p="http://schemas.openxmlformats.org/presentationml/2006/main">
  <p:tag name="SLIDO_TYPE" val="SlidoPoll"/>
  <p:tag name="SLIDO_POLL_UUID" val="46bfeba5-cce8-4264-b186-a82cb438e04d"/>
  <p:tag name="SLIDO_TIMELINE" val="W3sic2hvd0NvcnJlY3RBbnN3ZXJzIjpmYWxzZSwicG9sbFF1ZXN0aW9uVXVpZCI6Ijc4ODlmMTMyLTFjZGUtNDU3YS1hZGFlLTAxMWMxZjZjMzIyZSIsInNob3dSZXN1bHRzIjpmYWxzZX0seyJzaG93Q29ycmVjdEFuc3dlcnMiOnRydWUsInBvbGxRdWVzdGlvblV1aWQiOiI3ODg5ZjEzMi0xY2RlLTQ1N2EtYWRhZS0wMTFjMWY2YzMyMmUiLCJzaG93UmVzdWx0cyI6dHJ1ZX1d"/>
</p:tagLst>
</file>

<file path=ppt/tags/tag9.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0.xml><?xml version="1.0" encoding="utf-8"?>
<p:tagLst xmlns:a="http://schemas.openxmlformats.org/drawingml/2006/main" xmlns:r="http://schemas.openxmlformats.org/officeDocument/2006/relationships" xmlns:p="http://schemas.openxmlformats.org/presentationml/2006/main">
  <p:tag name="SLIDO_ELEMENT" val="title"/>
</p:tagLst>
</file>

<file path=ppt/tags/tag11.xml><?xml version="1.0" encoding="utf-8"?>
<p:tagLst xmlns:a="http://schemas.openxmlformats.org/drawingml/2006/main" xmlns:r="http://schemas.openxmlformats.org/officeDocument/2006/relationships" xmlns:p="http://schemas.openxmlformats.org/presentationml/2006/main">
  <p:tag name="SLIDO_TYPE" val="SlidoPoll"/>
  <p:tag name="SLIDO_POLL_UUID" val="63e795a2-f988-4c41-8b05-587a2ed5d083"/>
  <p:tag name="SLIDO_TIMELINE" val="W3sicG9sbFF1ZXN0aW9uVXVpZCI6ImY5N2Q5MTgyLWNhMzktNGZmZC1iNGFhLTJjMzgyYjA5NmI3YiIsInNob3dDb3JyZWN0QW5zd2VycyI6ZmFsc2UsInNob3dSZXN1bHRzIjpmYWxzZX0seyJwb2xsUXVlc3Rpb25VdWlkIjoiZjk3ZDkxODItY2EzOS00ZmZkLWI0YWEtMmMzODJiMDk2YjdiIiwic2hvd0NvcnJlY3RBbnN3ZXJzIjp0cnVlLCJzaG93UmVzdWx0cyI6dHJ1ZX1d"/>
</p:tagLst>
</file>

<file path=ppt/tags/tag12.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3.xml><?xml version="1.0" encoding="utf-8"?>
<p:tagLst xmlns:a="http://schemas.openxmlformats.org/drawingml/2006/main" xmlns:r="http://schemas.openxmlformats.org/officeDocument/2006/relationships" xmlns:p="http://schemas.openxmlformats.org/presentationml/2006/main">
  <p:tag name="SLIDO_ELEMENT" val="title"/>
</p:tagLst>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826</TotalTime>
  <Words>4332</Words>
  <Application>Microsoft Macintosh PowerPoint</Application>
  <PresentationFormat>On-screen Show (16:9)</PresentationFormat>
  <Paragraphs>998</Paragraphs>
  <Slides>103</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103</vt:i4>
      </vt:variant>
    </vt:vector>
  </HeadingPairs>
  <TitlesOfParts>
    <vt:vector size="109" baseType="lpstr">
      <vt:lpstr>Wingdings</vt:lpstr>
      <vt:lpstr>Open Sans</vt:lpstr>
      <vt:lpstr>Arial</vt:lpstr>
      <vt:lpstr>PT Sans Narrow</vt:lpstr>
      <vt:lpstr>Cambria Math</vt:lpstr>
      <vt:lpstr>Tropic</vt:lpstr>
      <vt:lpstr>Lab 7 – Singular Value Decomposition</vt:lpstr>
      <vt:lpstr>Feature Extraction</vt:lpstr>
      <vt:lpstr>Structure of dataset</vt:lpstr>
      <vt:lpstr>Structure of dataset</vt:lpstr>
      <vt:lpstr>Recall: Rank</vt:lpstr>
      <vt:lpstr>Recall: Matrix Factorization</vt:lpstr>
      <vt:lpstr>Recall: Matrix Factorization</vt:lpstr>
      <vt:lpstr>Recall: Matrix Factorization</vt:lpstr>
      <vt:lpstr>Goal</vt:lpstr>
      <vt:lpstr>Goal</vt:lpstr>
      <vt:lpstr>Singular Value Decomposition (SVD)</vt:lpstr>
      <vt:lpstr>Singular Value Decomposition (SVD)</vt:lpstr>
      <vt:lpstr>Singular Value Decomposition (SVD)</vt:lpstr>
      <vt:lpstr>Singular Value Decomposition (SVD)</vt:lpstr>
      <vt:lpstr>SVD Matrix Decomposition</vt:lpstr>
      <vt:lpstr>SVD Matrix Decomposition</vt:lpstr>
      <vt:lpstr>SVD Matrix Decomposition</vt:lpstr>
      <vt:lpstr>SVD Matrix Decomposition</vt:lpstr>
      <vt:lpstr>SVD Matrix Decomposition</vt:lpstr>
      <vt:lpstr>SVD Matrix Decomposition</vt:lpstr>
      <vt:lpstr>SVD Matrix Decomposition</vt:lpstr>
      <vt:lpstr>SVD Matrix Decomposition</vt:lpstr>
      <vt:lpstr>SVD Matrix Decomposition</vt:lpstr>
      <vt:lpstr>SVD Matrix Decomposition</vt:lpstr>
      <vt:lpstr>SVD Matrix Decomposition</vt:lpstr>
      <vt:lpstr>SVD for Rank Reduction</vt:lpstr>
      <vt:lpstr>Approximation for A</vt:lpstr>
      <vt:lpstr>Approximation for A</vt:lpstr>
      <vt:lpstr>Approximation for A</vt:lpstr>
      <vt:lpstr>Rank-k approximation using SVD</vt:lpstr>
      <vt:lpstr>Rank-k approximation using SVD</vt:lpstr>
      <vt:lpstr>PowerPoint Presentation</vt:lpstr>
      <vt:lpstr>Solution</vt:lpstr>
      <vt:lpstr>PowerPoint Presentation</vt:lpstr>
      <vt:lpstr>Solution</vt:lpstr>
      <vt:lpstr>PowerPoint Presentation</vt:lpstr>
      <vt:lpstr>SVD for Feature Extraction</vt:lpstr>
      <vt:lpstr>Feature Extraction</vt:lpstr>
      <vt:lpstr>Feature Extraction</vt:lpstr>
      <vt:lpstr>Feature Extraction</vt:lpstr>
      <vt:lpstr>Feature Extraction</vt:lpstr>
      <vt:lpstr>Feature Extraction</vt:lpstr>
      <vt:lpstr>Feature Extraction</vt:lpstr>
      <vt:lpstr>Feature Extraction</vt:lpstr>
      <vt:lpstr>PowerPoint Presentation</vt:lpstr>
      <vt:lpstr>SVD for Anomaly Detection</vt:lpstr>
      <vt:lpstr>What is an anomaly in data science?</vt:lpstr>
      <vt:lpstr>Anomaly Detection in SVD</vt:lpstr>
      <vt:lpstr>Anomaly Detection in SVD</vt:lpstr>
      <vt:lpstr>Anomaly Detection in SVD</vt:lpstr>
      <vt:lpstr>Anomaly Detection in SVD</vt:lpstr>
      <vt:lpstr>Anomaly Detection in SVD</vt:lpstr>
      <vt:lpstr>Anomaly Detection in SVD</vt:lpstr>
      <vt:lpstr>Latent Semantic Similarity (LSA)</vt:lpstr>
      <vt:lpstr>Recall: LSA</vt:lpstr>
      <vt:lpstr>Recall: Dataset</vt:lpstr>
      <vt:lpstr>Recall: Embeddings</vt:lpstr>
      <vt:lpstr>Recall: Embeddings</vt:lpstr>
      <vt:lpstr>Recall: Embeddings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Good vs Bad Embeddings</vt:lpstr>
      <vt:lpstr>Good Embeddings</vt:lpstr>
      <vt:lpstr>Good Embeddings</vt:lpstr>
      <vt:lpstr>Good Embeddings</vt:lpstr>
      <vt:lpstr>Good Embeddings</vt:lpstr>
      <vt:lpstr>What causes bad embeddings?</vt:lpstr>
      <vt:lpstr>What causes bad embeddings?</vt:lpstr>
      <vt:lpstr>What causes bad embeddings?</vt:lpstr>
      <vt:lpstr>What causes bad embeddings?</vt:lpstr>
      <vt:lpstr>What causes bad embeddings?</vt:lpstr>
      <vt:lpstr>Term Frequency in LSA</vt:lpstr>
      <vt:lpstr>Term Frequency in LSA</vt:lpstr>
      <vt:lpstr>Term Frequency in LSA</vt:lpstr>
      <vt:lpstr>Term Frequency in LSA</vt:lpstr>
      <vt:lpstr>Term Frequency in LSA</vt:lpstr>
      <vt:lpstr>Question: How do we handle frequent “useless” words?</vt:lpstr>
      <vt:lpstr>Question: How do we handle frequent “useless” words?</vt:lpstr>
      <vt:lpstr>Question: How do we handle frequent “useless” words?</vt:lpstr>
      <vt:lpstr>Question: How do we handle frequent “useless” words?</vt:lpstr>
      <vt:lpstr>Question: How do we handle frequent “useless” words?</vt:lpstr>
      <vt:lpstr>TF-IDF</vt:lpstr>
      <vt:lpstr>TF-IDF</vt:lpstr>
      <vt:lpstr>TF-IDF for term-document matrix</vt:lpstr>
      <vt:lpstr>TF-IDF for term-document matrix</vt:lpstr>
      <vt:lpstr>Interpreting results of LSA</vt:lpstr>
      <vt:lpstr>Interpreting results of LSA</vt:lpstr>
      <vt:lpstr>Interpreting results of LSA</vt:lpstr>
      <vt:lpstr>Interpreting results of LSA</vt:lpstr>
      <vt:lpstr>Interpreting results of LSA</vt:lpstr>
      <vt:lpstr>Interpreting results of LSA</vt:lpstr>
      <vt:lpstr>Interpreting results of LSA</vt:lpstr>
      <vt:lpstr>Interpreting results of LSA: Cosine Similarity</vt:lpstr>
      <vt:lpstr>Interpreting results of LSA: Cosine Similarity</vt:lpstr>
      <vt:lpstr>Interpreting results of LSA: Cosine Similarity</vt:lpstr>
      <vt:lpstr>Interpreting results of LSA: Cosine Similarity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Gattupalli, Eeshwar</cp:lastModifiedBy>
  <cp:revision>6</cp:revision>
  <dcterms:modified xsi:type="dcterms:W3CDTF">2026-03-16T19:06:59Z</dcterms:modified>
</cp:coreProperties>
</file>