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F_4C0C00A6.xml" ContentType="application/vnd.ms-powerpoint.comments+xml"/>
  <Override PartName="/ppt/comments/modernComment_111_1E15EFA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1" r:id="rId6"/>
    <p:sldId id="265" r:id="rId7"/>
    <p:sldId id="262" r:id="rId8"/>
    <p:sldId id="263" r:id="rId9"/>
    <p:sldId id="277" r:id="rId10"/>
    <p:sldId id="278" r:id="rId11"/>
    <p:sldId id="264" r:id="rId12"/>
    <p:sldId id="281" r:id="rId13"/>
    <p:sldId id="267" r:id="rId14"/>
    <p:sldId id="268" r:id="rId15"/>
    <p:sldId id="269" r:id="rId16"/>
    <p:sldId id="270" r:id="rId17"/>
    <p:sldId id="280" r:id="rId18"/>
    <p:sldId id="274" r:id="rId19"/>
    <p:sldId id="271" r:id="rId20"/>
    <p:sldId id="272" r:id="rId21"/>
    <p:sldId id="273" r:id="rId22"/>
    <p:sldId id="275" r:id="rId23"/>
    <p:sldId id="276" r:id="rId24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PT Sans Narrow" panose="020B0506020203020204" pitchFamily="34" charset="77"/>
      <p:regular r:id="rId30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B71B5C-C160-F17B-ED32-C30F30E32A39}" name="Gattupalli, Eeshwar" initials="GE" userId="S::eeshwarg@bu.edu::85c70b28-1dd1-44af-b410-175c386fe1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5D4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2"/>
    <p:restoredTop sz="93560"/>
  </p:normalViewPr>
  <p:slideViewPr>
    <p:cSldViewPr snapToGrid="0">
      <p:cViewPr varScale="1">
        <p:scale>
          <a:sx n="156" d="100"/>
          <a:sy n="156" d="100"/>
        </p:scale>
        <p:origin x="23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NUL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omments/modernComment_10F_4C0C00A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34C1547-A38E-EC41-8CBA-8DD77280BE35}" authorId="{AFB71B5C-C160-F17B-ED32-C30F30E32A39}" created="2026-01-19T19:50:05.526">
    <pc:sldMkLst xmlns:pc="http://schemas.microsoft.com/office/powerpoint/2013/main/command">
      <pc:docMk/>
      <pc:sldMk cId="1275855014" sldId="271"/>
    </pc:sldMkLst>
    <p188:txBody>
      <a:bodyPr/>
      <a:lstStyle/>
      <a:p>
        <a:r>
          <a:rPr lang="en-US"/>
          <a:t>To practice with github, practice git init, git add, git commit, git push with your old class projects to create portfolio</a:t>
        </a:r>
      </a:p>
    </p188:txBody>
  </p188:cm>
</p188:cmLst>
</file>

<file path=ppt/comments/modernComment_111_1E15EFA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4FFD12-A018-D64A-BD8A-CE10F8775A20}" authorId="{AFB71B5C-C160-F17B-ED32-C30F30E32A39}" status="resolved" created="2026-01-19T19:55:53.41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04754095" sldId="273"/>
      <ac:spMk id="3" creationId="{68711C02-C2E5-A2BA-615A-1CC61BB83D68}"/>
      <ac:txMk cp="468" len="62">
        <ac:context len="710" hash="2804886513"/>
      </ac:txMk>
    </ac:txMkLst>
    <p188:pos x="6182618" y="2287366"/>
    <p188:replyLst>
      <p188:reply id="{23BE9F1A-4B57-C74B-82BF-BEA3CEE06876}" authorId="{AFB71B5C-C160-F17B-ED32-C30F30E32A39}" created="2026-01-19T19:55:56.974">
        <p188:txBody>
          <a:bodyPr/>
          <a:lstStyle/>
          <a:p>
            <a:r>
              <a:rPr lang="en-US"/>
              <a:t>Maybe?</a:t>
            </a:r>
          </a:p>
        </p188:txBody>
      </p188:reply>
    </p188:replyLst>
    <p188:txBody>
      <a:bodyPr/>
      <a:lstStyle/>
      <a:p>
        <a:r>
          <a:rPr lang="en-US"/>
          <a:t>Fetch doesn't technically download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16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28AE9-E676-816D-6CC7-F0B8CE70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202FC-8F44-8488-A692-970091BDD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D7F83-D80B-E771-481D-116510C6F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069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977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F_4C0C00A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1_1E15EFAF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Lab 1 – Intro/Git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7BDF-4836-2F69-1B6C-C1518F04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Git and GitHub?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C4F66-3B69-8241-55C5-C31702DA7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is used to manage timelines of a project (a.k.a. the repository)</a:t>
            </a:r>
          </a:p>
          <a:p>
            <a:r>
              <a:rPr lang="en-US" dirty="0"/>
              <a:t>Git is a version control system </a:t>
            </a:r>
          </a:p>
          <a:p>
            <a:r>
              <a:rPr lang="en-US" dirty="0"/>
              <a:t>GitHub is a website to backup and host the timeline of your project!</a:t>
            </a:r>
          </a:p>
          <a:p>
            <a:pPr lvl="1"/>
            <a:r>
              <a:rPr lang="en-US" dirty="0"/>
              <a:t>We utilize Git to push updates to our projects to GitHub as a means of backing up our work</a:t>
            </a:r>
          </a:p>
          <a:p>
            <a:pPr lvl="1"/>
            <a:r>
              <a:rPr lang="en-US" dirty="0"/>
              <a:t>For example, if my computer’s SSD becomes corrupted (beyond repair), then I can still access my projects via GitHub!</a:t>
            </a:r>
          </a:p>
          <a:p>
            <a:pPr lvl="1"/>
            <a:r>
              <a:rPr lang="en-US" dirty="0"/>
              <a:t>Additionally, we use Git and GitHub to collaborate on and share projects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0CA144-2EE8-EF3A-CE7C-8DF0B5704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619572"/>
            <a:ext cx="1224492" cy="1224492"/>
          </a:xfrm>
          <a:prstGeom prst="rect">
            <a:avLst/>
          </a:prstGeom>
        </p:spPr>
      </p:pic>
      <p:pic>
        <p:nvPicPr>
          <p:cNvPr id="7" name="Picture 6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A8DF8F75-4725-41F6-4605-D1F14FA31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483" y="3765161"/>
            <a:ext cx="2568817" cy="107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33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F09-09BB-5160-C204-8A2042DE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 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D2849-C570-C449-92C7-FA4AE130B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repo/project, I want to write code where: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US" dirty="0"/>
              <a:t>Iterating on (and keeping track of) different versions of my code is easy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US" dirty="0"/>
              <a:t>Work is backed up to and hosted on the cloud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US" dirty="0"/>
              <a:t>Collaboration is seamless!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24DBB5C-87A1-72AB-E684-2A3C8E869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2625"/>
          <a:stretch>
            <a:fillRect/>
          </a:stretch>
        </p:blipFill>
        <p:spPr>
          <a:xfrm>
            <a:off x="2408428" y="2322368"/>
            <a:ext cx="4327144" cy="2126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07B7DD-13A6-CB9F-79B1-B4CCBD8A57BF}"/>
              </a:ext>
            </a:extLst>
          </p:cNvPr>
          <p:cNvSpPr txBox="1"/>
          <p:nvPr/>
        </p:nvSpPr>
        <p:spPr>
          <a:xfrm>
            <a:off x="2840180" y="4449093"/>
            <a:ext cx="1593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~you/cs506/labs/lab01/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E0DF7-D333-753F-E031-2F0C34A8B855}"/>
              </a:ext>
            </a:extLst>
          </p:cNvPr>
          <p:cNvSpPr txBox="1"/>
          <p:nvPr/>
        </p:nvSpPr>
        <p:spPr>
          <a:xfrm>
            <a:off x="4704750" y="4449093"/>
            <a:ext cx="1759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~partner/cs506/labs/lab01/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9E30CA-9191-D05C-8A60-7C0655F38627}"/>
              </a:ext>
            </a:extLst>
          </p:cNvPr>
          <p:cNvSpPr txBox="1"/>
          <p:nvPr/>
        </p:nvSpPr>
        <p:spPr>
          <a:xfrm>
            <a:off x="472156" y="4695314"/>
            <a:ext cx="26243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*Taken from Swarthmore College CS31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45FEE2-3F86-D285-3C57-EBE67D76291B}"/>
              </a:ext>
            </a:extLst>
          </p:cNvPr>
          <p:cNvSpPr txBox="1"/>
          <p:nvPr/>
        </p:nvSpPr>
        <p:spPr>
          <a:xfrm>
            <a:off x="4869873" y="2322368"/>
            <a:ext cx="35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24203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ine with black dots and letters&#10;&#10;AI-generated content may be incorrect.">
            <a:extLst>
              <a:ext uri="{FF2B5EF4-FFF2-40B4-BE49-F238E27FC236}">
                <a16:creationId xmlns:a16="http://schemas.microsoft.com/office/drawing/2014/main" id="{EAD64020-51B0-C24D-29E1-9A3BD12C2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425" y="3753580"/>
            <a:ext cx="3187150" cy="13038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D366D-013B-7EA6-4AB5-CD5202705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we care about iterating over versions?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A9D1C-EB9E-338F-1704-262AFDDFA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74225"/>
            <a:ext cx="8520600" cy="33027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Small, incremental commits allow developers (us) to easily rollback or revert to previous, stable versions if errors are introduced.</a:t>
            </a:r>
          </a:p>
          <a:p>
            <a:pPr lvl="1"/>
            <a:r>
              <a:rPr lang="en-US" dirty="0"/>
              <a:t>Commit point: a point in time where we save or “snapshot” our code base</a:t>
            </a:r>
          </a:p>
          <a:p>
            <a:pPr lvl="2"/>
            <a:r>
              <a:rPr lang="en-US" dirty="0"/>
              <a:t>Each commit point is assigned a unique ID, known as an SHA or hash</a:t>
            </a:r>
          </a:p>
          <a:p>
            <a:pPr lvl="2"/>
            <a:r>
              <a:rPr lang="en-US" dirty="0"/>
              <a:t>Unique ID allows us to refer to each state at any time</a:t>
            </a:r>
          </a:p>
          <a:p>
            <a:r>
              <a:rPr lang="en-US" dirty="0"/>
              <a:t>The ability to iterate over versions also allows us to reconcile our local codebase with the GitHub timeline.</a:t>
            </a:r>
          </a:p>
          <a:p>
            <a:r>
              <a:rPr lang="en-US" dirty="0"/>
              <a:t>Additionally, we may want to implement a feature on a different version of our codebase.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Question: how do we implement a feature at a previous commit point? The answer is branching!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018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81A5-DC0D-5C0E-496F-6153B0D44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Branching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5ACF2-C61D-3F5F-41DB-B52489516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51639"/>
            <a:ext cx="8520600" cy="3957683"/>
          </a:xfrm>
        </p:spPr>
        <p:txBody>
          <a:bodyPr>
            <a:normAutofit/>
          </a:bodyPr>
          <a:lstStyle/>
          <a:p>
            <a:r>
              <a:rPr lang="en-US" dirty="0"/>
              <a:t>When iterating on different versions of our code base, we need: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US" dirty="0"/>
              <a:t>A way to preserve both versions of the history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US" dirty="0"/>
              <a:t>A way to overwrite history if we choose </a:t>
            </a:r>
          </a:p>
          <a:p>
            <a:pPr marL="482600"/>
            <a:r>
              <a:rPr lang="en-US" dirty="0"/>
              <a:t>Branch off a particular commit point to create a new timeline</a:t>
            </a:r>
          </a:p>
          <a:p>
            <a:pPr marL="939800" lvl="1"/>
            <a:r>
              <a:rPr lang="en-US" dirty="0"/>
              <a:t>We can push commits per branch!</a:t>
            </a:r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pic>
        <p:nvPicPr>
          <p:cNvPr id="5" name="Picture 4" descr="A diagram of a branch&#10;&#10;AI-generated content may be incorrect.">
            <a:extLst>
              <a:ext uri="{FF2B5EF4-FFF2-40B4-BE49-F238E27FC236}">
                <a16:creationId xmlns:a16="http://schemas.microsoft.com/office/drawing/2014/main" id="{C18580CE-324F-A235-7045-325D0A082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5" y="2571750"/>
            <a:ext cx="7772400" cy="1960194"/>
          </a:xfrm>
          <a:prstGeom prst="rect">
            <a:avLst/>
          </a:prstGeom>
          <a:ln w="12700"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3085739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FC6D-47E2-1390-9D22-FAF6E6E3A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9A39E-FA92-EAC6-F2BA-806D11202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Branching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52BA4-7874-64E4-DDD1-4539ABE18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51639"/>
            <a:ext cx="8520600" cy="395768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iterating on different versions of our code base, we need: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US" dirty="0"/>
              <a:t>A way to preserve both versions of the history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US" dirty="0"/>
              <a:t>A way to overwrite history if we choose </a:t>
            </a:r>
          </a:p>
          <a:p>
            <a:pPr marL="482600"/>
            <a:r>
              <a:rPr lang="en-US" dirty="0"/>
              <a:t>Branch off a particular commit point to create a new timeline</a:t>
            </a:r>
          </a:p>
          <a:p>
            <a:pPr marL="939800" lvl="1"/>
            <a:r>
              <a:rPr lang="en-US" dirty="0"/>
              <a:t>We can push commits per branch!</a:t>
            </a:r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482600"/>
            <a:endParaRPr lang="en-US" dirty="0"/>
          </a:p>
          <a:p>
            <a:pPr marL="482600"/>
            <a:r>
              <a:rPr lang="en-US" dirty="0"/>
              <a:t>We can branch off branches too!</a:t>
            </a:r>
          </a:p>
          <a:p>
            <a:pPr marL="139700" indent="0">
              <a:buNone/>
            </a:pPr>
            <a:endParaRPr lang="en-US" dirty="0"/>
          </a:p>
        </p:txBody>
      </p:sp>
      <p:pic>
        <p:nvPicPr>
          <p:cNvPr id="8" name="Picture 7" descr="A diagram of a branch&#10;&#10;AI-generated content may be incorrect.">
            <a:extLst>
              <a:ext uri="{FF2B5EF4-FFF2-40B4-BE49-F238E27FC236}">
                <a16:creationId xmlns:a16="http://schemas.microsoft.com/office/drawing/2014/main" id="{72E5C40E-5607-97A5-FBD3-3EA7E1066D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73" b="5668"/>
          <a:stretch>
            <a:fillRect/>
          </a:stretch>
        </p:blipFill>
        <p:spPr>
          <a:xfrm>
            <a:off x="637749" y="2324926"/>
            <a:ext cx="7502851" cy="2118452"/>
          </a:xfrm>
          <a:prstGeom prst="rect">
            <a:avLst/>
          </a:prstGeom>
          <a:ln w="12700"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216859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51B80-147D-3586-FD77-C19582C55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Branching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04077-BA22-62BE-A6D3-EEEC5D590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branch must be chosen as the primary stable branch, typically called main</a:t>
            </a:r>
          </a:p>
          <a:p>
            <a:pPr lvl="1"/>
            <a:r>
              <a:rPr lang="en-US" dirty="0"/>
              <a:t>Other branches are typically named after the feature that is being developed or the major/minor version of the software/product</a:t>
            </a:r>
          </a:p>
          <a:p>
            <a:pPr lvl="2"/>
            <a:r>
              <a:rPr lang="en-US" dirty="0"/>
              <a:t>E.g., login-page version or v1.2 of a game</a:t>
            </a:r>
          </a:p>
          <a:p>
            <a:endParaRPr lang="en-US" dirty="0"/>
          </a:p>
          <a:p>
            <a:r>
              <a:rPr lang="en-US" dirty="0"/>
              <a:t>Beware! Branching can get messy. Eventually we will want to clean it up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814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8D8A-5FCF-4B43-E0BB-DE94EB92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Merging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B93A2-93E2-E943-E9F8-19C90D46E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some point, we will want to clean up the branches by merging them with the master/main branch or with each other</a:t>
            </a:r>
          </a:p>
          <a:p>
            <a:pPr lvl="1"/>
            <a:r>
              <a:rPr lang="en-US" dirty="0"/>
              <a:t>Merging is trivial if the base of one branch is the head of the other. Changes are simply appended</a:t>
            </a:r>
          </a:p>
          <a:p>
            <a:pPr lvl="1"/>
            <a:r>
              <a:rPr lang="en-US" dirty="0"/>
              <a:t>In many cases, this behavior does not apply, and we will likely deal with commit conflicts a.k.a merge conflicts</a:t>
            </a:r>
          </a:p>
          <a:p>
            <a:r>
              <a:rPr lang="en-US" dirty="0"/>
              <a:t>A merge conflict arises when GitHub cannot automatically combine commits because they make incompatible changes to the same part of the code. </a:t>
            </a:r>
          </a:p>
          <a:p>
            <a:pPr lvl="1"/>
            <a:r>
              <a:rPr lang="en-US" dirty="0"/>
              <a:t>The programmer (you!) decides </a:t>
            </a:r>
          </a:p>
        </p:txBody>
      </p:sp>
    </p:spTree>
    <p:extLst>
      <p:ext uri="{BB962C8B-B14F-4D97-AF65-F5344CB8AC3E}">
        <p14:creationId xmlns:p14="http://schemas.microsoft.com/office/powerpoint/2010/main" val="77562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43DD5-40AF-047E-435C-60552B28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12D40-BC9B-5C5E-B77F-D9550B23B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Merging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719E3-0DC5-DE7C-5DF0-E4D1D65C0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some point, we will want to clean up the branches by merging them with the master/main branch or with each other</a:t>
            </a:r>
          </a:p>
        </p:txBody>
      </p:sp>
      <p:pic>
        <p:nvPicPr>
          <p:cNvPr id="5" name="Picture 4" descr="A diagram of a logistic&#10;&#10;AI-generated content may be incorrect.">
            <a:extLst>
              <a:ext uri="{FF2B5EF4-FFF2-40B4-BE49-F238E27FC236}">
                <a16:creationId xmlns:a16="http://schemas.microsoft.com/office/drawing/2014/main" id="{061A8ECF-77C9-68CA-1087-E5DE7844B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69873"/>
            <a:ext cx="7772400" cy="16073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5690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A5D85-F0E9-44A6-EB43-FBA4BF80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AEE6F-3402-64FC-01CB-FF997E480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Merging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3EEAA-605B-3BC6-304B-AE4B8BD92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At some point, we will want to clean up the branches by merging them with the master/main branch or with each other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merge conflict arises when GitHub cannot automatically combine commits because they make incompatible changes to the same part of the code. </a:t>
            </a:r>
          </a:p>
          <a:p>
            <a:pPr lvl="1"/>
            <a:r>
              <a:rPr lang="en-US" dirty="0"/>
              <a:t>The programmer (you!) decides</a:t>
            </a:r>
          </a:p>
        </p:txBody>
      </p:sp>
      <p:pic>
        <p:nvPicPr>
          <p:cNvPr id="6" name="Picture 5" descr="A line with text and a line&#10;&#10;AI-generated content may be incorrect.">
            <a:extLst>
              <a:ext uri="{FF2B5EF4-FFF2-40B4-BE49-F238E27FC236}">
                <a16:creationId xmlns:a16="http://schemas.microsoft.com/office/drawing/2014/main" id="{904207CE-B25D-3687-2FE6-1E4AEB9C3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7623"/>
            <a:ext cx="7772400" cy="14644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6218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AB48-88FE-9D6C-E252-85F0B142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Merge conflict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2EE56-F0EE-CA45-355D-68BD690F5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It is possible that line 42 of </a:t>
            </a:r>
            <a:r>
              <a:rPr lang="en-US" b="1" dirty="0"/>
              <a:t>D</a:t>
            </a:r>
            <a:r>
              <a:rPr lang="en-US" dirty="0"/>
              <a:t>’s </a:t>
            </a:r>
            <a:r>
              <a:rPr lang="en-US" i="1" dirty="0" err="1"/>
              <a:t>server.py</a:t>
            </a:r>
            <a:r>
              <a:rPr lang="en-US" i="1" dirty="0"/>
              <a:t> </a:t>
            </a:r>
            <a:r>
              <a:rPr lang="en-US" dirty="0"/>
              <a:t>is different from </a:t>
            </a:r>
            <a:r>
              <a:rPr lang="en-US" b="1" dirty="0"/>
              <a:t>B</a:t>
            </a:r>
            <a:r>
              <a:rPr lang="en-US" dirty="0"/>
              <a:t>’s </a:t>
            </a:r>
            <a:r>
              <a:rPr lang="en-US" i="1" dirty="0" err="1"/>
              <a:t>server.py</a:t>
            </a:r>
            <a:endParaRPr lang="en-US" dirty="0"/>
          </a:p>
          <a:p>
            <a:pPr lvl="1"/>
            <a:r>
              <a:rPr lang="en-US" dirty="0"/>
              <a:t>As managers of the code base, we must resolve this conflict and decide which </a:t>
            </a:r>
            <a:r>
              <a:rPr lang="en-US" i="1" dirty="0" err="1"/>
              <a:t>server.py</a:t>
            </a:r>
            <a:r>
              <a:rPr lang="en-US" dirty="0"/>
              <a:t> we want so we can merge login-page with main</a:t>
            </a:r>
          </a:p>
          <a:p>
            <a:r>
              <a:rPr lang="en-US" dirty="0"/>
              <a:t>After we resolve, the merge conflict, what does the actual merge look like?</a:t>
            </a:r>
          </a:p>
          <a:p>
            <a:pPr lvl="1"/>
            <a:r>
              <a:rPr lang="en-US" dirty="0"/>
              <a:t>This is the question of rebasing</a:t>
            </a:r>
          </a:p>
        </p:txBody>
      </p:sp>
      <p:pic>
        <p:nvPicPr>
          <p:cNvPr id="5" name="Picture 4" descr="A diagram of a line with a red x and black lines&#10;&#10;AI-generated content may be incorrect.">
            <a:extLst>
              <a:ext uri="{FF2B5EF4-FFF2-40B4-BE49-F238E27FC236}">
                <a16:creationId xmlns:a16="http://schemas.microsoft.com/office/drawing/2014/main" id="{E7A799D8-8E80-3CD9-DCB7-27509315F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44" y="1141620"/>
            <a:ext cx="6407727" cy="143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C3E64-9EDF-AD31-66EF-C274F744B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D64F-E635-9EC7-5634-BB500BC5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Rebasing</a:t>
            </a:r>
          </a:p>
        </p:txBody>
      </p:sp>
      <p:pic>
        <p:nvPicPr>
          <p:cNvPr id="5" name="Picture 4" descr="A diagram of a login diagram&#10;&#10;AI-generated content may be incorrect.">
            <a:extLst>
              <a:ext uri="{FF2B5EF4-FFF2-40B4-BE49-F238E27FC236}">
                <a16:creationId xmlns:a16="http://schemas.microsoft.com/office/drawing/2014/main" id="{339335D4-FE03-7AE5-5BC5-8AE85604A3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31"/>
          <a:stretch>
            <a:fillRect/>
          </a:stretch>
        </p:blipFill>
        <p:spPr>
          <a:xfrm>
            <a:off x="311700" y="1587769"/>
            <a:ext cx="7772400" cy="1392032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D61DF7-E4F2-921A-5129-076D0A216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52471"/>
            <a:ext cx="8520600" cy="33027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Option 1: Incorporate the base of login-page at the “common ancestor” of main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246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CB3BB-B223-2AD0-22FB-E30542DB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1D6E-532C-DADA-5922-B8258F94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Rebasing</a:t>
            </a:r>
          </a:p>
        </p:txBody>
      </p:sp>
      <p:pic>
        <p:nvPicPr>
          <p:cNvPr id="6" name="Picture 5" descr="A diagram of a login diagram&#10;&#10;AI-generated content may be incorrect.">
            <a:extLst>
              <a:ext uri="{FF2B5EF4-FFF2-40B4-BE49-F238E27FC236}">
                <a16:creationId xmlns:a16="http://schemas.microsoft.com/office/drawing/2014/main" id="{255AD1F3-C46B-1DE5-9F3B-8111B202E9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932" b="-1"/>
          <a:stretch>
            <a:fillRect/>
          </a:stretch>
        </p:blipFill>
        <p:spPr>
          <a:xfrm>
            <a:off x="311700" y="3489599"/>
            <a:ext cx="7772400" cy="1392032"/>
          </a:xfrm>
          <a:prstGeom prst="rect">
            <a:avLst/>
          </a:prstGeom>
        </p:spPr>
      </p:pic>
      <p:pic>
        <p:nvPicPr>
          <p:cNvPr id="5" name="Picture 4" descr="A diagram of a login diagram&#10;&#10;AI-generated content may be incorrect.">
            <a:extLst>
              <a:ext uri="{FF2B5EF4-FFF2-40B4-BE49-F238E27FC236}">
                <a16:creationId xmlns:a16="http://schemas.microsoft.com/office/drawing/2014/main" id="{23140F53-7100-4565-B02A-992132A42F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31"/>
          <a:stretch>
            <a:fillRect/>
          </a:stretch>
        </p:blipFill>
        <p:spPr>
          <a:xfrm>
            <a:off x="311700" y="1587769"/>
            <a:ext cx="7772400" cy="1392032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4F5B27A-80D5-B97D-33DE-B0CB66583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52471"/>
            <a:ext cx="8520600" cy="33027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Option 1: Incorporate the base of login-page at the “common ancestor” of main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Option 2: Move base of login-page to head of main  </a:t>
            </a:r>
          </a:p>
        </p:txBody>
      </p:sp>
    </p:spTree>
    <p:extLst>
      <p:ext uri="{BB962C8B-B14F-4D97-AF65-F5344CB8AC3E}">
        <p14:creationId xmlns:p14="http://schemas.microsoft.com/office/powerpoint/2010/main" val="1556978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385E-0F79-07B9-8428-A13372FF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Collaboration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F66B7-9EC8-130E-630E-7AB7B7D2E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repositories can be thought of as other branches</a:t>
            </a:r>
          </a:p>
          <a:p>
            <a:r>
              <a:rPr lang="en-US" dirty="0"/>
              <a:t>SOP for collaborators to contribute code: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US" dirty="0"/>
              <a:t>Collaborator makes a copy of (forks) the main repository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US" dirty="0"/>
              <a:t>Collaborator makes changes on their fork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US" dirty="0"/>
              <a:t>Collaborator requests that part of their copy be merged into the main repository via a pull request (PR)</a:t>
            </a:r>
          </a:p>
          <a:p>
            <a:r>
              <a:rPr lang="en-US" dirty="0"/>
              <a:t>This is the standard (almost) everywhere!</a:t>
            </a:r>
          </a:p>
          <a:p>
            <a:pPr marL="4826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685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11EC-BC96-D14E-3908-53D75F8E0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Collaboration 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D2E12-D348-E47F-1656-7FCDCA1A4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the latest early and often</a:t>
            </a:r>
          </a:p>
          <a:p>
            <a:pPr lvl="1"/>
            <a:r>
              <a:rPr lang="en-US" dirty="0"/>
              <a:t>i.e., retrieve the latest changes from the main repository</a:t>
            </a:r>
          </a:p>
          <a:p>
            <a:r>
              <a:rPr lang="en-US" dirty="0"/>
              <a:t>Always create a new branch when developing on a forked repository. Avoid committing directly to main</a:t>
            </a:r>
          </a:p>
          <a:p>
            <a:pPr lvl="1"/>
            <a:r>
              <a:rPr lang="en-US" dirty="0"/>
              <a:t>This makes it easier to keep your main branch in sync with the main repository</a:t>
            </a:r>
          </a:p>
          <a:p>
            <a:r>
              <a:rPr lang="en-US" dirty="0"/>
              <a:t>Keep branches short-lived: merge after a few days vs. after weeks</a:t>
            </a:r>
          </a:p>
          <a:p>
            <a:r>
              <a:rPr lang="en-US" dirty="0"/>
              <a:t>Commit frequently and meaningfully</a:t>
            </a:r>
          </a:p>
          <a:p>
            <a:pPr lvl="1"/>
            <a:r>
              <a:rPr lang="en-US" dirty="0"/>
              <a:t>Detailed commit messages aren’t just so you get full points on your programming assignment! </a:t>
            </a:r>
          </a:p>
        </p:txBody>
      </p:sp>
    </p:spTree>
    <p:extLst>
      <p:ext uri="{BB962C8B-B14F-4D97-AF65-F5344CB8AC3E}">
        <p14:creationId xmlns:p14="http://schemas.microsoft.com/office/powerpoint/2010/main" val="1709404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D79D-E423-BB27-AF6C-83E34B9D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CDC6-CBAA-0614-099B-D809662CD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Collaboration 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88CD7-5741-5932-CFBE-8C2F13CB8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frequently and meaningfully</a:t>
            </a:r>
          </a:p>
          <a:p>
            <a:pPr lvl="1"/>
            <a:r>
              <a:rPr lang="en-US" dirty="0"/>
              <a:t>Detailed commit messages aren’t just so you get full points on your programming assignment!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3A2763-6558-985A-12C7-26704197F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208833"/>
            <a:ext cx="8527951" cy="271645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6E3BE2-4423-3BC4-637A-12121F6359E0}"/>
              </a:ext>
            </a:extLst>
          </p:cNvPr>
          <p:cNvCxnSpPr>
            <a:cxnSpLocks/>
          </p:cNvCxnSpPr>
          <p:nvPr/>
        </p:nvCxnSpPr>
        <p:spPr>
          <a:xfrm flipH="1">
            <a:off x="4756150" y="3384550"/>
            <a:ext cx="1035050" cy="30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ED057F1-9F9A-5643-9879-45FE92955374}"/>
              </a:ext>
            </a:extLst>
          </p:cNvPr>
          <p:cNvSpPr txBox="1"/>
          <p:nvPr/>
        </p:nvSpPr>
        <p:spPr>
          <a:xfrm>
            <a:off x="5791200" y="3213298"/>
            <a:ext cx="12573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 message!</a:t>
            </a:r>
          </a:p>
        </p:txBody>
      </p:sp>
    </p:spTree>
    <p:extLst>
      <p:ext uri="{BB962C8B-B14F-4D97-AF65-F5344CB8AC3E}">
        <p14:creationId xmlns:p14="http://schemas.microsoft.com/office/powerpoint/2010/main" val="1122290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rectangular object with white lines&#10;&#10;AI-generated content may be incorrect.">
            <a:extLst>
              <a:ext uri="{FF2B5EF4-FFF2-40B4-BE49-F238E27FC236}">
                <a16:creationId xmlns:a16="http://schemas.microsoft.com/office/drawing/2014/main" id="{DA48B65D-2484-1CC2-49A3-48C8A15F8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02901"/>
            <a:ext cx="7772400" cy="23376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5B306F-D9F0-9A79-3B28-28350B694B24}"/>
              </a:ext>
            </a:extLst>
          </p:cNvPr>
          <p:cNvSpPr txBox="1"/>
          <p:nvPr/>
        </p:nvSpPr>
        <p:spPr>
          <a:xfrm>
            <a:off x="4031311" y="1582310"/>
            <a:ext cx="253646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 so great commit messages!!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361B4F-DC8D-C117-5C91-6B8B9F776315}"/>
              </a:ext>
            </a:extLst>
          </p:cNvPr>
          <p:cNvCxnSpPr/>
          <p:nvPr/>
        </p:nvCxnSpPr>
        <p:spPr>
          <a:xfrm flipH="1">
            <a:off x="1757238" y="2105530"/>
            <a:ext cx="2274073" cy="1114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3EF048A-0996-36C9-1C63-4AB96A59717A}"/>
              </a:ext>
            </a:extLst>
          </p:cNvPr>
          <p:cNvSpPr txBox="1"/>
          <p:nvPr/>
        </p:nvSpPr>
        <p:spPr>
          <a:xfrm>
            <a:off x="4245997" y="2798859"/>
            <a:ext cx="242514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a developer or collaborator, this commit message tells me nothing!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CF74E9-8C6D-97BE-403B-BC08C143ECAC}"/>
              </a:ext>
            </a:extLst>
          </p:cNvPr>
          <p:cNvCxnSpPr>
            <a:cxnSpLocks/>
          </p:cNvCxnSpPr>
          <p:nvPr/>
        </p:nvCxnSpPr>
        <p:spPr>
          <a:xfrm flipH="1">
            <a:off x="1916264" y="3168191"/>
            <a:ext cx="2329733" cy="79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019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33CB6-BF07-F10D-6A04-6543965D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53624"/>
            <a:ext cx="8520600" cy="3781925"/>
          </a:xfrm>
        </p:spPr>
        <p:txBody>
          <a:bodyPr>
            <a:noAutofit/>
          </a:bodyPr>
          <a:lstStyle/>
          <a:p>
            <a:r>
              <a:rPr lang="en-US" sz="1400" dirty="0"/>
              <a:t>Use your terminal to navigate to the directory where you want to develop</a:t>
            </a:r>
          </a:p>
          <a:p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Now that you’re in the desired destination, you can begin using Git commands!</a:t>
            </a:r>
          </a:p>
          <a:p>
            <a:pPr marL="114300" indent="0">
              <a:buNone/>
            </a:pPr>
            <a:endParaRPr lang="en-US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DEE89B-E4B8-E8E2-7092-878959E2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actually use Git and GitHub?</a:t>
            </a: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AAE497D3-2934-9500-154E-754BF5F3B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18" y="2480303"/>
            <a:ext cx="7978563" cy="163449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73175D-7C9C-49A9-E375-701B1BBA60BF}"/>
              </a:ext>
            </a:extLst>
          </p:cNvPr>
          <p:cNvCxnSpPr/>
          <p:nvPr/>
        </p:nvCxnSpPr>
        <p:spPr>
          <a:xfrm flipH="1">
            <a:off x="5054600" y="1949450"/>
            <a:ext cx="552450" cy="530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A54AEE2-CC52-A4A4-28E7-DC529A7C1789}"/>
              </a:ext>
            </a:extLst>
          </p:cNvPr>
          <p:cNvSpPr txBox="1"/>
          <p:nvPr/>
        </p:nvSpPr>
        <p:spPr>
          <a:xfrm>
            <a:off x="5607050" y="1753211"/>
            <a:ext cx="1943100" cy="553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>
                <a:ln w="0"/>
                <a:solidFill>
                  <a:srgbClr val="695D45"/>
                </a:solidFill>
              </a:rPr>
              <a:t>Change directory: equivalent of opening a folder in your file explorer/finder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5012F1-D594-2626-9E25-02E7295C00C5}"/>
              </a:ext>
            </a:extLst>
          </p:cNvPr>
          <p:cNvCxnSpPr>
            <a:cxnSpLocks/>
          </p:cNvCxnSpPr>
          <p:nvPr/>
        </p:nvCxnSpPr>
        <p:spPr>
          <a:xfrm flipH="1" flipV="1">
            <a:off x="6108700" y="3092450"/>
            <a:ext cx="1092200" cy="253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8E36D5F-50FB-AA4F-CEF6-539D28E81EF5}"/>
              </a:ext>
            </a:extLst>
          </p:cNvPr>
          <p:cNvSpPr txBox="1"/>
          <p:nvPr/>
        </p:nvSpPr>
        <p:spPr>
          <a:xfrm>
            <a:off x="7200900" y="3150083"/>
            <a:ext cx="19431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>
                <a:ln w="0"/>
                <a:solidFill>
                  <a:srgbClr val="695D45"/>
                </a:solidFill>
              </a:rPr>
              <a:t>Make directory: equivalent of creating a new folder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99CFD7-6E53-7019-B36A-6E9932890FC6}"/>
              </a:ext>
            </a:extLst>
          </p:cNvPr>
          <p:cNvCxnSpPr>
            <a:cxnSpLocks/>
          </p:cNvCxnSpPr>
          <p:nvPr/>
        </p:nvCxnSpPr>
        <p:spPr>
          <a:xfrm flipV="1">
            <a:off x="3683000" y="3213100"/>
            <a:ext cx="1968500" cy="1074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6378EB-B748-2861-A14C-92A6EEFD8FB3}"/>
              </a:ext>
            </a:extLst>
          </p:cNvPr>
          <p:cNvSpPr txBox="1"/>
          <p:nvPr/>
        </p:nvSpPr>
        <p:spPr>
          <a:xfrm>
            <a:off x="2711450" y="4287894"/>
            <a:ext cx="19431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>
                <a:ln w="0"/>
                <a:solidFill>
                  <a:srgbClr val="695D45"/>
                </a:solidFill>
              </a:rPr>
              <a:t>List: list all the contents of the current directory that you’re in</a:t>
            </a:r>
          </a:p>
        </p:txBody>
      </p:sp>
    </p:spTree>
    <p:extLst>
      <p:ext uri="{BB962C8B-B14F-4D97-AF65-F5344CB8AC3E}">
        <p14:creationId xmlns:p14="http://schemas.microsoft.com/office/powerpoint/2010/main" val="1066291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D397-E3AF-736F-BB4A-BF2958CFB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 commands: Local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F71D6-54DE-5593-78CB-C28AF3644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commands 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init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Initialize a new repository (locally)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add &lt;file-name1&gt; &lt;file-name2&gt; … &lt;file-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nameN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Promotes changes from your working directory to the stages area. Tells Git which files you want to include in the next commit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commit –m “amazing commit message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itchFamily="2" charset="2"/>
              </a:rPr>
              <a:t>”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Saves the changes you’ve staged (from git add) as a permanent point in the repository’s timeline, like a snapshot!</a:t>
            </a:r>
          </a:p>
          <a:p>
            <a:pPr lvl="3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Annotates the snapshot with your amazing commit message</a:t>
            </a:r>
          </a:p>
        </p:txBody>
      </p:sp>
    </p:spTree>
    <p:extLst>
      <p:ext uri="{BB962C8B-B14F-4D97-AF65-F5344CB8AC3E}">
        <p14:creationId xmlns:p14="http://schemas.microsoft.com/office/powerpoint/2010/main" val="12758550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17A6-98CF-0277-F3F9-D0BAB2FE2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 Commands: Linking to GitHub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85566-858A-A6CF-6EA8-5B67DB3E8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Linking your local repository to a GitHub repository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remote add origin &lt;SSH URL&gt;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Adds a ”remote” that points to a GitHub repository (identified by the SSH)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Once you create an empty repository on GitHub (without README, .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gitignore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license), copy the SSH URL and paste in the command above</a:t>
            </a:r>
          </a:p>
          <a:p>
            <a:pPr lvl="2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054100" lvl="2" indent="0">
              <a:buNone/>
            </a:pP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A2190A-D80D-F047-3218-EA89346F6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856" y="2706647"/>
            <a:ext cx="4230287" cy="149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43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8228-A77F-769C-3E05-EDA0D04A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 Commands: Interacting with GitHub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11C02-C2E5-A2BA-615A-1CC61BB83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Pushing to GitHub repository!</a:t>
            </a:r>
          </a:p>
          <a:p>
            <a:pPr lvl="1"/>
            <a:r>
              <a:rPr lang="en-US" dirty="0"/>
              <a:t>After staging your changes locally (utilizing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add </a:t>
            </a:r>
            <a:r>
              <a:rPr lang="en-US" dirty="0"/>
              <a:t>and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commit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), enter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push origin main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Pushes stages changes to the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branch of the GitHub repository being pointed to by the remote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After forking the main repository (for collaborative efforts!)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clone &lt;forked-repo-SSH-link&gt;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Locally clone the forked repository 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remote add upstream &lt;main-repo-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SSHLink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Connect your forked repository to the original project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fetch 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Download most recent changes from remote (original) repository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pull upstream main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Download most recent changes from remote (original) repository and apply to current local branch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push origin main (after staging)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Push to forked repo</a:t>
            </a:r>
          </a:p>
          <a:p>
            <a:pPr lvl="2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buNone/>
            </a:pP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7540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4499-E2F0-9905-122D-C5FC278F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 Commands: Branching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378EF-861D-3E2A-7CCA-A3040FCC4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Creating and operating on new branches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checkout –b my-new-branch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Creates a new branch then switches to it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branch my-new-branch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Creates a new branch without switching to it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switch my-new-branch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Switch to existing branch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push -u origin my-branch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Creates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origin/my-branch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on linked GitHub repository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Links local my-branch to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origin/my-branch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this point, if you stage files and run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push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will push the staged files to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origin/my-branch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3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run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switch main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stage your files, then push, Git will push to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 always pushes to the current branch!</a:t>
            </a:r>
          </a:p>
          <a:p>
            <a:pPr lvl="2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2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00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C09A-FB61-1B76-BD22-3159A7C1F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 Commands: Merging/Rebase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590FA-D692-680C-0C36-B63AD6F6B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Merge: While on feature branch…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merge main 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Bring main’s history in the current branch. Essentially collapses the commit history from main into the current branch.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merge –abort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Abort a merge with conflicts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Rebase: While on feature branch…</a:t>
            </a:r>
          </a:p>
          <a:p>
            <a:pPr lvl="1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 rebase main</a:t>
            </a:r>
          </a:p>
          <a:p>
            <a:pPr lvl="2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Moves base of current branch to head of main </a:t>
            </a:r>
          </a:p>
          <a:p>
            <a:pPr lvl="1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2"/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2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92597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1500</Words>
  <Application>Microsoft Macintosh PowerPoint</Application>
  <PresentationFormat>On-screen Show (16:9)</PresentationFormat>
  <Paragraphs>199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Menlo</vt:lpstr>
      <vt:lpstr>Arial</vt:lpstr>
      <vt:lpstr>Open Sans</vt:lpstr>
      <vt:lpstr>PT Sans Narrow</vt:lpstr>
      <vt:lpstr>Tropic</vt:lpstr>
      <vt:lpstr>Lab 1 – Intro/Git</vt:lpstr>
      <vt:lpstr>What are Git and GitHub?</vt:lpstr>
      <vt:lpstr>Use case motivation</vt:lpstr>
      <vt:lpstr>Why do we care about iterating over versions? </vt:lpstr>
      <vt:lpstr>Branching</vt:lpstr>
      <vt:lpstr>Branching</vt:lpstr>
      <vt:lpstr>Branching conventions</vt:lpstr>
      <vt:lpstr>Merging</vt:lpstr>
      <vt:lpstr>Merging</vt:lpstr>
      <vt:lpstr>Merging</vt:lpstr>
      <vt:lpstr>Merge conflict</vt:lpstr>
      <vt:lpstr>Rebasing</vt:lpstr>
      <vt:lpstr>Rebasing</vt:lpstr>
      <vt:lpstr>Collaboration</vt:lpstr>
      <vt:lpstr>Collaboration best practices</vt:lpstr>
      <vt:lpstr>Collaboration best practices</vt:lpstr>
      <vt:lpstr>PowerPoint Presentation</vt:lpstr>
      <vt:lpstr>How to actually use Git and GitHub?</vt:lpstr>
      <vt:lpstr>Git commands: Local operations</vt:lpstr>
      <vt:lpstr>Git Commands: Linking to GitHub</vt:lpstr>
      <vt:lpstr>Git Commands: Interacting with GitHub</vt:lpstr>
      <vt:lpstr>Git Commands: Branching</vt:lpstr>
      <vt:lpstr>Git Commands: Merging/Rebase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Gattupalli, Eeshwar</cp:lastModifiedBy>
  <cp:revision>7</cp:revision>
  <cp:lastPrinted>2026-01-18T20:51:59Z</cp:lastPrinted>
  <dcterms:modified xsi:type="dcterms:W3CDTF">2026-01-28T18:24:34Z</dcterms:modified>
</cp:coreProperties>
</file>